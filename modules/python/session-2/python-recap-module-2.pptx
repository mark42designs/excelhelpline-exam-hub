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7315200" cx="97536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5" roundtripDataSignature="AMtx7mhDznSISesrBzf2XCZWRlo/vdip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PH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boot.dev/lessons/64266f19-9783-44c1-b63b-01f40ae9a0b8" TargetMode="External"/><Relationship Id="rId3" Type="http://schemas.openxmlformats.org/officeDocument/2006/relationships/hyperlink" Target="https://medium.com/@1511425435311/multiple-parameters-and-return-values-d241100e76f6" TargetMode="External"/><Relationship Id="rId4" Type="http://schemas.openxmlformats.org/officeDocument/2006/relationships/hyperlink" Target="https://www.youtube.com/watch?v=KP6G-3DBKlg" TargetMode="External"/><Relationship Id="rId5" Type="http://schemas.openxmlformats.org/officeDocument/2006/relationships/hyperlink" Target="https://mimo.org/glossary/python/parameter" TargetMode="Externa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PH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60675" y="512763"/>
            <a:ext cx="342265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PH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98" name="Google Shape;98;p2:notes"/>
          <p:cNvSpPr/>
          <p:nvPr>
            <p:ph idx="3" type="sldImg"/>
          </p:nvPr>
        </p:nvSpPr>
        <p:spPr>
          <a:xfrm>
            <a:off x="2860675" y="512763"/>
            <a:ext cx="342265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Ngayon naman aaralin natin kung paano nagdedesisyon ang isang program at paano ito paulit-ulit gumagawa ng isang task gamit ang loops.</a:t>
            </a:r>
            <a:endParaRPr/>
          </a:p>
        </p:txBody>
      </p:sp>
      <p:sp>
        <p:nvSpPr>
          <p:cNvPr id="100" name="Google Shape;100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8" name="Google Shape;108;p3:notes"/>
          <p:cNvSpPr/>
          <p:nvPr>
            <p:ph idx="3" type="sldImg"/>
          </p:nvPr>
        </p:nvSpPr>
        <p:spPr>
          <a:xfrm>
            <a:off x="2860675" y="512763"/>
            <a:ext cx="342265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Isipin natin parang traffic light. Depende sa kondisyon, iba ang magiging daan ng program.</a:t>
            </a:r>
            <a:endParaRPr/>
          </a:p>
        </p:txBody>
      </p:sp>
      <p:sp>
        <p:nvSpPr>
          <p:cNvPr id="110" name="Google Shape;110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9" name="Google Shape;119;p4:notes"/>
          <p:cNvSpPr/>
          <p:nvPr>
            <p:ph idx="3" type="sldImg"/>
          </p:nvPr>
        </p:nvSpPr>
        <p:spPr>
          <a:xfrm>
            <a:off x="2860675" y="512763"/>
            <a:ext cx="342265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Comparison Operators with Variable Declaration and User Input</a:t>
            </a:r>
            <a:br>
              <a:rPr lang="en-PH"/>
            </a:br>
            <a:br>
              <a:rPr lang="en-PH"/>
            </a:br>
            <a:r>
              <a:rPr lang="en-PH"/>
              <a:t># Variable Declaration</a:t>
            </a:r>
            <a:br>
              <a:rPr lang="en-PH"/>
            </a:br>
            <a:r>
              <a:rPr lang="en-PH"/>
              <a:t>num1 = 0</a:t>
            </a:r>
            <a:br>
              <a:rPr lang="en-PH"/>
            </a:br>
            <a:r>
              <a:rPr lang="en-PH"/>
              <a:t>num2 = 0</a:t>
            </a:r>
            <a:br>
              <a:rPr lang="en-PH"/>
            </a:br>
            <a:br>
              <a:rPr lang="en-PH"/>
            </a:br>
            <a:r>
              <a:rPr lang="en-PH"/>
              <a:t># User Input</a:t>
            </a:r>
            <a:br>
              <a:rPr lang="en-PH"/>
            </a:br>
            <a:r>
              <a:rPr lang="en-PH"/>
              <a:t>num1 = int(input("Enter the first number: "))</a:t>
            </a:r>
            <a:br>
              <a:rPr lang="en-PH"/>
            </a:br>
            <a:r>
              <a:rPr lang="en-PH"/>
              <a:t>num2 = int(input("Enter the second number: "))</a:t>
            </a:r>
            <a:br>
              <a:rPr lang="en-PH"/>
            </a:br>
            <a:br>
              <a:rPr lang="en-PH"/>
            </a:br>
            <a:r>
              <a:rPr lang="en-PH"/>
              <a:t># Display Entered Values</a:t>
            </a:r>
            <a:br>
              <a:rPr lang="en-PH"/>
            </a:br>
            <a:r>
              <a:rPr lang="en-PH"/>
              <a:t>print("\nFirst Number :", num1)</a:t>
            </a:r>
            <a:br>
              <a:rPr lang="en-PH"/>
            </a:br>
            <a:r>
              <a:rPr lang="en-PH"/>
              <a:t>print("Second Number:", num2)</a:t>
            </a:r>
            <a:br>
              <a:rPr lang="en-PH"/>
            </a:br>
            <a:br>
              <a:rPr lang="en-PH"/>
            </a:br>
            <a:r>
              <a:rPr lang="en-PH"/>
              <a:t># Comparison Operations</a:t>
            </a:r>
            <a:br>
              <a:rPr lang="en-PH"/>
            </a:br>
            <a:r>
              <a:rPr lang="en-PH"/>
              <a:t>print("\nComparison Results")</a:t>
            </a:r>
            <a:br>
              <a:rPr lang="en-PH"/>
            </a:br>
            <a:r>
              <a:rPr lang="en-PH"/>
              <a:t>print("----------------------------")</a:t>
            </a:r>
            <a:br>
              <a:rPr lang="en-PH"/>
            </a:br>
            <a:r>
              <a:rPr lang="en-PH"/>
              <a:t>print("Equal to (==):", num1 == num2)</a:t>
            </a:r>
            <a:br>
              <a:rPr lang="en-PH"/>
            </a:br>
            <a:r>
              <a:rPr lang="en-PH"/>
              <a:t>print("Not Equal to (!=):", num1 != num2)</a:t>
            </a:r>
            <a:br>
              <a:rPr lang="en-PH"/>
            </a:br>
            <a:r>
              <a:rPr lang="en-PH"/>
              <a:t>print("Greater than (&gt;):", num1 &gt; num2)</a:t>
            </a:r>
            <a:br>
              <a:rPr lang="en-PH"/>
            </a:br>
            <a:r>
              <a:rPr lang="en-PH"/>
              <a:t>print("Less than (&lt;):", num1 &lt; num2)</a:t>
            </a:r>
            <a:br>
              <a:rPr lang="en-PH"/>
            </a:br>
            <a:r>
              <a:rPr lang="en-PH"/>
              <a:t>print("Greater than or Equal to (&gt;=):", num1 &gt;= num2)</a:t>
            </a:r>
            <a:br>
              <a:rPr lang="en-PH"/>
            </a:br>
            <a:r>
              <a:rPr lang="en-PH"/>
              <a:t>print("Less than or Equal to (&lt;=):", num1 &lt;= num2)</a:t>
            </a:r>
            <a:endParaRPr/>
          </a:p>
        </p:txBody>
      </p:sp>
      <p:sp>
        <p:nvSpPr>
          <p:cNvPr id="121" name="Google Shape;121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8" name="Google Shape;128;p5:notes"/>
          <p:cNvSpPr/>
          <p:nvPr>
            <p:ph idx="3" type="sldImg"/>
          </p:nvPr>
        </p:nvSpPr>
        <p:spPr>
          <a:xfrm>
            <a:off x="2860675" y="512763"/>
            <a:ext cx="342265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Comparison operators compare two values and return either </a:t>
            </a: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PH"/>
              <a:t> or </a:t>
            </a: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r>
              <a:rPr lang="en-PH"/>
              <a:t> based on the result.</a:t>
            </a:r>
            <a:endParaRPr/>
          </a:p>
        </p:txBody>
      </p:sp>
      <p:sp>
        <p:nvSpPr>
          <p:cNvPr id="130" name="Google Shape;130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9" name="Google Shape;139;p6:notes"/>
          <p:cNvSpPr/>
          <p:nvPr>
            <p:ph idx="3" type="sldImg"/>
          </p:nvPr>
        </p:nvSpPr>
        <p:spPr>
          <a:xfrm>
            <a:off x="2860675" y="512763"/>
            <a:ext cx="342265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Program: Comparison Operators with Variable Declaration and User Input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Variable Declaration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first_number =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second_number =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User Input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first_number = int(input("Enter the first number: "))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second_number = int(input("Enter the second number: "))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Display the Entered Numbers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print("\nFirst Number:", first_number)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print("Second Number:", second_number)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Comparison Operators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print("\nComparison Results")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print("Equal to (==):", first_number == second_number)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print("Not Equal to (!=):", first_number != second_number)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print("Greater than (&gt;):", first_number &gt; second_number)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print("Less than (&lt;):", first_number &lt; second_number)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print("Greater than or Equal to (&gt;=):", first_number &gt;= second_number)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print("Less than or Equal to (&lt;=):", first_number &lt;= second_number)</a:t>
            </a:r>
            <a:endParaRPr/>
          </a:p>
        </p:txBody>
      </p:sp>
      <p:sp>
        <p:nvSpPr>
          <p:cNvPr id="141" name="Google Shape;141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8" name="Google Shape;148;p7:notes"/>
          <p:cNvSpPr/>
          <p:nvPr>
            <p:ph idx="3" type="sldImg"/>
          </p:nvPr>
        </p:nvSpPr>
        <p:spPr>
          <a:xfrm>
            <a:off x="2860675" y="512763"/>
            <a:ext cx="342265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Isipin natin parang traffic light. Depende sa kondisyon, iba ang magiging daan ng program.</a:t>
            </a:r>
            <a:endParaRPr/>
          </a:p>
        </p:txBody>
      </p:sp>
      <p:sp>
        <p:nvSpPr>
          <p:cNvPr id="150" name="Google Shape;150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9" name="Google Shape;159;p8:notes"/>
          <p:cNvSpPr/>
          <p:nvPr>
            <p:ph idx="3" type="sldImg"/>
          </p:nvPr>
        </p:nvSpPr>
        <p:spPr>
          <a:xfrm>
            <a:off x="2860675" y="512763"/>
            <a:ext cx="342265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Program: Logical Operators with Variable Declaration and User Input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Variable Declaration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num1 =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num2 =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User Input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num1 = int(input("Enter the first number: "))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num2 = int(input("Enter the second number: "))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Display the Entered Numbers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print("\nFirst Number:", num1)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print("Second Number:", num2)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Logical Operators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print("\nLogical Operator Results")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print("----------------------------")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AND Operator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print("AND (Both numbers are greater than 0):", (num1 &gt; 0) and (num2 &gt; 0))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OR Operator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print("OR (At least one number is greater than 0):", (num1 &gt; 0) or (num2 &gt; 0))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NOT Operator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print("NOT (First number is NOT greater than 0):", not (num1 &gt; 0))</a:t>
            </a:r>
            <a:endParaRPr/>
          </a:p>
        </p:txBody>
      </p:sp>
      <p:sp>
        <p:nvSpPr>
          <p:cNvPr id="161" name="Google Shape;161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9" name="Google Shape;169;p9:notes"/>
          <p:cNvSpPr/>
          <p:nvPr>
            <p:ph idx="3" type="sldImg"/>
          </p:nvPr>
        </p:nvSpPr>
        <p:spPr>
          <a:xfrm>
            <a:off x="2860675" y="512763"/>
            <a:ext cx="342265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used to make decisions in a program. They execute different blocks of code depending on whether a condition is </a:t>
            </a:r>
            <a:r>
              <a:rPr b="1" lang="en-PH"/>
              <a:t>True</a:t>
            </a:r>
            <a:r>
              <a:rPr lang="en-PH"/>
              <a:t> or </a:t>
            </a:r>
            <a:r>
              <a:rPr b="1" lang="en-PH"/>
              <a:t>False</a:t>
            </a:r>
            <a:r>
              <a:rPr lang="en-PH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PH"/>
              <a:t> – Executes a block of code if the condition is true.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elif</a:t>
            </a:r>
            <a:r>
              <a:rPr lang="en-PH"/>
              <a:t> – Checks another condition if the previous condition is false.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lang="en-PH"/>
              <a:t> – Executes a block of code if none of the conditions are true.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9" name="Google Shape;179;p10:notes"/>
          <p:cNvSpPr/>
          <p:nvPr>
            <p:ph idx="3" type="sldImg"/>
          </p:nvPr>
        </p:nvSpPr>
        <p:spPr>
          <a:xfrm>
            <a:off x="2860675" y="512763"/>
            <a:ext cx="342265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Program: Conditional Statements (if, elif, else)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Variable Declaration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grade =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User Input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grade = int(input("Enter your grade: "))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Conditional Statements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if grade &gt;= 90: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    print("Excellent! Your grade is A.")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elif grade &gt;= 80: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    print("Very Good! Your grade is B.")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elif grade &gt;= 75: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    print("Good! Your grade is C.")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else: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    print("Sorry, you have failed.")</a:t>
            </a:r>
            <a:endParaRPr/>
          </a:p>
        </p:txBody>
      </p:sp>
      <p:sp>
        <p:nvSpPr>
          <p:cNvPr id="181" name="Google Shape;181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8" name="Google Shape;188;p11:notes"/>
          <p:cNvSpPr/>
          <p:nvPr>
            <p:ph idx="3" type="sldImg"/>
          </p:nvPr>
        </p:nvSpPr>
        <p:spPr>
          <a:xfrm>
            <a:off x="2860675" y="512763"/>
            <a:ext cx="342265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PH"/>
              <a:t>Used when the number of repetitions is known.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</a:t>
            </a:r>
            <a:r>
              <a:rPr lang="en-PH"/>
              <a:t>Used when the number of repetitions depends on a condition.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PH"/>
              <a:t>Summary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✅ </a:t>
            </a:r>
            <a:r>
              <a:rPr b="1"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b="1" lang="en-PH"/>
              <a:t> loop</a:t>
            </a:r>
            <a:r>
              <a:rPr lang="en-PH"/>
              <a:t> – Repeats a block of code a fixed number of times.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✅ </a:t>
            </a:r>
            <a:r>
              <a:rPr b="1"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</a:t>
            </a:r>
            <a:r>
              <a:rPr b="1" lang="en-PH"/>
              <a:t> loop</a:t>
            </a:r>
            <a:r>
              <a:rPr lang="en-PH"/>
              <a:t> – Repeats a block of code while a condition remains </a:t>
            </a: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PH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98" name="Google Shape;198;p12:notes"/>
          <p:cNvSpPr/>
          <p:nvPr>
            <p:ph idx="3" type="sldImg"/>
          </p:nvPr>
        </p:nvSpPr>
        <p:spPr>
          <a:xfrm>
            <a:off x="2860675" y="512763"/>
            <a:ext cx="342265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Program: For Loop Example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Variable Declaration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number =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User Input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number = int(input("Enter a number: "))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For Loop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print("\nCounting from 1 to", number)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for i in range(1, number + 1):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    print(i)</a:t>
            </a:r>
            <a:endParaRPr/>
          </a:p>
        </p:txBody>
      </p:sp>
      <p:sp>
        <p:nvSpPr>
          <p:cNvPr id="200" name="Google Shape;200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7" name="Google Shape;207;p13:notes"/>
          <p:cNvSpPr/>
          <p:nvPr>
            <p:ph idx="3" type="sldImg"/>
          </p:nvPr>
        </p:nvSpPr>
        <p:spPr>
          <a:xfrm>
            <a:off x="2860675" y="512763"/>
            <a:ext cx="342265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Program: While Loop Example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Variable Declaration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number =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count =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User Input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number = int(input("Enter a number: "))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While Loop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print("\nCounting from 1 to", number)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while count &lt;= number: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    print(count)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    count += 1</a:t>
            </a:r>
            <a:endParaRPr/>
          </a:p>
        </p:txBody>
      </p:sp>
      <p:sp>
        <p:nvSpPr>
          <p:cNvPr id="209" name="Google Shape;209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6" name="Google Shape;216;p14:notes"/>
          <p:cNvSpPr/>
          <p:nvPr>
            <p:ph idx="3" type="sldImg"/>
          </p:nvPr>
        </p:nvSpPr>
        <p:spPr>
          <a:xfrm>
            <a:off x="2860675" y="512763"/>
            <a:ext cx="342265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PH"/>
              <a:t>Used when the number of repetitions is known.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</a:t>
            </a:r>
            <a:r>
              <a:rPr lang="en-PH"/>
              <a:t>Used when the number of repetitions depends on a condition.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PH"/>
              <a:t>Summary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✅ </a:t>
            </a:r>
            <a:r>
              <a:rPr b="1"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b="1" lang="en-PH"/>
              <a:t> loop</a:t>
            </a:r>
            <a:r>
              <a:rPr lang="en-PH"/>
              <a:t> – Repeats a block of code a fixed number of times.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✅ </a:t>
            </a:r>
            <a:r>
              <a:rPr b="1"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</a:t>
            </a:r>
            <a:r>
              <a:rPr b="1" lang="en-PH"/>
              <a:t> loop</a:t>
            </a:r>
            <a:r>
              <a:rPr lang="en-PH"/>
              <a:t> – Repeats a block of code while a condition remains </a:t>
            </a: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PH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1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26" name="Google Shape;226;p15:notes"/>
          <p:cNvSpPr/>
          <p:nvPr>
            <p:ph idx="3" type="sldImg"/>
          </p:nvPr>
        </p:nvSpPr>
        <p:spPr>
          <a:xfrm>
            <a:off x="2860675" y="512763"/>
            <a:ext cx="342265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1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35" name="Google Shape;235;p16:notes"/>
          <p:cNvSpPr/>
          <p:nvPr>
            <p:ph idx="3" type="sldImg"/>
          </p:nvPr>
        </p:nvSpPr>
        <p:spPr>
          <a:xfrm>
            <a:off x="2860675" y="512763"/>
            <a:ext cx="342265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PH"/>
              <a:t>Characteristics of Lists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Ordered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Mutable (can be modified)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Allows duplicate values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Can store different data types</a:t>
            </a:r>
            <a:endParaRPr/>
          </a:p>
        </p:txBody>
      </p:sp>
      <p:sp>
        <p:nvSpPr>
          <p:cNvPr id="237" name="Google Shape;237;p1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5" name="Google Shape;245;p17:notes"/>
          <p:cNvSpPr/>
          <p:nvPr>
            <p:ph idx="3" type="sldImg"/>
          </p:nvPr>
        </p:nvSpPr>
        <p:spPr>
          <a:xfrm>
            <a:off x="2860675" y="512763"/>
            <a:ext cx="342265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1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56" name="Google Shape;256;p18:notes"/>
          <p:cNvSpPr/>
          <p:nvPr>
            <p:ph idx="3" type="sldImg"/>
          </p:nvPr>
        </p:nvSpPr>
        <p:spPr>
          <a:xfrm>
            <a:off x="2860675" y="512763"/>
            <a:ext cx="342265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PH"/>
              <a:t>Accessing List Items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Lists use </a:t>
            </a:r>
            <a:r>
              <a:rPr b="1" lang="en-PH"/>
              <a:t>index numbers</a:t>
            </a:r>
            <a:r>
              <a:rPr lang="en-PH"/>
              <a:t> to access individual items. In Python, indexing starts at </a:t>
            </a:r>
            <a:r>
              <a:rPr b="1" lang="en-PH"/>
              <a:t>0</a:t>
            </a:r>
            <a:r>
              <a:rPr lang="en-PH"/>
              <a:t>, which means the first item is at index </a:t>
            </a: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PH"/>
              <a:t>, the second item is at index </a:t>
            </a: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PH"/>
              <a:t>, and so 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In the example below: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fruits = ["Apple", "Banana", "Orange"]</a:t>
            </a:r>
            <a:b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print(fruits[0])</a:t>
            </a:r>
            <a:b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print(fruits[1])</a:t>
            </a:r>
            <a:b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print(fruits[2])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fruits[0]</a:t>
            </a:r>
            <a:r>
              <a:rPr lang="en-PH"/>
              <a:t> accesses the </a:t>
            </a:r>
            <a:r>
              <a:rPr b="1" lang="en-PH"/>
              <a:t>first</a:t>
            </a:r>
            <a:r>
              <a:rPr lang="en-PH"/>
              <a:t> item, </a:t>
            </a: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"Apple"</a:t>
            </a:r>
            <a:r>
              <a:rPr lang="en-PH"/>
              <a:t>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fruits[1]</a:t>
            </a:r>
            <a:r>
              <a:rPr lang="en-PH"/>
              <a:t> accesses the </a:t>
            </a:r>
            <a:r>
              <a:rPr b="1" lang="en-PH"/>
              <a:t>second</a:t>
            </a:r>
            <a:r>
              <a:rPr lang="en-PH"/>
              <a:t> item, </a:t>
            </a: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"Banana"</a:t>
            </a:r>
            <a:r>
              <a:rPr lang="en-PH"/>
              <a:t>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fruits[2]</a:t>
            </a:r>
            <a:r>
              <a:rPr lang="en-PH"/>
              <a:t> accesses the </a:t>
            </a:r>
            <a:r>
              <a:rPr b="1" lang="en-PH"/>
              <a:t>third</a:t>
            </a:r>
            <a:r>
              <a:rPr lang="en-PH"/>
              <a:t> item, </a:t>
            </a: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"Orange"</a:t>
            </a:r>
            <a:r>
              <a:rPr lang="en-PH"/>
              <a:t>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PH"/>
              <a:t>Output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Apple</a:t>
            </a:r>
            <a:b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Banana</a:t>
            </a:r>
            <a:b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Orange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PH"/>
              <a:t>Note:</a:t>
            </a:r>
            <a:r>
              <a:rPr lang="en-PH"/>
              <a:t> If you try to access an index that does not exist (e.g., </a:t>
            </a: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fruits[3]</a:t>
            </a:r>
            <a:r>
              <a:rPr lang="en-PH"/>
              <a:t>), Python will raise an </a:t>
            </a:r>
            <a:r>
              <a:rPr b="1" lang="en-PH"/>
              <a:t>IndexError</a:t>
            </a:r>
            <a:r>
              <a:rPr lang="en-PH"/>
              <a:t> because there is no fourth item in the list.</a:t>
            </a:r>
            <a:endParaRPr/>
          </a:p>
        </p:txBody>
      </p:sp>
      <p:sp>
        <p:nvSpPr>
          <p:cNvPr id="258" name="Google Shape;258;p1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66" name="Google Shape;266;p19:notes"/>
          <p:cNvSpPr/>
          <p:nvPr>
            <p:ph idx="3" type="sldImg"/>
          </p:nvPr>
        </p:nvSpPr>
        <p:spPr>
          <a:xfrm>
            <a:off x="2860675" y="512763"/>
            <a:ext cx="342265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PH"/>
              <a:t>Negative Indexing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PH"/>
              <a:t>Negative indexing</a:t>
            </a:r>
            <a:r>
              <a:rPr lang="en-PH"/>
              <a:t> allows you to access list items starting from the </a:t>
            </a:r>
            <a:r>
              <a:rPr b="1" lang="en-PH"/>
              <a:t>end</a:t>
            </a:r>
            <a:r>
              <a:rPr lang="en-PH"/>
              <a:t> of the list instead of the beginning. In Python: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r>
              <a:rPr lang="en-PH"/>
              <a:t> refers to the </a:t>
            </a:r>
            <a:r>
              <a:rPr b="1" lang="en-PH"/>
              <a:t>last</a:t>
            </a:r>
            <a:r>
              <a:rPr lang="en-PH"/>
              <a:t> item.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</a:t>
            </a:r>
            <a:r>
              <a:rPr lang="en-PH"/>
              <a:t> refers to the </a:t>
            </a:r>
            <a:r>
              <a:rPr b="1" lang="en-PH"/>
              <a:t>second-to-last</a:t>
            </a:r>
            <a:r>
              <a:rPr lang="en-PH"/>
              <a:t> item.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r>
              <a:rPr lang="en-PH"/>
              <a:t> refers to the </a:t>
            </a:r>
            <a:r>
              <a:rPr b="1" lang="en-PH"/>
              <a:t>third-to-last</a:t>
            </a:r>
            <a:r>
              <a:rPr lang="en-PH"/>
              <a:t> item, and so on.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This is useful when you want to access the last elements of a list without knowing its exact length.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PH"/>
              <a:t>Explanation: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fruits[-1]</a:t>
            </a:r>
            <a:r>
              <a:rPr lang="en-PH"/>
              <a:t> returns </a:t>
            </a: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"Orange"</a:t>
            </a:r>
            <a:r>
              <a:rPr lang="en-PH"/>
              <a:t> because it is the </a:t>
            </a:r>
            <a:r>
              <a:rPr b="1" lang="en-PH"/>
              <a:t>last item</a:t>
            </a:r>
            <a:r>
              <a:rPr lang="en-PH"/>
              <a:t> in the list.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p1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6" name="Google Shape;276;p20:notes"/>
          <p:cNvSpPr/>
          <p:nvPr>
            <p:ph idx="3" type="sldImg"/>
          </p:nvPr>
        </p:nvSpPr>
        <p:spPr>
          <a:xfrm>
            <a:off x="2860675" y="512763"/>
            <a:ext cx="342265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2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PH"/>
              <a:t>Explanation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fruits[1] = "Mango"</a:t>
            </a:r>
            <a:r>
              <a:rPr lang="en-PH"/>
              <a:t> replaces the item at </a:t>
            </a:r>
            <a:r>
              <a:rPr b="1" lang="en-PH"/>
              <a:t>index 1</a:t>
            </a:r>
            <a:r>
              <a:rPr lang="en-PH"/>
              <a:t> (</a:t>
            </a: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"Banana"</a:t>
            </a:r>
            <a:r>
              <a:rPr lang="en-PH"/>
              <a:t>) with </a:t>
            </a: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"Mango"</a:t>
            </a:r>
            <a:r>
              <a:rPr lang="en-PH"/>
              <a:t>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The other items in the list remain unchanged.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PH"/>
              <a:t>Before: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Index:    0         1         2</a:t>
            </a:r>
            <a:b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Apple    Banana    Orange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PH"/>
              <a:t>After: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Index:    0         1         2</a:t>
            </a:r>
            <a:b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Apple     Mango    Orange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PH"/>
              <a:t>Note:</a:t>
            </a:r>
            <a:r>
              <a:rPr lang="en-PH"/>
              <a:t> Lists are </a:t>
            </a:r>
            <a:r>
              <a:rPr b="1" lang="en-PH"/>
              <a:t>mutable</a:t>
            </a:r>
            <a:r>
              <a:rPr lang="en-PH"/>
              <a:t>, meaning their contents can be modified at any time. This makes lists ideal for storing data that may change during program execution.</a:t>
            </a:r>
            <a:endParaRPr/>
          </a:p>
        </p:txBody>
      </p:sp>
      <p:sp>
        <p:nvSpPr>
          <p:cNvPr id="278" name="Google Shape;278;p2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86" name="Google Shape;286;p21:notes"/>
          <p:cNvSpPr/>
          <p:nvPr>
            <p:ph idx="3" type="sldImg"/>
          </p:nvPr>
        </p:nvSpPr>
        <p:spPr>
          <a:xfrm>
            <a:off x="2860675" y="512763"/>
            <a:ext cx="342265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2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List Methods Example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fruits = ["Apple", "Banana", "Orange"]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append()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fruits.append("Mango")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print("append():", fruits)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insert()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fruits.insert(1, "Grapes")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print("insert():", fruits)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remove()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fruits.remove("Banana")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print("remove():", fruits)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pop()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fruits.pop()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print("pop():", fruits)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sort()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fruits.sort()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print("sort():", fruits)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reverse()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fruits.reverse()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print("reverse():", fruits)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count()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print("count('Apple'):", fruits.count("Apple"))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index()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print("index('Orange'):", fruits.index("Orange"))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copy()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new_fruits = fruits.copy()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print("copy():", new_fruits)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clear()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fruits.clear()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print("clear():", fruits)</a:t>
            </a:r>
            <a:endParaRPr/>
          </a:p>
        </p:txBody>
      </p:sp>
      <p:sp>
        <p:nvSpPr>
          <p:cNvPr id="288" name="Google Shape;288;p2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95" name="Google Shape;295;p22:notes"/>
          <p:cNvSpPr/>
          <p:nvPr>
            <p:ph idx="3" type="sldImg"/>
          </p:nvPr>
        </p:nvSpPr>
        <p:spPr>
          <a:xfrm>
            <a:off x="2860675" y="512763"/>
            <a:ext cx="342265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2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List Methods Example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fruits = ["Apple", "Banana", "Orange"]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append()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fruits.append("Mango")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print("append():", fruits)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insert()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fruits.insert(1, "Grapes")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print("insert():", fruits)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remove()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fruits.remove("Banana")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print("remove():", fruits)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pop()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fruits.pop()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print("pop():", fruits)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sort()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fruits.sort()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print("sort():", fruits)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reverse()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fruits.reverse()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print("reverse():", fruits)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count()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print("count('Apple'):", fruits.count("Apple"))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index()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print("index('Orange'):", fruits.index("Orange"))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copy()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new_fruits = fruits.copy()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print("copy():", new_fruits)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# clear()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fruits.clear()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print("clear():", fruits)</a:t>
            </a:r>
            <a:endParaRPr/>
          </a:p>
        </p:txBody>
      </p:sp>
      <p:sp>
        <p:nvSpPr>
          <p:cNvPr id="297" name="Google Shape;297;p2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05" name="Google Shape;305;p23:notes"/>
          <p:cNvSpPr/>
          <p:nvPr>
            <p:ph idx="3" type="sldImg"/>
          </p:nvPr>
        </p:nvSpPr>
        <p:spPr>
          <a:xfrm>
            <a:off x="2860675" y="512763"/>
            <a:ext cx="342265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2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PH"/>
              <a:t>Functions in Python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PH"/>
              <a:t>What is a Function?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A </a:t>
            </a:r>
            <a:r>
              <a:rPr b="1" lang="en-PH"/>
              <a:t>function</a:t>
            </a:r>
            <a:r>
              <a:rPr lang="en-PH"/>
              <a:t> is a reusable block of code that performs a specific task. Instead of writing the same code multiple times, you can define it once and call it whenever needed.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PH"/>
              <a:t>Benefits of Functions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✔ Makes code reusable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✔ Improves readability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✔ Reduces code duplication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✔ Makes debugging and maintenance easier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✔ Organizes programs into smaller, manageable parts</a:t>
            </a:r>
            <a:endParaRPr/>
          </a:p>
        </p:txBody>
      </p:sp>
      <p:sp>
        <p:nvSpPr>
          <p:cNvPr id="307" name="Google Shape;307;p2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15" name="Google Shape;315;p24:notes"/>
          <p:cNvSpPr/>
          <p:nvPr>
            <p:ph idx="3" type="sldImg"/>
          </p:nvPr>
        </p:nvSpPr>
        <p:spPr>
          <a:xfrm>
            <a:off x="2860675" y="512763"/>
            <a:ext cx="342265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2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PH"/>
              <a:t>Explanation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</a:t>
            </a:r>
            <a:r>
              <a:rPr lang="en-PH"/>
              <a:t> is the keyword used to define a function.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greet</a:t>
            </a:r>
            <a:r>
              <a:rPr lang="en-PH"/>
              <a:t> is the function name.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The code inside the function executes only when the function is called.</a:t>
            </a:r>
            <a:endParaRPr/>
          </a:p>
        </p:txBody>
      </p:sp>
      <p:sp>
        <p:nvSpPr>
          <p:cNvPr id="317" name="Google Shape;317;p2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25" name="Google Shape;325;p25:notes"/>
          <p:cNvSpPr/>
          <p:nvPr>
            <p:ph idx="3" type="sldImg"/>
          </p:nvPr>
        </p:nvSpPr>
        <p:spPr>
          <a:xfrm>
            <a:off x="2860675" y="512763"/>
            <a:ext cx="342265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2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PH"/>
              <a:t># Defining a Function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PH"/>
              <a:t>def greet():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PH"/>
              <a:t>    print("Hello, Welcome to Python!")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PH"/>
              <a:t># Calling the Function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PH"/>
              <a:t>greet()Explanation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</a:t>
            </a:r>
            <a:r>
              <a:rPr lang="en-PH"/>
              <a:t> is the keyword used to define a function.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greet</a:t>
            </a:r>
            <a:r>
              <a:rPr lang="en-PH"/>
              <a:t> is the function name.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The code inside the function executes only when the function is called.</a:t>
            </a:r>
            <a:endParaRPr/>
          </a:p>
        </p:txBody>
      </p:sp>
      <p:sp>
        <p:nvSpPr>
          <p:cNvPr id="327" name="Google Shape;327;p2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35" name="Google Shape;335;p26:notes"/>
          <p:cNvSpPr/>
          <p:nvPr>
            <p:ph idx="3" type="sldImg"/>
          </p:nvPr>
        </p:nvSpPr>
        <p:spPr>
          <a:xfrm>
            <a:off x="2860675" y="512763"/>
            <a:ext cx="342265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2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a variable name listed inside the parentheses of a function definition. It acts as a temporary placeholder that specifies what kind of data the function expects to receive when it is called</a:t>
            </a:r>
            <a:endParaRPr/>
          </a:p>
        </p:txBody>
      </p:sp>
      <p:sp>
        <p:nvSpPr>
          <p:cNvPr id="337" name="Google Shape;337;p2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46" name="Google Shape;346;p27:notes"/>
          <p:cNvSpPr/>
          <p:nvPr>
            <p:ph idx="3" type="sldImg"/>
          </p:nvPr>
        </p:nvSpPr>
        <p:spPr>
          <a:xfrm>
            <a:off x="2860675" y="512763"/>
            <a:ext cx="342265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2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PH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parameters</a:t>
            </a:r>
            <a:r>
              <a:rPr b="0" lang="en-PH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means defining a function to accept more than one piece of input data. [</a:t>
            </a:r>
            <a:r>
              <a:rPr b="0" lang="en-PH" sz="120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</a:t>
            </a:r>
            <a:r>
              <a:rPr b="0" lang="en-PH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lang="en-PH" sz="120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</a:t>
            </a:r>
            <a:r>
              <a:rPr b="0" lang="en-PH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PH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Parameters act as named placeholders inside the function parentheses. They allow a single function to process different sets of information dynamically. [</a:t>
            </a:r>
            <a:r>
              <a:rPr b="0" lang="en-PH" sz="120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</a:t>
            </a:r>
            <a:r>
              <a:rPr b="0" lang="en-PH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lang="en-PH" sz="120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</a:t>
            </a:r>
            <a:r>
              <a:rPr b="0" lang="en-PH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PH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 Syntax</a:t>
            </a:r>
            <a:endParaRPr/>
          </a:p>
        </p:txBody>
      </p:sp>
      <p:sp>
        <p:nvSpPr>
          <p:cNvPr id="348" name="Google Shape;348;p2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57" name="Google Shape;357;p28:notes"/>
          <p:cNvSpPr/>
          <p:nvPr>
            <p:ph idx="3" type="sldImg"/>
          </p:nvPr>
        </p:nvSpPr>
        <p:spPr>
          <a:xfrm>
            <a:off x="2860675" y="512763"/>
            <a:ext cx="342265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2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PH"/>
              <a:t>Explanation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PH"/>
              <a:t> sends the result back to the caller.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/>
              <a:t>The returned value can be stored in a variable.</a:t>
            </a:r>
            <a:endParaRPr/>
          </a:p>
        </p:txBody>
      </p:sp>
      <p:sp>
        <p:nvSpPr>
          <p:cNvPr id="359" name="Google Shape;359;p2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68" name="Google Shape;368;p34:notes"/>
          <p:cNvSpPr/>
          <p:nvPr>
            <p:ph idx="3" type="sldImg"/>
          </p:nvPr>
        </p:nvSpPr>
        <p:spPr>
          <a:xfrm>
            <a:off x="2860675" y="512763"/>
            <a:ext cx="342265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3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PH"/>
              <a:t>Key Takeaway:</a:t>
            </a:r>
            <a:r>
              <a:rPr lang="en-PH"/>
              <a:t> Functions make programs more organized, reusable, and easier to maintain. By using parameters, return values, and understanding variable scope, you can write cleaner and more efficient Python programs.</a:t>
            </a:r>
            <a:endParaRPr/>
          </a:p>
        </p:txBody>
      </p:sp>
      <p:sp>
        <p:nvSpPr>
          <p:cNvPr id="370" name="Google Shape;370;p3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PH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4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4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4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4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Relationship Id="rId4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"/>
          <p:cNvGrpSpPr/>
          <p:nvPr/>
        </p:nvGrpSpPr>
        <p:grpSpPr>
          <a:xfrm>
            <a:off x="731520" y="2519362"/>
            <a:ext cx="8290560" cy="1639465"/>
            <a:chOff x="0" y="-95250"/>
            <a:chExt cx="11054080" cy="2185952"/>
          </a:xfrm>
        </p:grpSpPr>
        <p:sp>
          <p:nvSpPr>
            <p:cNvPr id="93" name="Google Shape;93;p1"/>
            <p:cNvSpPr/>
            <p:nvPr/>
          </p:nvSpPr>
          <p:spPr>
            <a:xfrm>
              <a:off x="0" y="0"/>
              <a:ext cx="11054080" cy="2090702"/>
            </a:xfrm>
            <a:custGeom>
              <a:rect b="b" l="l" r="r" t="t"/>
              <a:pathLst>
                <a:path extrusionOk="0" h="2090702" w="11054080">
                  <a:moveTo>
                    <a:pt x="0" y="0"/>
                  </a:moveTo>
                  <a:lnTo>
                    <a:pt x="11054080" y="0"/>
                  </a:lnTo>
                  <a:lnTo>
                    <a:pt x="11054080" y="2090702"/>
                  </a:lnTo>
                  <a:lnTo>
                    <a:pt x="0" y="209070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3021" l="0" r="0" t="-53021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"/>
            <p:cNvSpPr txBox="1"/>
            <p:nvPr/>
          </p:nvSpPr>
          <p:spPr>
            <a:xfrm>
              <a:off x="0" y="-95250"/>
              <a:ext cx="11054080" cy="21859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693"/>
                <a:buFont typeface="Arial"/>
                <a:buNone/>
              </a:pPr>
              <a:r>
                <a:rPr b="1" i="0" lang="en-PH" sz="4693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Python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/>
          <p:nvPr/>
        </p:nvSpPr>
        <p:spPr>
          <a:xfrm>
            <a:off x="-1066800" y="833706"/>
            <a:ext cx="8290560" cy="1639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38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PH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 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1752600" y="2268893"/>
            <a:ext cx="7147560" cy="1639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b="0" i="0" lang="en-PH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Conditional statements (if, elif, else)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b="0" i="0" lang="en-PH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Loops (for, while)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/>
        </p:nvSpPr>
        <p:spPr>
          <a:xfrm>
            <a:off x="-1066800" y="377320"/>
            <a:ext cx="8290560" cy="1639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8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PH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Control Flow?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732174" y="2322938"/>
            <a:ext cx="4876800" cy="1639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PH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Flow determines the order in which Python executes instructions.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0" r="21600" t="0"/>
          <a:stretch/>
        </p:blipFill>
        <p:spPr>
          <a:xfrm>
            <a:off x="4983480" y="3330414"/>
            <a:ext cx="4480560" cy="3933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38208"/>
            <a:ext cx="6781800" cy="7318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/>
          <p:nvPr/>
        </p:nvSpPr>
        <p:spPr>
          <a:xfrm>
            <a:off x="-1066800" y="377320"/>
            <a:ext cx="8290560" cy="1639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8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PH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Comparison Operators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732174" y="3048000"/>
            <a:ext cx="4037947" cy="1639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PH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Symbol used to compare two values. It returns </a:t>
            </a:r>
            <a:r>
              <a:rPr b="1" i="0" lang="en-PH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b="0" i="0" lang="en-PH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 the comparison is correct and </a:t>
            </a:r>
            <a:r>
              <a:rPr b="1" i="0" lang="en-PH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r>
              <a:rPr b="0" i="0" lang="en-PH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 it is not.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3253" y="3088025"/>
            <a:ext cx="4037947" cy="415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1672" y="304800"/>
            <a:ext cx="8140800" cy="678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 txBox="1"/>
          <p:nvPr/>
        </p:nvSpPr>
        <p:spPr>
          <a:xfrm>
            <a:off x="533400" y="378947"/>
            <a:ext cx="5873885" cy="1639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8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PH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Logical Operators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 txBox="1"/>
          <p:nvPr/>
        </p:nvSpPr>
        <p:spPr>
          <a:xfrm>
            <a:off x="823886" y="2033232"/>
            <a:ext cx="8183226" cy="1639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PH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combine or modify multiple conditions. It returns </a:t>
            </a:r>
            <a:r>
              <a:rPr b="1" i="0" lang="en-PH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b="0" i="0" lang="en-PH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b="1" i="0" lang="en-PH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r>
              <a:rPr b="0" i="0" lang="en-PH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based on the logical relationship between the conditions.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4532885"/>
            <a:ext cx="9073112" cy="1430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8"/>
          <p:cNvPicPr preferRelativeResize="0"/>
          <p:nvPr/>
        </p:nvPicPr>
        <p:blipFill rotWithShape="1">
          <a:blip r:embed="rId3">
            <a:alphaModFix/>
          </a:blip>
          <a:srcRect b="0" l="0" r="-9220" t="0"/>
          <a:stretch/>
        </p:blipFill>
        <p:spPr>
          <a:xfrm>
            <a:off x="1066800" y="228600"/>
            <a:ext cx="9029018" cy="2145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799" y="2384565"/>
            <a:ext cx="8266825" cy="4678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 txBox="1"/>
          <p:nvPr/>
        </p:nvSpPr>
        <p:spPr>
          <a:xfrm>
            <a:off x="539884" y="157691"/>
            <a:ext cx="8137187" cy="1639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8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PH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Conditional Statements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9"/>
          <p:cNvSpPr txBox="1"/>
          <p:nvPr/>
        </p:nvSpPr>
        <p:spPr>
          <a:xfrm>
            <a:off x="1066800" y="2877623"/>
            <a:ext cx="8183226" cy="1639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PH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to make decisions in a program. They execute different blocks of code depending on whether a condition is </a:t>
            </a:r>
            <a:r>
              <a:rPr b="1" i="0" lang="en-PH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b="0" i="0" lang="en-PH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b="1" i="0" lang="en-PH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r>
              <a:rPr b="0" i="0" lang="en-PH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1" i="0" lang="en-PH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-PH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Executes a block of code if the condition is true.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1" i="0" lang="en-PH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elif</a:t>
            </a:r>
            <a:r>
              <a:rPr b="0" i="0" lang="en-PH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Checks another condition if the previous condition is false.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1" i="0" lang="en-PH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0" lang="en-PH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Executes a block of code if none of the conditions are true.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6028" y="236252"/>
            <a:ext cx="7201544" cy="6970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"/>
          <p:cNvSpPr txBox="1"/>
          <p:nvPr/>
        </p:nvSpPr>
        <p:spPr>
          <a:xfrm>
            <a:off x="533400" y="378947"/>
            <a:ext cx="7239000" cy="1639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PH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Loops (for, while)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1"/>
          <p:cNvSpPr txBox="1"/>
          <p:nvPr/>
        </p:nvSpPr>
        <p:spPr>
          <a:xfrm>
            <a:off x="990600" y="2361475"/>
            <a:ext cx="8183226" cy="1639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PH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Loops</a:t>
            </a:r>
            <a:r>
              <a:rPr b="0" i="0" lang="en-PH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used to execute a block of code repeatedly until a specified condition is met.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1" i="0" lang="en-PH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loop</a:t>
            </a:r>
            <a:r>
              <a:rPr b="0" i="0" lang="en-PH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Repeats a block of code a specific number of times or iterates through a sequence. </a:t>
            </a:r>
            <a:r>
              <a:rPr b="1" i="0" lang="en-PH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loop</a:t>
            </a:r>
            <a:r>
              <a:rPr b="0" i="0" lang="en-PH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Repeats a block of code as long as a condition is True.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508408"/>
            <a:ext cx="7072651" cy="6377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381000"/>
            <a:ext cx="6667760" cy="6531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"/>
          <p:cNvSpPr txBox="1"/>
          <p:nvPr/>
        </p:nvSpPr>
        <p:spPr>
          <a:xfrm>
            <a:off x="556587" y="819935"/>
            <a:ext cx="8640426" cy="1639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PH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Lists &amp; Tuples (Collection of Variables)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4"/>
          <p:cNvSpPr txBox="1"/>
          <p:nvPr/>
        </p:nvSpPr>
        <p:spPr>
          <a:xfrm>
            <a:off x="990600" y="3200604"/>
            <a:ext cx="8183226" cy="1639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PH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i="0" lang="en-PH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</a:t>
            </a:r>
            <a:r>
              <a:rPr b="0" i="0" lang="en-PH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a </a:t>
            </a:r>
            <a:r>
              <a:rPr b="1" i="0" lang="en-PH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Tuple</a:t>
            </a:r>
            <a:r>
              <a:rPr b="0" i="0" lang="en-PH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Python data structures used to store </a:t>
            </a:r>
            <a:r>
              <a:rPr b="1" i="0" lang="en-PH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values in a single variable</a:t>
            </a:r>
            <a:r>
              <a:rPr b="0" i="0" lang="en-PH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Instead of creating many separate variables, you can group related data together.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3040" y="76200"/>
            <a:ext cx="6232051" cy="7162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3961" y="1724133"/>
            <a:ext cx="7325677" cy="1817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6618" y="3646637"/>
            <a:ext cx="7293020" cy="1915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3163954"/>
            <a:ext cx="8011071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4069" y="4629924"/>
            <a:ext cx="8017602" cy="1149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4068" y="848821"/>
            <a:ext cx="8011071" cy="2104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0129" y="744792"/>
            <a:ext cx="8133342" cy="3880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0129" y="4625153"/>
            <a:ext cx="8133342" cy="2582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400479"/>
            <a:ext cx="8599025" cy="3535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3907502"/>
            <a:ext cx="8599025" cy="3026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862" y="76200"/>
            <a:ext cx="8307873" cy="4946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862" y="4990686"/>
            <a:ext cx="8307873" cy="1852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083" y="1447491"/>
            <a:ext cx="9021434" cy="4420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22"/>
          <p:cNvPicPr preferRelativeResize="0"/>
          <p:nvPr/>
        </p:nvPicPr>
        <p:blipFill rotWithShape="1">
          <a:blip r:embed="rId3">
            <a:alphaModFix/>
          </a:blip>
          <a:srcRect b="20476" l="0" r="0" t="0"/>
          <a:stretch/>
        </p:blipFill>
        <p:spPr>
          <a:xfrm>
            <a:off x="366083" y="1711179"/>
            <a:ext cx="9021434" cy="3515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083" y="2168378"/>
            <a:ext cx="9021434" cy="3057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3"/>
          <p:cNvSpPr txBox="1"/>
          <p:nvPr/>
        </p:nvSpPr>
        <p:spPr>
          <a:xfrm>
            <a:off x="533400" y="378947"/>
            <a:ext cx="8640426" cy="1639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PH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Functions in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3"/>
          <p:cNvSpPr txBox="1"/>
          <p:nvPr/>
        </p:nvSpPr>
        <p:spPr>
          <a:xfrm>
            <a:off x="990600" y="2590800"/>
            <a:ext cx="8183226" cy="1639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PH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 Function?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PH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i="0" lang="en-PH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r>
              <a:rPr b="0" i="0" lang="en-PH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reusable block of code that performs a specific task. Instead of writing the same code multiple times, you can define it once and call it whenever needed.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4"/>
          <p:cNvSpPr txBox="1"/>
          <p:nvPr/>
        </p:nvSpPr>
        <p:spPr>
          <a:xfrm>
            <a:off x="304800" y="570337"/>
            <a:ext cx="9372600" cy="1639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PH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Defining and Calling Function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1" name="Google Shape;32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2209800"/>
            <a:ext cx="6296297" cy="4591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5"/>
          <p:cNvSpPr txBox="1"/>
          <p:nvPr/>
        </p:nvSpPr>
        <p:spPr>
          <a:xfrm>
            <a:off x="304800" y="570337"/>
            <a:ext cx="9372600" cy="1639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PH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Defining and Calling Function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" name="Google Shape;33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3305" y="2286000"/>
            <a:ext cx="8106990" cy="4297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6"/>
          <p:cNvSpPr txBox="1"/>
          <p:nvPr/>
        </p:nvSpPr>
        <p:spPr>
          <a:xfrm>
            <a:off x="533400" y="378947"/>
            <a:ext cx="8640426" cy="1639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PH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6"/>
          <p:cNvSpPr txBox="1"/>
          <p:nvPr/>
        </p:nvSpPr>
        <p:spPr>
          <a:xfrm>
            <a:off x="682481" y="2667000"/>
            <a:ext cx="2643813" cy="1639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PH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Parameters allow you to pass information into a function.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2" name="Google Shape;34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5219" y="1631241"/>
            <a:ext cx="5946919" cy="5520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7"/>
          <p:cNvSpPr txBox="1"/>
          <p:nvPr/>
        </p:nvSpPr>
        <p:spPr>
          <a:xfrm>
            <a:off x="533400" y="378947"/>
            <a:ext cx="8640426" cy="1639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PH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7"/>
          <p:cNvSpPr txBox="1"/>
          <p:nvPr/>
        </p:nvSpPr>
        <p:spPr>
          <a:xfrm>
            <a:off x="682481" y="2667000"/>
            <a:ext cx="2643813" cy="1639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PH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parameters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3" name="Google Shape;35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4167" y="1698815"/>
            <a:ext cx="4876800" cy="543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8"/>
          <p:cNvSpPr txBox="1"/>
          <p:nvPr/>
        </p:nvSpPr>
        <p:spPr>
          <a:xfrm>
            <a:off x="533400" y="378947"/>
            <a:ext cx="8640426" cy="1639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PH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values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8"/>
          <p:cNvSpPr txBox="1"/>
          <p:nvPr/>
        </p:nvSpPr>
        <p:spPr>
          <a:xfrm>
            <a:off x="685800" y="2837869"/>
            <a:ext cx="2643813" cy="1639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PH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Instead of printing the result, a function can </a:t>
            </a:r>
            <a:r>
              <a:rPr b="1" i="0" lang="en-PH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b="0" i="0" lang="en-PH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value using the </a:t>
            </a:r>
            <a:r>
              <a:rPr b="0" i="0" lang="en-PH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b="0" i="0" lang="en-PH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keyword.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4" name="Google Shape;36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4683" y="1981399"/>
            <a:ext cx="5134203" cy="5269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767" y="1004517"/>
            <a:ext cx="9250066" cy="5306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FFFFFF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Jennifer Kirsten</dc:creator>
</cp:coreProperties>
</file>