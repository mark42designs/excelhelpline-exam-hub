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09" d="100"/>
          <a:sy n="109" d="100"/>
        </p:scale>
        <p:origin x="100" y="10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63960800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94360" y="1325880"/>
            <a:ext cx="5486400" cy="274320"/>
          </a:xfrm>
          <a:prstGeom prst="rect">
            <a:avLst/>
          </a:prstGeom>
          <a:noFill/>
          <a:ln/>
        </p:spPr>
        <p:txBody>
          <a:bodyPr wrap="square" lIns="0" tIns="0" rIns="0" bIns="0" rtlCol="0" anchor="t"/>
          <a:lstStyle/>
          <a:p>
            <a:pPr marL="0" indent="0">
              <a:buNone/>
            </a:pPr>
            <a:r>
              <a:rPr lang="en-US" sz="1200" b="1" kern="0" spc="300" dirty="0">
                <a:solidFill>
                  <a:srgbClr val="F0A8DD"/>
                </a:solidFill>
                <a:latin typeface="Calibri" pitchFamily="34" charset="0"/>
                <a:ea typeface="Calibri" pitchFamily="34" charset="-122"/>
                <a:cs typeface="Calibri" pitchFamily="34" charset="-120"/>
              </a:rPr>
              <a:t>PROGRAMMING MODULE</a:t>
            </a:r>
            <a:endParaRPr lang="en-US" sz="1200" dirty="0"/>
          </a:p>
        </p:txBody>
      </p:sp>
      <p:sp>
        <p:nvSpPr>
          <p:cNvPr id="3" name="Text 1"/>
          <p:cNvSpPr txBox="1"/>
          <p:nvPr/>
        </p:nvSpPr>
        <p:spPr>
          <a:xfrm>
            <a:off x="594360" y="1645920"/>
            <a:ext cx="5943600" cy="1188720"/>
          </a:xfrm>
          <a:prstGeom prst="rect">
            <a:avLst/>
          </a:prstGeom>
          <a:noFill/>
          <a:ln/>
        </p:spPr>
        <p:txBody>
          <a:bodyPr wrap="square" lIns="0" tIns="0" rIns="0" bIns="0" rtlCol="0" anchor="t"/>
          <a:lstStyle/>
          <a:p>
            <a:pPr marL="0" indent="0">
              <a:buNone/>
            </a:pPr>
            <a:r>
              <a:rPr lang="en-US" sz="6600" b="1" dirty="0">
                <a:solidFill>
                  <a:srgbClr val="FFFFFF"/>
                </a:solidFill>
                <a:latin typeface="Calibri" pitchFamily="34" charset="0"/>
                <a:ea typeface="Calibri" pitchFamily="34" charset="-122"/>
                <a:cs typeface="Calibri" pitchFamily="34" charset="-120"/>
              </a:rPr>
              <a:t>Python</a:t>
            </a:r>
            <a:endParaRPr lang="en-US" sz="6600" dirty="0"/>
          </a:p>
        </p:txBody>
      </p:sp>
      <p:sp>
        <p:nvSpPr>
          <p:cNvPr id="4" name="Text 2"/>
          <p:cNvSpPr txBox="1"/>
          <p:nvPr/>
        </p:nvSpPr>
        <p:spPr>
          <a:xfrm>
            <a:off x="594360" y="2880360"/>
            <a:ext cx="5212080" cy="822960"/>
          </a:xfrm>
          <a:prstGeom prst="rect">
            <a:avLst/>
          </a:prstGeom>
          <a:noFill/>
          <a:ln/>
        </p:spPr>
        <p:txBody>
          <a:bodyPr wrap="square" lIns="0" tIns="0" rIns="0" bIns="0" rtlCol="0" anchor="t"/>
          <a:lstStyle/>
          <a:p>
            <a:pPr marL="0" indent="0">
              <a:buNone/>
            </a:pPr>
            <a:r>
              <a:rPr lang="en-US" sz="1600" dirty="0">
                <a:solidFill>
                  <a:srgbClr val="C9CCFF"/>
                </a:solidFill>
                <a:latin typeface="Calibri" pitchFamily="34" charset="0"/>
                <a:ea typeface="Calibri" pitchFamily="34" charset="-122"/>
                <a:cs typeface="Calibri" pitchFamily="34" charset="-120"/>
              </a:rPr>
              <a:t>Error handling, collections and the core data structures every Python program is built on.</a:t>
            </a:r>
            <a:endParaRPr lang="en-US" sz="1600" dirty="0"/>
          </a:p>
        </p:txBody>
      </p:sp>
      <p:sp>
        <p:nvSpPr>
          <p:cNvPr id="5" name="Shape 3"/>
          <p:cNvSpPr/>
          <p:nvPr/>
        </p:nvSpPr>
        <p:spPr>
          <a:xfrm>
            <a:off x="594360" y="3977640"/>
            <a:ext cx="329184" cy="329184"/>
          </a:xfrm>
          <a:prstGeom prst="ellipse">
            <a:avLst/>
          </a:prstGeom>
          <a:solidFill>
            <a:srgbClr val="3B3791"/>
          </a:solidFill>
          <a:ln w="12700">
            <a:solidFill>
              <a:srgbClr val="3B3791"/>
            </a:solidFill>
            <a:prstDash val="solid"/>
          </a:ln>
        </p:spPr>
        <p:txBody>
          <a:bodyPr/>
          <a:lstStyle/>
          <a:p>
            <a:endParaRPr lang="en-PH"/>
          </a:p>
        </p:txBody>
      </p:sp>
      <p:sp>
        <p:nvSpPr>
          <p:cNvPr id="6" name="Text 4"/>
          <p:cNvSpPr txBox="1"/>
          <p:nvPr/>
        </p:nvSpPr>
        <p:spPr>
          <a:xfrm>
            <a:off x="594360" y="3977640"/>
            <a:ext cx="329184" cy="329184"/>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01</a:t>
            </a:r>
            <a:endParaRPr lang="en-US" sz="1000" dirty="0"/>
          </a:p>
        </p:txBody>
      </p:sp>
      <p:sp>
        <p:nvSpPr>
          <p:cNvPr id="7" name="Text 5"/>
          <p:cNvSpPr txBox="1"/>
          <p:nvPr/>
        </p:nvSpPr>
        <p:spPr>
          <a:xfrm>
            <a:off x="1051560" y="3977640"/>
            <a:ext cx="4572000" cy="329184"/>
          </a:xfrm>
          <a:prstGeom prst="rect">
            <a:avLst/>
          </a:prstGeom>
          <a:noFill/>
          <a:ln/>
        </p:spPr>
        <p:txBody>
          <a:bodyPr wrap="square" lIns="0" tIns="0" rIns="0" bIns="0" rtlCol="0" anchor="ctr"/>
          <a:lstStyle/>
          <a:p>
            <a:pPr marL="0" indent="0">
              <a:buNone/>
            </a:pPr>
            <a:r>
              <a:rPr lang="en-US" sz="1400" dirty="0">
                <a:solidFill>
                  <a:srgbClr val="FFFFFF"/>
                </a:solidFill>
                <a:latin typeface="Calibri" pitchFamily="34" charset="0"/>
                <a:ea typeface="Calibri" pitchFamily="34" charset="-122"/>
                <a:cs typeface="Calibri" pitchFamily="34" charset="-120"/>
              </a:rPr>
              <a:t>Error Handling</a:t>
            </a:r>
            <a:endParaRPr lang="en-US" sz="1400" dirty="0"/>
          </a:p>
        </p:txBody>
      </p:sp>
      <p:sp>
        <p:nvSpPr>
          <p:cNvPr id="8" name="Shape 6"/>
          <p:cNvSpPr/>
          <p:nvPr/>
        </p:nvSpPr>
        <p:spPr>
          <a:xfrm>
            <a:off x="594360" y="4407408"/>
            <a:ext cx="329184" cy="329184"/>
          </a:xfrm>
          <a:prstGeom prst="ellipse">
            <a:avLst/>
          </a:prstGeom>
          <a:solidFill>
            <a:srgbClr val="3B3791"/>
          </a:solidFill>
          <a:ln w="12700">
            <a:solidFill>
              <a:srgbClr val="3B3791"/>
            </a:solidFill>
            <a:prstDash val="solid"/>
          </a:ln>
        </p:spPr>
        <p:txBody>
          <a:bodyPr/>
          <a:lstStyle/>
          <a:p>
            <a:endParaRPr lang="en-PH"/>
          </a:p>
        </p:txBody>
      </p:sp>
      <p:sp>
        <p:nvSpPr>
          <p:cNvPr id="9" name="Text 7"/>
          <p:cNvSpPr txBox="1"/>
          <p:nvPr/>
        </p:nvSpPr>
        <p:spPr>
          <a:xfrm>
            <a:off x="594360" y="4407408"/>
            <a:ext cx="329184" cy="329184"/>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02</a:t>
            </a:r>
            <a:endParaRPr lang="en-US" sz="1000" dirty="0"/>
          </a:p>
        </p:txBody>
      </p:sp>
      <p:sp>
        <p:nvSpPr>
          <p:cNvPr id="10" name="Text 8"/>
          <p:cNvSpPr txBox="1"/>
          <p:nvPr/>
        </p:nvSpPr>
        <p:spPr>
          <a:xfrm>
            <a:off x="1051560" y="4407408"/>
            <a:ext cx="4572000" cy="329184"/>
          </a:xfrm>
          <a:prstGeom prst="rect">
            <a:avLst/>
          </a:prstGeom>
          <a:noFill/>
          <a:ln/>
        </p:spPr>
        <p:txBody>
          <a:bodyPr wrap="square" lIns="0" tIns="0" rIns="0" bIns="0" rtlCol="0" anchor="ctr"/>
          <a:lstStyle/>
          <a:p>
            <a:pPr marL="0" indent="0">
              <a:buNone/>
            </a:pPr>
            <a:r>
              <a:rPr lang="en-US" sz="1400" dirty="0">
                <a:solidFill>
                  <a:srgbClr val="FFFFFF"/>
                </a:solidFill>
                <a:latin typeface="Calibri" pitchFamily="34" charset="0"/>
                <a:ea typeface="Calibri" pitchFamily="34" charset="-122"/>
                <a:cs typeface="Calibri" pitchFamily="34" charset="-120"/>
              </a:rPr>
              <a:t>List and Tuples</a:t>
            </a:r>
            <a:endParaRPr lang="en-US" sz="1400" dirty="0"/>
          </a:p>
        </p:txBody>
      </p:sp>
      <p:sp>
        <p:nvSpPr>
          <p:cNvPr id="11" name="Shape 9"/>
          <p:cNvSpPr/>
          <p:nvPr/>
        </p:nvSpPr>
        <p:spPr>
          <a:xfrm>
            <a:off x="594360" y="4837176"/>
            <a:ext cx="329184" cy="329184"/>
          </a:xfrm>
          <a:prstGeom prst="ellipse">
            <a:avLst/>
          </a:prstGeom>
          <a:solidFill>
            <a:srgbClr val="3B3791"/>
          </a:solidFill>
          <a:ln w="12700">
            <a:solidFill>
              <a:srgbClr val="3B3791"/>
            </a:solidFill>
            <a:prstDash val="solid"/>
          </a:ln>
        </p:spPr>
        <p:txBody>
          <a:bodyPr/>
          <a:lstStyle/>
          <a:p>
            <a:endParaRPr lang="en-PH"/>
          </a:p>
        </p:txBody>
      </p:sp>
      <p:sp>
        <p:nvSpPr>
          <p:cNvPr id="12" name="Text 10"/>
          <p:cNvSpPr txBox="1"/>
          <p:nvPr/>
        </p:nvSpPr>
        <p:spPr>
          <a:xfrm>
            <a:off x="594360" y="4837176"/>
            <a:ext cx="329184" cy="329184"/>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03</a:t>
            </a:r>
            <a:endParaRPr lang="en-US" sz="1000" dirty="0"/>
          </a:p>
        </p:txBody>
      </p:sp>
      <p:sp>
        <p:nvSpPr>
          <p:cNvPr id="13" name="Text 11"/>
          <p:cNvSpPr txBox="1"/>
          <p:nvPr/>
        </p:nvSpPr>
        <p:spPr>
          <a:xfrm>
            <a:off x="1051560" y="4837176"/>
            <a:ext cx="4572000" cy="329184"/>
          </a:xfrm>
          <a:prstGeom prst="rect">
            <a:avLst/>
          </a:prstGeom>
          <a:noFill/>
          <a:ln/>
        </p:spPr>
        <p:txBody>
          <a:bodyPr wrap="square" lIns="0" tIns="0" rIns="0" bIns="0" rtlCol="0" anchor="ctr"/>
          <a:lstStyle/>
          <a:p>
            <a:pPr marL="0" indent="0">
              <a:buNone/>
            </a:pPr>
            <a:r>
              <a:rPr lang="en-US" sz="1400" dirty="0">
                <a:solidFill>
                  <a:srgbClr val="FFFFFF"/>
                </a:solidFill>
                <a:latin typeface="Calibri" pitchFamily="34" charset="0"/>
                <a:ea typeface="Calibri" pitchFamily="34" charset="-122"/>
                <a:cs typeface="Calibri" pitchFamily="34" charset="-120"/>
              </a:rPr>
              <a:t>Dictionary5</a:t>
            </a:r>
            <a:endParaRPr lang="en-US" sz="1400" dirty="0"/>
          </a:p>
        </p:txBody>
      </p:sp>
      <p:sp>
        <p:nvSpPr>
          <p:cNvPr id="14" name="Shape 12"/>
          <p:cNvSpPr/>
          <p:nvPr/>
        </p:nvSpPr>
        <p:spPr>
          <a:xfrm>
            <a:off x="594360" y="5266944"/>
            <a:ext cx="329184" cy="329184"/>
          </a:xfrm>
          <a:prstGeom prst="ellipse">
            <a:avLst/>
          </a:prstGeom>
          <a:solidFill>
            <a:srgbClr val="3B3791"/>
          </a:solidFill>
          <a:ln w="12700">
            <a:solidFill>
              <a:srgbClr val="3B3791"/>
            </a:solidFill>
            <a:prstDash val="solid"/>
          </a:ln>
        </p:spPr>
        <p:txBody>
          <a:bodyPr/>
          <a:lstStyle/>
          <a:p>
            <a:endParaRPr lang="en-PH"/>
          </a:p>
        </p:txBody>
      </p:sp>
      <p:sp>
        <p:nvSpPr>
          <p:cNvPr id="15" name="Text 13"/>
          <p:cNvSpPr txBox="1"/>
          <p:nvPr/>
        </p:nvSpPr>
        <p:spPr>
          <a:xfrm>
            <a:off x="594360" y="5266944"/>
            <a:ext cx="329184" cy="329184"/>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04</a:t>
            </a:r>
            <a:endParaRPr lang="en-US" sz="1000" dirty="0"/>
          </a:p>
        </p:txBody>
      </p:sp>
      <p:sp>
        <p:nvSpPr>
          <p:cNvPr id="16" name="Text 14"/>
          <p:cNvSpPr txBox="1"/>
          <p:nvPr/>
        </p:nvSpPr>
        <p:spPr>
          <a:xfrm>
            <a:off x="1051560" y="5266944"/>
            <a:ext cx="4572000" cy="329184"/>
          </a:xfrm>
          <a:prstGeom prst="rect">
            <a:avLst/>
          </a:prstGeom>
          <a:noFill/>
          <a:ln/>
        </p:spPr>
        <p:txBody>
          <a:bodyPr wrap="square" lIns="0" tIns="0" rIns="0" bIns="0" rtlCol="0" anchor="ctr"/>
          <a:lstStyle/>
          <a:p>
            <a:pPr marL="0" indent="0">
              <a:buNone/>
            </a:pPr>
            <a:r>
              <a:rPr lang="en-US" sz="1400" dirty="0">
                <a:solidFill>
                  <a:srgbClr val="FFFFFF"/>
                </a:solidFill>
                <a:latin typeface="Calibri" pitchFamily="34" charset="0"/>
                <a:ea typeface="Calibri" pitchFamily="34" charset="-122"/>
                <a:cs typeface="Calibri" pitchFamily="34" charset="-120"/>
              </a:rPr>
              <a:t>Sets</a:t>
            </a:r>
            <a:endParaRPr lang="en-US" sz="1400" dirty="0"/>
          </a:p>
        </p:txBody>
      </p:sp>
      <p:sp>
        <p:nvSpPr>
          <p:cNvPr id="17" name="Shape 15"/>
          <p:cNvSpPr/>
          <p:nvPr/>
        </p:nvSpPr>
        <p:spPr>
          <a:xfrm>
            <a:off x="594360" y="5696712"/>
            <a:ext cx="329184" cy="329184"/>
          </a:xfrm>
          <a:prstGeom prst="ellipse">
            <a:avLst/>
          </a:prstGeom>
          <a:solidFill>
            <a:srgbClr val="3B3791"/>
          </a:solidFill>
          <a:ln w="12700">
            <a:solidFill>
              <a:srgbClr val="3B3791"/>
            </a:solidFill>
            <a:prstDash val="solid"/>
          </a:ln>
        </p:spPr>
        <p:txBody>
          <a:bodyPr/>
          <a:lstStyle/>
          <a:p>
            <a:endParaRPr lang="en-PH"/>
          </a:p>
        </p:txBody>
      </p:sp>
      <p:sp>
        <p:nvSpPr>
          <p:cNvPr id="18" name="Text 16"/>
          <p:cNvSpPr txBox="1"/>
          <p:nvPr/>
        </p:nvSpPr>
        <p:spPr>
          <a:xfrm>
            <a:off x="594360" y="5696712"/>
            <a:ext cx="329184" cy="329184"/>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05</a:t>
            </a:r>
            <a:endParaRPr lang="en-US" sz="1000" dirty="0"/>
          </a:p>
        </p:txBody>
      </p:sp>
      <p:sp>
        <p:nvSpPr>
          <p:cNvPr id="19" name="Text 17"/>
          <p:cNvSpPr txBox="1"/>
          <p:nvPr/>
        </p:nvSpPr>
        <p:spPr>
          <a:xfrm>
            <a:off x="1051560" y="5696712"/>
            <a:ext cx="4572000" cy="329184"/>
          </a:xfrm>
          <a:prstGeom prst="rect">
            <a:avLst/>
          </a:prstGeom>
          <a:noFill/>
          <a:ln/>
        </p:spPr>
        <p:txBody>
          <a:bodyPr wrap="square" lIns="0" tIns="0" rIns="0" bIns="0" rtlCol="0" anchor="ctr"/>
          <a:lstStyle/>
          <a:p>
            <a:pPr marL="0" indent="0">
              <a:buNone/>
            </a:pPr>
            <a:r>
              <a:rPr lang="en-US" sz="1400" dirty="0">
                <a:solidFill>
                  <a:srgbClr val="FFFFFF"/>
                </a:solidFill>
                <a:latin typeface="Calibri" pitchFamily="34" charset="0"/>
                <a:ea typeface="Calibri" pitchFamily="34" charset="-122"/>
                <a:cs typeface="Calibri" pitchFamily="34" charset="-120"/>
              </a:rPr>
              <a:t>Data Structure In Python</a:t>
            </a:r>
            <a:endParaRPr lang="en-US" sz="1400" dirty="0"/>
          </a:p>
        </p:txBody>
      </p:sp>
      <p:sp>
        <p:nvSpPr>
          <p:cNvPr id="20" name="Shape 18"/>
          <p:cNvSpPr/>
          <p:nvPr/>
        </p:nvSpPr>
        <p:spPr>
          <a:xfrm>
            <a:off x="6400800" y="1417320"/>
            <a:ext cx="5257800" cy="2348738"/>
          </a:xfrm>
          <a:prstGeom prst="roundRect">
            <a:avLst>
              <a:gd name="adj" fmla="val 3893"/>
            </a:avLst>
          </a:prstGeom>
          <a:solidFill>
            <a:srgbClr val="1F1D36"/>
          </a:solidFill>
          <a:ln w="12700">
            <a:solidFill>
              <a:srgbClr val="1F1D36"/>
            </a:solidFill>
            <a:prstDash val="solid"/>
          </a:ln>
        </p:spPr>
        <p:txBody>
          <a:bodyPr/>
          <a:lstStyle/>
          <a:p>
            <a:endParaRPr lang="en-PH"/>
          </a:p>
        </p:txBody>
      </p:sp>
      <p:sp>
        <p:nvSpPr>
          <p:cNvPr id="21" name="Text 19"/>
          <p:cNvSpPr txBox="1"/>
          <p:nvPr/>
        </p:nvSpPr>
        <p:spPr>
          <a:xfrm>
            <a:off x="6565392" y="1499616"/>
            <a:ext cx="4928616" cy="201168"/>
          </a:xfrm>
          <a:prstGeom prst="rect">
            <a:avLst/>
          </a:prstGeom>
          <a:noFill/>
          <a:ln/>
        </p:spPr>
        <p:txBody>
          <a:bodyPr wrap="square" lIns="0" tIns="0" rIns="0" bIns="0" rtlCol="0" anchor="ctr"/>
          <a:lstStyle/>
          <a:p>
            <a:pPr marL="0" indent="0">
              <a:buNone/>
            </a:pPr>
            <a:r>
              <a:rPr lang="en-US" sz="900" b="1" dirty="0">
                <a:solidFill>
                  <a:srgbClr val="8A8FB5"/>
                </a:solidFill>
                <a:latin typeface="Calibri" pitchFamily="34" charset="0"/>
                <a:ea typeface="Calibri" pitchFamily="34" charset="-122"/>
                <a:cs typeface="Calibri" pitchFamily="34" charset="-120"/>
              </a:rPr>
              <a:t>&lt;/&gt;  Python · module preview</a:t>
            </a:r>
            <a:endParaRPr lang="en-US" sz="900" dirty="0"/>
          </a:p>
        </p:txBody>
      </p:sp>
      <p:sp>
        <p:nvSpPr>
          <p:cNvPr id="22" name="Text 20"/>
          <p:cNvSpPr txBox="1"/>
          <p:nvPr/>
        </p:nvSpPr>
        <p:spPr>
          <a:xfrm>
            <a:off x="6565392" y="1746504"/>
            <a:ext cx="4983480" cy="1964690"/>
          </a:xfrm>
          <a:prstGeom prst="rect">
            <a:avLst/>
          </a:prstGeom>
          <a:noFill/>
          <a:ln/>
        </p:spPr>
        <p:txBody>
          <a:bodyPr wrap="square" lIns="0" tIns="0" rIns="0" bIns="0" rtlCol="0" anchor="t"/>
          <a:lstStyle/>
          <a:p>
            <a:pPr marL="0" indent="0">
              <a:buNone/>
            </a:pPr>
            <a:r>
              <a:rPr lang="en-US" sz="1250" dirty="0">
                <a:solidFill>
                  <a:srgbClr val="D3A6FF"/>
                </a:solidFill>
                <a:latin typeface="Courier New" pitchFamily="34" charset="0"/>
                <a:ea typeface="Courier New" pitchFamily="34" charset="-122"/>
                <a:cs typeface="Courier New" pitchFamily="34" charset="-120"/>
              </a:rPr>
              <a:t>try</a:t>
            </a:r>
            <a:r>
              <a:rPr lang="en-US" sz="1250" dirty="0">
                <a:solidFill>
                  <a:srgbClr val="E4E4F0"/>
                </a:solidFill>
                <a:latin typeface="Courier New" pitchFamily="34" charset="0"/>
                <a:ea typeface="Courier New" pitchFamily="34" charset="-122"/>
                <a:cs typeface="Courier New" pitchFamily="34" charset="-120"/>
              </a:rPr>
              <a:t>:</a:t>
            </a:r>
            <a:endParaRPr lang="en-US" sz="1250" dirty="0"/>
          </a:p>
          <a:p>
            <a:pPr marL="0" indent="0">
              <a:buNone/>
            </a:pPr>
            <a:r>
              <a:rPr lang="en-US" sz="1250" dirty="0">
                <a:solidFill>
                  <a:srgbClr val="E4E4F0"/>
                </a:solidFill>
                <a:latin typeface="Courier New" pitchFamily="34" charset="0"/>
                <a:ea typeface="Courier New" pitchFamily="34" charset="-122"/>
                <a:cs typeface="Courier New" pitchFamily="34" charset="-120"/>
              </a:rPr>
              <a:t>    data = {</a:t>
            </a:r>
            <a:r>
              <a:rPr lang="en-US" sz="1250" dirty="0">
                <a:solidFill>
                  <a:srgbClr val="A6E3A1"/>
                </a:solidFill>
                <a:latin typeface="Courier New" pitchFamily="34" charset="0"/>
                <a:ea typeface="Courier New" pitchFamily="34" charset="-122"/>
                <a:cs typeface="Courier New" pitchFamily="34" charset="-120"/>
              </a:rPr>
              <a:t>"name"</a:t>
            </a:r>
            <a:r>
              <a:rPr lang="en-US" sz="1250" dirty="0">
                <a:solidFill>
                  <a:srgbClr val="E4E4F0"/>
                </a:solidFill>
                <a:latin typeface="Courier New" pitchFamily="34" charset="0"/>
                <a:ea typeface="Courier New" pitchFamily="34" charset="-122"/>
                <a:cs typeface="Courier New" pitchFamily="34" charset="-120"/>
              </a:rPr>
              <a:t>: </a:t>
            </a:r>
            <a:r>
              <a:rPr lang="en-US" sz="1250" dirty="0">
                <a:solidFill>
                  <a:srgbClr val="A6E3A1"/>
                </a:solidFill>
                <a:latin typeface="Courier New" pitchFamily="34" charset="0"/>
                <a:ea typeface="Courier New" pitchFamily="34" charset="-122"/>
                <a:cs typeface="Courier New" pitchFamily="34" charset="-120"/>
              </a:rPr>
              <a:t>"Jake"</a:t>
            </a:r>
            <a:r>
              <a:rPr lang="en-US" sz="1250" dirty="0">
                <a:solidFill>
                  <a:srgbClr val="E4E4F0"/>
                </a:solidFill>
                <a:latin typeface="Courier New" pitchFamily="34" charset="0"/>
                <a:ea typeface="Courier New" pitchFamily="34" charset="-122"/>
                <a:cs typeface="Courier New" pitchFamily="34" charset="-120"/>
              </a:rPr>
              <a:t>, </a:t>
            </a:r>
            <a:r>
              <a:rPr lang="en-US" sz="1250" dirty="0">
                <a:solidFill>
                  <a:srgbClr val="A6E3A1"/>
                </a:solidFill>
                <a:latin typeface="Courier New" pitchFamily="34" charset="0"/>
                <a:ea typeface="Courier New" pitchFamily="34" charset="-122"/>
                <a:cs typeface="Courier New" pitchFamily="34" charset="-120"/>
              </a:rPr>
              <a:t>"age"</a:t>
            </a:r>
            <a:r>
              <a:rPr lang="en-US" sz="1250" dirty="0">
                <a:solidFill>
                  <a:srgbClr val="E4E4F0"/>
                </a:solidFill>
                <a:latin typeface="Courier New" pitchFamily="34" charset="0"/>
                <a:ea typeface="Courier New" pitchFamily="34" charset="-122"/>
                <a:cs typeface="Courier New" pitchFamily="34" charset="-120"/>
              </a:rPr>
              <a:t>: </a:t>
            </a:r>
            <a:r>
              <a:rPr lang="en-US" sz="1250" dirty="0">
                <a:solidFill>
                  <a:srgbClr val="FAB387"/>
                </a:solidFill>
                <a:latin typeface="Courier New" pitchFamily="34" charset="0"/>
                <a:ea typeface="Courier New" pitchFamily="34" charset="-122"/>
                <a:cs typeface="Courier New" pitchFamily="34" charset="-120"/>
              </a:rPr>
              <a:t>22</a:t>
            </a:r>
            <a:r>
              <a:rPr lang="en-US" sz="1250" dirty="0">
                <a:solidFill>
                  <a:srgbClr val="E4E4F0"/>
                </a:solidFill>
                <a:latin typeface="Courier New" pitchFamily="34" charset="0"/>
                <a:ea typeface="Courier New" pitchFamily="34" charset="-122"/>
                <a:cs typeface="Courier New" pitchFamily="34" charset="-120"/>
              </a:rPr>
              <a:t>}</a:t>
            </a:r>
            <a:endParaRPr lang="en-US" sz="1250" dirty="0"/>
          </a:p>
          <a:p>
            <a:pPr marL="0" indent="0">
              <a:buNone/>
            </a:pPr>
            <a:r>
              <a:rPr lang="en-US" sz="1250" dirty="0">
                <a:solidFill>
                  <a:srgbClr val="E4E4F0"/>
                </a:solidFill>
                <a:latin typeface="Courier New" pitchFamily="34" charset="0"/>
                <a:ea typeface="Courier New" pitchFamily="34" charset="-122"/>
                <a:cs typeface="Courier New" pitchFamily="34" charset="-120"/>
              </a:rPr>
              <a:t>    fruits = [</a:t>
            </a:r>
            <a:r>
              <a:rPr lang="en-US" sz="1250" dirty="0">
                <a:solidFill>
                  <a:srgbClr val="A6E3A1"/>
                </a:solidFill>
                <a:latin typeface="Courier New" pitchFamily="34" charset="0"/>
                <a:ea typeface="Courier New" pitchFamily="34" charset="-122"/>
                <a:cs typeface="Courier New" pitchFamily="34" charset="-120"/>
              </a:rPr>
              <a:t>"Apple"</a:t>
            </a:r>
            <a:r>
              <a:rPr lang="en-US" sz="1250" dirty="0">
                <a:solidFill>
                  <a:srgbClr val="E4E4F0"/>
                </a:solidFill>
                <a:latin typeface="Courier New" pitchFamily="34" charset="0"/>
                <a:ea typeface="Courier New" pitchFamily="34" charset="-122"/>
                <a:cs typeface="Courier New" pitchFamily="34" charset="-120"/>
              </a:rPr>
              <a:t>, </a:t>
            </a:r>
            <a:r>
              <a:rPr lang="en-US" sz="1250" dirty="0">
                <a:solidFill>
                  <a:srgbClr val="A6E3A1"/>
                </a:solidFill>
                <a:latin typeface="Courier New" pitchFamily="34" charset="0"/>
                <a:ea typeface="Courier New" pitchFamily="34" charset="-122"/>
                <a:cs typeface="Courier New" pitchFamily="34" charset="-120"/>
              </a:rPr>
              <a:t>"Banana"</a:t>
            </a:r>
            <a:r>
              <a:rPr lang="en-US" sz="1250" dirty="0">
                <a:solidFill>
                  <a:srgbClr val="E4E4F0"/>
                </a:solidFill>
                <a:latin typeface="Courier New" pitchFamily="34" charset="0"/>
                <a:ea typeface="Courier New" pitchFamily="34" charset="-122"/>
                <a:cs typeface="Courier New" pitchFamily="34" charset="-120"/>
              </a:rPr>
              <a:t>, </a:t>
            </a:r>
            <a:r>
              <a:rPr lang="en-US" sz="1250" dirty="0">
                <a:solidFill>
                  <a:srgbClr val="A6E3A1"/>
                </a:solidFill>
                <a:latin typeface="Courier New" pitchFamily="34" charset="0"/>
                <a:ea typeface="Courier New" pitchFamily="34" charset="-122"/>
                <a:cs typeface="Courier New" pitchFamily="34" charset="-120"/>
              </a:rPr>
              <a:t>"Mango"</a:t>
            </a:r>
            <a:r>
              <a:rPr lang="en-US" sz="1250" dirty="0">
                <a:solidFill>
                  <a:srgbClr val="E4E4F0"/>
                </a:solidFill>
                <a:latin typeface="Courier New" pitchFamily="34" charset="0"/>
                <a:ea typeface="Courier New" pitchFamily="34" charset="-122"/>
                <a:cs typeface="Courier New" pitchFamily="34" charset="-120"/>
              </a:rPr>
              <a:t>]</a:t>
            </a:r>
            <a:endParaRPr lang="en-US" sz="1250" dirty="0"/>
          </a:p>
          <a:p>
            <a:pPr marL="0" indent="0">
              <a:buNone/>
            </a:pPr>
            <a:r>
              <a:rPr lang="en-US" sz="1250" dirty="0">
                <a:solidFill>
                  <a:srgbClr val="E4E4F0"/>
                </a:solidFill>
                <a:latin typeface="Courier New" pitchFamily="34" charset="0"/>
                <a:ea typeface="Courier New" pitchFamily="34" charset="-122"/>
                <a:cs typeface="Courier New" pitchFamily="34" charset="-120"/>
              </a:rPr>
              <a:t>    point = (</a:t>
            </a:r>
            <a:r>
              <a:rPr lang="en-US" sz="1250" dirty="0">
                <a:solidFill>
                  <a:srgbClr val="FAB387"/>
                </a:solidFill>
                <a:latin typeface="Courier New" pitchFamily="34" charset="0"/>
                <a:ea typeface="Courier New" pitchFamily="34" charset="-122"/>
                <a:cs typeface="Courier New" pitchFamily="34" charset="-120"/>
              </a:rPr>
              <a:t>4</a:t>
            </a:r>
            <a:r>
              <a:rPr lang="en-US" sz="1250" dirty="0">
                <a:solidFill>
                  <a:srgbClr val="E4E4F0"/>
                </a:solidFill>
                <a:latin typeface="Courier New" pitchFamily="34" charset="0"/>
                <a:ea typeface="Courier New" pitchFamily="34" charset="-122"/>
                <a:cs typeface="Courier New" pitchFamily="34" charset="-120"/>
              </a:rPr>
              <a:t>, </a:t>
            </a:r>
            <a:r>
              <a:rPr lang="en-US" sz="1250" dirty="0">
                <a:solidFill>
                  <a:srgbClr val="FAB387"/>
                </a:solidFill>
                <a:latin typeface="Courier New" pitchFamily="34" charset="0"/>
                <a:ea typeface="Courier New" pitchFamily="34" charset="-122"/>
                <a:cs typeface="Courier New" pitchFamily="34" charset="-120"/>
              </a:rPr>
              <a:t>5</a:t>
            </a:r>
            <a:r>
              <a:rPr lang="en-US" sz="1250" dirty="0">
                <a:solidFill>
                  <a:srgbClr val="E4E4F0"/>
                </a:solidFill>
                <a:latin typeface="Courier New" pitchFamily="34" charset="0"/>
                <a:ea typeface="Courier New" pitchFamily="34" charset="-122"/>
                <a:cs typeface="Courier New" pitchFamily="34" charset="-120"/>
              </a:rPr>
              <a:t>)</a:t>
            </a:r>
            <a:endParaRPr lang="en-US" sz="1250" dirty="0"/>
          </a:p>
          <a:p>
            <a:pPr marL="0" indent="0">
              <a:buNone/>
            </a:pPr>
            <a:r>
              <a:rPr lang="en-US" sz="1250" dirty="0">
                <a:solidFill>
                  <a:srgbClr val="E4E4F0"/>
                </a:solidFill>
                <a:latin typeface="Courier New" pitchFamily="34" charset="0"/>
                <a:ea typeface="Courier New" pitchFamily="34" charset="-122"/>
                <a:cs typeface="Courier New" pitchFamily="34" charset="-120"/>
              </a:rPr>
              <a:t>    unique = {</a:t>
            </a:r>
            <a:r>
              <a:rPr lang="en-US" sz="1250" dirty="0">
                <a:solidFill>
                  <a:srgbClr val="FAB387"/>
                </a:solidFill>
                <a:latin typeface="Courier New" pitchFamily="34" charset="0"/>
                <a:ea typeface="Courier New" pitchFamily="34" charset="-122"/>
                <a:cs typeface="Courier New" pitchFamily="34" charset="-120"/>
              </a:rPr>
              <a:t>10</a:t>
            </a:r>
            <a:r>
              <a:rPr lang="en-US" sz="1250" dirty="0">
                <a:solidFill>
                  <a:srgbClr val="E4E4F0"/>
                </a:solidFill>
                <a:latin typeface="Courier New" pitchFamily="34" charset="0"/>
                <a:ea typeface="Courier New" pitchFamily="34" charset="-122"/>
                <a:cs typeface="Courier New" pitchFamily="34" charset="-120"/>
              </a:rPr>
              <a:t>, </a:t>
            </a:r>
            <a:r>
              <a:rPr lang="en-US" sz="1250" dirty="0">
                <a:solidFill>
                  <a:srgbClr val="FAB387"/>
                </a:solidFill>
                <a:latin typeface="Courier New" pitchFamily="34" charset="0"/>
                <a:ea typeface="Courier New" pitchFamily="34" charset="-122"/>
                <a:cs typeface="Courier New" pitchFamily="34" charset="-120"/>
              </a:rPr>
              <a:t>50</a:t>
            </a:r>
            <a:r>
              <a:rPr lang="en-US" sz="1250" dirty="0">
                <a:solidFill>
                  <a:srgbClr val="E4E4F0"/>
                </a:solidFill>
                <a:latin typeface="Courier New" pitchFamily="34" charset="0"/>
                <a:ea typeface="Courier New" pitchFamily="34" charset="-122"/>
                <a:cs typeface="Courier New" pitchFamily="34" charset="-120"/>
              </a:rPr>
              <a:t>, </a:t>
            </a:r>
            <a:r>
              <a:rPr lang="en-US" sz="1250" dirty="0">
                <a:solidFill>
                  <a:srgbClr val="FAB387"/>
                </a:solidFill>
                <a:latin typeface="Courier New" pitchFamily="34" charset="0"/>
                <a:ea typeface="Courier New" pitchFamily="34" charset="-122"/>
                <a:cs typeface="Courier New" pitchFamily="34" charset="-120"/>
              </a:rPr>
              <a:t>20</a:t>
            </a:r>
            <a:r>
              <a:rPr lang="en-US" sz="1250" dirty="0">
                <a:solidFill>
                  <a:srgbClr val="E4E4F0"/>
                </a:solidFill>
                <a:latin typeface="Courier New" pitchFamily="34" charset="0"/>
                <a:ea typeface="Courier New" pitchFamily="34" charset="-122"/>
                <a:cs typeface="Courier New" pitchFamily="34" charset="-120"/>
              </a:rPr>
              <a:t>}</a:t>
            </a:r>
            <a:endParaRPr lang="en-US" sz="1250" dirty="0"/>
          </a:p>
          <a:p>
            <a:pPr marL="0" indent="0">
              <a:buNone/>
            </a:pPr>
            <a:r>
              <a:rPr lang="en-US" sz="1250" dirty="0">
                <a:solidFill>
                  <a:srgbClr val="E4E4F0"/>
                </a:solidFill>
                <a:latin typeface="Courier New" pitchFamily="34" charset="0"/>
                <a:ea typeface="Courier New" pitchFamily="34" charset="-122"/>
                <a:cs typeface="Courier New" pitchFamily="34" charset="-120"/>
              </a:rPr>
              <a:t>    </a:t>
            </a:r>
            <a:r>
              <a:rPr lang="en-US" sz="1250" dirty="0">
                <a:solidFill>
                  <a:srgbClr val="82AAFF"/>
                </a:solidFill>
                <a:latin typeface="Courier New" pitchFamily="34" charset="0"/>
                <a:ea typeface="Courier New" pitchFamily="34" charset="-122"/>
                <a:cs typeface="Courier New" pitchFamily="34" charset="-120"/>
              </a:rPr>
              <a:t>print</a:t>
            </a:r>
            <a:r>
              <a:rPr lang="en-US" sz="1250" dirty="0">
                <a:solidFill>
                  <a:srgbClr val="E4E4F0"/>
                </a:solidFill>
                <a:latin typeface="Courier New" pitchFamily="34" charset="0"/>
                <a:ea typeface="Courier New" pitchFamily="34" charset="-122"/>
                <a:cs typeface="Courier New" pitchFamily="34" charset="-120"/>
              </a:rPr>
              <a:t>(fruits[</a:t>
            </a:r>
            <a:r>
              <a:rPr lang="en-US" sz="1250" dirty="0">
                <a:solidFill>
                  <a:srgbClr val="FAB387"/>
                </a:solidFill>
                <a:latin typeface="Courier New" pitchFamily="34" charset="0"/>
                <a:ea typeface="Courier New" pitchFamily="34" charset="-122"/>
                <a:cs typeface="Courier New" pitchFamily="34" charset="-120"/>
              </a:rPr>
              <a:t>5</a:t>
            </a:r>
            <a:r>
              <a:rPr lang="en-US" sz="1250" dirty="0">
                <a:solidFill>
                  <a:srgbClr val="E4E4F0"/>
                </a:solidFill>
                <a:latin typeface="Courier New" pitchFamily="34" charset="0"/>
                <a:ea typeface="Courier New" pitchFamily="34" charset="-122"/>
                <a:cs typeface="Courier New" pitchFamily="34" charset="-120"/>
              </a:rPr>
              <a:t>])</a:t>
            </a:r>
            <a:endParaRPr lang="en-US" sz="1250" dirty="0"/>
          </a:p>
          <a:p>
            <a:pPr marL="0" indent="0">
              <a:buNone/>
            </a:pPr>
            <a:r>
              <a:rPr lang="en-US" sz="1250" dirty="0">
                <a:solidFill>
                  <a:srgbClr val="D3A6FF"/>
                </a:solidFill>
                <a:latin typeface="Courier New" pitchFamily="34" charset="0"/>
                <a:ea typeface="Courier New" pitchFamily="34" charset="-122"/>
                <a:cs typeface="Courier New" pitchFamily="34" charset="-120"/>
              </a:rPr>
              <a:t>except</a:t>
            </a:r>
            <a:r>
              <a:rPr lang="en-US" sz="1250" dirty="0">
                <a:solidFill>
                  <a:srgbClr val="E4E4F0"/>
                </a:solidFill>
                <a:latin typeface="Courier New" pitchFamily="34" charset="0"/>
                <a:ea typeface="Courier New" pitchFamily="34" charset="-122"/>
                <a:cs typeface="Courier New" pitchFamily="34" charset="-120"/>
              </a:rPr>
              <a:t> </a:t>
            </a:r>
            <a:r>
              <a:rPr lang="en-US" sz="1250" dirty="0">
                <a:solidFill>
                  <a:srgbClr val="F38BA8"/>
                </a:solidFill>
                <a:latin typeface="Courier New" pitchFamily="34" charset="0"/>
                <a:ea typeface="Courier New" pitchFamily="34" charset="-122"/>
                <a:cs typeface="Courier New" pitchFamily="34" charset="-120"/>
              </a:rPr>
              <a:t>IndexError</a:t>
            </a:r>
            <a:r>
              <a:rPr lang="en-US" sz="1250" dirty="0">
                <a:solidFill>
                  <a:srgbClr val="E4E4F0"/>
                </a:solidFill>
                <a:latin typeface="Courier New" pitchFamily="34" charset="0"/>
                <a:ea typeface="Courier New" pitchFamily="34" charset="-122"/>
                <a:cs typeface="Courier New" pitchFamily="34" charset="-120"/>
              </a:rPr>
              <a:t>:</a:t>
            </a:r>
            <a:endParaRPr lang="en-US" sz="1250" dirty="0"/>
          </a:p>
          <a:p>
            <a:pPr marL="0" indent="0">
              <a:buNone/>
            </a:pPr>
            <a:r>
              <a:rPr lang="en-US" sz="1250" dirty="0">
                <a:solidFill>
                  <a:srgbClr val="E4E4F0"/>
                </a:solidFill>
                <a:latin typeface="Courier New" pitchFamily="34" charset="0"/>
                <a:ea typeface="Courier New" pitchFamily="34" charset="-122"/>
                <a:cs typeface="Courier New" pitchFamily="34" charset="-120"/>
              </a:rPr>
              <a:t>    </a:t>
            </a:r>
            <a:r>
              <a:rPr lang="en-US" sz="1250" dirty="0">
                <a:solidFill>
                  <a:srgbClr val="82AAFF"/>
                </a:solidFill>
                <a:latin typeface="Courier New" pitchFamily="34" charset="0"/>
                <a:ea typeface="Courier New" pitchFamily="34" charset="-122"/>
                <a:cs typeface="Courier New" pitchFamily="34" charset="-120"/>
              </a:rPr>
              <a:t>print</a:t>
            </a:r>
            <a:r>
              <a:rPr lang="en-US" sz="1250" dirty="0">
                <a:solidFill>
                  <a:srgbClr val="E4E4F0"/>
                </a:solidFill>
                <a:latin typeface="Courier New" pitchFamily="34" charset="0"/>
                <a:ea typeface="Courier New" pitchFamily="34" charset="-122"/>
                <a:cs typeface="Courier New" pitchFamily="34" charset="-120"/>
              </a:rPr>
              <a:t>(</a:t>
            </a:r>
            <a:r>
              <a:rPr lang="en-US" sz="1250" dirty="0">
                <a:solidFill>
                  <a:srgbClr val="A6E3A1"/>
                </a:solidFill>
                <a:latin typeface="Courier New" pitchFamily="34" charset="0"/>
                <a:ea typeface="Courier New" pitchFamily="34" charset="-122"/>
                <a:cs typeface="Courier New" pitchFamily="34" charset="-120"/>
              </a:rPr>
              <a:t>"Invalid list index."</a:t>
            </a:r>
            <a:r>
              <a:rPr lang="en-US" sz="1250" dirty="0">
                <a:solidFill>
                  <a:srgbClr val="E4E4F0"/>
                </a:solidFill>
                <a:latin typeface="Courier New" pitchFamily="34" charset="0"/>
                <a:ea typeface="Courier New" pitchFamily="34" charset="-122"/>
                <a:cs typeface="Courier New" pitchFamily="34" charset="-120"/>
              </a:rPr>
              <a:t>)</a:t>
            </a:r>
            <a:endParaRPr lang="en-US" sz="1250" dirty="0"/>
          </a:p>
          <a:p>
            <a:pPr marL="0" indent="0">
              <a:buNone/>
            </a:pPr>
            <a:r>
              <a:rPr lang="en-US" sz="1250" dirty="0">
                <a:solidFill>
                  <a:srgbClr val="D3A6FF"/>
                </a:solidFill>
                <a:latin typeface="Courier New" pitchFamily="34" charset="0"/>
                <a:ea typeface="Courier New" pitchFamily="34" charset="-122"/>
                <a:cs typeface="Courier New" pitchFamily="34" charset="-120"/>
              </a:rPr>
              <a:t>finally</a:t>
            </a:r>
            <a:r>
              <a:rPr lang="en-US" sz="1250" dirty="0">
                <a:solidFill>
                  <a:srgbClr val="E4E4F0"/>
                </a:solidFill>
                <a:latin typeface="Courier New" pitchFamily="34" charset="0"/>
                <a:ea typeface="Courier New" pitchFamily="34" charset="-122"/>
                <a:cs typeface="Courier New" pitchFamily="34" charset="-120"/>
              </a:rPr>
              <a:t>:</a:t>
            </a:r>
            <a:endParaRPr lang="en-US" sz="1250" dirty="0"/>
          </a:p>
          <a:p>
            <a:pPr marL="0" indent="0">
              <a:buNone/>
            </a:pPr>
            <a:r>
              <a:rPr lang="en-US" sz="1250" dirty="0">
                <a:solidFill>
                  <a:srgbClr val="E4E4F0"/>
                </a:solidFill>
                <a:latin typeface="Courier New" pitchFamily="34" charset="0"/>
                <a:ea typeface="Courier New" pitchFamily="34" charset="-122"/>
                <a:cs typeface="Courier New" pitchFamily="34" charset="-120"/>
              </a:rPr>
              <a:t>    </a:t>
            </a:r>
            <a:r>
              <a:rPr lang="en-US" sz="1250" dirty="0">
                <a:solidFill>
                  <a:srgbClr val="82AAFF"/>
                </a:solidFill>
                <a:latin typeface="Courier New" pitchFamily="34" charset="0"/>
                <a:ea typeface="Courier New" pitchFamily="34" charset="-122"/>
                <a:cs typeface="Courier New" pitchFamily="34" charset="-120"/>
              </a:rPr>
              <a:t>print</a:t>
            </a:r>
            <a:r>
              <a:rPr lang="en-US" sz="1250" dirty="0">
                <a:solidFill>
                  <a:srgbClr val="E4E4F0"/>
                </a:solidFill>
                <a:latin typeface="Courier New" pitchFamily="34" charset="0"/>
                <a:ea typeface="Courier New" pitchFamily="34" charset="-122"/>
                <a:cs typeface="Courier New" pitchFamily="34" charset="-120"/>
              </a:rPr>
              <a:t>(</a:t>
            </a:r>
            <a:r>
              <a:rPr lang="en-US" sz="1250" dirty="0">
                <a:solidFill>
                  <a:srgbClr val="A6E3A1"/>
                </a:solidFill>
                <a:latin typeface="Courier New" pitchFamily="34" charset="0"/>
                <a:ea typeface="Courier New" pitchFamily="34" charset="-122"/>
                <a:cs typeface="Courier New" pitchFamily="34" charset="-120"/>
              </a:rPr>
              <a:t>"Program finished."</a:t>
            </a:r>
            <a:r>
              <a:rPr lang="en-US" sz="1250" dirty="0">
                <a:solidFill>
                  <a:srgbClr val="E4E4F0"/>
                </a:solidFill>
                <a:latin typeface="Courier New" pitchFamily="34" charset="0"/>
                <a:ea typeface="Courier New" pitchFamily="34" charset="-122"/>
                <a:cs typeface="Courier New" pitchFamily="34" charset="-120"/>
              </a:rPr>
              <a:t>)</a:t>
            </a:r>
            <a:endParaRPr lang="en-US" sz="1250" dirty="0"/>
          </a:p>
        </p:txBody>
      </p:sp>
      <p:sp>
        <p:nvSpPr>
          <p:cNvPr id="23" name="Shape 21"/>
          <p:cNvSpPr/>
          <p:nvPr/>
        </p:nvSpPr>
        <p:spPr>
          <a:xfrm>
            <a:off x="6400800" y="3948938"/>
            <a:ext cx="5257800" cy="780288"/>
          </a:xfrm>
          <a:prstGeom prst="roundRect">
            <a:avLst>
              <a:gd name="adj" fmla="val 11719"/>
            </a:avLst>
          </a:prstGeom>
          <a:solidFill>
            <a:srgbClr val="F6F6FF"/>
          </a:solidFill>
          <a:ln w="9525">
            <a:solidFill>
              <a:srgbClr val="DCDDF5"/>
            </a:solidFill>
            <a:prstDash val="solid"/>
          </a:ln>
        </p:spPr>
        <p:txBody>
          <a:bodyPr/>
          <a:lstStyle/>
          <a:p>
            <a:endParaRPr lang="en-PH"/>
          </a:p>
        </p:txBody>
      </p:sp>
      <p:sp>
        <p:nvSpPr>
          <p:cNvPr id="24" name="Text 22"/>
          <p:cNvSpPr txBox="1"/>
          <p:nvPr/>
        </p:nvSpPr>
        <p:spPr>
          <a:xfrm>
            <a:off x="6547104" y="4022090"/>
            <a:ext cx="4983480" cy="182880"/>
          </a:xfrm>
          <a:prstGeom prst="rect">
            <a:avLst/>
          </a:prstGeom>
          <a:noFill/>
          <a:ln/>
        </p:spPr>
        <p:txBody>
          <a:bodyPr wrap="square" lIns="0" tIns="0" rIns="0" bIns="0" rtlCol="0" anchor="ctr"/>
          <a:lstStyle/>
          <a:p>
            <a:pPr marL="0" indent="0">
              <a:buNone/>
            </a:pPr>
            <a:r>
              <a:rPr lang="en-US" sz="850" b="1" kern="0" spc="150" dirty="0">
                <a:solidFill>
                  <a:srgbClr val="4F46E5"/>
                </a:solidFill>
                <a:latin typeface="Calibri" pitchFamily="34" charset="0"/>
                <a:ea typeface="Calibri" pitchFamily="34" charset="-122"/>
                <a:cs typeface="Calibri" pitchFamily="34" charset="-120"/>
              </a:rPr>
              <a:t>OUTPUT</a:t>
            </a:r>
            <a:endParaRPr lang="en-US" sz="850" dirty="0"/>
          </a:p>
        </p:txBody>
      </p:sp>
      <p:sp>
        <p:nvSpPr>
          <p:cNvPr id="25" name="Text 23"/>
          <p:cNvSpPr txBox="1"/>
          <p:nvPr/>
        </p:nvSpPr>
        <p:spPr>
          <a:xfrm>
            <a:off x="6547104" y="4241546"/>
            <a:ext cx="5020056" cy="451104"/>
          </a:xfrm>
          <a:prstGeom prst="rect">
            <a:avLst/>
          </a:prstGeom>
          <a:noFill/>
          <a:ln/>
        </p:spPr>
        <p:txBody>
          <a:bodyPr wrap="square" lIns="0" tIns="0" rIns="0" bIns="0" rtlCol="0" anchor="t"/>
          <a:lstStyle/>
          <a:p>
            <a:pPr marL="0" indent="0">
              <a:buNone/>
            </a:pPr>
            <a:r>
              <a:rPr lang="en-US" sz="1200" dirty="0">
                <a:solidFill>
                  <a:srgbClr val="1E1B4B"/>
                </a:solidFill>
                <a:latin typeface="Courier New" pitchFamily="34" charset="0"/>
                <a:ea typeface="Courier New" pitchFamily="34" charset="-122"/>
                <a:cs typeface="Courier New" pitchFamily="34" charset="-120"/>
              </a:rPr>
              <a:t>Invalid list index.</a:t>
            </a:r>
            <a:endParaRPr lang="en-US" sz="1200" dirty="0"/>
          </a:p>
          <a:p>
            <a:pPr marL="0" indent="0">
              <a:buNone/>
            </a:pPr>
            <a:r>
              <a:rPr lang="en-US" sz="1200" dirty="0">
                <a:solidFill>
                  <a:srgbClr val="1E1B4B"/>
                </a:solidFill>
                <a:latin typeface="Courier New" pitchFamily="34" charset="0"/>
                <a:ea typeface="Courier New" pitchFamily="34" charset="-122"/>
                <a:cs typeface="Courier New" pitchFamily="34" charset="-120"/>
              </a:rPr>
              <a:t>Program finished.</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02920" y="310896"/>
            <a:ext cx="8229600" cy="237744"/>
          </a:xfrm>
          <a:prstGeom prst="rect">
            <a:avLst/>
          </a:prstGeom>
          <a:noFill/>
          <a:ln/>
        </p:spPr>
        <p:txBody>
          <a:bodyPr wrap="square" lIns="0" tIns="0" rIns="0" bIns="0" rtlCol="0" anchor="t"/>
          <a:lstStyle/>
          <a:p>
            <a:pPr marL="0" indent="0">
              <a:buNone/>
            </a:pPr>
            <a:r>
              <a:rPr lang="en-US" sz="1050" b="1" kern="0" spc="200" dirty="0">
                <a:solidFill>
                  <a:srgbClr val="C8559F"/>
                </a:solidFill>
                <a:latin typeface="Calibri" pitchFamily="34" charset="0"/>
                <a:ea typeface="Calibri" pitchFamily="34" charset="-122"/>
                <a:cs typeface="Calibri" pitchFamily="34" charset="-120"/>
              </a:rPr>
              <a:t>SECTION 01 · OVERVIEW</a:t>
            </a:r>
            <a:endParaRPr lang="en-US" sz="1050" dirty="0"/>
          </a:p>
        </p:txBody>
      </p:sp>
      <p:sp>
        <p:nvSpPr>
          <p:cNvPr id="3" name="Text 1"/>
          <p:cNvSpPr txBox="1"/>
          <p:nvPr/>
        </p:nvSpPr>
        <p:spPr>
          <a:xfrm>
            <a:off x="502920" y="530352"/>
            <a:ext cx="10241280" cy="640080"/>
          </a:xfrm>
          <a:prstGeom prst="rect">
            <a:avLst/>
          </a:prstGeom>
          <a:noFill/>
          <a:ln/>
        </p:spPr>
        <p:txBody>
          <a:bodyPr wrap="square" lIns="0" tIns="0" rIns="0" bIns="0" rtlCol="0" anchor="ctr"/>
          <a:lstStyle/>
          <a:p>
            <a:pPr marL="0" indent="0">
              <a:buNone/>
            </a:pPr>
            <a:r>
              <a:rPr lang="en-US" sz="2800" b="1" dirty="0">
                <a:solidFill>
                  <a:srgbClr val="1E1B4B"/>
                </a:solidFill>
                <a:latin typeface="Calibri" pitchFamily="34" charset="0"/>
                <a:ea typeface="Calibri" pitchFamily="34" charset="-122"/>
                <a:cs typeface="Calibri" pitchFamily="34" charset="-120"/>
              </a:rPr>
              <a:t>Error handling</a:t>
            </a:r>
            <a:endParaRPr lang="en-US" sz="2800" dirty="0"/>
          </a:p>
        </p:txBody>
      </p:sp>
      <p:sp>
        <p:nvSpPr>
          <p:cNvPr id="4" name="Text 2"/>
          <p:cNvSpPr txBox="1"/>
          <p:nvPr/>
        </p:nvSpPr>
        <p:spPr>
          <a:xfrm>
            <a:off x="502920" y="6446520"/>
            <a:ext cx="5486400" cy="228600"/>
          </a:xfrm>
          <a:prstGeom prst="rect">
            <a:avLst/>
          </a:prstGeom>
          <a:noFill/>
          <a:ln/>
        </p:spPr>
        <p:txBody>
          <a:bodyPr wrap="square" lIns="0" tIns="0" rIns="0" bIns="0" rtlCol="0" anchor="t"/>
          <a:lstStyle/>
          <a:p>
            <a:pPr marL="0" indent="0">
              <a:buNone/>
            </a:pPr>
            <a:r>
              <a:rPr lang="en-US" sz="900" dirty="0">
                <a:solidFill>
                  <a:srgbClr val="5B5F7A"/>
                </a:solidFill>
                <a:latin typeface="Calibri" pitchFamily="34" charset="0"/>
                <a:ea typeface="Calibri" pitchFamily="34" charset="-122"/>
                <a:cs typeface="Calibri" pitchFamily="34" charset="-120"/>
              </a:rPr>
              <a:t>Python  ·  Error Handling</a:t>
            </a:r>
            <a:endParaRPr lang="en-US" sz="900" dirty="0"/>
          </a:p>
        </p:txBody>
      </p:sp>
      <p:sp>
        <p:nvSpPr>
          <p:cNvPr id="5" name="Text 3"/>
          <p:cNvSpPr txBox="1"/>
          <p:nvPr/>
        </p:nvSpPr>
        <p:spPr>
          <a:xfrm>
            <a:off x="11140135" y="6446520"/>
            <a:ext cx="548640" cy="228600"/>
          </a:xfrm>
          <a:prstGeom prst="rect">
            <a:avLst/>
          </a:prstGeom>
          <a:noFill/>
          <a:ln/>
        </p:spPr>
        <p:txBody>
          <a:bodyPr wrap="square" lIns="0" tIns="0" rIns="0" bIns="0" rtlCol="0" anchor="t"/>
          <a:lstStyle/>
          <a:p>
            <a:pPr marL="0" indent="0" algn="r">
              <a:buNone/>
            </a:pPr>
            <a:r>
              <a:rPr lang="en-US" sz="900" dirty="0">
                <a:solidFill>
                  <a:srgbClr val="5B5F7A"/>
                </a:solidFill>
                <a:latin typeface="Calibri" pitchFamily="34" charset="0"/>
                <a:ea typeface="Calibri" pitchFamily="34" charset="-122"/>
                <a:cs typeface="Calibri" pitchFamily="34" charset="-120"/>
              </a:rPr>
              <a:t>2</a:t>
            </a:r>
            <a:endParaRPr lang="en-US" sz="900" dirty="0"/>
          </a:p>
        </p:txBody>
      </p:sp>
      <p:sp>
        <p:nvSpPr>
          <p:cNvPr id="6" name="Shape 4"/>
          <p:cNvSpPr/>
          <p:nvPr/>
        </p:nvSpPr>
        <p:spPr>
          <a:xfrm>
            <a:off x="502920" y="1417320"/>
            <a:ext cx="3545738" cy="2514600"/>
          </a:xfrm>
          <a:prstGeom prst="roundRect">
            <a:avLst>
              <a:gd name="adj" fmla="val 4364"/>
            </a:avLst>
          </a:prstGeom>
          <a:solidFill>
            <a:srgbClr val="FFFFFF"/>
          </a:solidFill>
          <a:ln w="9525">
            <a:solidFill>
              <a:srgbClr val="DCDDF5"/>
            </a:solidFill>
            <a:prstDash val="solid"/>
          </a:ln>
          <a:effectLst>
            <a:outerShdw blurRad="127000" dist="25400" dir="5400000" algn="bl" rotWithShape="0">
              <a:srgbClr val="4F46E5">
                <a:alpha val="12000"/>
              </a:srgbClr>
            </a:outerShdw>
          </a:effectLst>
        </p:spPr>
        <p:txBody>
          <a:bodyPr/>
          <a:lstStyle/>
          <a:p>
            <a:endParaRPr lang="en-PH"/>
          </a:p>
        </p:txBody>
      </p:sp>
      <p:sp>
        <p:nvSpPr>
          <p:cNvPr id="7" name="Shape 5"/>
          <p:cNvSpPr/>
          <p:nvPr/>
        </p:nvSpPr>
        <p:spPr>
          <a:xfrm>
            <a:off x="731520" y="1645920"/>
            <a:ext cx="420624" cy="420624"/>
          </a:xfrm>
          <a:prstGeom prst="ellipse">
            <a:avLst/>
          </a:prstGeom>
          <a:solidFill>
            <a:srgbClr val="4F46E5"/>
          </a:solidFill>
          <a:ln w="12700">
            <a:solidFill>
              <a:srgbClr val="4F46E5"/>
            </a:solidFill>
            <a:prstDash val="solid"/>
          </a:ln>
        </p:spPr>
        <p:txBody>
          <a:bodyPr/>
          <a:lstStyle/>
          <a:p>
            <a:endParaRPr lang="en-PH"/>
          </a:p>
        </p:txBody>
      </p:sp>
      <p:sp>
        <p:nvSpPr>
          <p:cNvPr id="8" name="Text 6"/>
          <p:cNvSpPr txBox="1"/>
          <p:nvPr/>
        </p:nvSpPr>
        <p:spPr>
          <a:xfrm>
            <a:off x="731520" y="1645920"/>
            <a:ext cx="420624" cy="420624"/>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9" name="Text 7"/>
          <p:cNvSpPr txBox="1"/>
          <p:nvPr/>
        </p:nvSpPr>
        <p:spPr>
          <a:xfrm>
            <a:off x="1280160" y="1645920"/>
            <a:ext cx="2631338" cy="420624"/>
          </a:xfrm>
          <a:prstGeom prst="rect">
            <a:avLst/>
          </a:prstGeom>
          <a:noFill/>
          <a:ln/>
        </p:spPr>
        <p:txBody>
          <a:bodyPr wrap="square" lIns="0" tIns="0" rIns="0" bIns="0" rtlCol="0" anchor="ctr"/>
          <a:lstStyle/>
          <a:p>
            <a:pPr marL="0" indent="0">
              <a:buNone/>
            </a:pPr>
            <a:r>
              <a:rPr lang="en-US" sz="1700" b="1" dirty="0">
                <a:solidFill>
                  <a:srgbClr val="1E1B4B"/>
                </a:solidFill>
                <a:latin typeface="Calibri" pitchFamily="34" charset="0"/>
                <a:ea typeface="Calibri" pitchFamily="34" charset="-122"/>
                <a:cs typeface="Calibri" pitchFamily="34" charset="-120"/>
              </a:rPr>
              <a:t>Understanding Exceptions</a:t>
            </a:r>
            <a:endParaRPr lang="en-US" sz="1700" dirty="0"/>
          </a:p>
        </p:txBody>
      </p:sp>
      <p:sp>
        <p:nvSpPr>
          <p:cNvPr id="10" name="Text 8"/>
          <p:cNvSpPr txBox="1"/>
          <p:nvPr/>
        </p:nvSpPr>
        <p:spPr>
          <a:xfrm>
            <a:off x="731520" y="2240280"/>
            <a:ext cx="3088538" cy="1005840"/>
          </a:xfrm>
          <a:prstGeom prst="rect">
            <a:avLst/>
          </a:prstGeom>
          <a:noFill/>
          <a:ln/>
        </p:spPr>
        <p:txBody>
          <a:bodyPr wrap="square" lIns="0" tIns="0" rIns="0" bIns="0" rtlCol="0" anchor="t"/>
          <a:lstStyle/>
          <a:p>
            <a:pPr marL="0" indent="0">
              <a:buNone/>
            </a:pPr>
            <a:r>
              <a:rPr lang="en-US" sz="1300" dirty="0">
                <a:solidFill>
                  <a:srgbClr val="5B5F7A"/>
                </a:solidFill>
                <a:latin typeface="Calibri" pitchFamily="34" charset="0"/>
                <a:ea typeface="Calibri" pitchFamily="34" charset="-122"/>
                <a:cs typeface="Calibri" pitchFamily="34" charset="-120"/>
              </a:rPr>
              <a:t>What an exception is, why a running program suddenly stops, and the error types Python raises.</a:t>
            </a:r>
            <a:endParaRPr lang="en-US" sz="1300" dirty="0"/>
          </a:p>
        </p:txBody>
      </p:sp>
      <p:sp>
        <p:nvSpPr>
          <p:cNvPr id="11" name="Shape 9"/>
          <p:cNvSpPr/>
          <p:nvPr/>
        </p:nvSpPr>
        <p:spPr>
          <a:xfrm>
            <a:off x="731520" y="3429000"/>
            <a:ext cx="1293876" cy="274320"/>
          </a:xfrm>
          <a:prstGeom prst="roundRect">
            <a:avLst>
              <a:gd name="adj" fmla="val 50000"/>
            </a:avLst>
          </a:prstGeom>
          <a:solidFill>
            <a:srgbClr val="E8E8FD"/>
          </a:solidFill>
          <a:ln w="12700">
            <a:solidFill>
              <a:srgbClr val="E8E8FD"/>
            </a:solidFill>
            <a:prstDash val="solid"/>
          </a:ln>
        </p:spPr>
        <p:txBody>
          <a:bodyPr/>
          <a:lstStyle/>
          <a:p>
            <a:endParaRPr lang="en-PH"/>
          </a:p>
        </p:txBody>
      </p:sp>
      <p:sp>
        <p:nvSpPr>
          <p:cNvPr id="12" name="Text 10"/>
          <p:cNvSpPr txBox="1"/>
          <p:nvPr/>
        </p:nvSpPr>
        <p:spPr>
          <a:xfrm>
            <a:off x="731520" y="3429000"/>
            <a:ext cx="1293876" cy="274320"/>
          </a:xfrm>
          <a:prstGeom prst="rect">
            <a:avLst/>
          </a:prstGeom>
          <a:noFill/>
          <a:ln/>
        </p:spPr>
        <p:txBody>
          <a:bodyPr wrap="square" lIns="0" tIns="0" rIns="0" bIns="0" rtlCol="0" anchor="ctr"/>
          <a:lstStyle/>
          <a:p>
            <a:pPr marL="0" indent="0" algn="ctr">
              <a:buNone/>
            </a:pPr>
            <a:r>
              <a:rPr lang="en-US" sz="900" dirty="0">
                <a:solidFill>
                  <a:srgbClr val="4F46E5"/>
                </a:solidFill>
                <a:latin typeface="Courier New" pitchFamily="34" charset="0"/>
                <a:ea typeface="Courier New" pitchFamily="34" charset="-122"/>
                <a:cs typeface="Courier New" pitchFamily="34" charset="-120"/>
              </a:rPr>
              <a:t>ZeroDivisionError</a:t>
            </a:r>
            <a:endParaRPr lang="en-US" sz="900" dirty="0"/>
          </a:p>
        </p:txBody>
      </p:sp>
      <p:sp>
        <p:nvSpPr>
          <p:cNvPr id="13" name="Shape 11"/>
          <p:cNvSpPr/>
          <p:nvPr/>
        </p:nvSpPr>
        <p:spPr>
          <a:xfrm>
            <a:off x="2098548" y="3429000"/>
            <a:ext cx="813816" cy="274320"/>
          </a:xfrm>
          <a:prstGeom prst="roundRect">
            <a:avLst>
              <a:gd name="adj" fmla="val 50000"/>
            </a:avLst>
          </a:prstGeom>
          <a:solidFill>
            <a:srgbClr val="E8E8FD"/>
          </a:solidFill>
          <a:ln w="12700">
            <a:solidFill>
              <a:srgbClr val="E8E8FD"/>
            </a:solidFill>
            <a:prstDash val="solid"/>
          </a:ln>
        </p:spPr>
        <p:txBody>
          <a:bodyPr/>
          <a:lstStyle/>
          <a:p>
            <a:endParaRPr lang="en-PH"/>
          </a:p>
        </p:txBody>
      </p:sp>
      <p:sp>
        <p:nvSpPr>
          <p:cNvPr id="14" name="Text 12"/>
          <p:cNvSpPr txBox="1"/>
          <p:nvPr/>
        </p:nvSpPr>
        <p:spPr>
          <a:xfrm>
            <a:off x="2098548" y="3429000"/>
            <a:ext cx="813816" cy="274320"/>
          </a:xfrm>
          <a:prstGeom prst="rect">
            <a:avLst/>
          </a:prstGeom>
          <a:noFill/>
          <a:ln/>
        </p:spPr>
        <p:txBody>
          <a:bodyPr wrap="square" lIns="0" tIns="0" rIns="0" bIns="0" rtlCol="0" anchor="ctr"/>
          <a:lstStyle/>
          <a:p>
            <a:pPr marL="0" indent="0" algn="ctr">
              <a:buNone/>
            </a:pPr>
            <a:r>
              <a:rPr lang="en-US" sz="900" dirty="0">
                <a:solidFill>
                  <a:srgbClr val="4F46E5"/>
                </a:solidFill>
                <a:latin typeface="Courier New" pitchFamily="34" charset="0"/>
                <a:ea typeface="Courier New" pitchFamily="34" charset="-122"/>
                <a:cs typeface="Courier New" pitchFamily="34" charset="-120"/>
              </a:rPr>
              <a:t>IndexError</a:t>
            </a:r>
            <a:endParaRPr lang="en-US" sz="900" dirty="0"/>
          </a:p>
        </p:txBody>
      </p:sp>
      <p:sp>
        <p:nvSpPr>
          <p:cNvPr id="15" name="Shape 13"/>
          <p:cNvSpPr/>
          <p:nvPr/>
        </p:nvSpPr>
        <p:spPr>
          <a:xfrm>
            <a:off x="2985516" y="3429000"/>
            <a:ext cx="745236" cy="274320"/>
          </a:xfrm>
          <a:prstGeom prst="roundRect">
            <a:avLst>
              <a:gd name="adj" fmla="val 50000"/>
            </a:avLst>
          </a:prstGeom>
          <a:solidFill>
            <a:srgbClr val="E8E8FD"/>
          </a:solidFill>
          <a:ln w="12700">
            <a:solidFill>
              <a:srgbClr val="E8E8FD"/>
            </a:solidFill>
            <a:prstDash val="solid"/>
          </a:ln>
        </p:spPr>
        <p:txBody>
          <a:bodyPr/>
          <a:lstStyle/>
          <a:p>
            <a:endParaRPr lang="en-PH"/>
          </a:p>
        </p:txBody>
      </p:sp>
      <p:sp>
        <p:nvSpPr>
          <p:cNvPr id="16" name="Text 14"/>
          <p:cNvSpPr txBox="1"/>
          <p:nvPr/>
        </p:nvSpPr>
        <p:spPr>
          <a:xfrm>
            <a:off x="2985516" y="3429000"/>
            <a:ext cx="745236" cy="274320"/>
          </a:xfrm>
          <a:prstGeom prst="rect">
            <a:avLst/>
          </a:prstGeom>
          <a:noFill/>
          <a:ln/>
        </p:spPr>
        <p:txBody>
          <a:bodyPr wrap="square" lIns="0" tIns="0" rIns="0" bIns="0" rtlCol="0" anchor="ctr"/>
          <a:lstStyle/>
          <a:p>
            <a:pPr marL="0" indent="0" algn="ctr">
              <a:buNone/>
            </a:pPr>
            <a:r>
              <a:rPr lang="en-US" sz="900" dirty="0">
                <a:solidFill>
                  <a:srgbClr val="4F46E5"/>
                </a:solidFill>
                <a:latin typeface="Courier New" pitchFamily="34" charset="0"/>
                <a:ea typeface="Courier New" pitchFamily="34" charset="-122"/>
                <a:cs typeface="Courier New" pitchFamily="34" charset="-120"/>
              </a:rPr>
              <a:t>NameError</a:t>
            </a:r>
            <a:endParaRPr lang="en-US" sz="900" dirty="0"/>
          </a:p>
        </p:txBody>
      </p:sp>
      <p:sp>
        <p:nvSpPr>
          <p:cNvPr id="17" name="Shape 15"/>
          <p:cNvSpPr/>
          <p:nvPr/>
        </p:nvSpPr>
        <p:spPr>
          <a:xfrm>
            <a:off x="4322978" y="1417320"/>
            <a:ext cx="3545738" cy="2514600"/>
          </a:xfrm>
          <a:prstGeom prst="roundRect">
            <a:avLst>
              <a:gd name="adj" fmla="val 4364"/>
            </a:avLst>
          </a:prstGeom>
          <a:solidFill>
            <a:srgbClr val="FFFFFF"/>
          </a:solidFill>
          <a:ln w="9525">
            <a:solidFill>
              <a:srgbClr val="DCDDF5"/>
            </a:solidFill>
            <a:prstDash val="solid"/>
          </a:ln>
          <a:effectLst>
            <a:outerShdw blurRad="127000" dist="25400" dir="5400000" algn="bl" rotWithShape="0">
              <a:srgbClr val="4F46E5">
                <a:alpha val="12000"/>
              </a:srgbClr>
            </a:outerShdw>
          </a:effectLst>
        </p:spPr>
        <p:txBody>
          <a:bodyPr/>
          <a:lstStyle/>
          <a:p>
            <a:endParaRPr lang="en-PH"/>
          </a:p>
        </p:txBody>
      </p:sp>
      <p:sp>
        <p:nvSpPr>
          <p:cNvPr id="18" name="Shape 16"/>
          <p:cNvSpPr/>
          <p:nvPr/>
        </p:nvSpPr>
        <p:spPr>
          <a:xfrm>
            <a:off x="4551578" y="1645920"/>
            <a:ext cx="420624" cy="420624"/>
          </a:xfrm>
          <a:prstGeom prst="ellipse">
            <a:avLst/>
          </a:prstGeom>
          <a:solidFill>
            <a:srgbClr val="4F46E5"/>
          </a:solidFill>
          <a:ln w="12700">
            <a:solidFill>
              <a:srgbClr val="4F46E5"/>
            </a:solidFill>
            <a:prstDash val="solid"/>
          </a:ln>
        </p:spPr>
        <p:txBody>
          <a:bodyPr/>
          <a:lstStyle/>
          <a:p>
            <a:endParaRPr lang="en-PH"/>
          </a:p>
        </p:txBody>
      </p:sp>
      <p:sp>
        <p:nvSpPr>
          <p:cNvPr id="19" name="Text 17"/>
          <p:cNvSpPr txBox="1"/>
          <p:nvPr/>
        </p:nvSpPr>
        <p:spPr>
          <a:xfrm>
            <a:off x="4551578" y="1645920"/>
            <a:ext cx="420624" cy="420624"/>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20" name="Text 18"/>
          <p:cNvSpPr txBox="1"/>
          <p:nvPr/>
        </p:nvSpPr>
        <p:spPr>
          <a:xfrm>
            <a:off x="5100218" y="1645920"/>
            <a:ext cx="2631338" cy="420624"/>
          </a:xfrm>
          <a:prstGeom prst="rect">
            <a:avLst/>
          </a:prstGeom>
          <a:noFill/>
          <a:ln/>
        </p:spPr>
        <p:txBody>
          <a:bodyPr wrap="square" lIns="0" tIns="0" rIns="0" bIns="0" rtlCol="0" anchor="ctr"/>
          <a:lstStyle/>
          <a:p>
            <a:pPr marL="0" indent="0">
              <a:buNone/>
            </a:pPr>
            <a:r>
              <a:rPr lang="en-US" sz="1700" b="1" dirty="0">
                <a:solidFill>
                  <a:srgbClr val="1E1B4B"/>
                </a:solidFill>
                <a:latin typeface="Calibri" pitchFamily="34" charset="0"/>
                <a:ea typeface="Calibri" pitchFamily="34" charset="-122"/>
                <a:cs typeface="Calibri" pitchFamily="34" charset="-120"/>
              </a:rPr>
              <a:t>Try, Except, Finally</a:t>
            </a:r>
            <a:endParaRPr lang="en-US" sz="1700" dirty="0"/>
          </a:p>
        </p:txBody>
      </p:sp>
      <p:sp>
        <p:nvSpPr>
          <p:cNvPr id="21" name="Text 19"/>
          <p:cNvSpPr txBox="1"/>
          <p:nvPr/>
        </p:nvSpPr>
        <p:spPr>
          <a:xfrm>
            <a:off x="4551578" y="2240280"/>
            <a:ext cx="3088538" cy="1005840"/>
          </a:xfrm>
          <a:prstGeom prst="rect">
            <a:avLst/>
          </a:prstGeom>
          <a:noFill/>
          <a:ln/>
        </p:spPr>
        <p:txBody>
          <a:bodyPr wrap="square" lIns="0" tIns="0" rIns="0" bIns="0" rtlCol="0" anchor="t"/>
          <a:lstStyle/>
          <a:p>
            <a:pPr marL="0" indent="0">
              <a:buNone/>
            </a:pPr>
            <a:r>
              <a:rPr lang="en-US" sz="1300" dirty="0">
                <a:solidFill>
                  <a:srgbClr val="5B5F7A"/>
                </a:solidFill>
                <a:latin typeface="Calibri" pitchFamily="34" charset="0"/>
                <a:ea typeface="Calibri" pitchFamily="34" charset="-122"/>
                <a:cs typeface="Calibri" pitchFamily="34" charset="-120"/>
              </a:rPr>
              <a:t>The three blocks Python uses to catch an error, respond with a clear message and always run clean-up code.</a:t>
            </a:r>
            <a:endParaRPr lang="en-US" sz="1300" dirty="0"/>
          </a:p>
        </p:txBody>
      </p:sp>
      <p:sp>
        <p:nvSpPr>
          <p:cNvPr id="22" name="Shape 20"/>
          <p:cNvSpPr/>
          <p:nvPr/>
        </p:nvSpPr>
        <p:spPr>
          <a:xfrm>
            <a:off x="4551578" y="3429000"/>
            <a:ext cx="333756" cy="274320"/>
          </a:xfrm>
          <a:prstGeom prst="roundRect">
            <a:avLst>
              <a:gd name="adj" fmla="val 50000"/>
            </a:avLst>
          </a:prstGeom>
          <a:solidFill>
            <a:srgbClr val="E8E8FD"/>
          </a:solidFill>
          <a:ln w="12700">
            <a:solidFill>
              <a:srgbClr val="E8E8FD"/>
            </a:solidFill>
            <a:prstDash val="solid"/>
          </a:ln>
        </p:spPr>
        <p:txBody>
          <a:bodyPr/>
          <a:lstStyle/>
          <a:p>
            <a:endParaRPr lang="en-PH"/>
          </a:p>
        </p:txBody>
      </p:sp>
      <p:sp>
        <p:nvSpPr>
          <p:cNvPr id="23" name="Text 21"/>
          <p:cNvSpPr txBox="1"/>
          <p:nvPr/>
        </p:nvSpPr>
        <p:spPr>
          <a:xfrm>
            <a:off x="4551578" y="3429000"/>
            <a:ext cx="333756" cy="274320"/>
          </a:xfrm>
          <a:prstGeom prst="rect">
            <a:avLst/>
          </a:prstGeom>
          <a:noFill/>
          <a:ln/>
        </p:spPr>
        <p:txBody>
          <a:bodyPr wrap="square" lIns="0" tIns="0" rIns="0" bIns="0" rtlCol="0" anchor="ctr"/>
          <a:lstStyle/>
          <a:p>
            <a:pPr marL="0" indent="0" algn="ctr">
              <a:buNone/>
            </a:pPr>
            <a:r>
              <a:rPr lang="en-US" sz="900" dirty="0">
                <a:solidFill>
                  <a:srgbClr val="4F46E5"/>
                </a:solidFill>
                <a:latin typeface="Courier New" pitchFamily="34" charset="0"/>
                <a:ea typeface="Courier New" pitchFamily="34" charset="-122"/>
                <a:cs typeface="Courier New" pitchFamily="34" charset="-120"/>
              </a:rPr>
              <a:t>try</a:t>
            </a:r>
            <a:endParaRPr lang="en-US" sz="900" dirty="0"/>
          </a:p>
        </p:txBody>
      </p:sp>
      <p:sp>
        <p:nvSpPr>
          <p:cNvPr id="24" name="Shape 22"/>
          <p:cNvSpPr/>
          <p:nvPr/>
        </p:nvSpPr>
        <p:spPr>
          <a:xfrm>
            <a:off x="4958486" y="3429000"/>
            <a:ext cx="539496" cy="274320"/>
          </a:xfrm>
          <a:prstGeom prst="roundRect">
            <a:avLst>
              <a:gd name="adj" fmla="val 50000"/>
            </a:avLst>
          </a:prstGeom>
          <a:solidFill>
            <a:srgbClr val="E8E8FD"/>
          </a:solidFill>
          <a:ln w="12700">
            <a:solidFill>
              <a:srgbClr val="E8E8FD"/>
            </a:solidFill>
            <a:prstDash val="solid"/>
          </a:ln>
        </p:spPr>
        <p:txBody>
          <a:bodyPr/>
          <a:lstStyle/>
          <a:p>
            <a:endParaRPr lang="en-PH"/>
          </a:p>
        </p:txBody>
      </p:sp>
      <p:sp>
        <p:nvSpPr>
          <p:cNvPr id="25" name="Text 23"/>
          <p:cNvSpPr txBox="1"/>
          <p:nvPr/>
        </p:nvSpPr>
        <p:spPr>
          <a:xfrm>
            <a:off x="4958486" y="3429000"/>
            <a:ext cx="539496" cy="274320"/>
          </a:xfrm>
          <a:prstGeom prst="rect">
            <a:avLst/>
          </a:prstGeom>
          <a:noFill/>
          <a:ln/>
        </p:spPr>
        <p:txBody>
          <a:bodyPr wrap="square" lIns="0" tIns="0" rIns="0" bIns="0" rtlCol="0" anchor="ctr"/>
          <a:lstStyle/>
          <a:p>
            <a:pPr marL="0" indent="0" algn="ctr">
              <a:buNone/>
            </a:pPr>
            <a:r>
              <a:rPr lang="en-US" sz="900" dirty="0">
                <a:solidFill>
                  <a:srgbClr val="4F46E5"/>
                </a:solidFill>
                <a:latin typeface="Courier New" pitchFamily="34" charset="0"/>
                <a:ea typeface="Courier New" pitchFamily="34" charset="-122"/>
                <a:cs typeface="Courier New" pitchFamily="34" charset="-120"/>
              </a:rPr>
              <a:t>except</a:t>
            </a:r>
            <a:endParaRPr lang="en-US" sz="900" dirty="0"/>
          </a:p>
        </p:txBody>
      </p:sp>
      <p:sp>
        <p:nvSpPr>
          <p:cNvPr id="26" name="Shape 24"/>
          <p:cNvSpPr/>
          <p:nvPr/>
        </p:nvSpPr>
        <p:spPr>
          <a:xfrm>
            <a:off x="5571134" y="3429000"/>
            <a:ext cx="608076" cy="274320"/>
          </a:xfrm>
          <a:prstGeom prst="roundRect">
            <a:avLst>
              <a:gd name="adj" fmla="val 50000"/>
            </a:avLst>
          </a:prstGeom>
          <a:solidFill>
            <a:srgbClr val="E8E8FD"/>
          </a:solidFill>
          <a:ln w="12700">
            <a:solidFill>
              <a:srgbClr val="E8E8FD"/>
            </a:solidFill>
            <a:prstDash val="solid"/>
          </a:ln>
        </p:spPr>
        <p:txBody>
          <a:bodyPr/>
          <a:lstStyle/>
          <a:p>
            <a:endParaRPr lang="en-PH"/>
          </a:p>
        </p:txBody>
      </p:sp>
      <p:sp>
        <p:nvSpPr>
          <p:cNvPr id="27" name="Text 25"/>
          <p:cNvSpPr txBox="1"/>
          <p:nvPr/>
        </p:nvSpPr>
        <p:spPr>
          <a:xfrm>
            <a:off x="5571134" y="3429000"/>
            <a:ext cx="608076" cy="274320"/>
          </a:xfrm>
          <a:prstGeom prst="rect">
            <a:avLst/>
          </a:prstGeom>
          <a:noFill/>
          <a:ln/>
        </p:spPr>
        <p:txBody>
          <a:bodyPr wrap="square" lIns="0" tIns="0" rIns="0" bIns="0" rtlCol="0" anchor="ctr"/>
          <a:lstStyle/>
          <a:p>
            <a:pPr marL="0" indent="0" algn="ctr">
              <a:buNone/>
            </a:pPr>
            <a:r>
              <a:rPr lang="en-US" sz="900" dirty="0">
                <a:solidFill>
                  <a:srgbClr val="4F46E5"/>
                </a:solidFill>
                <a:latin typeface="Courier New" pitchFamily="34" charset="0"/>
                <a:ea typeface="Courier New" pitchFamily="34" charset="-122"/>
                <a:cs typeface="Courier New" pitchFamily="34" charset="-120"/>
              </a:rPr>
              <a:t>finally</a:t>
            </a:r>
            <a:endParaRPr lang="en-US" sz="900" dirty="0"/>
          </a:p>
        </p:txBody>
      </p:sp>
      <p:sp>
        <p:nvSpPr>
          <p:cNvPr id="28" name="Shape 26"/>
          <p:cNvSpPr/>
          <p:nvPr/>
        </p:nvSpPr>
        <p:spPr>
          <a:xfrm>
            <a:off x="8143037" y="1417320"/>
            <a:ext cx="3545738" cy="2514600"/>
          </a:xfrm>
          <a:prstGeom prst="roundRect">
            <a:avLst>
              <a:gd name="adj" fmla="val 4364"/>
            </a:avLst>
          </a:prstGeom>
          <a:solidFill>
            <a:srgbClr val="FFFFFF"/>
          </a:solidFill>
          <a:ln w="9525">
            <a:solidFill>
              <a:srgbClr val="DCDDF5"/>
            </a:solidFill>
            <a:prstDash val="solid"/>
          </a:ln>
          <a:effectLst>
            <a:outerShdw blurRad="127000" dist="25400" dir="5400000" algn="bl" rotWithShape="0">
              <a:srgbClr val="4F46E5">
                <a:alpha val="12000"/>
              </a:srgbClr>
            </a:outerShdw>
          </a:effectLst>
        </p:spPr>
        <p:txBody>
          <a:bodyPr/>
          <a:lstStyle/>
          <a:p>
            <a:endParaRPr lang="en-PH"/>
          </a:p>
        </p:txBody>
      </p:sp>
      <p:sp>
        <p:nvSpPr>
          <p:cNvPr id="29" name="Shape 27"/>
          <p:cNvSpPr/>
          <p:nvPr/>
        </p:nvSpPr>
        <p:spPr>
          <a:xfrm>
            <a:off x="8371637" y="1645920"/>
            <a:ext cx="420624" cy="420624"/>
          </a:xfrm>
          <a:prstGeom prst="ellipse">
            <a:avLst/>
          </a:prstGeom>
          <a:solidFill>
            <a:srgbClr val="4F46E5"/>
          </a:solidFill>
          <a:ln w="12700">
            <a:solidFill>
              <a:srgbClr val="4F46E5"/>
            </a:solidFill>
            <a:prstDash val="solid"/>
          </a:ln>
        </p:spPr>
        <p:txBody>
          <a:bodyPr/>
          <a:lstStyle/>
          <a:p>
            <a:endParaRPr lang="en-PH"/>
          </a:p>
        </p:txBody>
      </p:sp>
      <p:sp>
        <p:nvSpPr>
          <p:cNvPr id="30" name="Text 28"/>
          <p:cNvSpPr txBox="1"/>
          <p:nvPr/>
        </p:nvSpPr>
        <p:spPr>
          <a:xfrm>
            <a:off x="8371637" y="1645920"/>
            <a:ext cx="420624" cy="420624"/>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31" name="Text 29"/>
          <p:cNvSpPr txBox="1"/>
          <p:nvPr/>
        </p:nvSpPr>
        <p:spPr>
          <a:xfrm>
            <a:off x="8920277" y="1645920"/>
            <a:ext cx="2631338" cy="420624"/>
          </a:xfrm>
          <a:prstGeom prst="rect">
            <a:avLst/>
          </a:prstGeom>
          <a:noFill/>
          <a:ln/>
        </p:spPr>
        <p:txBody>
          <a:bodyPr wrap="square" lIns="0" tIns="0" rIns="0" bIns="0" rtlCol="0" anchor="ctr"/>
          <a:lstStyle/>
          <a:p>
            <a:pPr marL="0" indent="0">
              <a:buNone/>
            </a:pPr>
            <a:r>
              <a:rPr lang="en-US" sz="1700" b="1" dirty="0">
                <a:solidFill>
                  <a:srgbClr val="1E1B4B"/>
                </a:solidFill>
                <a:latin typeface="Calibri" pitchFamily="34" charset="0"/>
                <a:ea typeface="Calibri" pitchFamily="34" charset="-122"/>
                <a:cs typeface="Calibri" pitchFamily="34" charset="-120"/>
              </a:rPr>
              <a:t>Common Exceptions</a:t>
            </a:r>
            <a:endParaRPr lang="en-US" sz="1700" dirty="0"/>
          </a:p>
        </p:txBody>
      </p:sp>
      <p:sp>
        <p:nvSpPr>
          <p:cNvPr id="32" name="Text 30"/>
          <p:cNvSpPr txBox="1"/>
          <p:nvPr/>
        </p:nvSpPr>
        <p:spPr>
          <a:xfrm>
            <a:off x="8371637" y="2240280"/>
            <a:ext cx="3088538" cy="1005840"/>
          </a:xfrm>
          <a:prstGeom prst="rect">
            <a:avLst/>
          </a:prstGeom>
          <a:noFill/>
          <a:ln/>
        </p:spPr>
        <p:txBody>
          <a:bodyPr wrap="square" lIns="0" tIns="0" rIns="0" bIns="0" rtlCol="0" anchor="t"/>
          <a:lstStyle/>
          <a:p>
            <a:pPr marL="0" indent="0">
              <a:buNone/>
            </a:pPr>
            <a:r>
              <a:rPr lang="en-US" sz="1300" dirty="0">
                <a:solidFill>
                  <a:srgbClr val="5B5F7A"/>
                </a:solidFill>
                <a:latin typeface="Calibri" pitchFamily="34" charset="0"/>
                <a:ea typeface="Calibri" pitchFamily="34" charset="-122"/>
                <a:cs typeface="Calibri" pitchFamily="34" charset="-120"/>
              </a:rPr>
              <a:t>The exceptions beginners meet most often, what triggers each one, and how to handle a ValueError.</a:t>
            </a:r>
            <a:endParaRPr lang="en-US" sz="1300" dirty="0"/>
          </a:p>
        </p:txBody>
      </p:sp>
      <p:sp>
        <p:nvSpPr>
          <p:cNvPr id="33" name="Shape 31"/>
          <p:cNvSpPr/>
          <p:nvPr/>
        </p:nvSpPr>
        <p:spPr>
          <a:xfrm>
            <a:off x="8371637" y="3429000"/>
            <a:ext cx="813816" cy="274320"/>
          </a:xfrm>
          <a:prstGeom prst="roundRect">
            <a:avLst>
              <a:gd name="adj" fmla="val 50000"/>
            </a:avLst>
          </a:prstGeom>
          <a:solidFill>
            <a:srgbClr val="E8E8FD"/>
          </a:solidFill>
          <a:ln w="12700">
            <a:solidFill>
              <a:srgbClr val="E8E8FD"/>
            </a:solidFill>
            <a:prstDash val="solid"/>
          </a:ln>
        </p:spPr>
        <p:txBody>
          <a:bodyPr/>
          <a:lstStyle/>
          <a:p>
            <a:endParaRPr lang="en-PH"/>
          </a:p>
        </p:txBody>
      </p:sp>
      <p:sp>
        <p:nvSpPr>
          <p:cNvPr id="34" name="Text 32"/>
          <p:cNvSpPr txBox="1"/>
          <p:nvPr/>
        </p:nvSpPr>
        <p:spPr>
          <a:xfrm>
            <a:off x="8371637" y="3429000"/>
            <a:ext cx="813816" cy="274320"/>
          </a:xfrm>
          <a:prstGeom prst="rect">
            <a:avLst/>
          </a:prstGeom>
          <a:noFill/>
          <a:ln/>
        </p:spPr>
        <p:txBody>
          <a:bodyPr wrap="square" lIns="0" tIns="0" rIns="0" bIns="0" rtlCol="0" anchor="ctr"/>
          <a:lstStyle/>
          <a:p>
            <a:pPr marL="0" indent="0" algn="ctr">
              <a:buNone/>
            </a:pPr>
            <a:r>
              <a:rPr lang="en-US" sz="900" dirty="0">
                <a:solidFill>
                  <a:srgbClr val="4F46E5"/>
                </a:solidFill>
                <a:latin typeface="Courier New" pitchFamily="34" charset="0"/>
                <a:ea typeface="Courier New" pitchFamily="34" charset="-122"/>
                <a:cs typeface="Courier New" pitchFamily="34" charset="-120"/>
              </a:rPr>
              <a:t>ValueError</a:t>
            </a:r>
            <a:endParaRPr lang="en-US" sz="900" dirty="0"/>
          </a:p>
        </p:txBody>
      </p:sp>
      <p:sp>
        <p:nvSpPr>
          <p:cNvPr id="35" name="Shape 33"/>
          <p:cNvSpPr/>
          <p:nvPr/>
        </p:nvSpPr>
        <p:spPr>
          <a:xfrm>
            <a:off x="9258605" y="3429000"/>
            <a:ext cx="745236" cy="274320"/>
          </a:xfrm>
          <a:prstGeom prst="roundRect">
            <a:avLst>
              <a:gd name="adj" fmla="val 50000"/>
            </a:avLst>
          </a:prstGeom>
          <a:solidFill>
            <a:srgbClr val="E8E8FD"/>
          </a:solidFill>
          <a:ln w="12700">
            <a:solidFill>
              <a:srgbClr val="E8E8FD"/>
            </a:solidFill>
            <a:prstDash val="solid"/>
          </a:ln>
        </p:spPr>
        <p:txBody>
          <a:bodyPr/>
          <a:lstStyle/>
          <a:p>
            <a:endParaRPr lang="en-PH"/>
          </a:p>
        </p:txBody>
      </p:sp>
      <p:sp>
        <p:nvSpPr>
          <p:cNvPr id="36" name="Text 34"/>
          <p:cNvSpPr txBox="1"/>
          <p:nvPr/>
        </p:nvSpPr>
        <p:spPr>
          <a:xfrm>
            <a:off x="9258605" y="3429000"/>
            <a:ext cx="745236" cy="274320"/>
          </a:xfrm>
          <a:prstGeom prst="rect">
            <a:avLst/>
          </a:prstGeom>
          <a:noFill/>
          <a:ln/>
        </p:spPr>
        <p:txBody>
          <a:bodyPr wrap="square" lIns="0" tIns="0" rIns="0" bIns="0" rtlCol="0" anchor="ctr"/>
          <a:lstStyle/>
          <a:p>
            <a:pPr marL="0" indent="0" algn="ctr">
              <a:buNone/>
            </a:pPr>
            <a:r>
              <a:rPr lang="en-US" sz="900" dirty="0">
                <a:solidFill>
                  <a:srgbClr val="4F46E5"/>
                </a:solidFill>
                <a:latin typeface="Courier New" pitchFamily="34" charset="0"/>
                <a:ea typeface="Courier New" pitchFamily="34" charset="-122"/>
                <a:cs typeface="Courier New" pitchFamily="34" charset="-120"/>
              </a:rPr>
              <a:t>TypeError</a:t>
            </a:r>
            <a:endParaRPr lang="en-US" sz="900" dirty="0"/>
          </a:p>
        </p:txBody>
      </p:sp>
      <p:sp>
        <p:nvSpPr>
          <p:cNvPr id="37" name="Shape 35"/>
          <p:cNvSpPr/>
          <p:nvPr/>
        </p:nvSpPr>
        <p:spPr>
          <a:xfrm>
            <a:off x="10076993" y="3429000"/>
            <a:ext cx="1293876" cy="274320"/>
          </a:xfrm>
          <a:prstGeom prst="roundRect">
            <a:avLst>
              <a:gd name="adj" fmla="val 50000"/>
            </a:avLst>
          </a:prstGeom>
          <a:solidFill>
            <a:srgbClr val="E8E8FD"/>
          </a:solidFill>
          <a:ln w="12700">
            <a:solidFill>
              <a:srgbClr val="E8E8FD"/>
            </a:solidFill>
            <a:prstDash val="solid"/>
          </a:ln>
        </p:spPr>
        <p:txBody>
          <a:bodyPr/>
          <a:lstStyle/>
          <a:p>
            <a:endParaRPr lang="en-PH"/>
          </a:p>
        </p:txBody>
      </p:sp>
      <p:sp>
        <p:nvSpPr>
          <p:cNvPr id="38" name="Text 36"/>
          <p:cNvSpPr txBox="1"/>
          <p:nvPr/>
        </p:nvSpPr>
        <p:spPr>
          <a:xfrm>
            <a:off x="10076993" y="3429000"/>
            <a:ext cx="1293876" cy="274320"/>
          </a:xfrm>
          <a:prstGeom prst="rect">
            <a:avLst/>
          </a:prstGeom>
          <a:noFill/>
          <a:ln/>
        </p:spPr>
        <p:txBody>
          <a:bodyPr wrap="square" lIns="0" tIns="0" rIns="0" bIns="0" rtlCol="0" anchor="ctr"/>
          <a:lstStyle/>
          <a:p>
            <a:pPr marL="0" indent="0" algn="ctr">
              <a:buNone/>
            </a:pPr>
            <a:r>
              <a:rPr lang="en-US" sz="900" dirty="0">
                <a:solidFill>
                  <a:srgbClr val="4F46E5"/>
                </a:solidFill>
                <a:latin typeface="Courier New" pitchFamily="34" charset="0"/>
                <a:ea typeface="Courier New" pitchFamily="34" charset="-122"/>
                <a:cs typeface="Courier New" pitchFamily="34" charset="-120"/>
              </a:rPr>
              <a:t>FileNotFoundError</a:t>
            </a:r>
            <a:endParaRPr lang="en-US" sz="900" dirty="0"/>
          </a:p>
        </p:txBody>
      </p:sp>
      <p:sp>
        <p:nvSpPr>
          <p:cNvPr id="39" name="Text 37"/>
          <p:cNvSpPr txBox="1"/>
          <p:nvPr/>
        </p:nvSpPr>
        <p:spPr>
          <a:xfrm>
            <a:off x="502920" y="4224528"/>
            <a:ext cx="5486400" cy="228600"/>
          </a:xfrm>
          <a:prstGeom prst="rect">
            <a:avLst/>
          </a:prstGeom>
          <a:noFill/>
          <a:ln/>
        </p:spPr>
        <p:txBody>
          <a:bodyPr wrap="square" lIns="0" tIns="0" rIns="0" bIns="0" rtlCol="0" anchor="t"/>
          <a:lstStyle/>
          <a:p>
            <a:pPr marL="0" indent="0">
              <a:buNone/>
            </a:pPr>
            <a:r>
              <a:rPr lang="en-US" sz="1050" b="1" kern="0" spc="200" dirty="0">
                <a:solidFill>
                  <a:srgbClr val="C8559F"/>
                </a:solidFill>
                <a:latin typeface="Calibri" pitchFamily="34" charset="0"/>
                <a:ea typeface="Calibri" pitchFamily="34" charset="-122"/>
                <a:cs typeface="Calibri" pitchFamily="34" charset="-120"/>
              </a:rPr>
              <a:t>HOW ERROR HANDLING FLOWS</a:t>
            </a:r>
            <a:endParaRPr lang="en-US" sz="1050" dirty="0"/>
          </a:p>
        </p:txBody>
      </p:sp>
      <p:sp>
        <p:nvSpPr>
          <p:cNvPr id="40" name="Shape 38"/>
          <p:cNvSpPr/>
          <p:nvPr/>
        </p:nvSpPr>
        <p:spPr>
          <a:xfrm>
            <a:off x="502920" y="4553712"/>
            <a:ext cx="2487854" cy="1600200"/>
          </a:xfrm>
          <a:prstGeom prst="roundRect">
            <a:avLst>
              <a:gd name="adj" fmla="val 6857"/>
            </a:avLst>
          </a:prstGeom>
          <a:solidFill>
            <a:srgbClr val="F1F1FE"/>
          </a:solidFill>
          <a:ln w="9525">
            <a:solidFill>
              <a:srgbClr val="DCDDF5"/>
            </a:solidFill>
            <a:prstDash val="solid"/>
          </a:ln>
        </p:spPr>
        <p:txBody>
          <a:bodyPr/>
          <a:lstStyle/>
          <a:p>
            <a:endParaRPr lang="en-PH"/>
          </a:p>
        </p:txBody>
      </p:sp>
      <p:sp>
        <p:nvSpPr>
          <p:cNvPr id="41" name="Text 39"/>
          <p:cNvSpPr txBox="1"/>
          <p:nvPr/>
        </p:nvSpPr>
        <p:spPr>
          <a:xfrm>
            <a:off x="704088" y="4736592"/>
            <a:ext cx="548640" cy="320040"/>
          </a:xfrm>
          <a:prstGeom prst="rect">
            <a:avLst/>
          </a:prstGeom>
          <a:noFill/>
          <a:ln/>
        </p:spPr>
        <p:txBody>
          <a:bodyPr wrap="square" lIns="0" tIns="0" rIns="0" bIns="0" rtlCol="0" anchor="t"/>
          <a:lstStyle/>
          <a:p>
            <a:pPr marL="0" indent="0">
              <a:buNone/>
            </a:pPr>
            <a:r>
              <a:rPr lang="en-US" sz="2000" b="1" dirty="0">
                <a:solidFill>
                  <a:srgbClr val="8C95FF"/>
                </a:solidFill>
                <a:latin typeface="Calibri" pitchFamily="34" charset="0"/>
                <a:ea typeface="Calibri" pitchFamily="34" charset="-122"/>
                <a:cs typeface="Calibri" pitchFamily="34" charset="-120"/>
              </a:rPr>
              <a:t>01</a:t>
            </a:r>
            <a:endParaRPr lang="en-US" sz="2000" dirty="0"/>
          </a:p>
        </p:txBody>
      </p:sp>
      <p:sp>
        <p:nvSpPr>
          <p:cNvPr id="42" name="Text 40"/>
          <p:cNvSpPr txBox="1"/>
          <p:nvPr/>
        </p:nvSpPr>
        <p:spPr>
          <a:xfrm>
            <a:off x="704088" y="5102352"/>
            <a:ext cx="2122094" cy="320040"/>
          </a:xfrm>
          <a:prstGeom prst="rect">
            <a:avLst/>
          </a:prstGeom>
          <a:noFill/>
          <a:ln/>
        </p:spPr>
        <p:txBody>
          <a:bodyPr wrap="square" lIns="0" tIns="0" rIns="0" bIns="0" rtlCol="0" anchor="t"/>
          <a:lstStyle/>
          <a:p>
            <a:pPr marL="0" indent="0">
              <a:buNone/>
            </a:pPr>
            <a:r>
              <a:rPr lang="en-US" sz="1500" b="1" dirty="0">
                <a:solidFill>
                  <a:srgbClr val="1E1B4B"/>
                </a:solidFill>
                <a:latin typeface="Calibri" pitchFamily="34" charset="0"/>
                <a:ea typeface="Calibri" pitchFamily="34" charset="-122"/>
                <a:cs typeface="Calibri" pitchFamily="34" charset="-120"/>
              </a:rPr>
              <a:t>Run</a:t>
            </a:r>
            <a:endParaRPr lang="en-US" sz="1500" dirty="0"/>
          </a:p>
        </p:txBody>
      </p:sp>
      <p:sp>
        <p:nvSpPr>
          <p:cNvPr id="43" name="Text 41"/>
          <p:cNvSpPr txBox="1"/>
          <p:nvPr/>
        </p:nvSpPr>
        <p:spPr>
          <a:xfrm>
            <a:off x="704088" y="5449824"/>
            <a:ext cx="2122094" cy="640080"/>
          </a:xfrm>
          <a:prstGeom prst="rect">
            <a:avLst/>
          </a:prstGeom>
          <a:noFill/>
          <a:ln/>
        </p:spPr>
        <p:txBody>
          <a:bodyPr wrap="square" lIns="0" tIns="0" rIns="0" bIns="0" rtlCol="0" anchor="t"/>
          <a:lstStyle/>
          <a:p>
            <a:pPr marL="0" indent="0">
              <a:buNone/>
            </a:pPr>
            <a:r>
              <a:rPr lang="en-US" sz="1200" dirty="0">
                <a:solidFill>
                  <a:srgbClr val="5B5F7A"/>
                </a:solidFill>
                <a:latin typeface="Calibri" pitchFamily="34" charset="0"/>
                <a:ea typeface="Calibri" pitchFamily="34" charset="-122"/>
                <a:cs typeface="Calibri" pitchFamily="34" charset="-120"/>
              </a:rPr>
              <a:t>Python executes the code inside the try block.</a:t>
            </a:r>
            <a:endParaRPr lang="en-US" sz="1200" dirty="0"/>
          </a:p>
        </p:txBody>
      </p:sp>
      <p:sp>
        <p:nvSpPr>
          <p:cNvPr id="44" name="Text 42"/>
          <p:cNvSpPr txBox="1"/>
          <p:nvPr/>
        </p:nvSpPr>
        <p:spPr>
          <a:xfrm>
            <a:off x="3009062" y="5102352"/>
            <a:ext cx="384048" cy="457200"/>
          </a:xfrm>
          <a:prstGeom prst="rect">
            <a:avLst/>
          </a:prstGeom>
          <a:noFill/>
          <a:ln/>
        </p:spPr>
        <p:txBody>
          <a:bodyPr wrap="square" lIns="0" tIns="0" rIns="0" bIns="0" rtlCol="0" anchor="t"/>
          <a:lstStyle/>
          <a:p>
            <a:pPr marL="0" indent="0" algn="ctr">
              <a:buNone/>
            </a:pPr>
            <a:r>
              <a:rPr lang="en-US" sz="2200" b="1" dirty="0">
                <a:solidFill>
                  <a:srgbClr val="4F46E5"/>
                </a:solidFill>
                <a:latin typeface="Calibri" pitchFamily="34" charset="0"/>
                <a:ea typeface="Calibri" pitchFamily="34" charset="-122"/>
                <a:cs typeface="Calibri" pitchFamily="34" charset="-120"/>
              </a:rPr>
              <a:t>→</a:t>
            </a:r>
            <a:endParaRPr lang="en-US" sz="2200" dirty="0"/>
          </a:p>
        </p:txBody>
      </p:sp>
      <p:sp>
        <p:nvSpPr>
          <p:cNvPr id="45" name="Shape 43"/>
          <p:cNvSpPr/>
          <p:nvPr/>
        </p:nvSpPr>
        <p:spPr>
          <a:xfrm>
            <a:off x="3402254" y="4553712"/>
            <a:ext cx="2487854" cy="1600200"/>
          </a:xfrm>
          <a:prstGeom prst="roundRect">
            <a:avLst>
              <a:gd name="adj" fmla="val 6857"/>
            </a:avLst>
          </a:prstGeom>
          <a:solidFill>
            <a:srgbClr val="F1F1FE"/>
          </a:solidFill>
          <a:ln w="9525">
            <a:solidFill>
              <a:srgbClr val="DCDDF5"/>
            </a:solidFill>
            <a:prstDash val="solid"/>
          </a:ln>
        </p:spPr>
        <p:txBody>
          <a:bodyPr/>
          <a:lstStyle/>
          <a:p>
            <a:endParaRPr lang="en-PH"/>
          </a:p>
        </p:txBody>
      </p:sp>
      <p:sp>
        <p:nvSpPr>
          <p:cNvPr id="46" name="Text 44"/>
          <p:cNvSpPr txBox="1"/>
          <p:nvPr/>
        </p:nvSpPr>
        <p:spPr>
          <a:xfrm>
            <a:off x="3603422" y="4736592"/>
            <a:ext cx="548640" cy="320040"/>
          </a:xfrm>
          <a:prstGeom prst="rect">
            <a:avLst/>
          </a:prstGeom>
          <a:noFill/>
          <a:ln/>
        </p:spPr>
        <p:txBody>
          <a:bodyPr wrap="square" lIns="0" tIns="0" rIns="0" bIns="0" rtlCol="0" anchor="t"/>
          <a:lstStyle/>
          <a:p>
            <a:pPr marL="0" indent="0">
              <a:buNone/>
            </a:pPr>
            <a:r>
              <a:rPr lang="en-US" sz="2000" b="1" dirty="0">
                <a:solidFill>
                  <a:srgbClr val="8C95FF"/>
                </a:solidFill>
                <a:latin typeface="Calibri" pitchFamily="34" charset="0"/>
                <a:ea typeface="Calibri" pitchFamily="34" charset="-122"/>
                <a:cs typeface="Calibri" pitchFamily="34" charset="-120"/>
              </a:rPr>
              <a:t>02</a:t>
            </a:r>
            <a:endParaRPr lang="en-US" sz="2000" dirty="0"/>
          </a:p>
        </p:txBody>
      </p:sp>
      <p:sp>
        <p:nvSpPr>
          <p:cNvPr id="47" name="Text 45"/>
          <p:cNvSpPr txBox="1"/>
          <p:nvPr/>
        </p:nvSpPr>
        <p:spPr>
          <a:xfrm>
            <a:off x="3603422" y="5102352"/>
            <a:ext cx="2122094" cy="320040"/>
          </a:xfrm>
          <a:prstGeom prst="rect">
            <a:avLst/>
          </a:prstGeom>
          <a:noFill/>
          <a:ln/>
        </p:spPr>
        <p:txBody>
          <a:bodyPr wrap="square" lIns="0" tIns="0" rIns="0" bIns="0" rtlCol="0" anchor="t"/>
          <a:lstStyle/>
          <a:p>
            <a:pPr marL="0" indent="0">
              <a:buNone/>
            </a:pPr>
            <a:r>
              <a:rPr lang="en-US" sz="1500" b="1" dirty="0">
                <a:solidFill>
                  <a:srgbClr val="1E1B4B"/>
                </a:solidFill>
                <a:latin typeface="Calibri" pitchFamily="34" charset="0"/>
                <a:ea typeface="Calibri" pitchFamily="34" charset="-122"/>
                <a:cs typeface="Calibri" pitchFamily="34" charset="-120"/>
              </a:rPr>
              <a:t>Detect</a:t>
            </a:r>
            <a:endParaRPr lang="en-US" sz="1500" dirty="0"/>
          </a:p>
        </p:txBody>
      </p:sp>
      <p:sp>
        <p:nvSpPr>
          <p:cNvPr id="48" name="Text 46"/>
          <p:cNvSpPr txBox="1"/>
          <p:nvPr/>
        </p:nvSpPr>
        <p:spPr>
          <a:xfrm>
            <a:off x="3603422" y="5449824"/>
            <a:ext cx="2122094" cy="640080"/>
          </a:xfrm>
          <a:prstGeom prst="rect">
            <a:avLst/>
          </a:prstGeom>
          <a:noFill/>
          <a:ln/>
        </p:spPr>
        <p:txBody>
          <a:bodyPr wrap="square" lIns="0" tIns="0" rIns="0" bIns="0" rtlCol="0" anchor="t"/>
          <a:lstStyle/>
          <a:p>
            <a:pPr marL="0" indent="0">
              <a:buNone/>
            </a:pPr>
            <a:r>
              <a:rPr lang="en-US" sz="1200" dirty="0">
                <a:solidFill>
                  <a:srgbClr val="5B5F7A"/>
                </a:solidFill>
                <a:latin typeface="Calibri" pitchFamily="34" charset="0"/>
                <a:ea typeface="Calibri" pitchFamily="34" charset="-122"/>
                <a:cs typeface="Calibri" pitchFamily="34" charset="-120"/>
              </a:rPr>
              <a:t>A problem occurs and Python raises an exception.</a:t>
            </a:r>
            <a:endParaRPr lang="en-US" sz="1200" dirty="0"/>
          </a:p>
        </p:txBody>
      </p:sp>
      <p:sp>
        <p:nvSpPr>
          <p:cNvPr id="49" name="Text 47"/>
          <p:cNvSpPr txBox="1"/>
          <p:nvPr/>
        </p:nvSpPr>
        <p:spPr>
          <a:xfrm>
            <a:off x="5908396" y="5102352"/>
            <a:ext cx="384048" cy="457200"/>
          </a:xfrm>
          <a:prstGeom prst="rect">
            <a:avLst/>
          </a:prstGeom>
          <a:noFill/>
          <a:ln/>
        </p:spPr>
        <p:txBody>
          <a:bodyPr wrap="square" lIns="0" tIns="0" rIns="0" bIns="0" rtlCol="0" anchor="t"/>
          <a:lstStyle/>
          <a:p>
            <a:pPr marL="0" indent="0" algn="ctr">
              <a:buNone/>
            </a:pPr>
            <a:r>
              <a:rPr lang="en-US" sz="2200" b="1" dirty="0">
                <a:solidFill>
                  <a:srgbClr val="4F46E5"/>
                </a:solidFill>
                <a:latin typeface="Calibri" pitchFamily="34" charset="0"/>
                <a:ea typeface="Calibri" pitchFamily="34" charset="-122"/>
                <a:cs typeface="Calibri" pitchFamily="34" charset="-120"/>
              </a:rPr>
              <a:t>→</a:t>
            </a:r>
            <a:endParaRPr lang="en-US" sz="2200" dirty="0"/>
          </a:p>
        </p:txBody>
      </p:sp>
      <p:sp>
        <p:nvSpPr>
          <p:cNvPr id="50" name="Shape 48"/>
          <p:cNvSpPr/>
          <p:nvPr/>
        </p:nvSpPr>
        <p:spPr>
          <a:xfrm>
            <a:off x="6301588" y="4553712"/>
            <a:ext cx="2487854" cy="1600200"/>
          </a:xfrm>
          <a:prstGeom prst="roundRect">
            <a:avLst>
              <a:gd name="adj" fmla="val 6857"/>
            </a:avLst>
          </a:prstGeom>
          <a:solidFill>
            <a:srgbClr val="F1F1FE"/>
          </a:solidFill>
          <a:ln w="9525">
            <a:solidFill>
              <a:srgbClr val="DCDDF5"/>
            </a:solidFill>
            <a:prstDash val="solid"/>
          </a:ln>
        </p:spPr>
        <p:txBody>
          <a:bodyPr/>
          <a:lstStyle/>
          <a:p>
            <a:endParaRPr lang="en-PH"/>
          </a:p>
        </p:txBody>
      </p:sp>
      <p:sp>
        <p:nvSpPr>
          <p:cNvPr id="51" name="Text 49"/>
          <p:cNvSpPr txBox="1"/>
          <p:nvPr/>
        </p:nvSpPr>
        <p:spPr>
          <a:xfrm>
            <a:off x="6502756" y="4736592"/>
            <a:ext cx="548640" cy="320040"/>
          </a:xfrm>
          <a:prstGeom prst="rect">
            <a:avLst/>
          </a:prstGeom>
          <a:noFill/>
          <a:ln/>
        </p:spPr>
        <p:txBody>
          <a:bodyPr wrap="square" lIns="0" tIns="0" rIns="0" bIns="0" rtlCol="0" anchor="t"/>
          <a:lstStyle/>
          <a:p>
            <a:pPr marL="0" indent="0">
              <a:buNone/>
            </a:pPr>
            <a:r>
              <a:rPr lang="en-US" sz="2000" b="1" dirty="0">
                <a:solidFill>
                  <a:srgbClr val="8C95FF"/>
                </a:solidFill>
                <a:latin typeface="Calibri" pitchFamily="34" charset="0"/>
                <a:ea typeface="Calibri" pitchFamily="34" charset="-122"/>
                <a:cs typeface="Calibri" pitchFamily="34" charset="-120"/>
              </a:rPr>
              <a:t>03</a:t>
            </a:r>
            <a:endParaRPr lang="en-US" sz="2000" dirty="0"/>
          </a:p>
        </p:txBody>
      </p:sp>
      <p:sp>
        <p:nvSpPr>
          <p:cNvPr id="52" name="Text 50"/>
          <p:cNvSpPr txBox="1"/>
          <p:nvPr/>
        </p:nvSpPr>
        <p:spPr>
          <a:xfrm>
            <a:off x="6502756" y="5102352"/>
            <a:ext cx="2122094" cy="320040"/>
          </a:xfrm>
          <a:prstGeom prst="rect">
            <a:avLst/>
          </a:prstGeom>
          <a:noFill/>
          <a:ln/>
        </p:spPr>
        <p:txBody>
          <a:bodyPr wrap="square" lIns="0" tIns="0" rIns="0" bIns="0" rtlCol="0" anchor="t"/>
          <a:lstStyle/>
          <a:p>
            <a:pPr marL="0" indent="0">
              <a:buNone/>
            </a:pPr>
            <a:r>
              <a:rPr lang="en-US" sz="1500" b="1" dirty="0">
                <a:solidFill>
                  <a:srgbClr val="1E1B4B"/>
                </a:solidFill>
                <a:latin typeface="Calibri" pitchFamily="34" charset="0"/>
                <a:ea typeface="Calibri" pitchFamily="34" charset="-122"/>
                <a:cs typeface="Calibri" pitchFamily="34" charset="-120"/>
              </a:rPr>
              <a:t>Catch</a:t>
            </a:r>
            <a:endParaRPr lang="en-US" sz="1500" dirty="0"/>
          </a:p>
        </p:txBody>
      </p:sp>
      <p:sp>
        <p:nvSpPr>
          <p:cNvPr id="53" name="Text 51"/>
          <p:cNvSpPr txBox="1"/>
          <p:nvPr/>
        </p:nvSpPr>
        <p:spPr>
          <a:xfrm>
            <a:off x="6502756" y="5449824"/>
            <a:ext cx="2122094" cy="640080"/>
          </a:xfrm>
          <a:prstGeom prst="rect">
            <a:avLst/>
          </a:prstGeom>
          <a:noFill/>
          <a:ln/>
        </p:spPr>
        <p:txBody>
          <a:bodyPr wrap="square" lIns="0" tIns="0" rIns="0" bIns="0" rtlCol="0" anchor="t"/>
          <a:lstStyle/>
          <a:p>
            <a:pPr marL="0" indent="0">
              <a:buNone/>
            </a:pPr>
            <a:r>
              <a:rPr lang="en-US" sz="1200" dirty="0">
                <a:solidFill>
                  <a:srgbClr val="5B5F7A"/>
                </a:solidFill>
                <a:latin typeface="Calibri" pitchFamily="34" charset="0"/>
                <a:ea typeface="Calibri" pitchFamily="34" charset="-122"/>
                <a:cs typeface="Calibri" pitchFamily="34" charset="-120"/>
              </a:rPr>
              <a:t>A matching except block takes control.</a:t>
            </a:r>
            <a:endParaRPr lang="en-US" sz="1200" dirty="0"/>
          </a:p>
        </p:txBody>
      </p:sp>
      <p:sp>
        <p:nvSpPr>
          <p:cNvPr id="54" name="Text 52"/>
          <p:cNvSpPr txBox="1"/>
          <p:nvPr/>
        </p:nvSpPr>
        <p:spPr>
          <a:xfrm>
            <a:off x="8807729" y="5102352"/>
            <a:ext cx="384048" cy="457200"/>
          </a:xfrm>
          <a:prstGeom prst="rect">
            <a:avLst/>
          </a:prstGeom>
          <a:noFill/>
          <a:ln/>
        </p:spPr>
        <p:txBody>
          <a:bodyPr wrap="square" lIns="0" tIns="0" rIns="0" bIns="0" rtlCol="0" anchor="t"/>
          <a:lstStyle/>
          <a:p>
            <a:pPr marL="0" indent="0" algn="ctr">
              <a:buNone/>
            </a:pPr>
            <a:r>
              <a:rPr lang="en-US" sz="2200" b="1" dirty="0">
                <a:solidFill>
                  <a:srgbClr val="4F46E5"/>
                </a:solidFill>
                <a:latin typeface="Calibri" pitchFamily="34" charset="0"/>
                <a:ea typeface="Calibri" pitchFamily="34" charset="-122"/>
                <a:cs typeface="Calibri" pitchFamily="34" charset="-120"/>
              </a:rPr>
              <a:t>→</a:t>
            </a:r>
            <a:endParaRPr lang="en-US" sz="2200" dirty="0"/>
          </a:p>
        </p:txBody>
      </p:sp>
      <p:sp>
        <p:nvSpPr>
          <p:cNvPr id="55" name="Shape 53"/>
          <p:cNvSpPr/>
          <p:nvPr/>
        </p:nvSpPr>
        <p:spPr>
          <a:xfrm>
            <a:off x="9200921" y="4553712"/>
            <a:ext cx="2487854" cy="1600200"/>
          </a:xfrm>
          <a:prstGeom prst="roundRect">
            <a:avLst>
              <a:gd name="adj" fmla="val 6857"/>
            </a:avLst>
          </a:prstGeom>
          <a:solidFill>
            <a:srgbClr val="F1F1FE"/>
          </a:solidFill>
          <a:ln w="9525">
            <a:solidFill>
              <a:srgbClr val="DCDDF5"/>
            </a:solidFill>
            <a:prstDash val="solid"/>
          </a:ln>
        </p:spPr>
        <p:txBody>
          <a:bodyPr/>
          <a:lstStyle/>
          <a:p>
            <a:endParaRPr lang="en-PH"/>
          </a:p>
        </p:txBody>
      </p:sp>
      <p:sp>
        <p:nvSpPr>
          <p:cNvPr id="56" name="Text 54"/>
          <p:cNvSpPr txBox="1"/>
          <p:nvPr/>
        </p:nvSpPr>
        <p:spPr>
          <a:xfrm>
            <a:off x="9402089" y="4736592"/>
            <a:ext cx="548640" cy="320040"/>
          </a:xfrm>
          <a:prstGeom prst="rect">
            <a:avLst/>
          </a:prstGeom>
          <a:noFill/>
          <a:ln/>
        </p:spPr>
        <p:txBody>
          <a:bodyPr wrap="square" lIns="0" tIns="0" rIns="0" bIns="0" rtlCol="0" anchor="t"/>
          <a:lstStyle/>
          <a:p>
            <a:pPr marL="0" indent="0">
              <a:buNone/>
            </a:pPr>
            <a:r>
              <a:rPr lang="en-US" sz="2000" b="1" dirty="0">
                <a:solidFill>
                  <a:srgbClr val="8C95FF"/>
                </a:solidFill>
                <a:latin typeface="Calibri" pitchFamily="34" charset="0"/>
                <a:ea typeface="Calibri" pitchFamily="34" charset="-122"/>
                <a:cs typeface="Calibri" pitchFamily="34" charset="-120"/>
              </a:rPr>
              <a:t>04</a:t>
            </a:r>
            <a:endParaRPr lang="en-US" sz="2000" dirty="0"/>
          </a:p>
        </p:txBody>
      </p:sp>
      <p:sp>
        <p:nvSpPr>
          <p:cNvPr id="57" name="Text 55"/>
          <p:cNvSpPr txBox="1"/>
          <p:nvPr/>
        </p:nvSpPr>
        <p:spPr>
          <a:xfrm>
            <a:off x="9402089" y="5102352"/>
            <a:ext cx="2122094" cy="320040"/>
          </a:xfrm>
          <a:prstGeom prst="rect">
            <a:avLst/>
          </a:prstGeom>
          <a:noFill/>
          <a:ln/>
        </p:spPr>
        <p:txBody>
          <a:bodyPr wrap="square" lIns="0" tIns="0" rIns="0" bIns="0" rtlCol="0" anchor="t"/>
          <a:lstStyle/>
          <a:p>
            <a:pPr marL="0" indent="0">
              <a:buNone/>
            </a:pPr>
            <a:r>
              <a:rPr lang="en-US" sz="1500" b="1" dirty="0">
                <a:solidFill>
                  <a:srgbClr val="1E1B4B"/>
                </a:solidFill>
                <a:latin typeface="Calibri" pitchFamily="34" charset="0"/>
                <a:ea typeface="Calibri" pitchFamily="34" charset="-122"/>
                <a:cs typeface="Calibri" pitchFamily="34" charset="-120"/>
              </a:rPr>
              <a:t>Continue</a:t>
            </a:r>
            <a:endParaRPr lang="en-US" sz="1500" dirty="0"/>
          </a:p>
        </p:txBody>
      </p:sp>
      <p:sp>
        <p:nvSpPr>
          <p:cNvPr id="58" name="Text 56"/>
          <p:cNvSpPr txBox="1"/>
          <p:nvPr/>
        </p:nvSpPr>
        <p:spPr>
          <a:xfrm>
            <a:off x="9402089" y="5449824"/>
            <a:ext cx="2122094" cy="640080"/>
          </a:xfrm>
          <a:prstGeom prst="rect">
            <a:avLst/>
          </a:prstGeom>
          <a:noFill/>
          <a:ln/>
        </p:spPr>
        <p:txBody>
          <a:bodyPr wrap="square" lIns="0" tIns="0" rIns="0" bIns="0" rtlCol="0" anchor="t"/>
          <a:lstStyle/>
          <a:p>
            <a:pPr marL="0" indent="0">
              <a:buNone/>
            </a:pPr>
            <a:r>
              <a:rPr lang="en-US" sz="1200" dirty="0">
                <a:solidFill>
                  <a:srgbClr val="5B5F7A"/>
                </a:solidFill>
                <a:latin typeface="Calibri" pitchFamily="34" charset="0"/>
                <a:ea typeface="Calibri" pitchFamily="34" charset="-122"/>
                <a:cs typeface="Calibri" pitchFamily="34" charset="-120"/>
              </a:rPr>
              <a:t>A message is shown and the program keeps running.</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02920" y="310896"/>
            <a:ext cx="8229600" cy="237744"/>
          </a:xfrm>
          <a:prstGeom prst="rect">
            <a:avLst/>
          </a:prstGeom>
          <a:noFill/>
          <a:ln/>
        </p:spPr>
        <p:txBody>
          <a:bodyPr wrap="square" lIns="0" tIns="0" rIns="0" bIns="0" rtlCol="0" anchor="t"/>
          <a:lstStyle/>
          <a:p>
            <a:pPr marL="0" indent="0">
              <a:buNone/>
            </a:pPr>
            <a:r>
              <a:rPr lang="en-US" sz="1050" b="1" kern="0" spc="200" dirty="0">
                <a:solidFill>
                  <a:srgbClr val="C8559F"/>
                </a:solidFill>
                <a:latin typeface="Calibri" pitchFamily="34" charset="0"/>
                <a:ea typeface="Calibri" pitchFamily="34" charset="-122"/>
                <a:cs typeface="Calibri" pitchFamily="34" charset="-120"/>
              </a:rPr>
              <a:t>ERROR HANDLING</a:t>
            </a:r>
            <a:endParaRPr lang="en-US" sz="1050" dirty="0"/>
          </a:p>
        </p:txBody>
      </p:sp>
      <p:sp>
        <p:nvSpPr>
          <p:cNvPr id="3" name="Text 1"/>
          <p:cNvSpPr txBox="1"/>
          <p:nvPr/>
        </p:nvSpPr>
        <p:spPr>
          <a:xfrm>
            <a:off x="502920" y="530352"/>
            <a:ext cx="10241280" cy="640080"/>
          </a:xfrm>
          <a:prstGeom prst="rect">
            <a:avLst/>
          </a:prstGeom>
          <a:noFill/>
          <a:ln/>
        </p:spPr>
        <p:txBody>
          <a:bodyPr wrap="square" lIns="0" tIns="0" rIns="0" bIns="0" rtlCol="0" anchor="ctr"/>
          <a:lstStyle/>
          <a:p>
            <a:pPr marL="0" indent="0">
              <a:buNone/>
            </a:pPr>
            <a:r>
              <a:rPr lang="en-US" sz="2800" b="1" dirty="0">
                <a:solidFill>
                  <a:srgbClr val="1E1B4B"/>
                </a:solidFill>
                <a:latin typeface="Calibri" pitchFamily="34" charset="0"/>
                <a:ea typeface="Calibri" pitchFamily="34" charset="-122"/>
                <a:cs typeface="Calibri" pitchFamily="34" charset="-120"/>
              </a:rPr>
              <a:t>Learning Objectives</a:t>
            </a:r>
            <a:endParaRPr lang="en-US" sz="2800" dirty="0"/>
          </a:p>
        </p:txBody>
      </p:sp>
      <p:sp>
        <p:nvSpPr>
          <p:cNvPr id="4" name="Text 2"/>
          <p:cNvSpPr txBox="1"/>
          <p:nvPr/>
        </p:nvSpPr>
        <p:spPr>
          <a:xfrm>
            <a:off x="502920" y="6446520"/>
            <a:ext cx="5486400" cy="228600"/>
          </a:xfrm>
          <a:prstGeom prst="rect">
            <a:avLst/>
          </a:prstGeom>
          <a:noFill/>
          <a:ln/>
        </p:spPr>
        <p:txBody>
          <a:bodyPr wrap="square" lIns="0" tIns="0" rIns="0" bIns="0" rtlCol="0" anchor="t"/>
          <a:lstStyle/>
          <a:p>
            <a:pPr marL="0" indent="0">
              <a:buNone/>
            </a:pPr>
            <a:r>
              <a:rPr lang="en-US" sz="900" dirty="0">
                <a:solidFill>
                  <a:srgbClr val="5B5F7A"/>
                </a:solidFill>
                <a:latin typeface="Calibri" pitchFamily="34" charset="0"/>
                <a:ea typeface="Calibri" pitchFamily="34" charset="-122"/>
                <a:cs typeface="Calibri" pitchFamily="34" charset="-120"/>
              </a:rPr>
              <a:t>Python  ·  Error Handling</a:t>
            </a:r>
            <a:endParaRPr lang="en-US" sz="900" dirty="0"/>
          </a:p>
        </p:txBody>
      </p:sp>
      <p:sp>
        <p:nvSpPr>
          <p:cNvPr id="5" name="Text 3"/>
          <p:cNvSpPr txBox="1"/>
          <p:nvPr/>
        </p:nvSpPr>
        <p:spPr>
          <a:xfrm>
            <a:off x="11140135" y="6446520"/>
            <a:ext cx="548640" cy="228600"/>
          </a:xfrm>
          <a:prstGeom prst="rect">
            <a:avLst/>
          </a:prstGeom>
          <a:noFill/>
          <a:ln/>
        </p:spPr>
        <p:txBody>
          <a:bodyPr wrap="square" lIns="0" tIns="0" rIns="0" bIns="0" rtlCol="0" anchor="t"/>
          <a:lstStyle/>
          <a:p>
            <a:pPr marL="0" indent="0" algn="r">
              <a:buNone/>
            </a:pPr>
            <a:r>
              <a:rPr lang="en-US" sz="900" dirty="0">
                <a:solidFill>
                  <a:srgbClr val="5B5F7A"/>
                </a:solidFill>
                <a:latin typeface="Calibri" pitchFamily="34" charset="0"/>
                <a:ea typeface="Calibri" pitchFamily="34" charset="-122"/>
                <a:cs typeface="Calibri" pitchFamily="34" charset="-120"/>
              </a:rPr>
              <a:t>3</a:t>
            </a:r>
            <a:endParaRPr lang="en-US" sz="900" dirty="0"/>
          </a:p>
        </p:txBody>
      </p:sp>
      <p:sp>
        <p:nvSpPr>
          <p:cNvPr id="6" name="Shape 4"/>
          <p:cNvSpPr/>
          <p:nvPr/>
        </p:nvSpPr>
        <p:spPr>
          <a:xfrm>
            <a:off x="502920" y="1417320"/>
            <a:ext cx="3749040" cy="4754880"/>
          </a:xfrm>
          <a:prstGeom prst="roundRect">
            <a:avLst>
              <a:gd name="adj" fmla="val 3902"/>
            </a:avLst>
          </a:prstGeom>
          <a:solidFill>
            <a:srgbClr val="1E1B4B"/>
          </a:solidFill>
          <a:ln w="12700">
            <a:solidFill>
              <a:srgbClr val="1E1B4B"/>
            </a:solidFill>
            <a:prstDash val="solid"/>
          </a:ln>
        </p:spPr>
        <p:txBody>
          <a:bodyPr/>
          <a:lstStyle/>
          <a:p>
            <a:endParaRPr lang="en-PH"/>
          </a:p>
        </p:txBody>
      </p:sp>
      <p:sp>
        <p:nvSpPr>
          <p:cNvPr id="7" name="Text 5"/>
          <p:cNvSpPr txBox="1"/>
          <p:nvPr/>
        </p:nvSpPr>
        <p:spPr>
          <a:xfrm>
            <a:off x="822960" y="1737360"/>
            <a:ext cx="3108960" cy="1463040"/>
          </a:xfrm>
          <a:prstGeom prst="rect">
            <a:avLst/>
          </a:prstGeom>
          <a:noFill/>
          <a:ln/>
        </p:spPr>
        <p:txBody>
          <a:bodyPr wrap="square" lIns="0" tIns="0" rIns="0" bIns="0" rtlCol="0" anchor="t"/>
          <a:lstStyle/>
          <a:p>
            <a:pPr marL="0" indent="0">
              <a:buNone/>
            </a:pPr>
            <a:r>
              <a:rPr lang="en-US" sz="2200" b="1" dirty="0">
                <a:solidFill>
                  <a:srgbClr val="FFFFFF"/>
                </a:solidFill>
                <a:latin typeface="Calibri" pitchFamily="34" charset="0"/>
                <a:ea typeface="Calibri" pitchFamily="34" charset="-122"/>
                <a:cs typeface="Calibri" pitchFamily="34" charset="-120"/>
              </a:rPr>
              <a:t>By the end of this lesson, students will be able to:</a:t>
            </a:r>
            <a:endParaRPr lang="en-US" sz="2200" dirty="0"/>
          </a:p>
        </p:txBody>
      </p:sp>
      <p:sp>
        <p:nvSpPr>
          <p:cNvPr id="8" name="Text 6"/>
          <p:cNvSpPr txBox="1"/>
          <p:nvPr/>
        </p:nvSpPr>
        <p:spPr>
          <a:xfrm>
            <a:off x="822960" y="2880360"/>
            <a:ext cx="3108960" cy="914400"/>
          </a:xfrm>
          <a:prstGeom prst="rect">
            <a:avLst/>
          </a:prstGeom>
          <a:noFill/>
          <a:ln/>
        </p:spPr>
        <p:txBody>
          <a:bodyPr wrap="square" lIns="0" tIns="0" rIns="0" bIns="0" rtlCol="0" anchor="t"/>
          <a:lstStyle/>
          <a:p>
            <a:pPr marL="0" indent="0">
              <a:buNone/>
            </a:pPr>
            <a:r>
              <a:rPr lang="en-US" sz="1350" dirty="0">
                <a:solidFill>
                  <a:srgbClr val="C9CCFF"/>
                </a:solidFill>
                <a:latin typeface="Calibri" pitchFamily="34" charset="0"/>
                <a:ea typeface="Calibri" pitchFamily="34" charset="-122"/>
                <a:cs typeface="Calibri" pitchFamily="34" charset="-120"/>
              </a:rPr>
              <a:t>Five outcomes that take you from knowing what an exception is to writing programs that recover from one.</a:t>
            </a:r>
            <a:endParaRPr lang="en-US" sz="1350" dirty="0"/>
          </a:p>
        </p:txBody>
      </p:sp>
      <p:sp>
        <p:nvSpPr>
          <p:cNvPr id="9" name="Shape 7"/>
          <p:cNvSpPr/>
          <p:nvPr/>
        </p:nvSpPr>
        <p:spPr>
          <a:xfrm>
            <a:off x="822960" y="5120640"/>
            <a:ext cx="868680" cy="274320"/>
          </a:xfrm>
          <a:prstGeom prst="roundRect">
            <a:avLst>
              <a:gd name="adj" fmla="val 50000"/>
            </a:avLst>
          </a:prstGeom>
          <a:solidFill>
            <a:srgbClr val="3B3791"/>
          </a:solidFill>
          <a:ln w="12700">
            <a:solidFill>
              <a:srgbClr val="3B3791"/>
            </a:solidFill>
            <a:prstDash val="solid"/>
          </a:ln>
        </p:spPr>
        <p:txBody>
          <a:bodyPr/>
          <a:lstStyle/>
          <a:p>
            <a:endParaRPr lang="en-PH"/>
          </a:p>
        </p:txBody>
      </p:sp>
      <p:sp>
        <p:nvSpPr>
          <p:cNvPr id="10" name="Text 8"/>
          <p:cNvSpPr txBox="1"/>
          <p:nvPr/>
        </p:nvSpPr>
        <p:spPr>
          <a:xfrm>
            <a:off x="822960" y="5120640"/>
            <a:ext cx="868680" cy="274320"/>
          </a:xfrm>
          <a:prstGeom prst="rect">
            <a:avLst/>
          </a:prstGeom>
          <a:noFill/>
          <a:ln/>
        </p:spPr>
        <p:txBody>
          <a:bodyPr wrap="square" lIns="0" tIns="0" rIns="0" bIns="0" rtlCol="0" anchor="ctr"/>
          <a:lstStyle/>
          <a:p>
            <a:pPr marL="0" indent="0" algn="ctr">
              <a:buNone/>
            </a:pPr>
            <a:r>
              <a:rPr lang="en-US" sz="1100" dirty="0">
                <a:solidFill>
                  <a:srgbClr val="FFFFFF"/>
                </a:solidFill>
                <a:latin typeface="Courier New" pitchFamily="34" charset="0"/>
                <a:ea typeface="Courier New" pitchFamily="34" charset="-122"/>
                <a:cs typeface="Courier New" pitchFamily="34" charset="-120"/>
              </a:rPr>
              <a:t>try</a:t>
            </a:r>
            <a:endParaRPr lang="en-US" sz="1100" dirty="0"/>
          </a:p>
        </p:txBody>
      </p:sp>
      <p:sp>
        <p:nvSpPr>
          <p:cNvPr id="11" name="Shape 9"/>
          <p:cNvSpPr/>
          <p:nvPr/>
        </p:nvSpPr>
        <p:spPr>
          <a:xfrm>
            <a:off x="1810512" y="5120640"/>
            <a:ext cx="868680" cy="274320"/>
          </a:xfrm>
          <a:prstGeom prst="roundRect">
            <a:avLst>
              <a:gd name="adj" fmla="val 50000"/>
            </a:avLst>
          </a:prstGeom>
          <a:solidFill>
            <a:srgbClr val="3B3791"/>
          </a:solidFill>
          <a:ln w="12700">
            <a:solidFill>
              <a:srgbClr val="3B3791"/>
            </a:solidFill>
            <a:prstDash val="solid"/>
          </a:ln>
        </p:spPr>
        <p:txBody>
          <a:bodyPr/>
          <a:lstStyle/>
          <a:p>
            <a:endParaRPr lang="en-PH"/>
          </a:p>
        </p:txBody>
      </p:sp>
      <p:sp>
        <p:nvSpPr>
          <p:cNvPr id="12" name="Text 10"/>
          <p:cNvSpPr txBox="1"/>
          <p:nvPr/>
        </p:nvSpPr>
        <p:spPr>
          <a:xfrm>
            <a:off x="1810512" y="5120640"/>
            <a:ext cx="868680" cy="274320"/>
          </a:xfrm>
          <a:prstGeom prst="rect">
            <a:avLst/>
          </a:prstGeom>
          <a:noFill/>
          <a:ln/>
        </p:spPr>
        <p:txBody>
          <a:bodyPr wrap="square" lIns="0" tIns="0" rIns="0" bIns="0" rtlCol="0" anchor="ctr"/>
          <a:lstStyle/>
          <a:p>
            <a:pPr marL="0" indent="0" algn="ctr">
              <a:buNone/>
            </a:pPr>
            <a:r>
              <a:rPr lang="en-US" sz="1100" dirty="0">
                <a:solidFill>
                  <a:srgbClr val="FFFFFF"/>
                </a:solidFill>
                <a:latin typeface="Courier New" pitchFamily="34" charset="0"/>
                <a:ea typeface="Courier New" pitchFamily="34" charset="-122"/>
                <a:cs typeface="Courier New" pitchFamily="34" charset="-120"/>
              </a:rPr>
              <a:t>except</a:t>
            </a:r>
            <a:endParaRPr lang="en-US" sz="1100" dirty="0"/>
          </a:p>
        </p:txBody>
      </p:sp>
      <p:sp>
        <p:nvSpPr>
          <p:cNvPr id="13" name="Shape 11"/>
          <p:cNvSpPr/>
          <p:nvPr/>
        </p:nvSpPr>
        <p:spPr>
          <a:xfrm>
            <a:off x="2798064" y="5120640"/>
            <a:ext cx="868680" cy="274320"/>
          </a:xfrm>
          <a:prstGeom prst="roundRect">
            <a:avLst>
              <a:gd name="adj" fmla="val 50000"/>
            </a:avLst>
          </a:prstGeom>
          <a:solidFill>
            <a:srgbClr val="3B3791"/>
          </a:solidFill>
          <a:ln w="12700">
            <a:solidFill>
              <a:srgbClr val="3B3791"/>
            </a:solidFill>
            <a:prstDash val="solid"/>
          </a:ln>
        </p:spPr>
        <p:txBody>
          <a:bodyPr/>
          <a:lstStyle/>
          <a:p>
            <a:endParaRPr lang="en-PH"/>
          </a:p>
        </p:txBody>
      </p:sp>
      <p:sp>
        <p:nvSpPr>
          <p:cNvPr id="14" name="Text 12"/>
          <p:cNvSpPr txBox="1"/>
          <p:nvPr/>
        </p:nvSpPr>
        <p:spPr>
          <a:xfrm>
            <a:off x="2798064" y="5120640"/>
            <a:ext cx="868680" cy="274320"/>
          </a:xfrm>
          <a:prstGeom prst="rect">
            <a:avLst/>
          </a:prstGeom>
          <a:noFill/>
          <a:ln/>
        </p:spPr>
        <p:txBody>
          <a:bodyPr wrap="square" lIns="0" tIns="0" rIns="0" bIns="0" rtlCol="0" anchor="ctr"/>
          <a:lstStyle/>
          <a:p>
            <a:pPr marL="0" indent="0" algn="ctr">
              <a:buNone/>
            </a:pPr>
            <a:r>
              <a:rPr lang="en-US" sz="1100" dirty="0">
                <a:solidFill>
                  <a:srgbClr val="FFFFFF"/>
                </a:solidFill>
                <a:latin typeface="Courier New" pitchFamily="34" charset="0"/>
                <a:ea typeface="Courier New" pitchFamily="34" charset="-122"/>
                <a:cs typeface="Courier New" pitchFamily="34" charset="-120"/>
              </a:rPr>
              <a:t>finally</a:t>
            </a:r>
            <a:endParaRPr lang="en-US" sz="1100" dirty="0"/>
          </a:p>
        </p:txBody>
      </p:sp>
      <p:sp>
        <p:nvSpPr>
          <p:cNvPr id="15" name="Text 13"/>
          <p:cNvSpPr txBox="1"/>
          <p:nvPr/>
        </p:nvSpPr>
        <p:spPr>
          <a:xfrm>
            <a:off x="822960" y="5532120"/>
            <a:ext cx="3108960" cy="457200"/>
          </a:xfrm>
          <a:prstGeom prst="rect">
            <a:avLst/>
          </a:prstGeom>
          <a:noFill/>
          <a:ln/>
        </p:spPr>
        <p:txBody>
          <a:bodyPr wrap="square" lIns="0" tIns="0" rIns="0" bIns="0" rtlCol="0" anchor="t"/>
          <a:lstStyle/>
          <a:p>
            <a:pPr marL="0" indent="0">
              <a:buNone/>
            </a:pPr>
            <a:r>
              <a:rPr lang="en-US" sz="1100" dirty="0">
                <a:solidFill>
                  <a:srgbClr val="9EA2E0"/>
                </a:solidFill>
                <a:latin typeface="Calibri" pitchFamily="34" charset="0"/>
                <a:ea typeface="Calibri" pitchFamily="34" charset="-122"/>
                <a:cs typeface="Calibri" pitchFamily="34" charset="-120"/>
              </a:rPr>
              <a:t>The three keywords used throughout this lesson.</a:t>
            </a:r>
            <a:endParaRPr lang="en-US" sz="1100" dirty="0"/>
          </a:p>
        </p:txBody>
      </p:sp>
      <p:sp>
        <p:nvSpPr>
          <p:cNvPr id="16" name="Shape 14"/>
          <p:cNvSpPr/>
          <p:nvPr/>
        </p:nvSpPr>
        <p:spPr>
          <a:xfrm>
            <a:off x="4526280" y="1417320"/>
            <a:ext cx="7162495" cy="859536"/>
          </a:xfrm>
          <a:prstGeom prst="roundRect">
            <a:avLst>
              <a:gd name="adj" fmla="val 12766"/>
            </a:avLst>
          </a:prstGeom>
          <a:solidFill>
            <a:srgbClr val="FFFFFF"/>
          </a:solidFill>
          <a:ln w="9525">
            <a:solidFill>
              <a:srgbClr val="DCDDF5"/>
            </a:solidFill>
            <a:prstDash val="solid"/>
          </a:ln>
          <a:effectLst>
            <a:outerShdw blurRad="127000" dist="25400" dir="5400000" algn="bl" rotWithShape="0">
              <a:srgbClr val="4F46E5">
                <a:alpha val="12000"/>
              </a:srgbClr>
            </a:outerShdw>
          </a:effectLst>
        </p:spPr>
        <p:txBody>
          <a:bodyPr/>
          <a:lstStyle/>
          <a:p>
            <a:endParaRPr lang="en-PH"/>
          </a:p>
        </p:txBody>
      </p:sp>
      <p:sp>
        <p:nvSpPr>
          <p:cNvPr id="17" name="Shape 15"/>
          <p:cNvSpPr/>
          <p:nvPr/>
        </p:nvSpPr>
        <p:spPr>
          <a:xfrm>
            <a:off x="4727448" y="1636776"/>
            <a:ext cx="420624" cy="420624"/>
          </a:xfrm>
          <a:prstGeom prst="ellipse">
            <a:avLst/>
          </a:prstGeom>
          <a:solidFill>
            <a:srgbClr val="4F46E5"/>
          </a:solidFill>
          <a:ln w="12700">
            <a:solidFill>
              <a:srgbClr val="4F46E5"/>
            </a:solidFill>
            <a:prstDash val="solid"/>
          </a:ln>
        </p:spPr>
        <p:txBody>
          <a:bodyPr/>
          <a:lstStyle/>
          <a:p>
            <a:endParaRPr lang="en-PH"/>
          </a:p>
        </p:txBody>
      </p:sp>
      <p:sp>
        <p:nvSpPr>
          <p:cNvPr id="18" name="Text 16"/>
          <p:cNvSpPr txBox="1"/>
          <p:nvPr/>
        </p:nvSpPr>
        <p:spPr>
          <a:xfrm>
            <a:off x="4727448" y="1636776"/>
            <a:ext cx="420624" cy="420624"/>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9" name="Text 17"/>
          <p:cNvSpPr txBox="1"/>
          <p:nvPr/>
        </p:nvSpPr>
        <p:spPr>
          <a:xfrm>
            <a:off x="5349240" y="1536192"/>
            <a:ext cx="6156655" cy="329184"/>
          </a:xfrm>
          <a:prstGeom prst="rect">
            <a:avLst/>
          </a:prstGeom>
          <a:noFill/>
          <a:ln/>
        </p:spPr>
        <p:txBody>
          <a:bodyPr wrap="square" lIns="0" tIns="0" rIns="0" bIns="0" rtlCol="0" anchor="ctr"/>
          <a:lstStyle/>
          <a:p>
            <a:pPr marL="0" indent="0">
              <a:buNone/>
            </a:pPr>
            <a:r>
              <a:rPr lang="en-US" sz="1550" b="1" dirty="0">
                <a:solidFill>
                  <a:srgbClr val="1E1B4B"/>
                </a:solidFill>
                <a:latin typeface="Calibri" pitchFamily="34" charset="0"/>
                <a:ea typeface="Calibri" pitchFamily="34" charset="-122"/>
                <a:cs typeface="Calibri" pitchFamily="34" charset="-120"/>
              </a:rPr>
              <a:t>Define exceptions</a:t>
            </a:r>
            <a:endParaRPr lang="en-US" sz="1550" dirty="0"/>
          </a:p>
        </p:txBody>
      </p:sp>
      <p:sp>
        <p:nvSpPr>
          <p:cNvPr id="20" name="Text 18"/>
          <p:cNvSpPr txBox="1"/>
          <p:nvPr/>
        </p:nvSpPr>
        <p:spPr>
          <a:xfrm>
            <a:off x="5349240" y="1874520"/>
            <a:ext cx="6156655" cy="310896"/>
          </a:xfrm>
          <a:prstGeom prst="rect">
            <a:avLst/>
          </a:prstGeom>
          <a:noFill/>
          <a:ln/>
        </p:spPr>
        <p:txBody>
          <a:bodyPr wrap="square" lIns="0" tIns="0" rIns="0" bIns="0" rtlCol="0" anchor="ctr"/>
          <a:lstStyle/>
          <a:p>
            <a:pPr marL="0" indent="0">
              <a:buNone/>
            </a:pPr>
            <a:r>
              <a:rPr lang="en-US" sz="1250" dirty="0">
                <a:solidFill>
                  <a:srgbClr val="5B5F7A"/>
                </a:solidFill>
                <a:latin typeface="Calibri" pitchFamily="34" charset="0"/>
                <a:ea typeface="Calibri" pitchFamily="34" charset="-122"/>
                <a:cs typeface="Calibri" pitchFamily="34" charset="-120"/>
              </a:rPr>
              <a:t>Recognise an exception as an error that happens while a program is running.</a:t>
            </a:r>
            <a:endParaRPr lang="en-US" sz="1250" dirty="0"/>
          </a:p>
        </p:txBody>
      </p:sp>
      <p:sp>
        <p:nvSpPr>
          <p:cNvPr id="21" name="Shape 19"/>
          <p:cNvSpPr/>
          <p:nvPr/>
        </p:nvSpPr>
        <p:spPr>
          <a:xfrm>
            <a:off x="4526280" y="2391156"/>
            <a:ext cx="7162495" cy="859536"/>
          </a:xfrm>
          <a:prstGeom prst="roundRect">
            <a:avLst>
              <a:gd name="adj" fmla="val 12766"/>
            </a:avLst>
          </a:prstGeom>
          <a:solidFill>
            <a:srgbClr val="FFFFFF"/>
          </a:solidFill>
          <a:ln w="9525">
            <a:solidFill>
              <a:srgbClr val="DCDDF5"/>
            </a:solidFill>
            <a:prstDash val="solid"/>
          </a:ln>
          <a:effectLst>
            <a:outerShdw blurRad="127000" dist="25400" dir="5400000" algn="bl" rotWithShape="0">
              <a:srgbClr val="4F46E5">
                <a:alpha val="12000"/>
              </a:srgbClr>
            </a:outerShdw>
          </a:effectLst>
        </p:spPr>
        <p:txBody>
          <a:bodyPr/>
          <a:lstStyle/>
          <a:p>
            <a:endParaRPr lang="en-PH"/>
          </a:p>
        </p:txBody>
      </p:sp>
      <p:sp>
        <p:nvSpPr>
          <p:cNvPr id="22" name="Shape 20"/>
          <p:cNvSpPr/>
          <p:nvPr/>
        </p:nvSpPr>
        <p:spPr>
          <a:xfrm>
            <a:off x="4727448" y="2610612"/>
            <a:ext cx="420624" cy="420624"/>
          </a:xfrm>
          <a:prstGeom prst="ellipse">
            <a:avLst/>
          </a:prstGeom>
          <a:solidFill>
            <a:srgbClr val="C8559F"/>
          </a:solidFill>
          <a:ln w="12700">
            <a:solidFill>
              <a:srgbClr val="C8559F"/>
            </a:solidFill>
            <a:prstDash val="solid"/>
          </a:ln>
        </p:spPr>
        <p:txBody>
          <a:bodyPr/>
          <a:lstStyle/>
          <a:p>
            <a:endParaRPr lang="en-PH"/>
          </a:p>
        </p:txBody>
      </p:sp>
      <p:sp>
        <p:nvSpPr>
          <p:cNvPr id="23" name="Text 21"/>
          <p:cNvSpPr txBox="1"/>
          <p:nvPr/>
        </p:nvSpPr>
        <p:spPr>
          <a:xfrm>
            <a:off x="4727448" y="2610612"/>
            <a:ext cx="420624" cy="420624"/>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24" name="Text 22"/>
          <p:cNvSpPr txBox="1"/>
          <p:nvPr/>
        </p:nvSpPr>
        <p:spPr>
          <a:xfrm>
            <a:off x="5349240" y="2510028"/>
            <a:ext cx="6156655" cy="329184"/>
          </a:xfrm>
          <a:prstGeom prst="rect">
            <a:avLst/>
          </a:prstGeom>
          <a:noFill/>
          <a:ln/>
        </p:spPr>
        <p:txBody>
          <a:bodyPr wrap="square" lIns="0" tIns="0" rIns="0" bIns="0" rtlCol="0" anchor="ctr"/>
          <a:lstStyle/>
          <a:p>
            <a:pPr marL="0" indent="0">
              <a:buNone/>
            </a:pPr>
            <a:r>
              <a:rPr lang="en-US" sz="1550" b="1" dirty="0">
                <a:solidFill>
                  <a:srgbClr val="1E1B4B"/>
                </a:solidFill>
                <a:latin typeface="Calibri" pitchFamily="34" charset="0"/>
                <a:ea typeface="Calibri" pitchFamily="34" charset="-122"/>
                <a:cs typeface="Calibri" pitchFamily="34" charset="-120"/>
              </a:rPr>
              <a:t>Explain why error handling is important</a:t>
            </a:r>
            <a:endParaRPr lang="en-US" sz="1550" dirty="0"/>
          </a:p>
        </p:txBody>
      </p:sp>
      <p:sp>
        <p:nvSpPr>
          <p:cNvPr id="25" name="Text 23"/>
          <p:cNvSpPr txBox="1"/>
          <p:nvPr/>
        </p:nvSpPr>
        <p:spPr>
          <a:xfrm>
            <a:off x="5349240" y="2848356"/>
            <a:ext cx="6156655" cy="310896"/>
          </a:xfrm>
          <a:prstGeom prst="rect">
            <a:avLst/>
          </a:prstGeom>
          <a:noFill/>
          <a:ln/>
        </p:spPr>
        <p:txBody>
          <a:bodyPr wrap="square" lIns="0" tIns="0" rIns="0" bIns="0" rtlCol="0" anchor="ctr"/>
          <a:lstStyle/>
          <a:p>
            <a:pPr marL="0" indent="0">
              <a:buNone/>
            </a:pPr>
            <a:r>
              <a:rPr lang="en-US" sz="1250" dirty="0">
                <a:solidFill>
                  <a:srgbClr val="5B5F7A"/>
                </a:solidFill>
                <a:latin typeface="Calibri" pitchFamily="34" charset="0"/>
                <a:ea typeface="Calibri" pitchFamily="34" charset="-122"/>
                <a:cs typeface="Calibri" pitchFamily="34" charset="-120"/>
              </a:rPr>
              <a:t>Link handled errors to fewer crashes and a better experience for users.</a:t>
            </a:r>
            <a:endParaRPr lang="en-US" sz="1250" dirty="0"/>
          </a:p>
        </p:txBody>
      </p:sp>
      <p:sp>
        <p:nvSpPr>
          <p:cNvPr id="26" name="Shape 24"/>
          <p:cNvSpPr/>
          <p:nvPr/>
        </p:nvSpPr>
        <p:spPr>
          <a:xfrm>
            <a:off x="4526280" y="3364992"/>
            <a:ext cx="7162495" cy="859536"/>
          </a:xfrm>
          <a:prstGeom prst="roundRect">
            <a:avLst>
              <a:gd name="adj" fmla="val 12766"/>
            </a:avLst>
          </a:prstGeom>
          <a:solidFill>
            <a:srgbClr val="FFFFFF"/>
          </a:solidFill>
          <a:ln w="9525">
            <a:solidFill>
              <a:srgbClr val="DCDDF5"/>
            </a:solidFill>
            <a:prstDash val="solid"/>
          </a:ln>
          <a:effectLst>
            <a:outerShdw blurRad="127000" dist="25400" dir="5400000" algn="bl" rotWithShape="0">
              <a:srgbClr val="4F46E5">
                <a:alpha val="12000"/>
              </a:srgbClr>
            </a:outerShdw>
          </a:effectLst>
        </p:spPr>
        <p:txBody>
          <a:bodyPr/>
          <a:lstStyle/>
          <a:p>
            <a:endParaRPr lang="en-PH"/>
          </a:p>
        </p:txBody>
      </p:sp>
      <p:sp>
        <p:nvSpPr>
          <p:cNvPr id="27" name="Shape 25"/>
          <p:cNvSpPr/>
          <p:nvPr/>
        </p:nvSpPr>
        <p:spPr>
          <a:xfrm>
            <a:off x="4727448" y="3584448"/>
            <a:ext cx="420624" cy="420624"/>
          </a:xfrm>
          <a:prstGeom prst="ellipse">
            <a:avLst/>
          </a:prstGeom>
          <a:solidFill>
            <a:srgbClr val="4F46E5"/>
          </a:solidFill>
          <a:ln w="12700">
            <a:solidFill>
              <a:srgbClr val="4F46E5"/>
            </a:solidFill>
            <a:prstDash val="solid"/>
          </a:ln>
        </p:spPr>
        <p:txBody>
          <a:bodyPr/>
          <a:lstStyle/>
          <a:p>
            <a:endParaRPr lang="en-PH"/>
          </a:p>
        </p:txBody>
      </p:sp>
      <p:sp>
        <p:nvSpPr>
          <p:cNvPr id="28" name="Text 26"/>
          <p:cNvSpPr txBox="1"/>
          <p:nvPr/>
        </p:nvSpPr>
        <p:spPr>
          <a:xfrm>
            <a:off x="4727448" y="3584448"/>
            <a:ext cx="420624" cy="420624"/>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9" name="Text 27"/>
          <p:cNvSpPr txBox="1"/>
          <p:nvPr/>
        </p:nvSpPr>
        <p:spPr>
          <a:xfrm>
            <a:off x="5349240" y="3483864"/>
            <a:ext cx="6156655" cy="329184"/>
          </a:xfrm>
          <a:prstGeom prst="rect">
            <a:avLst/>
          </a:prstGeom>
          <a:noFill/>
          <a:ln/>
        </p:spPr>
        <p:txBody>
          <a:bodyPr wrap="square" lIns="0" tIns="0" rIns="0" bIns="0" rtlCol="0" anchor="ctr"/>
          <a:lstStyle/>
          <a:p>
            <a:pPr marL="0" indent="0">
              <a:buNone/>
            </a:pPr>
            <a:r>
              <a:rPr lang="en-US" sz="1550" b="1" dirty="0">
                <a:solidFill>
                  <a:srgbClr val="1E1B4B"/>
                </a:solidFill>
                <a:latin typeface="Calibri" pitchFamily="34" charset="0"/>
                <a:ea typeface="Calibri" pitchFamily="34" charset="-122"/>
                <a:cs typeface="Calibri" pitchFamily="34" charset="-120"/>
              </a:rPr>
              <a:t>Use </a:t>
            </a:r>
            <a:r>
              <a:rPr lang="en-US" sz="1550" b="1" dirty="0">
                <a:solidFill>
                  <a:srgbClr val="4F46E5"/>
                </a:solidFill>
                <a:latin typeface="Courier New" pitchFamily="34" charset="0"/>
                <a:ea typeface="Courier New" pitchFamily="34" charset="-122"/>
                <a:cs typeface="Courier New" pitchFamily="34" charset="-120"/>
              </a:rPr>
              <a:t>try</a:t>
            </a:r>
            <a:r>
              <a:rPr lang="en-US" sz="1550" b="1" dirty="0">
                <a:solidFill>
                  <a:srgbClr val="1E1B4B"/>
                </a:solidFill>
                <a:latin typeface="Calibri" pitchFamily="34" charset="0"/>
                <a:ea typeface="Calibri" pitchFamily="34" charset="-122"/>
                <a:cs typeface="Calibri" pitchFamily="34" charset="-120"/>
              </a:rPr>
              <a:t>, </a:t>
            </a:r>
            <a:r>
              <a:rPr lang="en-US" sz="1550" b="1" dirty="0">
                <a:solidFill>
                  <a:srgbClr val="4F46E5"/>
                </a:solidFill>
                <a:latin typeface="Courier New" pitchFamily="34" charset="0"/>
                <a:ea typeface="Courier New" pitchFamily="34" charset="-122"/>
                <a:cs typeface="Courier New" pitchFamily="34" charset="-120"/>
              </a:rPr>
              <a:t>except</a:t>
            </a:r>
            <a:r>
              <a:rPr lang="en-US" sz="1550" b="1" dirty="0">
                <a:solidFill>
                  <a:srgbClr val="1E1B4B"/>
                </a:solidFill>
                <a:latin typeface="Calibri" pitchFamily="34" charset="0"/>
                <a:ea typeface="Calibri" pitchFamily="34" charset="-122"/>
                <a:cs typeface="Calibri" pitchFamily="34" charset="-120"/>
              </a:rPr>
              <a:t>, and </a:t>
            </a:r>
            <a:r>
              <a:rPr lang="en-US" sz="1550" b="1" dirty="0">
                <a:solidFill>
                  <a:srgbClr val="4F46E5"/>
                </a:solidFill>
                <a:latin typeface="Courier New" pitchFamily="34" charset="0"/>
                <a:ea typeface="Courier New" pitchFamily="34" charset="-122"/>
                <a:cs typeface="Courier New" pitchFamily="34" charset="-120"/>
              </a:rPr>
              <a:t>finally</a:t>
            </a:r>
            <a:endParaRPr lang="en-US" sz="1550" dirty="0"/>
          </a:p>
        </p:txBody>
      </p:sp>
      <p:sp>
        <p:nvSpPr>
          <p:cNvPr id="30" name="Text 28"/>
          <p:cNvSpPr txBox="1"/>
          <p:nvPr/>
        </p:nvSpPr>
        <p:spPr>
          <a:xfrm>
            <a:off x="5349240" y="3822192"/>
            <a:ext cx="6156655" cy="310896"/>
          </a:xfrm>
          <a:prstGeom prst="rect">
            <a:avLst/>
          </a:prstGeom>
          <a:noFill/>
          <a:ln/>
        </p:spPr>
        <p:txBody>
          <a:bodyPr wrap="square" lIns="0" tIns="0" rIns="0" bIns="0" rtlCol="0" anchor="ctr"/>
          <a:lstStyle/>
          <a:p>
            <a:pPr marL="0" indent="0">
              <a:buNone/>
            </a:pPr>
            <a:r>
              <a:rPr lang="en-US" sz="1250" dirty="0">
                <a:solidFill>
                  <a:srgbClr val="5B5F7A"/>
                </a:solidFill>
                <a:latin typeface="Calibri" pitchFamily="34" charset="0"/>
                <a:ea typeface="Calibri" pitchFamily="34" charset="-122"/>
                <a:cs typeface="Calibri" pitchFamily="34" charset="-120"/>
              </a:rPr>
              <a:t>Write each block correctly and know exactly when each one runs.</a:t>
            </a:r>
            <a:endParaRPr lang="en-US" sz="1250" dirty="0"/>
          </a:p>
        </p:txBody>
      </p:sp>
      <p:sp>
        <p:nvSpPr>
          <p:cNvPr id="31" name="Shape 29"/>
          <p:cNvSpPr/>
          <p:nvPr/>
        </p:nvSpPr>
        <p:spPr>
          <a:xfrm>
            <a:off x="4526280" y="4338828"/>
            <a:ext cx="7162495" cy="859536"/>
          </a:xfrm>
          <a:prstGeom prst="roundRect">
            <a:avLst>
              <a:gd name="adj" fmla="val 12766"/>
            </a:avLst>
          </a:prstGeom>
          <a:solidFill>
            <a:srgbClr val="FFFFFF"/>
          </a:solidFill>
          <a:ln w="9525">
            <a:solidFill>
              <a:srgbClr val="DCDDF5"/>
            </a:solidFill>
            <a:prstDash val="solid"/>
          </a:ln>
          <a:effectLst>
            <a:outerShdw blurRad="127000" dist="25400" dir="5400000" algn="bl" rotWithShape="0">
              <a:srgbClr val="4F46E5">
                <a:alpha val="12000"/>
              </a:srgbClr>
            </a:outerShdw>
          </a:effectLst>
        </p:spPr>
        <p:txBody>
          <a:bodyPr/>
          <a:lstStyle/>
          <a:p>
            <a:endParaRPr lang="en-PH"/>
          </a:p>
        </p:txBody>
      </p:sp>
      <p:sp>
        <p:nvSpPr>
          <p:cNvPr id="32" name="Shape 30"/>
          <p:cNvSpPr/>
          <p:nvPr/>
        </p:nvSpPr>
        <p:spPr>
          <a:xfrm>
            <a:off x="4727448" y="4558284"/>
            <a:ext cx="420624" cy="420624"/>
          </a:xfrm>
          <a:prstGeom prst="ellipse">
            <a:avLst/>
          </a:prstGeom>
          <a:solidFill>
            <a:srgbClr val="C8559F"/>
          </a:solidFill>
          <a:ln w="12700">
            <a:solidFill>
              <a:srgbClr val="C8559F"/>
            </a:solidFill>
            <a:prstDash val="solid"/>
          </a:ln>
        </p:spPr>
        <p:txBody>
          <a:bodyPr/>
          <a:lstStyle/>
          <a:p>
            <a:endParaRPr lang="en-PH"/>
          </a:p>
        </p:txBody>
      </p:sp>
      <p:sp>
        <p:nvSpPr>
          <p:cNvPr id="33" name="Text 31"/>
          <p:cNvSpPr txBox="1"/>
          <p:nvPr/>
        </p:nvSpPr>
        <p:spPr>
          <a:xfrm>
            <a:off x="4727448" y="4558284"/>
            <a:ext cx="420624" cy="420624"/>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34" name="Text 32"/>
          <p:cNvSpPr txBox="1"/>
          <p:nvPr/>
        </p:nvSpPr>
        <p:spPr>
          <a:xfrm>
            <a:off x="5349240" y="4457700"/>
            <a:ext cx="6156655" cy="329184"/>
          </a:xfrm>
          <a:prstGeom prst="rect">
            <a:avLst/>
          </a:prstGeom>
          <a:noFill/>
          <a:ln/>
        </p:spPr>
        <p:txBody>
          <a:bodyPr wrap="square" lIns="0" tIns="0" rIns="0" bIns="0" rtlCol="0" anchor="ctr"/>
          <a:lstStyle/>
          <a:p>
            <a:pPr marL="0" indent="0">
              <a:buNone/>
            </a:pPr>
            <a:r>
              <a:rPr lang="en-US" sz="1550" b="1" dirty="0">
                <a:solidFill>
                  <a:srgbClr val="1E1B4B"/>
                </a:solidFill>
                <a:latin typeface="Calibri" pitchFamily="34" charset="0"/>
                <a:ea typeface="Calibri" pitchFamily="34" charset="-122"/>
                <a:cs typeface="Calibri" pitchFamily="34" charset="-120"/>
              </a:rPr>
              <a:t>Handle common Python exceptions</a:t>
            </a:r>
            <a:endParaRPr lang="en-US" sz="1550" dirty="0"/>
          </a:p>
        </p:txBody>
      </p:sp>
      <p:sp>
        <p:nvSpPr>
          <p:cNvPr id="35" name="Text 33"/>
          <p:cNvSpPr txBox="1"/>
          <p:nvPr/>
        </p:nvSpPr>
        <p:spPr>
          <a:xfrm>
            <a:off x="5349240" y="4796028"/>
            <a:ext cx="6156655" cy="310896"/>
          </a:xfrm>
          <a:prstGeom prst="rect">
            <a:avLst/>
          </a:prstGeom>
          <a:noFill/>
          <a:ln/>
        </p:spPr>
        <p:txBody>
          <a:bodyPr wrap="square" lIns="0" tIns="0" rIns="0" bIns="0" rtlCol="0" anchor="ctr"/>
          <a:lstStyle/>
          <a:p>
            <a:pPr marL="0" indent="0">
              <a:buNone/>
            </a:pPr>
            <a:r>
              <a:rPr lang="en-US" sz="1250" dirty="0">
                <a:solidFill>
                  <a:srgbClr val="5B5F7A"/>
                </a:solidFill>
                <a:latin typeface="Calibri" pitchFamily="34" charset="0"/>
                <a:ea typeface="Calibri" pitchFamily="34" charset="-122"/>
                <a:cs typeface="Calibri" pitchFamily="34" charset="-120"/>
              </a:rPr>
              <a:t>Catch specific errors such as ValueError, ZeroDivisionError and IndexError.</a:t>
            </a:r>
            <a:endParaRPr lang="en-US" sz="1250" dirty="0"/>
          </a:p>
        </p:txBody>
      </p:sp>
      <p:sp>
        <p:nvSpPr>
          <p:cNvPr id="36" name="Shape 34"/>
          <p:cNvSpPr/>
          <p:nvPr/>
        </p:nvSpPr>
        <p:spPr>
          <a:xfrm>
            <a:off x="4526280" y="5312664"/>
            <a:ext cx="7162495" cy="859536"/>
          </a:xfrm>
          <a:prstGeom prst="roundRect">
            <a:avLst>
              <a:gd name="adj" fmla="val 12766"/>
            </a:avLst>
          </a:prstGeom>
          <a:solidFill>
            <a:srgbClr val="FFFFFF"/>
          </a:solidFill>
          <a:ln w="9525">
            <a:solidFill>
              <a:srgbClr val="DCDDF5"/>
            </a:solidFill>
            <a:prstDash val="solid"/>
          </a:ln>
          <a:effectLst>
            <a:outerShdw blurRad="127000" dist="25400" dir="5400000" algn="bl" rotWithShape="0">
              <a:srgbClr val="4F46E5">
                <a:alpha val="12000"/>
              </a:srgbClr>
            </a:outerShdw>
          </a:effectLst>
        </p:spPr>
        <p:txBody>
          <a:bodyPr/>
          <a:lstStyle/>
          <a:p>
            <a:endParaRPr lang="en-PH"/>
          </a:p>
        </p:txBody>
      </p:sp>
      <p:sp>
        <p:nvSpPr>
          <p:cNvPr id="37" name="Shape 35"/>
          <p:cNvSpPr/>
          <p:nvPr/>
        </p:nvSpPr>
        <p:spPr>
          <a:xfrm>
            <a:off x="4727448" y="5532120"/>
            <a:ext cx="420624" cy="420624"/>
          </a:xfrm>
          <a:prstGeom prst="ellipse">
            <a:avLst/>
          </a:prstGeom>
          <a:solidFill>
            <a:srgbClr val="4F46E5"/>
          </a:solidFill>
          <a:ln w="12700">
            <a:solidFill>
              <a:srgbClr val="4F46E5"/>
            </a:solidFill>
            <a:prstDash val="solid"/>
          </a:ln>
        </p:spPr>
        <p:txBody>
          <a:bodyPr/>
          <a:lstStyle/>
          <a:p>
            <a:endParaRPr lang="en-PH"/>
          </a:p>
        </p:txBody>
      </p:sp>
      <p:sp>
        <p:nvSpPr>
          <p:cNvPr id="38" name="Text 36"/>
          <p:cNvSpPr txBox="1"/>
          <p:nvPr/>
        </p:nvSpPr>
        <p:spPr>
          <a:xfrm>
            <a:off x="4727448" y="5532120"/>
            <a:ext cx="420624" cy="420624"/>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39" name="Text 37"/>
          <p:cNvSpPr txBox="1"/>
          <p:nvPr/>
        </p:nvSpPr>
        <p:spPr>
          <a:xfrm>
            <a:off x="5349240" y="5431536"/>
            <a:ext cx="6156655" cy="329184"/>
          </a:xfrm>
          <a:prstGeom prst="rect">
            <a:avLst/>
          </a:prstGeom>
          <a:noFill/>
          <a:ln/>
        </p:spPr>
        <p:txBody>
          <a:bodyPr wrap="square" lIns="0" tIns="0" rIns="0" bIns="0" rtlCol="0" anchor="ctr"/>
          <a:lstStyle/>
          <a:p>
            <a:pPr marL="0" indent="0">
              <a:buNone/>
            </a:pPr>
            <a:r>
              <a:rPr lang="en-US" sz="1550" b="1" dirty="0">
                <a:solidFill>
                  <a:srgbClr val="1E1B4B"/>
                </a:solidFill>
                <a:latin typeface="Calibri" pitchFamily="34" charset="0"/>
                <a:ea typeface="Calibri" pitchFamily="34" charset="-122"/>
                <a:cs typeface="Calibri" pitchFamily="34" charset="-120"/>
              </a:rPr>
              <a:t>Create programs that handle errors gracefully</a:t>
            </a:r>
            <a:endParaRPr lang="en-US" sz="1550" dirty="0"/>
          </a:p>
        </p:txBody>
      </p:sp>
      <p:sp>
        <p:nvSpPr>
          <p:cNvPr id="40" name="Text 38"/>
          <p:cNvSpPr txBox="1"/>
          <p:nvPr/>
        </p:nvSpPr>
        <p:spPr>
          <a:xfrm>
            <a:off x="5349240" y="5769864"/>
            <a:ext cx="6156655" cy="310896"/>
          </a:xfrm>
          <a:prstGeom prst="rect">
            <a:avLst/>
          </a:prstGeom>
          <a:noFill/>
          <a:ln/>
        </p:spPr>
        <p:txBody>
          <a:bodyPr wrap="square" lIns="0" tIns="0" rIns="0" bIns="0" rtlCol="0" anchor="ctr"/>
          <a:lstStyle/>
          <a:p>
            <a:pPr marL="0" indent="0">
              <a:buNone/>
            </a:pPr>
            <a:r>
              <a:rPr lang="en-US" sz="1250" dirty="0">
                <a:solidFill>
                  <a:srgbClr val="5B5F7A"/>
                </a:solidFill>
                <a:latin typeface="Calibri" pitchFamily="34" charset="0"/>
                <a:ea typeface="Calibri" pitchFamily="34" charset="-122"/>
                <a:cs typeface="Calibri" pitchFamily="34" charset="-120"/>
              </a:rPr>
              <a:t>Show a helpful message and keep the program running instead of crashing.</a:t>
            </a:r>
            <a:endParaRPr lang="en-US" sz="12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02920" y="310896"/>
            <a:ext cx="8229600" cy="237744"/>
          </a:xfrm>
          <a:prstGeom prst="rect">
            <a:avLst/>
          </a:prstGeom>
          <a:noFill/>
          <a:ln/>
        </p:spPr>
        <p:txBody>
          <a:bodyPr wrap="square" lIns="0" tIns="0" rIns="0" bIns="0" rtlCol="0" anchor="t"/>
          <a:lstStyle/>
          <a:p>
            <a:pPr marL="0" indent="0">
              <a:buNone/>
            </a:pPr>
            <a:r>
              <a:rPr lang="en-US" sz="1050" b="1" kern="0" spc="200" dirty="0">
                <a:solidFill>
                  <a:srgbClr val="C8559F"/>
                </a:solidFill>
                <a:latin typeface="Calibri" pitchFamily="34" charset="0"/>
                <a:ea typeface="Calibri" pitchFamily="34" charset="-122"/>
                <a:cs typeface="Calibri" pitchFamily="34" charset="-120"/>
              </a:rPr>
              <a:t>ERROR HANDLING · DEFINITION</a:t>
            </a:r>
            <a:endParaRPr lang="en-US" sz="1050" dirty="0"/>
          </a:p>
        </p:txBody>
      </p:sp>
      <p:sp>
        <p:nvSpPr>
          <p:cNvPr id="3" name="Text 1"/>
          <p:cNvSpPr txBox="1"/>
          <p:nvPr/>
        </p:nvSpPr>
        <p:spPr>
          <a:xfrm>
            <a:off x="502920" y="530352"/>
            <a:ext cx="10241280" cy="640080"/>
          </a:xfrm>
          <a:prstGeom prst="rect">
            <a:avLst/>
          </a:prstGeom>
          <a:noFill/>
          <a:ln/>
        </p:spPr>
        <p:txBody>
          <a:bodyPr wrap="square" lIns="0" tIns="0" rIns="0" bIns="0" rtlCol="0" anchor="ctr"/>
          <a:lstStyle/>
          <a:p>
            <a:pPr marL="0" indent="0">
              <a:buNone/>
            </a:pPr>
            <a:r>
              <a:rPr lang="en-US" sz="2800" b="1" dirty="0">
                <a:solidFill>
                  <a:srgbClr val="1E1B4B"/>
                </a:solidFill>
                <a:latin typeface="Calibri" pitchFamily="34" charset="0"/>
                <a:ea typeface="Calibri" pitchFamily="34" charset="-122"/>
                <a:cs typeface="Calibri" pitchFamily="34" charset="-120"/>
              </a:rPr>
              <a:t>What is Error handling?</a:t>
            </a:r>
            <a:endParaRPr lang="en-US" sz="2800" dirty="0"/>
          </a:p>
        </p:txBody>
      </p:sp>
      <p:sp>
        <p:nvSpPr>
          <p:cNvPr id="4" name="Text 2"/>
          <p:cNvSpPr txBox="1"/>
          <p:nvPr/>
        </p:nvSpPr>
        <p:spPr>
          <a:xfrm>
            <a:off x="502920" y="6446520"/>
            <a:ext cx="5486400" cy="228600"/>
          </a:xfrm>
          <a:prstGeom prst="rect">
            <a:avLst/>
          </a:prstGeom>
          <a:noFill/>
          <a:ln/>
        </p:spPr>
        <p:txBody>
          <a:bodyPr wrap="square" lIns="0" tIns="0" rIns="0" bIns="0" rtlCol="0" anchor="t"/>
          <a:lstStyle/>
          <a:p>
            <a:pPr marL="0" indent="0">
              <a:buNone/>
            </a:pPr>
            <a:r>
              <a:rPr lang="en-US" sz="900" dirty="0">
                <a:solidFill>
                  <a:srgbClr val="5B5F7A"/>
                </a:solidFill>
                <a:latin typeface="Calibri" pitchFamily="34" charset="0"/>
                <a:ea typeface="Calibri" pitchFamily="34" charset="-122"/>
                <a:cs typeface="Calibri" pitchFamily="34" charset="-120"/>
              </a:rPr>
              <a:t>Python  ·  Error Handling</a:t>
            </a:r>
            <a:endParaRPr lang="en-US" sz="900" dirty="0"/>
          </a:p>
        </p:txBody>
      </p:sp>
      <p:sp>
        <p:nvSpPr>
          <p:cNvPr id="5" name="Text 3"/>
          <p:cNvSpPr txBox="1"/>
          <p:nvPr/>
        </p:nvSpPr>
        <p:spPr>
          <a:xfrm>
            <a:off x="11140135" y="6446520"/>
            <a:ext cx="548640" cy="228600"/>
          </a:xfrm>
          <a:prstGeom prst="rect">
            <a:avLst/>
          </a:prstGeom>
          <a:noFill/>
          <a:ln/>
        </p:spPr>
        <p:txBody>
          <a:bodyPr wrap="square" lIns="0" tIns="0" rIns="0" bIns="0" rtlCol="0" anchor="t"/>
          <a:lstStyle/>
          <a:p>
            <a:pPr marL="0" indent="0" algn="r">
              <a:buNone/>
            </a:pPr>
            <a:r>
              <a:rPr lang="en-US" sz="900" dirty="0">
                <a:solidFill>
                  <a:srgbClr val="5B5F7A"/>
                </a:solidFill>
                <a:latin typeface="Calibri" pitchFamily="34" charset="0"/>
                <a:ea typeface="Calibri" pitchFamily="34" charset="-122"/>
                <a:cs typeface="Calibri" pitchFamily="34" charset="-120"/>
              </a:rPr>
              <a:t>4</a:t>
            </a:r>
            <a:endParaRPr lang="en-US" sz="900" dirty="0"/>
          </a:p>
        </p:txBody>
      </p:sp>
      <p:sp>
        <p:nvSpPr>
          <p:cNvPr id="6" name="Shape 4"/>
          <p:cNvSpPr/>
          <p:nvPr/>
        </p:nvSpPr>
        <p:spPr>
          <a:xfrm>
            <a:off x="502920" y="1417320"/>
            <a:ext cx="5806440" cy="1325880"/>
          </a:xfrm>
          <a:prstGeom prst="roundRect">
            <a:avLst>
              <a:gd name="adj" fmla="val 8276"/>
            </a:avLst>
          </a:prstGeom>
          <a:solidFill>
            <a:srgbClr val="F1F1FE"/>
          </a:solidFill>
          <a:ln w="9525">
            <a:solidFill>
              <a:srgbClr val="DCDDF5"/>
            </a:solidFill>
            <a:prstDash val="solid"/>
          </a:ln>
        </p:spPr>
        <p:txBody>
          <a:bodyPr/>
          <a:lstStyle/>
          <a:p>
            <a:endParaRPr lang="en-PH"/>
          </a:p>
        </p:txBody>
      </p:sp>
      <p:sp>
        <p:nvSpPr>
          <p:cNvPr id="7" name="Text 5"/>
          <p:cNvSpPr txBox="1"/>
          <p:nvPr/>
        </p:nvSpPr>
        <p:spPr>
          <a:xfrm>
            <a:off x="731520" y="1554480"/>
            <a:ext cx="5349240" cy="1097280"/>
          </a:xfrm>
          <a:prstGeom prst="rect">
            <a:avLst/>
          </a:prstGeom>
          <a:noFill/>
          <a:ln/>
        </p:spPr>
        <p:txBody>
          <a:bodyPr wrap="square" lIns="0" tIns="0" rIns="0" bIns="0" rtlCol="0" anchor="ctr"/>
          <a:lstStyle/>
          <a:p>
            <a:pPr marL="0" indent="0">
              <a:buNone/>
            </a:pPr>
            <a:r>
              <a:rPr lang="en-US" sz="1450" dirty="0">
                <a:solidFill>
                  <a:srgbClr val="1E1B4B"/>
                </a:solidFill>
                <a:latin typeface="Calibri" pitchFamily="34" charset="0"/>
                <a:ea typeface="Calibri" pitchFamily="34" charset="-122"/>
                <a:cs typeface="Calibri" pitchFamily="34" charset="-120"/>
              </a:rPr>
              <a:t>Error handling is the process of </a:t>
            </a:r>
            <a:r>
              <a:rPr lang="en-US" sz="1450" b="1" dirty="0">
                <a:solidFill>
                  <a:srgbClr val="1E1B4B"/>
                </a:solidFill>
                <a:latin typeface="Calibri" pitchFamily="34" charset="0"/>
                <a:ea typeface="Calibri" pitchFamily="34" charset="-122"/>
                <a:cs typeface="Calibri" pitchFamily="34" charset="-120"/>
              </a:rPr>
              <a:t>detecting and managing errors</a:t>
            </a:r>
            <a:r>
              <a:rPr lang="en-US" sz="1450" dirty="0">
                <a:solidFill>
                  <a:srgbClr val="1E1B4B"/>
                </a:solidFill>
                <a:latin typeface="Calibri" pitchFamily="34" charset="0"/>
                <a:ea typeface="Calibri" pitchFamily="34" charset="-122"/>
                <a:cs typeface="Calibri" pitchFamily="34" charset="-120"/>
              </a:rPr>
              <a:t> during program execution. Instead of crashing, the program can display a meaningful message and continue running.</a:t>
            </a:r>
            <a:endParaRPr lang="en-US" sz="1450" dirty="0"/>
          </a:p>
        </p:txBody>
      </p:sp>
      <p:sp>
        <p:nvSpPr>
          <p:cNvPr id="8" name="Text 6"/>
          <p:cNvSpPr txBox="1"/>
          <p:nvPr/>
        </p:nvSpPr>
        <p:spPr>
          <a:xfrm>
            <a:off x="502920" y="2926080"/>
            <a:ext cx="2743200" cy="228600"/>
          </a:xfrm>
          <a:prstGeom prst="rect">
            <a:avLst/>
          </a:prstGeom>
          <a:noFill/>
          <a:ln/>
        </p:spPr>
        <p:txBody>
          <a:bodyPr wrap="square" lIns="0" tIns="0" rIns="0" bIns="0" rtlCol="0" anchor="t"/>
          <a:lstStyle/>
          <a:p>
            <a:pPr marL="0" indent="0">
              <a:buNone/>
            </a:pPr>
            <a:r>
              <a:rPr lang="en-US" sz="1050" b="1" kern="0" spc="200" dirty="0">
                <a:solidFill>
                  <a:srgbClr val="C8559F"/>
                </a:solidFill>
                <a:latin typeface="Calibri" pitchFamily="34" charset="0"/>
                <a:ea typeface="Calibri" pitchFamily="34" charset="-122"/>
                <a:cs typeface="Calibri" pitchFamily="34" charset="-120"/>
              </a:rPr>
              <a:t>BENEFITS</a:t>
            </a:r>
            <a:endParaRPr lang="en-US" sz="1050" dirty="0"/>
          </a:p>
        </p:txBody>
      </p:sp>
      <p:sp>
        <p:nvSpPr>
          <p:cNvPr id="9" name="Shape 7"/>
          <p:cNvSpPr/>
          <p:nvPr/>
        </p:nvSpPr>
        <p:spPr>
          <a:xfrm>
            <a:off x="502920" y="3246120"/>
            <a:ext cx="2788920" cy="1417320"/>
          </a:xfrm>
          <a:prstGeom prst="roundRect">
            <a:avLst>
              <a:gd name="adj" fmla="val 7742"/>
            </a:avLst>
          </a:prstGeom>
          <a:solidFill>
            <a:srgbClr val="FFFFFF"/>
          </a:solidFill>
          <a:ln w="9525">
            <a:solidFill>
              <a:srgbClr val="DCDDF5"/>
            </a:solidFill>
            <a:prstDash val="solid"/>
          </a:ln>
          <a:effectLst>
            <a:outerShdw blurRad="127000" dist="25400" dir="5400000" algn="bl" rotWithShape="0">
              <a:srgbClr val="4F46E5">
                <a:alpha val="12000"/>
              </a:srgbClr>
            </a:outerShdw>
          </a:effectLst>
        </p:spPr>
        <p:txBody>
          <a:bodyPr/>
          <a:lstStyle/>
          <a:p>
            <a:endParaRPr lang="en-PH"/>
          </a:p>
        </p:txBody>
      </p:sp>
      <p:sp>
        <p:nvSpPr>
          <p:cNvPr id="10" name="Shape 8"/>
          <p:cNvSpPr/>
          <p:nvPr/>
        </p:nvSpPr>
        <p:spPr>
          <a:xfrm>
            <a:off x="685800" y="3429000"/>
            <a:ext cx="329184" cy="329184"/>
          </a:xfrm>
          <a:prstGeom prst="ellipse">
            <a:avLst/>
          </a:prstGeom>
          <a:solidFill>
            <a:srgbClr val="15803D"/>
          </a:solidFill>
          <a:ln w="12700">
            <a:solidFill>
              <a:srgbClr val="15803D"/>
            </a:solidFill>
            <a:prstDash val="solid"/>
          </a:ln>
        </p:spPr>
        <p:txBody>
          <a:bodyPr/>
          <a:lstStyle/>
          <a:p>
            <a:endParaRPr lang="en-PH"/>
          </a:p>
        </p:txBody>
      </p:sp>
      <p:sp>
        <p:nvSpPr>
          <p:cNvPr id="11" name="Text 9"/>
          <p:cNvSpPr txBox="1"/>
          <p:nvPr/>
        </p:nvSpPr>
        <p:spPr>
          <a:xfrm>
            <a:off x="685800" y="3429000"/>
            <a:ext cx="329184"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a:t>
            </a:r>
            <a:endParaRPr lang="en-US" sz="1200" dirty="0"/>
          </a:p>
        </p:txBody>
      </p:sp>
      <p:sp>
        <p:nvSpPr>
          <p:cNvPr id="12" name="Text 10"/>
          <p:cNvSpPr txBox="1"/>
          <p:nvPr/>
        </p:nvSpPr>
        <p:spPr>
          <a:xfrm>
            <a:off x="1143000" y="3392424"/>
            <a:ext cx="2011680" cy="420624"/>
          </a:xfrm>
          <a:prstGeom prst="rect">
            <a:avLst/>
          </a:prstGeom>
          <a:noFill/>
          <a:ln/>
        </p:spPr>
        <p:txBody>
          <a:bodyPr wrap="square" lIns="0" tIns="0" rIns="0" bIns="0" rtlCol="0" anchor="ctr"/>
          <a:lstStyle/>
          <a:p>
            <a:pPr marL="0" indent="0">
              <a:buNone/>
            </a:pPr>
            <a:r>
              <a:rPr lang="en-US" sz="1350" b="1" dirty="0">
                <a:solidFill>
                  <a:srgbClr val="1E1B4B"/>
                </a:solidFill>
                <a:latin typeface="Calibri" pitchFamily="34" charset="0"/>
                <a:ea typeface="Calibri" pitchFamily="34" charset="-122"/>
                <a:cs typeface="Calibri" pitchFamily="34" charset="-120"/>
              </a:rPr>
              <a:t>Prevents program crashes</a:t>
            </a:r>
            <a:endParaRPr lang="en-US" sz="1350" dirty="0"/>
          </a:p>
        </p:txBody>
      </p:sp>
      <p:sp>
        <p:nvSpPr>
          <p:cNvPr id="13" name="Text 11"/>
          <p:cNvSpPr txBox="1"/>
          <p:nvPr/>
        </p:nvSpPr>
        <p:spPr>
          <a:xfrm>
            <a:off x="685800" y="3904488"/>
            <a:ext cx="2423160" cy="640080"/>
          </a:xfrm>
          <a:prstGeom prst="rect">
            <a:avLst/>
          </a:prstGeom>
          <a:noFill/>
          <a:ln/>
        </p:spPr>
        <p:txBody>
          <a:bodyPr wrap="square" lIns="0" tIns="0" rIns="0" bIns="0" rtlCol="0" anchor="t"/>
          <a:lstStyle/>
          <a:p>
            <a:pPr marL="0" indent="0">
              <a:buNone/>
            </a:pPr>
            <a:r>
              <a:rPr lang="en-US" sz="1200" dirty="0">
                <a:solidFill>
                  <a:srgbClr val="5B5F7A"/>
                </a:solidFill>
                <a:latin typeface="Calibri" pitchFamily="34" charset="0"/>
                <a:ea typeface="Calibri" pitchFamily="34" charset="-122"/>
                <a:cs typeface="Calibri" pitchFamily="34" charset="-120"/>
              </a:rPr>
              <a:t>An unexpected error no longer stops the whole program.</a:t>
            </a:r>
            <a:endParaRPr lang="en-US" sz="1200" dirty="0"/>
          </a:p>
        </p:txBody>
      </p:sp>
      <p:sp>
        <p:nvSpPr>
          <p:cNvPr id="14" name="Shape 12"/>
          <p:cNvSpPr/>
          <p:nvPr/>
        </p:nvSpPr>
        <p:spPr>
          <a:xfrm>
            <a:off x="3520440" y="3246120"/>
            <a:ext cx="2788920" cy="1417320"/>
          </a:xfrm>
          <a:prstGeom prst="roundRect">
            <a:avLst>
              <a:gd name="adj" fmla="val 7742"/>
            </a:avLst>
          </a:prstGeom>
          <a:solidFill>
            <a:srgbClr val="FFFFFF"/>
          </a:solidFill>
          <a:ln w="9525">
            <a:solidFill>
              <a:srgbClr val="DCDDF5"/>
            </a:solidFill>
            <a:prstDash val="solid"/>
          </a:ln>
          <a:effectLst>
            <a:outerShdw blurRad="127000" dist="25400" dir="5400000" algn="bl" rotWithShape="0">
              <a:srgbClr val="4F46E5">
                <a:alpha val="12000"/>
              </a:srgbClr>
            </a:outerShdw>
          </a:effectLst>
        </p:spPr>
        <p:txBody>
          <a:bodyPr/>
          <a:lstStyle/>
          <a:p>
            <a:endParaRPr lang="en-PH"/>
          </a:p>
        </p:txBody>
      </p:sp>
      <p:sp>
        <p:nvSpPr>
          <p:cNvPr id="15" name="Shape 13"/>
          <p:cNvSpPr/>
          <p:nvPr/>
        </p:nvSpPr>
        <p:spPr>
          <a:xfrm>
            <a:off x="3703320" y="3429000"/>
            <a:ext cx="329184" cy="329184"/>
          </a:xfrm>
          <a:prstGeom prst="ellipse">
            <a:avLst/>
          </a:prstGeom>
          <a:solidFill>
            <a:srgbClr val="15803D"/>
          </a:solidFill>
          <a:ln w="12700">
            <a:solidFill>
              <a:srgbClr val="15803D"/>
            </a:solidFill>
            <a:prstDash val="solid"/>
          </a:ln>
        </p:spPr>
        <p:txBody>
          <a:bodyPr/>
          <a:lstStyle/>
          <a:p>
            <a:endParaRPr lang="en-PH"/>
          </a:p>
        </p:txBody>
      </p:sp>
      <p:sp>
        <p:nvSpPr>
          <p:cNvPr id="16" name="Text 14"/>
          <p:cNvSpPr txBox="1"/>
          <p:nvPr/>
        </p:nvSpPr>
        <p:spPr>
          <a:xfrm>
            <a:off x="3703320" y="3429000"/>
            <a:ext cx="329184"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a:t>
            </a:r>
            <a:endParaRPr lang="en-US" sz="1200" dirty="0"/>
          </a:p>
        </p:txBody>
      </p:sp>
      <p:sp>
        <p:nvSpPr>
          <p:cNvPr id="17" name="Text 15"/>
          <p:cNvSpPr txBox="1"/>
          <p:nvPr/>
        </p:nvSpPr>
        <p:spPr>
          <a:xfrm>
            <a:off x="4160520" y="3392424"/>
            <a:ext cx="2011680" cy="420624"/>
          </a:xfrm>
          <a:prstGeom prst="rect">
            <a:avLst/>
          </a:prstGeom>
          <a:noFill/>
          <a:ln/>
        </p:spPr>
        <p:txBody>
          <a:bodyPr wrap="square" lIns="0" tIns="0" rIns="0" bIns="0" rtlCol="0" anchor="ctr"/>
          <a:lstStyle/>
          <a:p>
            <a:pPr marL="0" indent="0">
              <a:buNone/>
            </a:pPr>
            <a:r>
              <a:rPr lang="en-US" sz="1350" b="1" dirty="0">
                <a:solidFill>
                  <a:srgbClr val="1E1B4B"/>
                </a:solidFill>
                <a:latin typeface="Calibri" pitchFamily="34" charset="0"/>
                <a:ea typeface="Calibri" pitchFamily="34" charset="-122"/>
                <a:cs typeface="Calibri" pitchFamily="34" charset="-120"/>
              </a:rPr>
              <a:t>Improves user experience</a:t>
            </a:r>
            <a:endParaRPr lang="en-US" sz="1350" dirty="0"/>
          </a:p>
        </p:txBody>
      </p:sp>
      <p:sp>
        <p:nvSpPr>
          <p:cNvPr id="18" name="Text 16"/>
          <p:cNvSpPr txBox="1"/>
          <p:nvPr/>
        </p:nvSpPr>
        <p:spPr>
          <a:xfrm>
            <a:off x="3703320" y="3904488"/>
            <a:ext cx="2423160" cy="640080"/>
          </a:xfrm>
          <a:prstGeom prst="rect">
            <a:avLst/>
          </a:prstGeom>
          <a:noFill/>
          <a:ln/>
        </p:spPr>
        <p:txBody>
          <a:bodyPr wrap="square" lIns="0" tIns="0" rIns="0" bIns="0" rtlCol="0" anchor="t"/>
          <a:lstStyle/>
          <a:p>
            <a:pPr marL="0" indent="0">
              <a:buNone/>
            </a:pPr>
            <a:r>
              <a:rPr lang="en-US" sz="1200" dirty="0">
                <a:solidFill>
                  <a:srgbClr val="5B5F7A"/>
                </a:solidFill>
                <a:latin typeface="Calibri" pitchFamily="34" charset="0"/>
                <a:ea typeface="Calibri" pitchFamily="34" charset="-122"/>
                <a:cs typeface="Calibri" pitchFamily="34" charset="-120"/>
              </a:rPr>
              <a:t>Users see a clear message instead of a confusing traceback.</a:t>
            </a:r>
            <a:endParaRPr lang="en-US" sz="1200" dirty="0"/>
          </a:p>
        </p:txBody>
      </p:sp>
      <p:sp>
        <p:nvSpPr>
          <p:cNvPr id="19" name="Shape 17"/>
          <p:cNvSpPr/>
          <p:nvPr/>
        </p:nvSpPr>
        <p:spPr>
          <a:xfrm>
            <a:off x="502920" y="4846320"/>
            <a:ext cx="2788920" cy="1417320"/>
          </a:xfrm>
          <a:prstGeom prst="roundRect">
            <a:avLst>
              <a:gd name="adj" fmla="val 7742"/>
            </a:avLst>
          </a:prstGeom>
          <a:solidFill>
            <a:srgbClr val="FFFFFF"/>
          </a:solidFill>
          <a:ln w="9525">
            <a:solidFill>
              <a:srgbClr val="DCDDF5"/>
            </a:solidFill>
            <a:prstDash val="solid"/>
          </a:ln>
          <a:effectLst>
            <a:outerShdw blurRad="127000" dist="25400" dir="5400000" algn="bl" rotWithShape="0">
              <a:srgbClr val="4F46E5">
                <a:alpha val="12000"/>
              </a:srgbClr>
            </a:outerShdw>
          </a:effectLst>
        </p:spPr>
        <p:txBody>
          <a:bodyPr/>
          <a:lstStyle/>
          <a:p>
            <a:endParaRPr lang="en-PH"/>
          </a:p>
        </p:txBody>
      </p:sp>
      <p:sp>
        <p:nvSpPr>
          <p:cNvPr id="20" name="Shape 18"/>
          <p:cNvSpPr/>
          <p:nvPr/>
        </p:nvSpPr>
        <p:spPr>
          <a:xfrm>
            <a:off x="685800" y="5029200"/>
            <a:ext cx="329184" cy="329184"/>
          </a:xfrm>
          <a:prstGeom prst="ellipse">
            <a:avLst/>
          </a:prstGeom>
          <a:solidFill>
            <a:srgbClr val="15803D"/>
          </a:solidFill>
          <a:ln w="12700">
            <a:solidFill>
              <a:srgbClr val="15803D"/>
            </a:solidFill>
            <a:prstDash val="solid"/>
          </a:ln>
        </p:spPr>
        <p:txBody>
          <a:bodyPr/>
          <a:lstStyle/>
          <a:p>
            <a:endParaRPr lang="en-PH"/>
          </a:p>
        </p:txBody>
      </p:sp>
      <p:sp>
        <p:nvSpPr>
          <p:cNvPr id="21" name="Text 19"/>
          <p:cNvSpPr txBox="1"/>
          <p:nvPr/>
        </p:nvSpPr>
        <p:spPr>
          <a:xfrm>
            <a:off x="685800" y="5029200"/>
            <a:ext cx="329184"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a:t>
            </a:r>
            <a:endParaRPr lang="en-US" sz="1200" dirty="0"/>
          </a:p>
        </p:txBody>
      </p:sp>
      <p:sp>
        <p:nvSpPr>
          <p:cNvPr id="22" name="Text 20"/>
          <p:cNvSpPr txBox="1"/>
          <p:nvPr/>
        </p:nvSpPr>
        <p:spPr>
          <a:xfrm>
            <a:off x="1143000" y="4992624"/>
            <a:ext cx="2011680" cy="420624"/>
          </a:xfrm>
          <a:prstGeom prst="rect">
            <a:avLst/>
          </a:prstGeom>
          <a:noFill/>
          <a:ln/>
        </p:spPr>
        <p:txBody>
          <a:bodyPr wrap="square" lIns="0" tIns="0" rIns="0" bIns="0" rtlCol="0" anchor="ctr"/>
          <a:lstStyle/>
          <a:p>
            <a:pPr marL="0" indent="0">
              <a:buNone/>
            </a:pPr>
            <a:r>
              <a:rPr lang="en-US" sz="1350" b="1" dirty="0">
                <a:solidFill>
                  <a:srgbClr val="1E1B4B"/>
                </a:solidFill>
                <a:latin typeface="Calibri" pitchFamily="34" charset="0"/>
                <a:ea typeface="Calibri" pitchFamily="34" charset="-122"/>
                <a:cs typeface="Calibri" pitchFamily="34" charset="-120"/>
              </a:rPr>
              <a:t>Makes programs more reliable</a:t>
            </a:r>
            <a:endParaRPr lang="en-US" sz="1350" dirty="0"/>
          </a:p>
        </p:txBody>
      </p:sp>
      <p:sp>
        <p:nvSpPr>
          <p:cNvPr id="23" name="Text 21"/>
          <p:cNvSpPr txBox="1"/>
          <p:nvPr/>
        </p:nvSpPr>
        <p:spPr>
          <a:xfrm>
            <a:off x="685800" y="5504688"/>
            <a:ext cx="2423160" cy="640080"/>
          </a:xfrm>
          <a:prstGeom prst="rect">
            <a:avLst/>
          </a:prstGeom>
          <a:noFill/>
          <a:ln/>
        </p:spPr>
        <p:txBody>
          <a:bodyPr wrap="square" lIns="0" tIns="0" rIns="0" bIns="0" rtlCol="0" anchor="t"/>
          <a:lstStyle/>
          <a:p>
            <a:pPr marL="0" indent="0">
              <a:buNone/>
            </a:pPr>
            <a:r>
              <a:rPr lang="en-US" sz="1200" dirty="0">
                <a:solidFill>
                  <a:srgbClr val="5B5F7A"/>
                </a:solidFill>
                <a:latin typeface="Calibri" pitchFamily="34" charset="0"/>
                <a:ea typeface="Calibri" pitchFamily="34" charset="-122"/>
                <a:cs typeface="Calibri" pitchFamily="34" charset="-120"/>
              </a:rPr>
              <a:t>The program keeps working with bad input or missing files.</a:t>
            </a:r>
            <a:endParaRPr lang="en-US" sz="1200" dirty="0"/>
          </a:p>
        </p:txBody>
      </p:sp>
      <p:sp>
        <p:nvSpPr>
          <p:cNvPr id="24" name="Shape 22"/>
          <p:cNvSpPr/>
          <p:nvPr/>
        </p:nvSpPr>
        <p:spPr>
          <a:xfrm>
            <a:off x="3520440" y="4846320"/>
            <a:ext cx="2788920" cy="1417320"/>
          </a:xfrm>
          <a:prstGeom prst="roundRect">
            <a:avLst>
              <a:gd name="adj" fmla="val 7742"/>
            </a:avLst>
          </a:prstGeom>
          <a:solidFill>
            <a:srgbClr val="FFFFFF"/>
          </a:solidFill>
          <a:ln w="9525">
            <a:solidFill>
              <a:srgbClr val="DCDDF5"/>
            </a:solidFill>
            <a:prstDash val="solid"/>
          </a:ln>
          <a:effectLst>
            <a:outerShdw blurRad="127000" dist="25400" dir="5400000" algn="bl" rotWithShape="0">
              <a:srgbClr val="4F46E5">
                <a:alpha val="12000"/>
              </a:srgbClr>
            </a:outerShdw>
          </a:effectLst>
        </p:spPr>
        <p:txBody>
          <a:bodyPr/>
          <a:lstStyle/>
          <a:p>
            <a:endParaRPr lang="en-PH"/>
          </a:p>
        </p:txBody>
      </p:sp>
      <p:sp>
        <p:nvSpPr>
          <p:cNvPr id="25" name="Shape 23"/>
          <p:cNvSpPr/>
          <p:nvPr/>
        </p:nvSpPr>
        <p:spPr>
          <a:xfrm>
            <a:off x="3703320" y="5029200"/>
            <a:ext cx="329184" cy="329184"/>
          </a:xfrm>
          <a:prstGeom prst="ellipse">
            <a:avLst/>
          </a:prstGeom>
          <a:solidFill>
            <a:srgbClr val="15803D"/>
          </a:solidFill>
          <a:ln w="12700">
            <a:solidFill>
              <a:srgbClr val="15803D"/>
            </a:solidFill>
            <a:prstDash val="solid"/>
          </a:ln>
        </p:spPr>
        <p:txBody>
          <a:bodyPr/>
          <a:lstStyle/>
          <a:p>
            <a:endParaRPr lang="en-PH"/>
          </a:p>
        </p:txBody>
      </p:sp>
      <p:sp>
        <p:nvSpPr>
          <p:cNvPr id="26" name="Text 24"/>
          <p:cNvSpPr txBox="1"/>
          <p:nvPr/>
        </p:nvSpPr>
        <p:spPr>
          <a:xfrm>
            <a:off x="3703320" y="5029200"/>
            <a:ext cx="329184"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a:t>
            </a:r>
            <a:endParaRPr lang="en-US" sz="1200" dirty="0"/>
          </a:p>
        </p:txBody>
      </p:sp>
      <p:sp>
        <p:nvSpPr>
          <p:cNvPr id="27" name="Text 25"/>
          <p:cNvSpPr txBox="1"/>
          <p:nvPr/>
        </p:nvSpPr>
        <p:spPr>
          <a:xfrm>
            <a:off x="4160520" y="4992624"/>
            <a:ext cx="2011680" cy="420624"/>
          </a:xfrm>
          <a:prstGeom prst="rect">
            <a:avLst/>
          </a:prstGeom>
          <a:noFill/>
          <a:ln/>
        </p:spPr>
        <p:txBody>
          <a:bodyPr wrap="square" lIns="0" tIns="0" rIns="0" bIns="0" rtlCol="0" anchor="ctr"/>
          <a:lstStyle/>
          <a:p>
            <a:pPr marL="0" indent="0">
              <a:buNone/>
            </a:pPr>
            <a:r>
              <a:rPr lang="en-US" sz="1350" b="1" dirty="0">
                <a:solidFill>
                  <a:srgbClr val="1E1B4B"/>
                </a:solidFill>
                <a:latin typeface="Calibri" pitchFamily="34" charset="0"/>
                <a:ea typeface="Calibri" pitchFamily="34" charset="-122"/>
                <a:cs typeface="Calibri" pitchFamily="34" charset="-120"/>
              </a:rPr>
              <a:t>Helps developers identify problems</a:t>
            </a:r>
            <a:endParaRPr lang="en-US" sz="1350" dirty="0"/>
          </a:p>
        </p:txBody>
      </p:sp>
      <p:sp>
        <p:nvSpPr>
          <p:cNvPr id="28" name="Text 26"/>
          <p:cNvSpPr txBox="1"/>
          <p:nvPr/>
        </p:nvSpPr>
        <p:spPr>
          <a:xfrm>
            <a:off x="3703320" y="5504688"/>
            <a:ext cx="2423160" cy="640080"/>
          </a:xfrm>
          <a:prstGeom prst="rect">
            <a:avLst/>
          </a:prstGeom>
          <a:noFill/>
          <a:ln/>
        </p:spPr>
        <p:txBody>
          <a:bodyPr wrap="square" lIns="0" tIns="0" rIns="0" bIns="0" rtlCol="0" anchor="t"/>
          <a:lstStyle/>
          <a:p>
            <a:pPr marL="0" indent="0">
              <a:buNone/>
            </a:pPr>
            <a:r>
              <a:rPr lang="en-US" sz="1200" dirty="0">
                <a:solidFill>
                  <a:srgbClr val="5B5F7A"/>
                </a:solidFill>
                <a:latin typeface="Calibri" pitchFamily="34" charset="0"/>
                <a:ea typeface="Calibri" pitchFamily="34" charset="-122"/>
                <a:cs typeface="Calibri" pitchFamily="34" charset="-120"/>
              </a:rPr>
              <a:t>Targeted messages show what went wrong and where.</a:t>
            </a:r>
            <a:endParaRPr lang="en-US" sz="1200" dirty="0"/>
          </a:p>
        </p:txBody>
      </p:sp>
      <p:sp>
        <p:nvSpPr>
          <p:cNvPr id="29" name="Text 27"/>
          <p:cNvSpPr txBox="1"/>
          <p:nvPr/>
        </p:nvSpPr>
        <p:spPr>
          <a:xfrm>
            <a:off x="6629400" y="1417320"/>
            <a:ext cx="5059375" cy="228600"/>
          </a:xfrm>
          <a:prstGeom prst="rect">
            <a:avLst/>
          </a:prstGeom>
          <a:noFill/>
          <a:ln/>
        </p:spPr>
        <p:txBody>
          <a:bodyPr wrap="square" lIns="0" tIns="0" rIns="0" bIns="0" rtlCol="0" anchor="t"/>
          <a:lstStyle/>
          <a:p>
            <a:pPr marL="0" indent="0">
              <a:buNone/>
            </a:pPr>
            <a:r>
              <a:rPr lang="en-US" sz="1050" b="1" kern="0" spc="200" dirty="0">
                <a:solidFill>
                  <a:srgbClr val="C0392B"/>
                </a:solidFill>
                <a:latin typeface="Calibri" pitchFamily="34" charset="0"/>
                <a:ea typeface="Calibri" pitchFamily="34" charset="-122"/>
                <a:cs typeface="Calibri" pitchFamily="34" charset="-120"/>
              </a:rPr>
              <a:t>WITHOUT ERROR HANDLING</a:t>
            </a:r>
            <a:endParaRPr lang="en-US" sz="1050" dirty="0"/>
          </a:p>
        </p:txBody>
      </p:sp>
      <p:sp>
        <p:nvSpPr>
          <p:cNvPr id="30" name="Shape 28"/>
          <p:cNvSpPr/>
          <p:nvPr/>
        </p:nvSpPr>
        <p:spPr>
          <a:xfrm>
            <a:off x="6629400" y="1719072"/>
            <a:ext cx="5059375" cy="820166"/>
          </a:xfrm>
          <a:prstGeom prst="roundRect">
            <a:avLst>
              <a:gd name="adj" fmla="val 11149"/>
            </a:avLst>
          </a:prstGeom>
          <a:solidFill>
            <a:srgbClr val="1F1D36"/>
          </a:solidFill>
          <a:ln w="12700">
            <a:solidFill>
              <a:srgbClr val="1F1D36"/>
            </a:solidFill>
            <a:prstDash val="solid"/>
          </a:ln>
        </p:spPr>
        <p:txBody>
          <a:bodyPr/>
          <a:lstStyle/>
          <a:p>
            <a:endParaRPr lang="en-PH"/>
          </a:p>
        </p:txBody>
      </p:sp>
      <p:sp>
        <p:nvSpPr>
          <p:cNvPr id="31" name="Text 29"/>
          <p:cNvSpPr txBox="1"/>
          <p:nvPr/>
        </p:nvSpPr>
        <p:spPr>
          <a:xfrm>
            <a:off x="6793992" y="1801368"/>
            <a:ext cx="4730191" cy="201168"/>
          </a:xfrm>
          <a:prstGeom prst="rect">
            <a:avLst/>
          </a:prstGeom>
          <a:noFill/>
          <a:ln/>
        </p:spPr>
        <p:txBody>
          <a:bodyPr wrap="square" lIns="0" tIns="0" rIns="0" bIns="0" rtlCol="0" anchor="ctr"/>
          <a:lstStyle/>
          <a:p>
            <a:pPr marL="0" indent="0">
              <a:buNone/>
            </a:pPr>
            <a:r>
              <a:rPr lang="en-US" sz="900" b="1" dirty="0">
                <a:solidFill>
                  <a:srgbClr val="8A8FB5"/>
                </a:solidFill>
                <a:latin typeface="Calibri" pitchFamily="34" charset="0"/>
                <a:ea typeface="Calibri" pitchFamily="34" charset="-122"/>
                <a:cs typeface="Calibri" pitchFamily="34" charset="-120"/>
              </a:rPr>
              <a:t>&lt;/&gt;  Python</a:t>
            </a:r>
            <a:endParaRPr lang="en-US" sz="900" dirty="0"/>
          </a:p>
        </p:txBody>
      </p:sp>
      <p:sp>
        <p:nvSpPr>
          <p:cNvPr id="32" name="Text 30"/>
          <p:cNvSpPr txBox="1"/>
          <p:nvPr/>
        </p:nvSpPr>
        <p:spPr>
          <a:xfrm>
            <a:off x="6793992" y="2048256"/>
            <a:ext cx="4785055" cy="436118"/>
          </a:xfrm>
          <a:prstGeom prst="rect">
            <a:avLst/>
          </a:prstGeom>
          <a:noFill/>
          <a:ln/>
        </p:spPr>
        <p:txBody>
          <a:bodyPr wrap="square" lIns="0" tIns="0" rIns="0" bIns="0" rtlCol="0" anchor="t"/>
          <a:lstStyle/>
          <a:p>
            <a:pPr marL="0" indent="0">
              <a:buNone/>
            </a:pPr>
            <a:r>
              <a:rPr lang="en-US" sz="1150" dirty="0">
                <a:solidFill>
                  <a:srgbClr val="E4E4F0"/>
                </a:solidFill>
                <a:latin typeface="Courier New" pitchFamily="34" charset="0"/>
                <a:ea typeface="Courier New" pitchFamily="34" charset="-122"/>
                <a:cs typeface="Courier New" pitchFamily="34" charset="-120"/>
              </a:rPr>
              <a:t>number = </a:t>
            </a:r>
            <a:r>
              <a:rPr lang="en-US" sz="1150" dirty="0">
                <a:solidFill>
                  <a:srgbClr val="82AAFF"/>
                </a:solidFill>
                <a:latin typeface="Courier New" pitchFamily="34" charset="0"/>
                <a:ea typeface="Courier New" pitchFamily="34" charset="-122"/>
                <a:cs typeface="Courier New" pitchFamily="34" charset="-120"/>
              </a:rPr>
              <a:t>int</a:t>
            </a:r>
            <a:r>
              <a:rPr lang="en-US" sz="1150" dirty="0">
                <a:solidFill>
                  <a:srgbClr val="E4E4F0"/>
                </a:solidFill>
                <a:latin typeface="Courier New" pitchFamily="34" charset="0"/>
                <a:ea typeface="Courier New" pitchFamily="34" charset="-122"/>
                <a:cs typeface="Courier New" pitchFamily="34" charset="-120"/>
              </a:rPr>
              <a:t>(</a:t>
            </a:r>
            <a:r>
              <a:rPr lang="en-US" sz="1150" dirty="0">
                <a:solidFill>
                  <a:srgbClr val="A6E3A1"/>
                </a:solidFill>
                <a:latin typeface="Courier New" pitchFamily="34" charset="0"/>
                <a:ea typeface="Courier New" pitchFamily="34" charset="-122"/>
                <a:cs typeface="Courier New" pitchFamily="34" charset="-120"/>
              </a:rPr>
              <a:t>"abc"</a:t>
            </a:r>
            <a:r>
              <a:rPr lang="en-US" sz="1150" dirty="0">
                <a:solidFill>
                  <a:srgbClr val="E4E4F0"/>
                </a:solidFill>
                <a:latin typeface="Courier New" pitchFamily="34" charset="0"/>
                <a:ea typeface="Courier New" pitchFamily="34" charset="-122"/>
                <a:cs typeface="Courier New" pitchFamily="34" charset="-120"/>
              </a:rPr>
              <a:t>)</a:t>
            </a:r>
            <a:endParaRPr lang="en-US" sz="1150" dirty="0"/>
          </a:p>
          <a:p>
            <a:pPr marL="0" indent="0">
              <a:buNone/>
            </a:pPr>
            <a:r>
              <a:rPr lang="en-US" sz="1150" dirty="0">
                <a:solidFill>
                  <a:srgbClr val="82AAFF"/>
                </a:solidFill>
                <a:latin typeface="Courier New" pitchFamily="34" charset="0"/>
                <a:ea typeface="Courier New" pitchFamily="34" charset="-122"/>
                <a:cs typeface="Courier New" pitchFamily="34" charset="-120"/>
              </a:rPr>
              <a:t>print</a:t>
            </a:r>
            <a:r>
              <a:rPr lang="en-US" sz="1150" dirty="0">
                <a:solidFill>
                  <a:srgbClr val="E4E4F0"/>
                </a:solidFill>
                <a:latin typeface="Courier New" pitchFamily="34" charset="0"/>
                <a:ea typeface="Courier New" pitchFamily="34" charset="-122"/>
                <a:cs typeface="Courier New" pitchFamily="34" charset="-120"/>
              </a:rPr>
              <a:t>(</a:t>
            </a:r>
            <a:r>
              <a:rPr lang="en-US" sz="1150" dirty="0">
                <a:solidFill>
                  <a:srgbClr val="A6E3A1"/>
                </a:solidFill>
                <a:latin typeface="Courier New" pitchFamily="34" charset="0"/>
                <a:ea typeface="Courier New" pitchFamily="34" charset="-122"/>
                <a:cs typeface="Courier New" pitchFamily="34" charset="-120"/>
              </a:rPr>
              <a:t>"Done"</a:t>
            </a:r>
            <a:r>
              <a:rPr lang="en-US" sz="1150" dirty="0">
                <a:solidFill>
                  <a:srgbClr val="E4E4F0"/>
                </a:solidFill>
                <a:latin typeface="Courier New" pitchFamily="34" charset="0"/>
                <a:ea typeface="Courier New" pitchFamily="34" charset="-122"/>
                <a:cs typeface="Courier New" pitchFamily="34" charset="-120"/>
              </a:rPr>
              <a:t>)</a:t>
            </a:r>
            <a:endParaRPr lang="en-US" sz="1150" dirty="0"/>
          </a:p>
        </p:txBody>
      </p:sp>
      <p:sp>
        <p:nvSpPr>
          <p:cNvPr id="33" name="Shape 31"/>
          <p:cNvSpPr/>
          <p:nvPr/>
        </p:nvSpPr>
        <p:spPr>
          <a:xfrm>
            <a:off x="6629400" y="2648966"/>
            <a:ext cx="5059375" cy="750316"/>
          </a:xfrm>
          <a:prstGeom prst="roundRect">
            <a:avLst>
              <a:gd name="adj" fmla="val 12187"/>
            </a:avLst>
          </a:prstGeom>
          <a:solidFill>
            <a:srgbClr val="F6F6FF"/>
          </a:solidFill>
          <a:ln w="9525">
            <a:solidFill>
              <a:srgbClr val="DCDDF5"/>
            </a:solidFill>
            <a:prstDash val="solid"/>
          </a:ln>
        </p:spPr>
        <p:txBody>
          <a:bodyPr/>
          <a:lstStyle/>
          <a:p>
            <a:endParaRPr lang="en-PH"/>
          </a:p>
        </p:txBody>
      </p:sp>
      <p:sp>
        <p:nvSpPr>
          <p:cNvPr id="34" name="Text 32"/>
          <p:cNvSpPr txBox="1"/>
          <p:nvPr/>
        </p:nvSpPr>
        <p:spPr>
          <a:xfrm>
            <a:off x="6775704" y="2722118"/>
            <a:ext cx="4785055" cy="182880"/>
          </a:xfrm>
          <a:prstGeom prst="rect">
            <a:avLst/>
          </a:prstGeom>
          <a:noFill/>
          <a:ln/>
        </p:spPr>
        <p:txBody>
          <a:bodyPr wrap="square" lIns="0" tIns="0" rIns="0" bIns="0" rtlCol="0" anchor="ctr"/>
          <a:lstStyle/>
          <a:p>
            <a:pPr marL="0" indent="0">
              <a:buNone/>
            </a:pPr>
            <a:r>
              <a:rPr lang="en-US" sz="850" b="1" kern="0" spc="150" dirty="0">
                <a:solidFill>
                  <a:srgbClr val="4F46E5"/>
                </a:solidFill>
                <a:latin typeface="Calibri" pitchFamily="34" charset="0"/>
                <a:ea typeface="Calibri" pitchFamily="34" charset="-122"/>
                <a:cs typeface="Calibri" pitchFamily="34" charset="-120"/>
              </a:rPr>
              <a:t>OUTPUT</a:t>
            </a:r>
            <a:endParaRPr lang="en-US" sz="850" dirty="0"/>
          </a:p>
        </p:txBody>
      </p:sp>
      <p:sp>
        <p:nvSpPr>
          <p:cNvPr id="35" name="Text 33"/>
          <p:cNvSpPr txBox="1"/>
          <p:nvPr/>
        </p:nvSpPr>
        <p:spPr>
          <a:xfrm>
            <a:off x="6775704" y="2941574"/>
            <a:ext cx="4821631" cy="421132"/>
          </a:xfrm>
          <a:prstGeom prst="rect">
            <a:avLst/>
          </a:prstGeom>
          <a:noFill/>
          <a:ln/>
        </p:spPr>
        <p:txBody>
          <a:bodyPr wrap="square" lIns="0" tIns="0" rIns="0" bIns="0" rtlCol="0" anchor="t"/>
          <a:lstStyle/>
          <a:p>
            <a:pPr marL="0" indent="0">
              <a:buNone/>
            </a:pPr>
            <a:r>
              <a:rPr lang="en-US" sz="1100" dirty="0">
                <a:solidFill>
                  <a:srgbClr val="C0392B"/>
                </a:solidFill>
                <a:latin typeface="Courier New" pitchFamily="34" charset="0"/>
                <a:ea typeface="Courier New" pitchFamily="34" charset="-122"/>
                <a:cs typeface="Courier New" pitchFamily="34" charset="-120"/>
              </a:rPr>
              <a:t>ValueError: invalid literal for int()</a:t>
            </a:r>
            <a:endParaRPr lang="en-US" sz="1100" dirty="0"/>
          </a:p>
          <a:p>
            <a:pPr marL="0" indent="0">
              <a:buNone/>
            </a:pPr>
            <a:r>
              <a:rPr lang="en-US" sz="1100" dirty="0">
                <a:solidFill>
                  <a:srgbClr val="1E1B4B"/>
                </a:solidFill>
                <a:latin typeface="Courier New" pitchFamily="34" charset="0"/>
                <a:ea typeface="Courier New" pitchFamily="34" charset="-122"/>
                <a:cs typeface="Courier New" pitchFamily="34" charset="-120"/>
              </a:rPr>
              <a:t>with base 10: 'abc'   → program stops</a:t>
            </a:r>
            <a:endParaRPr lang="en-US" sz="1100" dirty="0"/>
          </a:p>
        </p:txBody>
      </p:sp>
      <p:sp>
        <p:nvSpPr>
          <p:cNvPr id="36" name="Text 34"/>
          <p:cNvSpPr txBox="1"/>
          <p:nvPr/>
        </p:nvSpPr>
        <p:spPr>
          <a:xfrm>
            <a:off x="6629400" y="3627882"/>
            <a:ext cx="5059375" cy="228600"/>
          </a:xfrm>
          <a:prstGeom prst="rect">
            <a:avLst/>
          </a:prstGeom>
          <a:noFill/>
          <a:ln/>
        </p:spPr>
        <p:txBody>
          <a:bodyPr wrap="square" lIns="0" tIns="0" rIns="0" bIns="0" rtlCol="0" anchor="t"/>
          <a:lstStyle/>
          <a:p>
            <a:pPr marL="0" indent="0">
              <a:buNone/>
            </a:pPr>
            <a:r>
              <a:rPr lang="en-US" sz="1050" b="1" kern="0" spc="200" dirty="0">
                <a:solidFill>
                  <a:srgbClr val="15803D"/>
                </a:solidFill>
                <a:latin typeface="Calibri" pitchFamily="34" charset="0"/>
                <a:ea typeface="Calibri" pitchFamily="34" charset="-122"/>
                <a:cs typeface="Calibri" pitchFamily="34" charset="-120"/>
              </a:rPr>
              <a:t>WITH ERROR HANDLING</a:t>
            </a:r>
            <a:endParaRPr lang="en-US" sz="1050" dirty="0"/>
          </a:p>
        </p:txBody>
      </p:sp>
      <p:sp>
        <p:nvSpPr>
          <p:cNvPr id="37" name="Shape 35"/>
          <p:cNvSpPr/>
          <p:nvPr/>
        </p:nvSpPr>
        <p:spPr>
          <a:xfrm>
            <a:off x="6629400" y="3929634"/>
            <a:ext cx="5059375" cy="1337183"/>
          </a:xfrm>
          <a:prstGeom prst="roundRect">
            <a:avLst>
              <a:gd name="adj" fmla="val 6838"/>
            </a:avLst>
          </a:prstGeom>
          <a:solidFill>
            <a:srgbClr val="1F1D36"/>
          </a:solidFill>
          <a:ln w="12700">
            <a:solidFill>
              <a:srgbClr val="1F1D36"/>
            </a:solidFill>
            <a:prstDash val="solid"/>
          </a:ln>
        </p:spPr>
        <p:txBody>
          <a:bodyPr/>
          <a:lstStyle/>
          <a:p>
            <a:endParaRPr lang="en-PH"/>
          </a:p>
        </p:txBody>
      </p:sp>
      <p:sp>
        <p:nvSpPr>
          <p:cNvPr id="38" name="Text 36"/>
          <p:cNvSpPr txBox="1"/>
          <p:nvPr/>
        </p:nvSpPr>
        <p:spPr>
          <a:xfrm>
            <a:off x="6793992" y="4011930"/>
            <a:ext cx="4730191" cy="201168"/>
          </a:xfrm>
          <a:prstGeom prst="rect">
            <a:avLst/>
          </a:prstGeom>
          <a:noFill/>
          <a:ln/>
        </p:spPr>
        <p:txBody>
          <a:bodyPr wrap="square" lIns="0" tIns="0" rIns="0" bIns="0" rtlCol="0" anchor="ctr"/>
          <a:lstStyle/>
          <a:p>
            <a:pPr marL="0" indent="0">
              <a:buNone/>
            </a:pPr>
            <a:r>
              <a:rPr lang="en-US" sz="900" b="1" dirty="0">
                <a:solidFill>
                  <a:srgbClr val="8A8FB5"/>
                </a:solidFill>
                <a:latin typeface="Calibri" pitchFamily="34" charset="0"/>
                <a:ea typeface="Calibri" pitchFamily="34" charset="-122"/>
                <a:cs typeface="Calibri" pitchFamily="34" charset="-120"/>
              </a:rPr>
              <a:t>&lt;/&gt;  Python</a:t>
            </a:r>
            <a:endParaRPr lang="en-US" sz="900" dirty="0"/>
          </a:p>
        </p:txBody>
      </p:sp>
      <p:sp>
        <p:nvSpPr>
          <p:cNvPr id="39" name="Text 37"/>
          <p:cNvSpPr txBox="1"/>
          <p:nvPr/>
        </p:nvSpPr>
        <p:spPr>
          <a:xfrm>
            <a:off x="6793992" y="4258818"/>
            <a:ext cx="4785055" cy="953135"/>
          </a:xfrm>
          <a:prstGeom prst="rect">
            <a:avLst/>
          </a:prstGeom>
          <a:noFill/>
          <a:ln/>
        </p:spPr>
        <p:txBody>
          <a:bodyPr wrap="square" lIns="0" tIns="0" rIns="0" bIns="0" rtlCol="0" anchor="t"/>
          <a:lstStyle/>
          <a:p>
            <a:pPr marL="0" indent="0">
              <a:buNone/>
            </a:pPr>
            <a:r>
              <a:rPr lang="en-US" sz="1150" dirty="0">
                <a:solidFill>
                  <a:srgbClr val="D3A6FF"/>
                </a:solidFill>
                <a:latin typeface="Courier New" pitchFamily="34" charset="0"/>
                <a:ea typeface="Courier New" pitchFamily="34" charset="-122"/>
                <a:cs typeface="Courier New" pitchFamily="34" charset="-120"/>
              </a:rPr>
              <a:t>try</a:t>
            </a:r>
            <a:r>
              <a:rPr lang="en-US" sz="1150" dirty="0">
                <a:solidFill>
                  <a:srgbClr val="E4E4F0"/>
                </a:solidFill>
                <a:latin typeface="Courier New" pitchFamily="34" charset="0"/>
                <a:ea typeface="Courier New" pitchFamily="34" charset="-122"/>
                <a:cs typeface="Courier New" pitchFamily="34" charset="-120"/>
              </a:rPr>
              <a:t>:</a:t>
            </a:r>
            <a:endParaRPr lang="en-US" sz="1150" dirty="0"/>
          </a:p>
          <a:p>
            <a:pPr marL="0" indent="0">
              <a:buNone/>
            </a:pPr>
            <a:r>
              <a:rPr lang="en-US" sz="1150" dirty="0">
                <a:solidFill>
                  <a:srgbClr val="E4E4F0"/>
                </a:solidFill>
                <a:latin typeface="Courier New" pitchFamily="34" charset="0"/>
                <a:ea typeface="Courier New" pitchFamily="34" charset="-122"/>
                <a:cs typeface="Courier New" pitchFamily="34" charset="-120"/>
              </a:rPr>
              <a:t>    number = </a:t>
            </a:r>
            <a:r>
              <a:rPr lang="en-US" sz="1150" dirty="0">
                <a:solidFill>
                  <a:srgbClr val="82AAFF"/>
                </a:solidFill>
                <a:latin typeface="Courier New" pitchFamily="34" charset="0"/>
                <a:ea typeface="Courier New" pitchFamily="34" charset="-122"/>
                <a:cs typeface="Courier New" pitchFamily="34" charset="-120"/>
              </a:rPr>
              <a:t>int</a:t>
            </a:r>
            <a:r>
              <a:rPr lang="en-US" sz="1150" dirty="0">
                <a:solidFill>
                  <a:srgbClr val="E4E4F0"/>
                </a:solidFill>
                <a:latin typeface="Courier New" pitchFamily="34" charset="0"/>
                <a:ea typeface="Courier New" pitchFamily="34" charset="-122"/>
                <a:cs typeface="Courier New" pitchFamily="34" charset="-120"/>
              </a:rPr>
              <a:t>(</a:t>
            </a:r>
            <a:r>
              <a:rPr lang="en-US" sz="1150" dirty="0">
                <a:solidFill>
                  <a:srgbClr val="A6E3A1"/>
                </a:solidFill>
                <a:latin typeface="Courier New" pitchFamily="34" charset="0"/>
                <a:ea typeface="Courier New" pitchFamily="34" charset="-122"/>
                <a:cs typeface="Courier New" pitchFamily="34" charset="-120"/>
              </a:rPr>
              <a:t>"abc"</a:t>
            </a:r>
            <a:r>
              <a:rPr lang="en-US" sz="1150" dirty="0">
                <a:solidFill>
                  <a:srgbClr val="E4E4F0"/>
                </a:solidFill>
                <a:latin typeface="Courier New" pitchFamily="34" charset="0"/>
                <a:ea typeface="Courier New" pitchFamily="34" charset="-122"/>
                <a:cs typeface="Courier New" pitchFamily="34" charset="-120"/>
              </a:rPr>
              <a:t>)</a:t>
            </a:r>
            <a:endParaRPr lang="en-US" sz="1150" dirty="0"/>
          </a:p>
          <a:p>
            <a:pPr marL="0" indent="0">
              <a:buNone/>
            </a:pPr>
            <a:r>
              <a:rPr lang="en-US" sz="1150" dirty="0">
                <a:solidFill>
                  <a:srgbClr val="D3A6FF"/>
                </a:solidFill>
                <a:latin typeface="Courier New" pitchFamily="34" charset="0"/>
                <a:ea typeface="Courier New" pitchFamily="34" charset="-122"/>
                <a:cs typeface="Courier New" pitchFamily="34" charset="-120"/>
              </a:rPr>
              <a:t>except</a:t>
            </a:r>
            <a:r>
              <a:rPr lang="en-US" sz="1150" dirty="0">
                <a:solidFill>
                  <a:srgbClr val="E4E4F0"/>
                </a:solidFill>
                <a:latin typeface="Courier New" pitchFamily="34" charset="0"/>
                <a:ea typeface="Courier New" pitchFamily="34" charset="-122"/>
                <a:cs typeface="Courier New" pitchFamily="34" charset="-120"/>
              </a:rPr>
              <a:t> </a:t>
            </a:r>
            <a:r>
              <a:rPr lang="en-US" sz="1150" dirty="0">
                <a:solidFill>
                  <a:srgbClr val="F38BA8"/>
                </a:solidFill>
                <a:latin typeface="Courier New" pitchFamily="34" charset="0"/>
                <a:ea typeface="Courier New" pitchFamily="34" charset="-122"/>
                <a:cs typeface="Courier New" pitchFamily="34" charset="-120"/>
              </a:rPr>
              <a:t>ValueError</a:t>
            </a:r>
            <a:r>
              <a:rPr lang="en-US" sz="1150" dirty="0">
                <a:solidFill>
                  <a:srgbClr val="E4E4F0"/>
                </a:solidFill>
                <a:latin typeface="Courier New" pitchFamily="34" charset="0"/>
                <a:ea typeface="Courier New" pitchFamily="34" charset="-122"/>
                <a:cs typeface="Courier New" pitchFamily="34" charset="-120"/>
              </a:rPr>
              <a:t>:</a:t>
            </a:r>
            <a:endParaRPr lang="en-US" sz="1150" dirty="0"/>
          </a:p>
          <a:p>
            <a:pPr marL="0" indent="0">
              <a:buNone/>
            </a:pPr>
            <a:r>
              <a:rPr lang="en-US" sz="1150" dirty="0">
                <a:solidFill>
                  <a:srgbClr val="E4E4F0"/>
                </a:solidFill>
                <a:latin typeface="Courier New" pitchFamily="34" charset="0"/>
                <a:ea typeface="Courier New" pitchFamily="34" charset="-122"/>
                <a:cs typeface="Courier New" pitchFamily="34" charset="-120"/>
              </a:rPr>
              <a:t>    </a:t>
            </a:r>
            <a:r>
              <a:rPr lang="en-US" sz="1150" dirty="0">
                <a:solidFill>
                  <a:srgbClr val="82AAFF"/>
                </a:solidFill>
                <a:latin typeface="Courier New" pitchFamily="34" charset="0"/>
                <a:ea typeface="Courier New" pitchFamily="34" charset="-122"/>
                <a:cs typeface="Courier New" pitchFamily="34" charset="-120"/>
              </a:rPr>
              <a:t>print</a:t>
            </a:r>
            <a:r>
              <a:rPr lang="en-US" sz="1150" dirty="0">
                <a:solidFill>
                  <a:srgbClr val="E4E4F0"/>
                </a:solidFill>
                <a:latin typeface="Courier New" pitchFamily="34" charset="0"/>
                <a:ea typeface="Courier New" pitchFamily="34" charset="-122"/>
                <a:cs typeface="Courier New" pitchFamily="34" charset="-120"/>
              </a:rPr>
              <a:t>(</a:t>
            </a:r>
            <a:r>
              <a:rPr lang="en-US" sz="1150" dirty="0">
                <a:solidFill>
                  <a:srgbClr val="A6E3A1"/>
                </a:solidFill>
                <a:latin typeface="Courier New" pitchFamily="34" charset="0"/>
                <a:ea typeface="Courier New" pitchFamily="34" charset="-122"/>
                <a:cs typeface="Courier New" pitchFamily="34" charset="-120"/>
              </a:rPr>
              <a:t>"Please enter a number."</a:t>
            </a:r>
            <a:r>
              <a:rPr lang="en-US" sz="1150" dirty="0">
                <a:solidFill>
                  <a:srgbClr val="E4E4F0"/>
                </a:solidFill>
                <a:latin typeface="Courier New" pitchFamily="34" charset="0"/>
                <a:ea typeface="Courier New" pitchFamily="34" charset="-122"/>
                <a:cs typeface="Courier New" pitchFamily="34" charset="-120"/>
              </a:rPr>
              <a:t>)</a:t>
            </a:r>
            <a:endParaRPr lang="en-US" sz="1150" dirty="0"/>
          </a:p>
          <a:p>
            <a:pPr marL="0" indent="0">
              <a:buNone/>
            </a:pPr>
            <a:r>
              <a:rPr lang="en-US" sz="1150" dirty="0">
                <a:solidFill>
                  <a:srgbClr val="82AAFF"/>
                </a:solidFill>
                <a:latin typeface="Courier New" pitchFamily="34" charset="0"/>
                <a:ea typeface="Courier New" pitchFamily="34" charset="-122"/>
                <a:cs typeface="Courier New" pitchFamily="34" charset="-120"/>
              </a:rPr>
              <a:t>print</a:t>
            </a:r>
            <a:r>
              <a:rPr lang="en-US" sz="1150" dirty="0">
                <a:solidFill>
                  <a:srgbClr val="E4E4F0"/>
                </a:solidFill>
                <a:latin typeface="Courier New" pitchFamily="34" charset="0"/>
                <a:ea typeface="Courier New" pitchFamily="34" charset="-122"/>
                <a:cs typeface="Courier New" pitchFamily="34" charset="-120"/>
              </a:rPr>
              <a:t>(</a:t>
            </a:r>
            <a:r>
              <a:rPr lang="en-US" sz="1150" dirty="0">
                <a:solidFill>
                  <a:srgbClr val="A6E3A1"/>
                </a:solidFill>
                <a:latin typeface="Courier New" pitchFamily="34" charset="0"/>
                <a:ea typeface="Courier New" pitchFamily="34" charset="-122"/>
                <a:cs typeface="Courier New" pitchFamily="34" charset="-120"/>
              </a:rPr>
              <a:t>"Done"</a:t>
            </a:r>
            <a:r>
              <a:rPr lang="en-US" sz="1150" dirty="0">
                <a:solidFill>
                  <a:srgbClr val="E4E4F0"/>
                </a:solidFill>
                <a:latin typeface="Courier New" pitchFamily="34" charset="0"/>
                <a:ea typeface="Courier New" pitchFamily="34" charset="-122"/>
                <a:cs typeface="Courier New" pitchFamily="34" charset="-120"/>
              </a:rPr>
              <a:t>)</a:t>
            </a:r>
            <a:endParaRPr lang="en-US" sz="1150" dirty="0"/>
          </a:p>
        </p:txBody>
      </p:sp>
      <p:sp>
        <p:nvSpPr>
          <p:cNvPr id="40" name="Shape 38"/>
          <p:cNvSpPr/>
          <p:nvPr/>
        </p:nvSpPr>
        <p:spPr>
          <a:xfrm>
            <a:off x="6629400" y="5376545"/>
            <a:ext cx="5059375" cy="750316"/>
          </a:xfrm>
          <a:prstGeom prst="roundRect">
            <a:avLst>
              <a:gd name="adj" fmla="val 12187"/>
            </a:avLst>
          </a:prstGeom>
          <a:solidFill>
            <a:srgbClr val="F6F6FF"/>
          </a:solidFill>
          <a:ln w="9525">
            <a:solidFill>
              <a:srgbClr val="DCDDF5"/>
            </a:solidFill>
            <a:prstDash val="solid"/>
          </a:ln>
        </p:spPr>
        <p:txBody>
          <a:bodyPr/>
          <a:lstStyle/>
          <a:p>
            <a:endParaRPr lang="en-PH"/>
          </a:p>
        </p:txBody>
      </p:sp>
      <p:sp>
        <p:nvSpPr>
          <p:cNvPr id="41" name="Text 39"/>
          <p:cNvSpPr txBox="1"/>
          <p:nvPr/>
        </p:nvSpPr>
        <p:spPr>
          <a:xfrm>
            <a:off x="6775704" y="5449697"/>
            <a:ext cx="4785055" cy="182880"/>
          </a:xfrm>
          <a:prstGeom prst="rect">
            <a:avLst/>
          </a:prstGeom>
          <a:noFill/>
          <a:ln/>
        </p:spPr>
        <p:txBody>
          <a:bodyPr wrap="square" lIns="0" tIns="0" rIns="0" bIns="0" rtlCol="0" anchor="ctr"/>
          <a:lstStyle/>
          <a:p>
            <a:pPr marL="0" indent="0">
              <a:buNone/>
            </a:pPr>
            <a:r>
              <a:rPr lang="en-US" sz="850" b="1" kern="0" spc="150" dirty="0">
                <a:solidFill>
                  <a:srgbClr val="4F46E5"/>
                </a:solidFill>
                <a:latin typeface="Calibri" pitchFamily="34" charset="0"/>
                <a:ea typeface="Calibri" pitchFamily="34" charset="-122"/>
                <a:cs typeface="Calibri" pitchFamily="34" charset="-120"/>
              </a:rPr>
              <a:t>OUTPUT</a:t>
            </a:r>
            <a:endParaRPr lang="en-US" sz="850" dirty="0"/>
          </a:p>
        </p:txBody>
      </p:sp>
      <p:sp>
        <p:nvSpPr>
          <p:cNvPr id="42" name="Text 40"/>
          <p:cNvSpPr txBox="1"/>
          <p:nvPr/>
        </p:nvSpPr>
        <p:spPr>
          <a:xfrm>
            <a:off x="6775704" y="5669153"/>
            <a:ext cx="4821631" cy="421132"/>
          </a:xfrm>
          <a:prstGeom prst="rect">
            <a:avLst/>
          </a:prstGeom>
          <a:noFill/>
          <a:ln/>
        </p:spPr>
        <p:txBody>
          <a:bodyPr wrap="square" lIns="0" tIns="0" rIns="0" bIns="0" rtlCol="0" anchor="t"/>
          <a:lstStyle/>
          <a:p>
            <a:pPr marL="0" indent="0">
              <a:buNone/>
            </a:pPr>
            <a:r>
              <a:rPr lang="en-US" sz="1100" dirty="0">
                <a:solidFill>
                  <a:srgbClr val="1E1B4B"/>
                </a:solidFill>
                <a:latin typeface="Courier New" pitchFamily="34" charset="0"/>
                <a:ea typeface="Courier New" pitchFamily="34" charset="-122"/>
                <a:cs typeface="Courier New" pitchFamily="34" charset="-120"/>
              </a:rPr>
              <a:t>Please enter a number.</a:t>
            </a:r>
            <a:endParaRPr lang="en-US" sz="1100" dirty="0"/>
          </a:p>
          <a:p>
            <a:pPr marL="0" indent="0">
              <a:buNone/>
            </a:pPr>
            <a:r>
              <a:rPr lang="en-US" sz="1100" dirty="0">
                <a:solidFill>
                  <a:srgbClr val="1E1B4B"/>
                </a:solidFill>
                <a:latin typeface="Courier New" pitchFamily="34" charset="0"/>
                <a:ea typeface="Courier New" pitchFamily="34" charset="-122"/>
                <a:cs typeface="Courier New" pitchFamily="34" charset="-120"/>
              </a:rPr>
              <a:t>Done</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02920" y="310896"/>
            <a:ext cx="8229600" cy="237744"/>
          </a:xfrm>
          <a:prstGeom prst="rect">
            <a:avLst/>
          </a:prstGeom>
          <a:noFill/>
          <a:ln/>
        </p:spPr>
        <p:txBody>
          <a:bodyPr wrap="square" lIns="0" tIns="0" rIns="0" bIns="0" rtlCol="0" anchor="t"/>
          <a:lstStyle/>
          <a:p>
            <a:pPr marL="0" indent="0">
              <a:buNone/>
            </a:pPr>
            <a:r>
              <a:rPr lang="en-US" sz="1050" b="1" kern="0" spc="200" dirty="0">
                <a:solidFill>
                  <a:srgbClr val="C8559F"/>
                </a:solidFill>
                <a:latin typeface="Calibri" pitchFamily="34" charset="0"/>
                <a:ea typeface="Calibri" pitchFamily="34" charset="-122"/>
                <a:cs typeface="Calibri" pitchFamily="34" charset="-120"/>
              </a:rPr>
              <a:t>UNDERSTANDING EXCEPTIONS · DEFINITION</a:t>
            </a:r>
            <a:endParaRPr lang="en-US" sz="1050" dirty="0"/>
          </a:p>
        </p:txBody>
      </p:sp>
      <p:sp>
        <p:nvSpPr>
          <p:cNvPr id="3" name="Text 1"/>
          <p:cNvSpPr txBox="1"/>
          <p:nvPr/>
        </p:nvSpPr>
        <p:spPr>
          <a:xfrm>
            <a:off x="502920" y="530352"/>
            <a:ext cx="10241280" cy="640080"/>
          </a:xfrm>
          <a:prstGeom prst="rect">
            <a:avLst/>
          </a:prstGeom>
          <a:noFill/>
          <a:ln/>
        </p:spPr>
        <p:txBody>
          <a:bodyPr wrap="square" lIns="0" tIns="0" rIns="0" bIns="0" rtlCol="0" anchor="ctr"/>
          <a:lstStyle/>
          <a:p>
            <a:pPr marL="0" indent="0">
              <a:buNone/>
            </a:pPr>
            <a:r>
              <a:rPr lang="en-US" sz="2800" b="1" dirty="0">
                <a:solidFill>
                  <a:srgbClr val="1E1B4B"/>
                </a:solidFill>
                <a:latin typeface="Calibri" pitchFamily="34" charset="0"/>
                <a:ea typeface="Calibri" pitchFamily="34" charset="-122"/>
                <a:cs typeface="Calibri" pitchFamily="34" charset="-120"/>
              </a:rPr>
              <a:t>Understanding Exceptions</a:t>
            </a:r>
            <a:endParaRPr lang="en-US" sz="2800" dirty="0"/>
          </a:p>
        </p:txBody>
      </p:sp>
      <p:sp>
        <p:nvSpPr>
          <p:cNvPr id="4" name="Text 2"/>
          <p:cNvSpPr txBox="1"/>
          <p:nvPr/>
        </p:nvSpPr>
        <p:spPr>
          <a:xfrm>
            <a:off x="502920" y="6446520"/>
            <a:ext cx="5486400" cy="228600"/>
          </a:xfrm>
          <a:prstGeom prst="rect">
            <a:avLst/>
          </a:prstGeom>
          <a:noFill/>
          <a:ln/>
        </p:spPr>
        <p:txBody>
          <a:bodyPr wrap="square" lIns="0" tIns="0" rIns="0" bIns="0" rtlCol="0" anchor="t"/>
          <a:lstStyle/>
          <a:p>
            <a:pPr marL="0" indent="0">
              <a:buNone/>
            </a:pPr>
            <a:r>
              <a:rPr lang="en-US" sz="900" dirty="0">
                <a:solidFill>
                  <a:srgbClr val="5B5F7A"/>
                </a:solidFill>
                <a:latin typeface="Calibri" pitchFamily="34" charset="0"/>
                <a:ea typeface="Calibri" pitchFamily="34" charset="-122"/>
                <a:cs typeface="Calibri" pitchFamily="34" charset="-120"/>
              </a:rPr>
              <a:t>Python  ·  Error Handling</a:t>
            </a:r>
            <a:endParaRPr lang="en-US" sz="900" dirty="0"/>
          </a:p>
        </p:txBody>
      </p:sp>
      <p:sp>
        <p:nvSpPr>
          <p:cNvPr id="5" name="Text 3"/>
          <p:cNvSpPr txBox="1"/>
          <p:nvPr/>
        </p:nvSpPr>
        <p:spPr>
          <a:xfrm>
            <a:off x="11140135" y="6446520"/>
            <a:ext cx="548640" cy="228600"/>
          </a:xfrm>
          <a:prstGeom prst="rect">
            <a:avLst/>
          </a:prstGeom>
          <a:noFill/>
          <a:ln/>
        </p:spPr>
        <p:txBody>
          <a:bodyPr wrap="square" lIns="0" tIns="0" rIns="0" bIns="0" rtlCol="0" anchor="t"/>
          <a:lstStyle/>
          <a:p>
            <a:pPr marL="0" indent="0" algn="r">
              <a:buNone/>
            </a:pPr>
            <a:r>
              <a:rPr lang="en-US" sz="900" dirty="0">
                <a:solidFill>
                  <a:srgbClr val="5B5F7A"/>
                </a:solidFill>
                <a:latin typeface="Calibri" pitchFamily="34" charset="0"/>
                <a:ea typeface="Calibri" pitchFamily="34" charset="-122"/>
                <a:cs typeface="Calibri" pitchFamily="34" charset="-120"/>
              </a:rPr>
              <a:t>5</a:t>
            </a:r>
            <a:endParaRPr lang="en-US" sz="900" dirty="0"/>
          </a:p>
        </p:txBody>
      </p:sp>
      <p:sp>
        <p:nvSpPr>
          <p:cNvPr id="6" name="Shape 4"/>
          <p:cNvSpPr/>
          <p:nvPr/>
        </p:nvSpPr>
        <p:spPr>
          <a:xfrm>
            <a:off x="502920" y="1417320"/>
            <a:ext cx="5120640" cy="4754880"/>
          </a:xfrm>
          <a:prstGeom prst="roundRect">
            <a:avLst>
              <a:gd name="adj" fmla="val 3077"/>
            </a:avLst>
          </a:prstGeom>
          <a:solidFill>
            <a:srgbClr val="1E1B4B"/>
          </a:solidFill>
          <a:ln w="12700">
            <a:solidFill>
              <a:srgbClr val="1E1B4B"/>
            </a:solidFill>
            <a:prstDash val="solid"/>
          </a:ln>
        </p:spPr>
        <p:txBody>
          <a:bodyPr/>
          <a:lstStyle/>
          <a:p>
            <a:endParaRPr lang="en-PH"/>
          </a:p>
        </p:txBody>
      </p:sp>
      <p:sp>
        <p:nvSpPr>
          <p:cNvPr id="7" name="Text 5"/>
          <p:cNvSpPr txBox="1"/>
          <p:nvPr/>
        </p:nvSpPr>
        <p:spPr>
          <a:xfrm>
            <a:off x="777240" y="1645920"/>
            <a:ext cx="4572000" cy="411480"/>
          </a:xfrm>
          <a:prstGeom prst="rect">
            <a:avLst/>
          </a:prstGeom>
          <a:noFill/>
          <a:ln/>
        </p:spPr>
        <p:txBody>
          <a:bodyPr wrap="square" lIns="0" tIns="0" rIns="0" bIns="0" rtlCol="0" anchor="t"/>
          <a:lstStyle/>
          <a:p>
            <a:pPr marL="0" indent="0">
              <a:buNone/>
            </a:pPr>
            <a:r>
              <a:rPr lang="en-US" sz="2000" b="1" dirty="0">
                <a:solidFill>
                  <a:srgbClr val="FFFFFF"/>
                </a:solidFill>
                <a:latin typeface="Calibri" pitchFamily="34" charset="0"/>
                <a:ea typeface="Calibri" pitchFamily="34" charset="-122"/>
                <a:cs typeface="Calibri" pitchFamily="34" charset="-120"/>
              </a:rPr>
              <a:t>What is an Exception?</a:t>
            </a:r>
            <a:endParaRPr lang="en-US" sz="2000" dirty="0"/>
          </a:p>
        </p:txBody>
      </p:sp>
      <p:sp>
        <p:nvSpPr>
          <p:cNvPr id="8" name="Text 6"/>
          <p:cNvSpPr txBox="1"/>
          <p:nvPr/>
        </p:nvSpPr>
        <p:spPr>
          <a:xfrm>
            <a:off x="777240" y="2103120"/>
            <a:ext cx="4572000" cy="685800"/>
          </a:xfrm>
          <a:prstGeom prst="rect">
            <a:avLst/>
          </a:prstGeom>
          <a:noFill/>
          <a:ln/>
        </p:spPr>
        <p:txBody>
          <a:bodyPr wrap="square" lIns="0" tIns="0" rIns="0" bIns="0" rtlCol="0" anchor="t"/>
          <a:lstStyle/>
          <a:p>
            <a:pPr marL="0" indent="0">
              <a:buNone/>
            </a:pPr>
            <a:r>
              <a:rPr lang="en-US" sz="1500" dirty="0">
                <a:solidFill>
                  <a:srgbClr val="FFFFFF"/>
                </a:solidFill>
                <a:latin typeface="Calibri" pitchFamily="34" charset="0"/>
                <a:ea typeface="Calibri" pitchFamily="34" charset="-122"/>
                <a:cs typeface="Calibri" pitchFamily="34" charset="-120"/>
              </a:rPr>
              <a:t>An </a:t>
            </a:r>
            <a:r>
              <a:rPr lang="en-US" sz="1500" b="1" dirty="0">
                <a:solidFill>
                  <a:srgbClr val="FFFFFF"/>
                </a:solidFill>
                <a:latin typeface="Calibri" pitchFamily="34" charset="0"/>
                <a:ea typeface="Calibri" pitchFamily="34" charset="-122"/>
                <a:cs typeface="Calibri" pitchFamily="34" charset="-120"/>
              </a:rPr>
              <a:t>exception</a:t>
            </a:r>
            <a:r>
              <a:rPr lang="en-US" sz="1500" dirty="0">
                <a:solidFill>
                  <a:srgbClr val="FFFFFF"/>
                </a:solidFill>
                <a:latin typeface="Calibri" pitchFamily="34" charset="0"/>
                <a:ea typeface="Calibri" pitchFamily="34" charset="-122"/>
                <a:cs typeface="Calibri" pitchFamily="34" charset="-120"/>
              </a:rPr>
              <a:t> is an error that occurs while a program is running.</a:t>
            </a:r>
            <a:endParaRPr lang="en-US" sz="1500" dirty="0"/>
          </a:p>
        </p:txBody>
      </p:sp>
      <p:sp>
        <p:nvSpPr>
          <p:cNvPr id="9" name="Text 7"/>
          <p:cNvSpPr txBox="1"/>
          <p:nvPr/>
        </p:nvSpPr>
        <p:spPr>
          <a:xfrm>
            <a:off x="777240" y="2834640"/>
            <a:ext cx="4572000" cy="1097280"/>
          </a:xfrm>
          <a:prstGeom prst="rect">
            <a:avLst/>
          </a:prstGeom>
          <a:noFill/>
          <a:ln/>
        </p:spPr>
        <p:txBody>
          <a:bodyPr wrap="square" lIns="0" tIns="0" rIns="0" bIns="0" rtlCol="0" anchor="t"/>
          <a:lstStyle/>
          <a:p>
            <a:pPr marL="0" indent="0">
              <a:buNone/>
            </a:pPr>
            <a:r>
              <a:rPr lang="en-US" sz="1350" dirty="0">
                <a:solidFill>
                  <a:srgbClr val="C9CCFF"/>
                </a:solidFill>
                <a:latin typeface="Calibri" pitchFamily="34" charset="0"/>
                <a:ea typeface="Calibri" pitchFamily="34" charset="-122"/>
                <a:cs typeface="Calibri" pitchFamily="34" charset="-120"/>
              </a:rPr>
              <a:t>When Python meets a problem it cannot resolve, it raises an exception. If nothing handles it, the program stops and prints a </a:t>
            </a:r>
            <a:r>
              <a:rPr lang="en-US" sz="1350" b="1" dirty="0">
                <a:solidFill>
                  <a:srgbClr val="C9CCFF"/>
                </a:solidFill>
                <a:latin typeface="Calibri" pitchFamily="34" charset="0"/>
                <a:ea typeface="Calibri" pitchFamily="34" charset="-122"/>
                <a:cs typeface="Calibri" pitchFamily="34" charset="-120"/>
              </a:rPr>
              <a:t>traceback</a:t>
            </a:r>
            <a:r>
              <a:rPr lang="en-US" sz="1350" dirty="0">
                <a:solidFill>
                  <a:srgbClr val="C9CCFF"/>
                </a:solidFill>
                <a:latin typeface="Calibri" pitchFamily="34" charset="0"/>
                <a:ea typeface="Calibri" pitchFamily="34" charset="-122"/>
                <a:cs typeface="Calibri" pitchFamily="34" charset="-120"/>
              </a:rPr>
              <a:t> showing where it failed:</a:t>
            </a:r>
            <a:endParaRPr lang="en-US" sz="1350" dirty="0"/>
          </a:p>
        </p:txBody>
      </p:sp>
      <p:sp>
        <p:nvSpPr>
          <p:cNvPr id="10" name="Shape 8"/>
          <p:cNvSpPr/>
          <p:nvPr/>
        </p:nvSpPr>
        <p:spPr>
          <a:xfrm>
            <a:off x="777240" y="4069080"/>
            <a:ext cx="4572000" cy="1188720"/>
          </a:xfrm>
          <a:prstGeom prst="roundRect">
            <a:avLst>
              <a:gd name="adj" fmla="val 6154"/>
            </a:avLst>
          </a:prstGeom>
          <a:solidFill>
            <a:srgbClr val="13112F"/>
          </a:solidFill>
          <a:ln w="12700">
            <a:solidFill>
              <a:srgbClr val="3B3791"/>
            </a:solidFill>
            <a:prstDash val="solid"/>
          </a:ln>
        </p:spPr>
        <p:txBody>
          <a:bodyPr/>
          <a:lstStyle/>
          <a:p>
            <a:endParaRPr lang="en-PH"/>
          </a:p>
        </p:txBody>
      </p:sp>
      <p:sp>
        <p:nvSpPr>
          <p:cNvPr id="11" name="Text 9"/>
          <p:cNvSpPr txBox="1"/>
          <p:nvPr/>
        </p:nvSpPr>
        <p:spPr>
          <a:xfrm>
            <a:off x="914400" y="4178808"/>
            <a:ext cx="4343400" cy="1005840"/>
          </a:xfrm>
          <a:prstGeom prst="rect">
            <a:avLst/>
          </a:prstGeom>
          <a:noFill/>
          <a:ln/>
        </p:spPr>
        <p:txBody>
          <a:bodyPr wrap="square" lIns="0" tIns="0" rIns="0" bIns="0" rtlCol="0" anchor="t"/>
          <a:lstStyle/>
          <a:p>
            <a:pPr marL="0" indent="0">
              <a:buNone/>
            </a:pPr>
            <a:r>
              <a:rPr lang="en-US" sz="1150" dirty="0">
                <a:solidFill>
                  <a:srgbClr val="C9CCFF"/>
                </a:solidFill>
                <a:latin typeface="Courier New" pitchFamily="34" charset="0"/>
                <a:ea typeface="Courier New" pitchFamily="34" charset="-122"/>
                <a:cs typeface="Courier New" pitchFamily="34" charset="-120"/>
              </a:rPr>
              <a:t>Traceback (most recent call last):</a:t>
            </a:r>
            <a:endParaRPr lang="en-US" sz="1150" dirty="0"/>
          </a:p>
          <a:p>
            <a:pPr marL="0" indent="0">
              <a:buNone/>
            </a:pPr>
            <a:r>
              <a:rPr lang="en-US" sz="1150" dirty="0">
                <a:solidFill>
                  <a:srgbClr val="C9CCFF"/>
                </a:solidFill>
                <a:latin typeface="Courier New" pitchFamily="34" charset="0"/>
                <a:ea typeface="Courier New" pitchFamily="34" charset="-122"/>
                <a:cs typeface="Courier New" pitchFamily="34" charset="-120"/>
              </a:rPr>
              <a:t>  File "main.py", line 2, in &lt;module&gt;</a:t>
            </a:r>
            <a:endParaRPr lang="en-US" sz="1150" dirty="0"/>
          </a:p>
          <a:p>
            <a:pPr marL="0" indent="0">
              <a:buNone/>
            </a:pPr>
            <a:r>
              <a:rPr lang="en-US" sz="1150" dirty="0">
                <a:solidFill>
                  <a:srgbClr val="C9CCFF"/>
                </a:solidFill>
                <a:latin typeface="Courier New" pitchFamily="34" charset="0"/>
                <a:ea typeface="Courier New" pitchFamily="34" charset="-122"/>
                <a:cs typeface="Courier New" pitchFamily="34" charset="-120"/>
              </a:rPr>
              <a:t>    result = number / 0</a:t>
            </a:r>
            <a:endParaRPr lang="en-US" sz="1150" dirty="0"/>
          </a:p>
          <a:p>
            <a:pPr marL="0" indent="0">
              <a:buNone/>
            </a:pPr>
            <a:r>
              <a:rPr lang="en-US" sz="1150" dirty="0">
                <a:solidFill>
                  <a:srgbClr val="F38BA8"/>
                </a:solidFill>
                <a:latin typeface="Courier New" pitchFamily="34" charset="0"/>
                <a:ea typeface="Courier New" pitchFamily="34" charset="-122"/>
                <a:cs typeface="Courier New" pitchFamily="34" charset="-120"/>
              </a:rPr>
              <a:t>ZeroDivisionError: division by zero</a:t>
            </a:r>
            <a:endParaRPr lang="en-US" sz="1150" dirty="0"/>
          </a:p>
        </p:txBody>
      </p:sp>
      <p:sp>
        <p:nvSpPr>
          <p:cNvPr id="12" name="Text 10"/>
          <p:cNvSpPr txBox="1"/>
          <p:nvPr/>
        </p:nvSpPr>
        <p:spPr>
          <a:xfrm>
            <a:off x="777240" y="5440680"/>
            <a:ext cx="4572000" cy="457200"/>
          </a:xfrm>
          <a:prstGeom prst="rect">
            <a:avLst/>
          </a:prstGeom>
          <a:noFill/>
          <a:ln/>
        </p:spPr>
        <p:txBody>
          <a:bodyPr wrap="square" lIns="0" tIns="0" rIns="0" bIns="0" rtlCol="0" anchor="t"/>
          <a:lstStyle/>
          <a:p>
            <a:pPr marL="0" indent="0">
              <a:buNone/>
            </a:pPr>
            <a:r>
              <a:rPr lang="en-US" sz="1200" i="1" dirty="0">
                <a:solidFill>
                  <a:srgbClr val="9EA2E0"/>
                </a:solidFill>
                <a:latin typeface="Calibri" pitchFamily="34" charset="0"/>
                <a:ea typeface="Calibri" pitchFamily="34" charset="-122"/>
                <a:cs typeface="Calibri" pitchFamily="34" charset="-120"/>
              </a:rPr>
              <a:t>The last line names the exception type and explains the cause.</a:t>
            </a:r>
            <a:endParaRPr lang="en-US" sz="1200" dirty="0"/>
          </a:p>
        </p:txBody>
      </p:sp>
      <p:sp>
        <p:nvSpPr>
          <p:cNvPr id="13" name="Text 11"/>
          <p:cNvSpPr txBox="1"/>
          <p:nvPr/>
        </p:nvSpPr>
        <p:spPr>
          <a:xfrm>
            <a:off x="5943600" y="1417320"/>
            <a:ext cx="5745175" cy="228600"/>
          </a:xfrm>
          <a:prstGeom prst="rect">
            <a:avLst/>
          </a:prstGeom>
          <a:noFill/>
          <a:ln/>
        </p:spPr>
        <p:txBody>
          <a:bodyPr wrap="square" lIns="0" tIns="0" rIns="0" bIns="0" rtlCol="0" anchor="t"/>
          <a:lstStyle/>
          <a:p>
            <a:pPr marL="0" indent="0">
              <a:buNone/>
            </a:pPr>
            <a:r>
              <a:rPr lang="en-US" sz="1050" b="1" kern="0" spc="200" dirty="0">
                <a:solidFill>
                  <a:srgbClr val="C8559F"/>
                </a:solidFill>
                <a:latin typeface="Calibri" pitchFamily="34" charset="0"/>
                <a:ea typeface="Calibri" pitchFamily="34" charset="-122"/>
                <a:cs typeface="Calibri" pitchFamily="34" charset="-120"/>
              </a:rPr>
              <a:t>EXAMPLES:</a:t>
            </a:r>
            <a:endParaRPr lang="en-US" sz="1050" dirty="0"/>
          </a:p>
        </p:txBody>
      </p:sp>
      <p:sp>
        <p:nvSpPr>
          <p:cNvPr id="14" name="Shape 12"/>
          <p:cNvSpPr/>
          <p:nvPr/>
        </p:nvSpPr>
        <p:spPr>
          <a:xfrm>
            <a:off x="5943600" y="1755648"/>
            <a:ext cx="5745175" cy="1005840"/>
          </a:xfrm>
          <a:prstGeom prst="roundRect">
            <a:avLst>
              <a:gd name="adj" fmla="val 10909"/>
            </a:avLst>
          </a:prstGeom>
          <a:solidFill>
            <a:srgbClr val="FFFFFF"/>
          </a:solidFill>
          <a:ln w="9525">
            <a:solidFill>
              <a:srgbClr val="DCDDF5"/>
            </a:solidFill>
            <a:prstDash val="solid"/>
          </a:ln>
          <a:effectLst>
            <a:outerShdw blurRad="127000" dist="25400" dir="5400000" algn="bl" rotWithShape="0">
              <a:srgbClr val="4F46E5">
                <a:alpha val="12000"/>
              </a:srgbClr>
            </a:outerShdw>
          </a:effectLst>
        </p:spPr>
        <p:txBody>
          <a:bodyPr/>
          <a:lstStyle/>
          <a:p>
            <a:endParaRPr lang="en-PH"/>
          </a:p>
        </p:txBody>
      </p:sp>
      <p:sp>
        <p:nvSpPr>
          <p:cNvPr id="15" name="Shape 13"/>
          <p:cNvSpPr/>
          <p:nvPr/>
        </p:nvSpPr>
        <p:spPr>
          <a:xfrm>
            <a:off x="6144768" y="2029968"/>
            <a:ext cx="457200" cy="457200"/>
          </a:xfrm>
          <a:prstGeom prst="ellipse">
            <a:avLst/>
          </a:prstGeom>
          <a:solidFill>
            <a:srgbClr val="F1F1FE"/>
          </a:solidFill>
          <a:ln w="12700">
            <a:solidFill>
              <a:srgbClr val="F1F1FE"/>
            </a:solidFill>
            <a:prstDash val="solid"/>
          </a:ln>
        </p:spPr>
        <p:txBody>
          <a:bodyPr/>
          <a:lstStyle/>
          <a:p>
            <a:endParaRPr lang="en-PH"/>
          </a:p>
        </p:txBody>
      </p:sp>
      <p:sp>
        <p:nvSpPr>
          <p:cNvPr id="16" name="Text 14"/>
          <p:cNvSpPr txBox="1"/>
          <p:nvPr/>
        </p:nvSpPr>
        <p:spPr>
          <a:xfrm>
            <a:off x="6144768" y="2029968"/>
            <a:ext cx="457200" cy="457200"/>
          </a:xfrm>
          <a:prstGeom prst="rect">
            <a:avLst/>
          </a:prstGeom>
          <a:noFill/>
          <a:ln/>
        </p:spPr>
        <p:txBody>
          <a:bodyPr wrap="square" lIns="0" tIns="0" rIns="0" bIns="0" rtlCol="0" anchor="ctr"/>
          <a:lstStyle/>
          <a:p>
            <a:pPr marL="0" indent="0" algn="ctr">
              <a:buNone/>
            </a:pPr>
            <a:r>
              <a:rPr lang="en-US" sz="1500" b="1" dirty="0">
                <a:solidFill>
                  <a:srgbClr val="4F46E5"/>
                </a:solidFill>
                <a:latin typeface="Calibri" pitchFamily="34" charset="0"/>
                <a:ea typeface="Calibri" pitchFamily="34" charset="-122"/>
                <a:cs typeface="Calibri" pitchFamily="34" charset="-120"/>
              </a:rPr>
              <a:t>1</a:t>
            </a:r>
            <a:endParaRPr lang="en-US" sz="1500" dirty="0"/>
          </a:p>
        </p:txBody>
      </p:sp>
      <p:sp>
        <p:nvSpPr>
          <p:cNvPr id="17" name="Text 15"/>
          <p:cNvSpPr txBox="1"/>
          <p:nvPr/>
        </p:nvSpPr>
        <p:spPr>
          <a:xfrm>
            <a:off x="6766560" y="1883664"/>
            <a:ext cx="4739335" cy="365760"/>
          </a:xfrm>
          <a:prstGeom prst="rect">
            <a:avLst/>
          </a:prstGeom>
          <a:noFill/>
          <a:ln/>
        </p:spPr>
        <p:txBody>
          <a:bodyPr wrap="square" lIns="0" tIns="0" rIns="0" bIns="0" rtlCol="0" anchor="ctr"/>
          <a:lstStyle/>
          <a:p>
            <a:pPr marL="0" indent="0">
              <a:buNone/>
            </a:pPr>
            <a:r>
              <a:rPr lang="en-US" sz="1500" b="1" dirty="0">
                <a:solidFill>
                  <a:srgbClr val="1E1B4B"/>
                </a:solidFill>
                <a:latin typeface="Calibri" pitchFamily="34" charset="0"/>
                <a:ea typeface="Calibri" pitchFamily="34" charset="-122"/>
                <a:cs typeface="Calibri" pitchFamily="34" charset="-120"/>
              </a:rPr>
              <a:t>Dividing by zero</a:t>
            </a:r>
            <a:endParaRPr lang="en-US" sz="1500" dirty="0"/>
          </a:p>
        </p:txBody>
      </p:sp>
      <p:sp>
        <p:nvSpPr>
          <p:cNvPr id="18" name="Shape 16"/>
          <p:cNvSpPr/>
          <p:nvPr/>
        </p:nvSpPr>
        <p:spPr>
          <a:xfrm>
            <a:off x="6766560" y="2322576"/>
            <a:ext cx="1550822" cy="274320"/>
          </a:xfrm>
          <a:prstGeom prst="roundRect">
            <a:avLst>
              <a:gd name="adj" fmla="val 50000"/>
            </a:avLst>
          </a:prstGeom>
          <a:solidFill>
            <a:srgbClr val="FDE8EC"/>
          </a:solidFill>
          <a:ln w="12700">
            <a:solidFill>
              <a:srgbClr val="FDE8EC"/>
            </a:solidFill>
            <a:prstDash val="solid"/>
          </a:ln>
        </p:spPr>
        <p:txBody>
          <a:bodyPr/>
          <a:lstStyle/>
          <a:p>
            <a:endParaRPr lang="en-PH"/>
          </a:p>
        </p:txBody>
      </p:sp>
      <p:sp>
        <p:nvSpPr>
          <p:cNvPr id="19" name="Text 17"/>
          <p:cNvSpPr txBox="1"/>
          <p:nvPr/>
        </p:nvSpPr>
        <p:spPr>
          <a:xfrm>
            <a:off x="6766560" y="2322576"/>
            <a:ext cx="1550822" cy="274320"/>
          </a:xfrm>
          <a:prstGeom prst="rect">
            <a:avLst/>
          </a:prstGeom>
          <a:noFill/>
          <a:ln/>
        </p:spPr>
        <p:txBody>
          <a:bodyPr wrap="square" lIns="0" tIns="0" rIns="0" bIns="0" rtlCol="0" anchor="ctr"/>
          <a:lstStyle/>
          <a:p>
            <a:pPr marL="0" indent="0" algn="ctr">
              <a:buNone/>
            </a:pPr>
            <a:r>
              <a:rPr lang="en-US" sz="1000" dirty="0">
                <a:solidFill>
                  <a:srgbClr val="C0392B"/>
                </a:solidFill>
                <a:latin typeface="Courier New" pitchFamily="34" charset="0"/>
                <a:ea typeface="Courier New" pitchFamily="34" charset="-122"/>
                <a:cs typeface="Courier New" pitchFamily="34" charset="-120"/>
              </a:rPr>
              <a:t>ZeroDivisionError</a:t>
            </a:r>
            <a:endParaRPr lang="en-US" sz="1000" dirty="0"/>
          </a:p>
        </p:txBody>
      </p:sp>
      <p:sp>
        <p:nvSpPr>
          <p:cNvPr id="20" name="Text 18"/>
          <p:cNvSpPr txBox="1"/>
          <p:nvPr/>
        </p:nvSpPr>
        <p:spPr>
          <a:xfrm>
            <a:off x="8408822" y="2322576"/>
            <a:ext cx="2560320" cy="274320"/>
          </a:xfrm>
          <a:prstGeom prst="rect">
            <a:avLst/>
          </a:prstGeom>
          <a:noFill/>
          <a:ln/>
        </p:spPr>
        <p:txBody>
          <a:bodyPr wrap="square" lIns="0" tIns="0" rIns="0" bIns="0" rtlCol="0" anchor="ctr"/>
          <a:lstStyle/>
          <a:p>
            <a:pPr marL="0" indent="0">
              <a:buNone/>
            </a:pPr>
            <a:r>
              <a:rPr lang="en-US" sz="1150" dirty="0">
                <a:solidFill>
                  <a:srgbClr val="5B5F7A"/>
                </a:solidFill>
                <a:latin typeface="Calibri" pitchFamily="34" charset="0"/>
                <a:ea typeface="Calibri" pitchFamily="34" charset="-122"/>
                <a:cs typeface="Calibri" pitchFamily="34" charset="-120"/>
              </a:rPr>
              <a:t>e.g.  </a:t>
            </a:r>
            <a:r>
              <a:rPr lang="en-US" sz="1150" dirty="0">
                <a:solidFill>
                  <a:srgbClr val="1E1B4B"/>
                </a:solidFill>
                <a:latin typeface="Courier New" pitchFamily="34" charset="0"/>
                <a:ea typeface="Courier New" pitchFamily="34" charset="-122"/>
                <a:cs typeface="Courier New" pitchFamily="34" charset="-120"/>
              </a:rPr>
              <a:t>10 / 0</a:t>
            </a:r>
            <a:endParaRPr lang="en-US" sz="1150" dirty="0"/>
          </a:p>
        </p:txBody>
      </p:sp>
      <p:sp>
        <p:nvSpPr>
          <p:cNvPr id="21" name="Shape 19"/>
          <p:cNvSpPr/>
          <p:nvPr/>
        </p:nvSpPr>
        <p:spPr>
          <a:xfrm>
            <a:off x="5943600" y="2916936"/>
            <a:ext cx="5745175" cy="1005840"/>
          </a:xfrm>
          <a:prstGeom prst="roundRect">
            <a:avLst>
              <a:gd name="adj" fmla="val 10909"/>
            </a:avLst>
          </a:prstGeom>
          <a:solidFill>
            <a:srgbClr val="FFFFFF"/>
          </a:solidFill>
          <a:ln w="9525">
            <a:solidFill>
              <a:srgbClr val="DCDDF5"/>
            </a:solidFill>
            <a:prstDash val="solid"/>
          </a:ln>
          <a:effectLst>
            <a:outerShdw blurRad="127000" dist="25400" dir="5400000" algn="bl" rotWithShape="0">
              <a:srgbClr val="4F46E5">
                <a:alpha val="12000"/>
              </a:srgbClr>
            </a:outerShdw>
          </a:effectLst>
        </p:spPr>
        <p:txBody>
          <a:bodyPr/>
          <a:lstStyle/>
          <a:p>
            <a:endParaRPr lang="en-PH"/>
          </a:p>
        </p:txBody>
      </p:sp>
      <p:sp>
        <p:nvSpPr>
          <p:cNvPr id="22" name="Shape 20"/>
          <p:cNvSpPr/>
          <p:nvPr/>
        </p:nvSpPr>
        <p:spPr>
          <a:xfrm>
            <a:off x="6144768" y="3191256"/>
            <a:ext cx="457200" cy="457200"/>
          </a:xfrm>
          <a:prstGeom prst="ellipse">
            <a:avLst/>
          </a:prstGeom>
          <a:solidFill>
            <a:srgbClr val="F1F1FE"/>
          </a:solidFill>
          <a:ln w="12700">
            <a:solidFill>
              <a:srgbClr val="F1F1FE"/>
            </a:solidFill>
            <a:prstDash val="solid"/>
          </a:ln>
        </p:spPr>
        <p:txBody>
          <a:bodyPr/>
          <a:lstStyle/>
          <a:p>
            <a:endParaRPr lang="en-PH"/>
          </a:p>
        </p:txBody>
      </p:sp>
      <p:sp>
        <p:nvSpPr>
          <p:cNvPr id="23" name="Text 21"/>
          <p:cNvSpPr txBox="1"/>
          <p:nvPr/>
        </p:nvSpPr>
        <p:spPr>
          <a:xfrm>
            <a:off x="6144768" y="3191256"/>
            <a:ext cx="457200" cy="457200"/>
          </a:xfrm>
          <a:prstGeom prst="rect">
            <a:avLst/>
          </a:prstGeom>
          <a:noFill/>
          <a:ln/>
        </p:spPr>
        <p:txBody>
          <a:bodyPr wrap="square" lIns="0" tIns="0" rIns="0" bIns="0" rtlCol="0" anchor="ctr"/>
          <a:lstStyle/>
          <a:p>
            <a:pPr marL="0" indent="0" algn="ctr">
              <a:buNone/>
            </a:pPr>
            <a:r>
              <a:rPr lang="en-US" sz="1500" b="1" dirty="0">
                <a:solidFill>
                  <a:srgbClr val="4F46E5"/>
                </a:solidFill>
                <a:latin typeface="Calibri" pitchFamily="34" charset="0"/>
                <a:ea typeface="Calibri" pitchFamily="34" charset="-122"/>
                <a:cs typeface="Calibri" pitchFamily="34" charset="-120"/>
              </a:rPr>
              <a:t>2</a:t>
            </a:r>
            <a:endParaRPr lang="en-US" sz="1500" dirty="0"/>
          </a:p>
        </p:txBody>
      </p:sp>
      <p:sp>
        <p:nvSpPr>
          <p:cNvPr id="24" name="Text 22"/>
          <p:cNvSpPr txBox="1"/>
          <p:nvPr/>
        </p:nvSpPr>
        <p:spPr>
          <a:xfrm>
            <a:off x="6766560" y="3044952"/>
            <a:ext cx="4739335" cy="365760"/>
          </a:xfrm>
          <a:prstGeom prst="rect">
            <a:avLst/>
          </a:prstGeom>
          <a:noFill/>
          <a:ln/>
        </p:spPr>
        <p:txBody>
          <a:bodyPr wrap="square" lIns="0" tIns="0" rIns="0" bIns="0" rtlCol="0" anchor="ctr"/>
          <a:lstStyle/>
          <a:p>
            <a:pPr marL="0" indent="0">
              <a:buNone/>
            </a:pPr>
            <a:r>
              <a:rPr lang="en-US" sz="1500" b="1" dirty="0">
                <a:solidFill>
                  <a:srgbClr val="1E1B4B"/>
                </a:solidFill>
                <a:latin typeface="Calibri" pitchFamily="34" charset="0"/>
                <a:ea typeface="Calibri" pitchFamily="34" charset="-122"/>
                <a:cs typeface="Calibri" pitchFamily="34" charset="-120"/>
              </a:rPr>
              <a:t>Entering text instead of a number</a:t>
            </a:r>
            <a:endParaRPr lang="en-US" sz="1500" dirty="0"/>
          </a:p>
        </p:txBody>
      </p:sp>
      <p:sp>
        <p:nvSpPr>
          <p:cNvPr id="25" name="Shape 23"/>
          <p:cNvSpPr/>
          <p:nvPr/>
        </p:nvSpPr>
        <p:spPr>
          <a:xfrm>
            <a:off x="6766560" y="3483864"/>
            <a:ext cx="987552" cy="274320"/>
          </a:xfrm>
          <a:prstGeom prst="roundRect">
            <a:avLst>
              <a:gd name="adj" fmla="val 50000"/>
            </a:avLst>
          </a:prstGeom>
          <a:solidFill>
            <a:srgbClr val="FDE8EC"/>
          </a:solidFill>
          <a:ln w="12700">
            <a:solidFill>
              <a:srgbClr val="FDE8EC"/>
            </a:solidFill>
            <a:prstDash val="solid"/>
          </a:ln>
        </p:spPr>
        <p:txBody>
          <a:bodyPr/>
          <a:lstStyle/>
          <a:p>
            <a:endParaRPr lang="en-PH"/>
          </a:p>
        </p:txBody>
      </p:sp>
      <p:sp>
        <p:nvSpPr>
          <p:cNvPr id="26" name="Text 24"/>
          <p:cNvSpPr txBox="1"/>
          <p:nvPr/>
        </p:nvSpPr>
        <p:spPr>
          <a:xfrm>
            <a:off x="6766560" y="3483864"/>
            <a:ext cx="987552" cy="274320"/>
          </a:xfrm>
          <a:prstGeom prst="rect">
            <a:avLst/>
          </a:prstGeom>
          <a:noFill/>
          <a:ln/>
        </p:spPr>
        <p:txBody>
          <a:bodyPr wrap="square" lIns="0" tIns="0" rIns="0" bIns="0" rtlCol="0" anchor="ctr"/>
          <a:lstStyle/>
          <a:p>
            <a:pPr marL="0" indent="0" algn="ctr">
              <a:buNone/>
            </a:pPr>
            <a:r>
              <a:rPr lang="en-US" sz="1000" dirty="0">
                <a:solidFill>
                  <a:srgbClr val="C0392B"/>
                </a:solidFill>
                <a:latin typeface="Courier New" pitchFamily="34" charset="0"/>
                <a:ea typeface="Courier New" pitchFamily="34" charset="-122"/>
                <a:cs typeface="Courier New" pitchFamily="34" charset="-120"/>
              </a:rPr>
              <a:t>ValueError</a:t>
            </a:r>
            <a:endParaRPr lang="en-US" sz="1000" dirty="0"/>
          </a:p>
        </p:txBody>
      </p:sp>
      <p:sp>
        <p:nvSpPr>
          <p:cNvPr id="27" name="Text 25"/>
          <p:cNvSpPr txBox="1"/>
          <p:nvPr/>
        </p:nvSpPr>
        <p:spPr>
          <a:xfrm>
            <a:off x="7845552" y="3483864"/>
            <a:ext cx="2560320" cy="274320"/>
          </a:xfrm>
          <a:prstGeom prst="rect">
            <a:avLst/>
          </a:prstGeom>
          <a:noFill/>
          <a:ln/>
        </p:spPr>
        <p:txBody>
          <a:bodyPr wrap="square" lIns="0" tIns="0" rIns="0" bIns="0" rtlCol="0" anchor="ctr"/>
          <a:lstStyle/>
          <a:p>
            <a:pPr marL="0" indent="0">
              <a:buNone/>
            </a:pPr>
            <a:r>
              <a:rPr lang="en-US" sz="1150" dirty="0">
                <a:solidFill>
                  <a:srgbClr val="5B5F7A"/>
                </a:solidFill>
                <a:latin typeface="Calibri" pitchFamily="34" charset="0"/>
                <a:ea typeface="Calibri" pitchFamily="34" charset="-122"/>
                <a:cs typeface="Calibri" pitchFamily="34" charset="-120"/>
              </a:rPr>
              <a:t>e.g.  </a:t>
            </a:r>
            <a:r>
              <a:rPr lang="en-US" sz="1150" dirty="0">
                <a:solidFill>
                  <a:srgbClr val="1E1B4B"/>
                </a:solidFill>
                <a:latin typeface="Courier New" pitchFamily="34" charset="0"/>
                <a:ea typeface="Courier New" pitchFamily="34" charset="-122"/>
                <a:cs typeface="Courier New" pitchFamily="34" charset="-120"/>
              </a:rPr>
              <a:t>int("hello")</a:t>
            </a:r>
            <a:endParaRPr lang="en-US" sz="1150" dirty="0"/>
          </a:p>
        </p:txBody>
      </p:sp>
      <p:sp>
        <p:nvSpPr>
          <p:cNvPr id="28" name="Shape 26"/>
          <p:cNvSpPr/>
          <p:nvPr/>
        </p:nvSpPr>
        <p:spPr>
          <a:xfrm>
            <a:off x="5943600" y="4078224"/>
            <a:ext cx="5745175" cy="1005840"/>
          </a:xfrm>
          <a:prstGeom prst="roundRect">
            <a:avLst>
              <a:gd name="adj" fmla="val 10909"/>
            </a:avLst>
          </a:prstGeom>
          <a:solidFill>
            <a:srgbClr val="FFFFFF"/>
          </a:solidFill>
          <a:ln w="9525">
            <a:solidFill>
              <a:srgbClr val="DCDDF5"/>
            </a:solidFill>
            <a:prstDash val="solid"/>
          </a:ln>
          <a:effectLst>
            <a:outerShdw blurRad="127000" dist="25400" dir="5400000" algn="bl" rotWithShape="0">
              <a:srgbClr val="4F46E5">
                <a:alpha val="12000"/>
              </a:srgbClr>
            </a:outerShdw>
          </a:effectLst>
        </p:spPr>
        <p:txBody>
          <a:bodyPr/>
          <a:lstStyle/>
          <a:p>
            <a:endParaRPr lang="en-PH"/>
          </a:p>
        </p:txBody>
      </p:sp>
      <p:sp>
        <p:nvSpPr>
          <p:cNvPr id="29" name="Shape 27"/>
          <p:cNvSpPr/>
          <p:nvPr/>
        </p:nvSpPr>
        <p:spPr>
          <a:xfrm>
            <a:off x="6144768" y="4352544"/>
            <a:ext cx="457200" cy="457200"/>
          </a:xfrm>
          <a:prstGeom prst="ellipse">
            <a:avLst/>
          </a:prstGeom>
          <a:solidFill>
            <a:srgbClr val="F1F1FE"/>
          </a:solidFill>
          <a:ln w="12700">
            <a:solidFill>
              <a:srgbClr val="F1F1FE"/>
            </a:solidFill>
            <a:prstDash val="solid"/>
          </a:ln>
        </p:spPr>
        <p:txBody>
          <a:bodyPr/>
          <a:lstStyle/>
          <a:p>
            <a:endParaRPr lang="en-PH"/>
          </a:p>
        </p:txBody>
      </p:sp>
      <p:sp>
        <p:nvSpPr>
          <p:cNvPr id="30" name="Text 28"/>
          <p:cNvSpPr txBox="1"/>
          <p:nvPr/>
        </p:nvSpPr>
        <p:spPr>
          <a:xfrm>
            <a:off x="6144768" y="4352544"/>
            <a:ext cx="457200" cy="457200"/>
          </a:xfrm>
          <a:prstGeom prst="rect">
            <a:avLst/>
          </a:prstGeom>
          <a:noFill/>
          <a:ln/>
        </p:spPr>
        <p:txBody>
          <a:bodyPr wrap="square" lIns="0" tIns="0" rIns="0" bIns="0" rtlCol="0" anchor="ctr"/>
          <a:lstStyle/>
          <a:p>
            <a:pPr marL="0" indent="0" algn="ctr">
              <a:buNone/>
            </a:pPr>
            <a:r>
              <a:rPr lang="en-US" sz="1500" b="1" dirty="0">
                <a:solidFill>
                  <a:srgbClr val="4F46E5"/>
                </a:solidFill>
                <a:latin typeface="Calibri" pitchFamily="34" charset="0"/>
                <a:ea typeface="Calibri" pitchFamily="34" charset="-122"/>
                <a:cs typeface="Calibri" pitchFamily="34" charset="-120"/>
              </a:rPr>
              <a:t>3</a:t>
            </a:r>
            <a:endParaRPr lang="en-US" sz="1500" dirty="0"/>
          </a:p>
        </p:txBody>
      </p:sp>
      <p:sp>
        <p:nvSpPr>
          <p:cNvPr id="31" name="Text 29"/>
          <p:cNvSpPr txBox="1"/>
          <p:nvPr/>
        </p:nvSpPr>
        <p:spPr>
          <a:xfrm>
            <a:off x="6766560" y="4206240"/>
            <a:ext cx="4739335" cy="365760"/>
          </a:xfrm>
          <a:prstGeom prst="rect">
            <a:avLst/>
          </a:prstGeom>
          <a:noFill/>
          <a:ln/>
        </p:spPr>
        <p:txBody>
          <a:bodyPr wrap="square" lIns="0" tIns="0" rIns="0" bIns="0" rtlCol="0" anchor="ctr"/>
          <a:lstStyle/>
          <a:p>
            <a:pPr marL="0" indent="0">
              <a:buNone/>
            </a:pPr>
            <a:r>
              <a:rPr lang="en-US" sz="1500" b="1" dirty="0">
                <a:solidFill>
                  <a:srgbClr val="1E1B4B"/>
                </a:solidFill>
                <a:latin typeface="Calibri" pitchFamily="34" charset="0"/>
                <a:ea typeface="Calibri" pitchFamily="34" charset="-122"/>
                <a:cs typeface="Calibri" pitchFamily="34" charset="-120"/>
              </a:rPr>
              <a:t>Accessing an invalid list index</a:t>
            </a:r>
            <a:endParaRPr lang="en-US" sz="1500" dirty="0"/>
          </a:p>
        </p:txBody>
      </p:sp>
      <p:sp>
        <p:nvSpPr>
          <p:cNvPr id="32" name="Shape 30"/>
          <p:cNvSpPr/>
          <p:nvPr/>
        </p:nvSpPr>
        <p:spPr>
          <a:xfrm>
            <a:off x="6766560" y="4645152"/>
            <a:ext cx="987552" cy="274320"/>
          </a:xfrm>
          <a:prstGeom prst="roundRect">
            <a:avLst>
              <a:gd name="adj" fmla="val 50000"/>
            </a:avLst>
          </a:prstGeom>
          <a:solidFill>
            <a:srgbClr val="FDE8EC"/>
          </a:solidFill>
          <a:ln w="12700">
            <a:solidFill>
              <a:srgbClr val="FDE8EC"/>
            </a:solidFill>
            <a:prstDash val="solid"/>
          </a:ln>
        </p:spPr>
        <p:txBody>
          <a:bodyPr/>
          <a:lstStyle/>
          <a:p>
            <a:endParaRPr lang="en-PH"/>
          </a:p>
        </p:txBody>
      </p:sp>
      <p:sp>
        <p:nvSpPr>
          <p:cNvPr id="33" name="Text 31"/>
          <p:cNvSpPr txBox="1"/>
          <p:nvPr/>
        </p:nvSpPr>
        <p:spPr>
          <a:xfrm>
            <a:off x="6766560" y="4645152"/>
            <a:ext cx="987552" cy="274320"/>
          </a:xfrm>
          <a:prstGeom prst="rect">
            <a:avLst/>
          </a:prstGeom>
          <a:noFill/>
          <a:ln/>
        </p:spPr>
        <p:txBody>
          <a:bodyPr wrap="square" lIns="0" tIns="0" rIns="0" bIns="0" rtlCol="0" anchor="ctr"/>
          <a:lstStyle/>
          <a:p>
            <a:pPr marL="0" indent="0" algn="ctr">
              <a:buNone/>
            </a:pPr>
            <a:r>
              <a:rPr lang="en-US" sz="1000" dirty="0">
                <a:solidFill>
                  <a:srgbClr val="C0392B"/>
                </a:solidFill>
                <a:latin typeface="Courier New" pitchFamily="34" charset="0"/>
                <a:ea typeface="Courier New" pitchFamily="34" charset="-122"/>
                <a:cs typeface="Courier New" pitchFamily="34" charset="-120"/>
              </a:rPr>
              <a:t>IndexError</a:t>
            </a:r>
            <a:endParaRPr lang="en-US" sz="1000" dirty="0"/>
          </a:p>
        </p:txBody>
      </p:sp>
      <p:sp>
        <p:nvSpPr>
          <p:cNvPr id="34" name="Text 32"/>
          <p:cNvSpPr txBox="1"/>
          <p:nvPr/>
        </p:nvSpPr>
        <p:spPr>
          <a:xfrm>
            <a:off x="7845552" y="4645152"/>
            <a:ext cx="2560320" cy="274320"/>
          </a:xfrm>
          <a:prstGeom prst="rect">
            <a:avLst/>
          </a:prstGeom>
          <a:noFill/>
          <a:ln/>
        </p:spPr>
        <p:txBody>
          <a:bodyPr wrap="square" lIns="0" tIns="0" rIns="0" bIns="0" rtlCol="0" anchor="ctr"/>
          <a:lstStyle/>
          <a:p>
            <a:pPr marL="0" indent="0">
              <a:buNone/>
            </a:pPr>
            <a:r>
              <a:rPr lang="en-US" sz="1150" dirty="0">
                <a:solidFill>
                  <a:srgbClr val="5B5F7A"/>
                </a:solidFill>
                <a:latin typeface="Calibri" pitchFamily="34" charset="0"/>
                <a:ea typeface="Calibri" pitchFamily="34" charset="-122"/>
                <a:cs typeface="Calibri" pitchFamily="34" charset="-120"/>
              </a:rPr>
              <a:t>e.g.  </a:t>
            </a:r>
            <a:r>
              <a:rPr lang="en-US" sz="1150" dirty="0">
                <a:solidFill>
                  <a:srgbClr val="1E1B4B"/>
                </a:solidFill>
                <a:latin typeface="Courier New" pitchFamily="34" charset="0"/>
                <a:ea typeface="Courier New" pitchFamily="34" charset="-122"/>
                <a:cs typeface="Courier New" pitchFamily="34" charset="-120"/>
              </a:rPr>
              <a:t>fruits[5]</a:t>
            </a:r>
            <a:endParaRPr lang="en-US" sz="1150" dirty="0"/>
          </a:p>
        </p:txBody>
      </p:sp>
      <p:sp>
        <p:nvSpPr>
          <p:cNvPr id="35" name="Shape 33"/>
          <p:cNvSpPr/>
          <p:nvPr/>
        </p:nvSpPr>
        <p:spPr>
          <a:xfrm>
            <a:off x="5943600" y="5239512"/>
            <a:ext cx="5745175" cy="1005840"/>
          </a:xfrm>
          <a:prstGeom prst="roundRect">
            <a:avLst>
              <a:gd name="adj" fmla="val 10909"/>
            </a:avLst>
          </a:prstGeom>
          <a:solidFill>
            <a:srgbClr val="FFFFFF"/>
          </a:solidFill>
          <a:ln w="9525">
            <a:solidFill>
              <a:srgbClr val="DCDDF5"/>
            </a:solidFill>
            <a:prstDash val="solid"/>
          </a:ln>
          <a:effectLst>
            <a:outerShdw blurRad="127000" dist="25400" dir="5400000" algn="bl" rotWithShape="0">
              <a:srgbClr val="4F46E5">
                <a:alpha val="12000"/>
              </a:srgbClr>
            </a:outerShdw>
          </a:effectLst>
        </p:spPr>
        <p:txBody>
          <a:bodyPr/>
          <a:lstStyle/>
          <a:p>
            <a:endParaRPr lang="en-PH"/>
          </a:p>
        </p:txBody>
      </p:sp>
      <p:sp>
        <p:nvSpPr>
          <p:cNvPr id="36" name="Shape 34"/>
          <p:cNvSpPr/>
          <p:nvPr/>
        </p:nvSpPr>
        <p:spPr>
          <a:xfrm>
            <a:off x="6144768" y="5513832"/>
            <a:ext cx="457200" cy="457200"/>
          </a:xfrm>
          <a:prstGeom prst="ellipse">
            <a:avLst/>
          </a:prstGeom>
          <a:solidFill>
            <a:srgbClr val="F1F1FE"/>
          </a:solidFill>
          <a:ln w="12700">
            <a:solidFill>
              <a:srgbClr val="F1F1FE"/>
            </a:solidFill>
            <a:prstDash val="solid"/>
          </a:ln>
        </p:spPr>
        <p:txBody>
          <a:bodyPr/>
          <a:lstStyle/>
          <a:p>
            <a:endParaRPr lang="en-PH"/>
          </a:p>
        </p:txBody>
      </p:sp>
      <p:sp>
        <p:nvSpPr>
          <p:cNvPr id="37" name="Text 35"/>
          <p:cNvSpPr txBox="1"/>
          <p:nvPr/>
        </p:nvSpPr>
        <p:spPr>
          <a:xfrm>
            <a:off x="6144768" y="5513832"/>
            <a:ext cx="457200" cy="457200"/>
          </a:xfrm>
          <a:prstGeom prst="rect">
            <a:avLst/>
          </a:prstGeom>
          <a:noFill/>
          <a:ln/>
        </p:spPr>
        <p:txBody>
          <a:bodyPr wrap="square" lIns="0" tIns="0" rIns="0" bIns="0" rtlCol="0" anchor="ctr"/>
          <a:lstStyle/>
          <a:p>
            <a:pPr marL="0" indent="0" algn="ctr">
              <a:buNone/>
            </a:pPr>
            <a:r>
              <a:rPr lang="en-US" sz="1500" b="1" dirty="0">
                <a:solidFill>
                  <a:srgbClr val="4F46E5"/>
                </a:solidFill>
                <a:latin typeface="Calibri" pitchFamily="34" charset="0"/>
                <a:ea typeface="Calibri" pitchFamily="34" charset="-122"/>
                <a:cs typeface="Calibri" pitchFamily="34" charset="-120"/>
              </a:rPr>
              <a:t>4</a:t>
            </a:r>
            <a:endParaRPr lang="en-US" sz="1500" dirty="0"/>
          </a:p>
        </p:txBody>
      </p:sp>
      <p:sp>
        <p:nvSpPr>
          <p:cNvPr id="38" name="Text 36"/>
          <p:cNvSpPr txBox="1"/>
          <p:nvPr/>
        </p:nvSpPr>
        <p:spPr>
          <a:xfrm>
            <a:off x="6766560" y="5367528"/>
            <a:ext cx="4739335" cy="365760"/>
          </a:xfrm>
          <a:prstGeom prst="rect">
            <a:avLst/>
          </a:prstGeom>
          <a:noFill/>
          <a:ln/>
        </p:spPr>
        <p:txBody>
          <a:bodyPr wrap="square" lIns="0" tIns="0" rIns="0" bIns="0" rtlCol="0" anchor="ctr"/>
          <a:lstStyle/>
          <a:p>
            <a:pPr marL="0" indent="0">
              <a:buNone/>
            </a:pPr>
            <a:r>
              <a:rPr lang="en-US" sz="1500" b="1" dirty="0">
                <a:solidFill>
                  <a:srgbClr val="1E1B4B"/>
                </a:solidFill>
                <a:latin typeface="Calibri" pitchFamily="34" charset="0"/>
                <a:ea typeface="Calibri" pitchFamily="34" charset="-122"/>
                <a:cs typeface="Calibri" pitchFamily="34" charset="-120"/>
              </a:rPr>
              <a:t>Using an undefined variable</a:t>
            </a:r>
            <a:endParaRPr lang="en-US" sz="1500" dirty="0"/>
          </a:p>
        </p:txBody>
      </p:sp>
      <p:sp>
        <p:nvSpPr>
          <p:cNvPr id="39" name="Shape 37"/>
          <p:cNvSpPr/>
          <p:nvPr/>
        </p:nvSpPr>
        <p:spPr>
          <a:xfrm>
            <a:off x="6766560" y="5806440"/>
            <a:ext cx="907085" cy="274320"/>
          </a:xfrm>
          <a:prstGeom prst="roundRect">
            <a:avLst>
              <a:gd name="adj" fmla="val 50000"/>
            </a:avLst>
          </a:prstGeom>
          <a:solidFill>
            <a:srgbClr val="FDE8EC"/>
          </a:solidFill>
          <a:ln w="12700">
            <a:solidFill>
              <a:srgbClr val="FDE8EC"/>
            </a:solidFill>
            <a:prstDash val="solid"/>
          </a:ln>
        </p:spPr>
        <p:txBody>
          <a:bodyPr/>
          <a:lstStyle/>
          <a:p>
            <a:endParaRPr lang="en-PH"/>
          </a:p>
        </p:txBody>
      </p:sp>
      <p:sp>
        <p:nvSpPr>
          <p:cNvPr id="40" name="Text 38"/>
          <p:cNvSpPr txBox="1"/>
          <p:nvPr/>
        </p:nvSpPr>
        <p:spPr>
          <a:xfrm>
            <a:off x="6766560" y="5806440"/>
            <a:ext cx="907085" cy="274320"/>
          </a:xfrm>
          <a:prstGeom prst="rect">
            <a:avLst/>
          </a:prstGeom>
          <a:noFill/>
          <a:ln/>
        </p:spPr>
        <p:txBody>
          <a:bodyPr wrap="square" lIns="0" tIns="0" rIns="0" bIns="0" rtlCol="0" anchor="ctr"/>
          <a:lstStyle/>
          <a:p>
            <a:pPr marL="0" indent="0" algn="ctr">
              <a:buNone/>
            </a:pPr>
            <a:r>
              <a:rPr lang="en-US" sz="1000" dirty="0">
                <a:solidFill>
                  <a:srgbClr val="C0392B"/>
                </a:solidFill>
                <a:latin typeface="Courier New" pitchFamily="34" charset="0"/>
                <a:ea typeface="Courier New" pitchFamily="34" charset="-122"/>
                <a:cs typeface="Courier New" pitchFamily="34" charset="-120"/>
              </a:rPr>
              <a:t>NameError</a:t>
            </a:r>
            <a:endParaRPr lang="en-US" sz="1000" dirty="0"/>
          </a:p>
        </p:txBody>
      </p:sp>
      <p:sp>
        <p:nvSpPr>
          <p:cNvPr id="41" name="Text 39"/>
          <p:cNvSpPr txBox="1"/>
          <p:nvPr/>
        </p:nvSpPr>
        <p:spPr>
          <a:xfrm>
            <a:off x="7765085" y="5806440"/>
            <a:ext cx="2560320" cy="274320"/>
          </a:xfrm>
          <a:prstGeom prst="rect">
            <a:avLst/>
          </a:prstGeom>
          <a:noFill/>
          <a:ln/>
        </p:spPr>
        <p:txBody>
          <a:bodyPr wrap="square" lIns="0" tIns="0" rIns="0" bIns="0" rtlCol="0" anchor="ctr"/>
          <a:lstStyle/>
          <a:p>
            <a:pPr marL="0" indent="0">
              <a:buNone/>
            </a:pPr>
            <a:r>
              <a:rPr lang="en-US" sz="1150" dirty="0">
                <a:solidFill>
                  <a:srgbClr val="5B5F7A"/>
                </a:solidFill>
                <a:latin typeface="Calibri" pitchFamily="34" charset="0"/>
                <a:ea typeface="Calibri" pitchFamily="34" charset="-122"/>
                <a:cs typeface="Calibri" pitchFamily="34" charset="-120"/>
              </a:rPr>
              <a:t>e.g.  </a:t>
            </a:r>
            <a:r>
              <a:rPr lang="en-US" sz="1150" dirty="0">
                <a:solidFill>
                  <a:srgbClr val="1E1B4B"/>
                </a:solidFill>
                <a:latin typeface="Courier New" pitchFamily="34" charset="0"/>
                <a:ea typeface="Courier New" pitchFamily="34" charset="-122"/>
                <a:cs typeface="Courier New" pitchFamily="34" charset="-120"/>
              </a:rPr>
              <a:t>print(total)</a:t>
            </a:r>
            <a:endParaRPr lang="en-US" sz="11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02920" y="310896"/>
            <a:ext cx="8229600" cy="237744"/>
          </a:xfrm>
          <a:prstGeom prst="rect">
            <a:avLst/>
          </a:prstGeom>
          <a:noFill/>
          <a:ln/>
        </p:spPr>
        <p:txBody>
          <a:bodyPr wrap="square" lIns="0" tIns="0" rIns="0" bIns="0" rtlCol="0" anchor="t"/>
          <a:lstStyle/>
          <a:p>
            <a:pPr marL="0" indent="0">
              <a:buNone/>
            </a:pPr>
            <a:r>
              <a:rPr lang="en-US" sz="1050" b="1" kern="0" spc="200" dirty="0">
                <a:solidFill>
                  <a:srgbClr val="C8559F"/>
                </a:solidFill>
                <a:latin typeface="Calibri" pitchFamily="34" charset="0"/>
                <a:ea typeface="Calibri" pitchFamily="34" charset="-122"/>
                <a:cs typeface="Calibri" pitchFamily="34" charset="-120"/>
              </a:rPr>
              <a:t>UNDERSTANDING EXCEPTIONS · COMMON EXCEPTIONS</a:t>
            </a:r>
            <a:endParaRPr lang="en-US" sz="1050" dirty="0"/>
          </a:p>
        </p:txBody>
      </p:sp>
      <p:sp>
        <p:nvSpPr>
          <p:cNvPr id="3" name="Text 1"/>
          <p:cNvSpPr txBox="1"/>
          <p:nvPr/>
        </p:nvSpPr>
        <p:spPr>
          <a:xfrm>
            <a:off x="502920" y="530352"/>
            <a:ext cx="10241280" cy="640080"/>
          </a:xfrm>
          <a:prstGeom prst="rect">
            <a:avLst/>
          </a:prstGeom>
          <a:noFill/>
          <a:ln/>
        </p:spPr>
        <p:txBody>
          <a:bodyPr wrap="square" lIns="0" tIns="0" rIns="0" bIns="0" rtlCol="0" anchor="ctr"/>
          <a:lstStyle/>
          <a:p>
            <a:pPr marL="0" indent="0">
              <a:buNone/>
            </a:pPr>
            <a:r>
              <a:rPr lang="en-US" sz="2800" b="1" dirty="0">
                <a:solidFill>
                  <a:srgbClr val="1E1B4B"/>
                </a:solidFill>
                <a:latin typeface="Calibri" pitchFamily="34" charset="0"/>
                <a:ea typeface="Calibri" pitchFamily="34" charset="-122"/>
                <a:cs typeface="Calibri" pitchFamily="34" charset="-120"/>
              </a:rPr>
              <a:t>Understanding Exceptions</a:t>
            </a:r>
            <a:endParaRPr lang="en-US" sz="2800" dirty="0"/>
          </a:p>
        </p:txBody>
      </p:sp>
      <p:sp>
        <p:nvSpPr>
          <p:cNvPr id="4" name="Text 2"/>
          <p:cNvSpPr txBox="1"/>
          <p:nvPr/>
        </p:nvSpPr>
        <p:spPr>
          <a:xfrm>
            <a:off x="502920" y="6446520"/>
            <a:ext cx="5486400" cy="228600"/>
          </a:xfrm>
          <a:prstGeom prst="rect">
            <a:avLst/>
          </a:prstGeom>
          <a:noFill/>
          <a:ln/>
        </p:spPr>
        <p:txBody>
          <a:bodyPr wrap="square" lIns="0" tIns="0" rIns="0" bIns="0" rtlCol="0" anchor="t"/>
          <a:lstStyle/>
          <a:p>
            <a:pPr marL="0" indent="0">
              <a:buNone/>
            </a:pPr>
            <a:r>
              <a:rPr lang="en-US" sz="900" dirty="0">
                <a:solidFill>
                  <a:srgbClr val="5B5F7A"/>
                </a:solidFill>
                <a:latin typeface="Calibri" pitchFamily="34" charset="0"/>
                <a:ea typeface="Calibri" pitchFamily="34" charset="-122"/>
                <a:cs typeface="Calibri" pitchFamily="34" charset="-120"/>
              </a:rPr>
              <a:t>Python  ·  Error Handling</a:t>
            </a:r>
            <a:endParaRPr lang="en-US" sz="900" dirty="0"/>
          </a:p>
        </p:txBody>
      </p:sp>
      <p:sp>
        <p:nvSpPr>
          <p:cNvPr id="5" name="Text 3"/>
          <p:cNvSpPr txBox="1"/>
          <p:nvPr/>
        </p:nvSpPr>
        <p:spPr>
          <a:xfrm>
            <a:off x="11140135" y="6446520"/>
            <a:ext cx="548640" cy="228600"/>
          </a:xfrm>
          <a:prstGeom prst="rect">
            <a:avLst/>
          </a:prstGeom>
          <a:noFill/>
          <a:ln/>
        </p:spPr>
        <p:txBody>
          <a:bodyPr wrap="square" lIns="0" tIns="0" rIns="0" bIns="0" rtlCol="0" anchor="t"/>
          <a:lstStyle/>
          <a:p>
            <a:pPr marL="0" indent="0" algn="r">
              <a:buNone/>
            </a:pPr>
            <a:r>
              <a:rPr lang="en-US" sz="900" dirty="0">
                <a:solidFill>
                  <a:srgbClr val="5B5F7A"/>
                </a:solidFill>
                <a:latin typeface="Calibri" pitchFamily="34" charset="0"/>
                <a:ea typeface="Calibri" pitchFamily="34" charset="-122"/>
                <a:cs typeface="Calibri" pitchFamily="34" charset="-120"/>
              </a:rPr>
              <a:t>6</a:t>
            </a:r>
            <a:endParaRPr lang="en-US" sz="9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02920" y="1417320"/>
          <a:ext cx="11183112" cy="3840480"/>
        </p:xfrm>
        <a:graphic>
          <a:graphicData uri="http://schemas.openxmlformats.org/drawingml/2006/table">
            <a:tbl>
              <a:tblPr/>
              <a:tblGrid>
                <a:gridCol w="2514600">
                  <a:extLst>
                    <a:ext uri="{9D8B030D-6E8A-4147-A177-3AD203B41FA5}">
                      <a16:colId xmlns:a16="http://schemas.microsoft.com/office/drawing/2014/main" val="20000"/>
                    </a:ext>
                  </a:extLst>
                </a:gridCol>
                <a:gridCol w="2240280">
                  <a:extLst>
                    <a:ext uri="{9D8B030D-6E8A-4147-A177-3AD203B41FA5}">
                      <a16:colId xmlns:a16="http://schemas.microsoft.com/office/drawing/2014/main" val="20001"/>
                    </a:ext>
                  </a:extLst>
                </a:gridCol>
                <a:gridCol w="2514600">
                  <a:extLst>
                    <a:ext uri="{9D8B030D-6E8A-4147-A177-3AD203B41FA5}">
                      <a16:colId xmlns:a16="http://schemas.microsoft.com/office/drawing/2014/main" val="20002"/>
                    </a:ext>
                  </a:extLst>
                </a:gridCol>
                <a:gridCol w="3913632">
                  <a:extLst>
                    <a:ext uri="{9D8B030D-6E8A-4147-A177-3AD203B41FA5}">
                      <a16:colId xmlns:a16="http://schemas.microsoft.com/office/drawing/2014/main" val="20003"/>
                    </a:ext>
                  </a:extLst>
                </a:gridCol>
              </a:tblGrid>
              <a:tr h="548640">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Exception</a:t>
                      </a:r>
                      <a:endParaRPr lang="en-US" sz="1250" dirty="0">
                        <a:latin typeface="Calibri" charset="0"/>
                        <a:ea typeface="Calibri" charset="0"/>
                        <a:cs typeface="Calibri" charset="0"/>
                      </a:endParaRPr>
                    </a:p>
                  </a:txBody>
                  <a:tcPr marL="128016" marR="128016" marT="0" marB="0" anchor="ctr">
                    <a:lnL w="9525" cap="flat" cmpd="sng" algn="ctr">
                      <a:solidFill>
                        <a:srgbClr val="DCDDF5"/>
                      </a:solidFill>
                      <a:prstDash val="solid"/>
                      <a:round/>
                      <a:headEnd type="none" w="med" len="med"/>
                      <a:tailEnd type="none" w="med" len="med"/>
                    </a:lnL>
                    <a:lnR w="9525" cap="flat" cmpd="sng" algn="ctr">
                      <a:solidFill>
                        <a:srgbClr val="DCDDF5"/>
                      </a:solidFill>
                      <a:prstDash val="solid"/>
                      <a:round/>
                      <a:headEnd type="none" w="med" len="med"/>
                      <a:tailEnd type="none" w="med" len="med"/>
                    </a:lnR>
                    <a:lnT w="9525" cap="flat" cmpd="sng" algn="ctr">
                      <a:solidFill>
                        <a:srgbClr val="DCDDF5"/>
                      </a:solidFill>
                      <a:prstDash val="solid"/>
                      <a:round/>
                      <a:headEnd type="none" w="med" len="med"/>
                      <a:tailEnd type="none" w="med" len="med"/>
                    </a:lnT>
                    <a:lnB w="9525" cap="flat" cmpd="sng" algn="ctr">
                      <a:solidFill>
                        <a:srgbClr val="DCDDF5"/>
                      </a:solidFill>
                      <a:prstDash val="solid"/>
                      <a:round/>
                      <a:headEnd type="none" w="med" len="med"/>
                      <a:tailEnd type="none" w="med" len="med"/>
                    </a:lnB>
                    <a:solidFill>
                      <a:srgbClr val="1E1B4B"/>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Description</a:t>
                      </a:r>
                      <a:endParaRPr lang="en-US" sz="1250" dirty="0">
                        <a:latin typeface="Calibri" charset="0"/>
                        <a:ea typeface="Calibri" charset="0"/>
                        <a:cs typeface="Calibri" charset="0"/>
                      </a:endParaRPr>
                    </a:p>
                  </a:txBody>
                  <a:tcPr marL="128016" marR="128016" marT="0" marB="0" anchor="ctr">
                    <a:lnL w="9525" cap="flat" cmpd="sng" algn="ctr">
                      <a:solidFill>
                        <a:srgbClr val="DCDDF5"/>
                      </a:solidFill>
                      <a:prstDash val="solid"/>
                      <a:round/>
                      <a:headEnd type="none" w="med" len="med"/>
                      <a:tailEnd type="none" w="med" len="med"/>
                    </a:lnL>
                    <a:lnR w="9525" cap="flat" cmpd="sng" algn="ctr">
                      <a:solidFill>
                        <a:srgbClr val="DCDDF5"/>
                      </a:solidFill>
                      <a:prstDash val="solid"/>
                      <a:round/>
                      <a:headEnd type="none" w="med" len="med"/>
                      <a:tailEnd type="none" w="med" len="med"/>
                    </a:lnR>
                    <a:lnT w="9525" cap="flat" cmpd="sng" algn="ctr">
                      <a:solidFill>
                        <a:srgbClr val="DCDDF5"/>
                      </a:solidFill>
                      <a:prstDash val="solid"/>
                      <a:round/>
                      <a:headEnd type="none" w="med" len="med"/>
                      <a:tailEnd type="none" w="med" len="med"/>
                    </a:lnT>
                    <a:lnB w="9525" cap="flat" cmpd="sng" algn="ctr">
                      <a:solidFill>
                        <a:srgbClr val="DCDDF5"/>
                      </a:solidFill>
                      <a:prstDash val="solid"/>
                      <a:round/>
                      <a:headEnd type="none" w="med" len="med"/>
                      <a:tailEnd type="none" w="med" len="med"/>
                    </a:lnB>
                    <a:solidFill>
                      <a:srgbClr val="1E1B4B"/>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Example that raises it</a:t>
                      </a:r>
                      <a:endParaRPr lang="en-US" sz="1250" dirty="0">
                        <a:latin typeface="Calibri" charset="0"/>
                        <a:ea typeface="Calibri" charset="0"/>
                        <a:cs typeface="Calibri" charset="0"/>
                      </a:endParaRPr>
                    </a:p>
                  </a:txBody>
                  <a:tcPr marL="128016" marR="128016" marT="0" marB="0" anchor="ctr">
                    <a:lnL w="9525" cap="flat" cmpd="sng" algn="ctr">
                      <a:solidFill>
                        <a:srgbClr val="DCDDF5"/>
                      </a:solidFill>
                      <a:prstDash val="solid"/>
                      <a:round/>
                      <a:headEnd type="none" w="med" len="med"/>
                      <a:tailEnd type="none" w="med" len="med"/>
                    </a:lnL>
                    <a:lnR w="9525" cap="flat" cmpd="sng" algn="ctr">
                      <a:solidFill>
                        <a:srgbClr val="DCDDF5"/>
                      </a:solidFill>
                      <a:prstDash val="solid"/>
                      <a:round/>
                      <a:headEnd type="none" w="med" len="med"/>
                      <a:tailEnd type="none" w="med" len="med"/>
                    </a:lnR>
                    <a:lnT w="9525" cap="flat" cmpd="sng" algn="ctr">
                      <a:solidFill>
                        <a:srgbClr val="DCDDF5"/>
                      </a:solidFill>
                      <a:prstDash val="solid"/>
                      <a:round/>
                      <a:headEnd type="none" w="med" len="med"/>
                      <a:tailEnd type="none" w="med" len="med"/>
                    </a:lnT>
                    <a:lnB w="9525" cap="flat" cmpd="sng" algn="ctr">
                      <a:solidFill>
                        <a:srgbClr val="DCDDF5"/>
                      </a:solidFill>
                      <a:prstDash val="solid"/>
                      <a:round/>
                      <a:headEnd type="none" w="med" len="med"/>
                      <a:tailEnd type="none" w="med" len="med"/>
                    </a:lnB>
                    <a:solidFill>
                      <a:srgbClr val="1E1B4B"/>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How to avoid or fix it</a:t>
                      </a:r>
                      <a:endParaRPr lang="en-US" sz="1250" dirty="0">
                        <a:latin typeface="Calibri" charset="0"/>
                        <a:ea typeface="Calibri" charset="0"/>
                        <a:cs typeface="Calibri" charset="0"/>
                      </a:endParaRPr>
                    </a:p>
                  </a:txBody>
                  <a:tcPr marL="128016" marR="128016" marT="0" marB="0" anchor="ctr">
                    <a:lnL w="9525" cap="flat" cmpd="sng" algn="ctr">
                      <a:solidFill>
                        <a:srgbClr val="DCDDF5"/>
                      </a:solidFill>
                      <a:prstDash val="solid"/>
                      <a:round/>
                      <a:headEnd type="none" w="med" len="med"/>
                      <a:tailEnd type="none" w="med" len="med"/>
                    </a:lnL>
                    <a:lnR w="9525" cap="flat" cmpd="sng" algn="ctr">
                      <a:solidFill>
                        <a:srgbClr val="DCDDF5"/>
                      </a:solidFill>
                      <a:prstDash val="solid"/>
                      <a:round/>
                      <a:headEnd type="none" w="med" len="med"/>
                      <a:tailEnd type="none" w="med" len="med"/>
                    </a:lnR>
                    <a:lnT w="9525" cap="flat" cmpd="sng" algn="ctr">
                      <a:solidFill>
                        <a:srgbClr val="DCDDF5"/>
                      </a:solidFill>
                      <a:prstDash val="solid"/>
                      <a:round/>
                      <a:headEnd type="none" w="med" len="med"/>
                      <a:tailEnd type="none" w="med" len="med"/>
                    </a:lnT>
                    <a:lnB w="9525" cap="flat" cmpd="sng" algn="ctr">
                      <a:solidFill>
                        <a:srgbClr val="DCDDF5"/>
                      </a:solidFill>
                      <a:prstDash val="solid"/>
                      <a:round/>
                      <a:headEnd type="none" w="med" len="med"/>
                      <a:tailEnd type="none" w="med" len="med"/>
                    </a:lnB>
                    <a:solidFill>
                      <a:srgbClr val="1E1B4B"/>
                    </a:solidFill>
                  </a:tcPr>
                </a:tc>
                <a:extLst>
                  <a:ext uri="{0D108BD9-81ED-4DB2-BD59-A6C34878D82A}">
                    <a16:rowId xmlns:a16="http://schemas.microsoft.com/office/drawing/2014/main" val="10000"/>
                  </a:ext>
                </a:extLst>
              </a:tr>
              <a:tr h="548640">
                <a:tc>
                  <a:txBody>
                    <a:bodyPr/>
                    <a:lstStyle/>
                    <a:p>
                      <a:pPr marL="0" indent="0">
                        <a:buNone/>
                      </a:pPr>
                      <a:r>
                        <a:rPr lang="en-US" sz="1150" b="1" dirty="0">
                          <a:solidFill>
                            <a:srgbClr val="C0392B"/>
                          </a:solidFill>
                          <a:latin typeface="Courier New" pitchFamily="34" charset="0"/>
                          <a:ea typeface="Courier New" pitchFamily="34" charset="-122"/>
                          <a:cs typeface="Courier New" pitchFamily="34" charset="-120"/>
                        </a:rPr>
                        <a:t>ZeroDivisionError</a:t>
                      </a:r>
                      <a:endParaRPr lang="en-US" sz="1150" dirty="0">
                        <a:latin typeface="Courier New" charset="0"/>
                        <a:ea typeface="Courier New" charset="0"/>
                        <a:cs typeface="Courier New" charset="0"/>
                      </a:endParaRPr>
                    </a:p>
                  </a:txBody>
                  <a:tcPr marL="128016" marR="128016" marT="0" marB="0" anchor="ctr">
                    <a:lnL w="9525" cap="flat" cmpd="sng" algn="ctr">
                      <a:solidFill>
                        <a:srgbClr val="DCDDF5"/>
                      </a:solidFill>
                      <a:prstDash val="solid"/>
                      <a:round/>
                      <a:headEnd type="none" w="med" len="med"/>
                      <a:tailEnd type="none" w="med" len="med"/>
                    </a:lnL>
                    <a:lnR w="9525" cap="flat" cmpd="sng" algn="ctr">
                      <a:solidFill>
                        <a:srgbClr val="DCDDF5"/>
                      </a:solidFill>
                      <a:prstDash val="solid"/>
                      <a:round/>
                      <a:headEnd type="none" w="med" len="med"/>
                      <a:tailEnd type="none" w="med" len="med"/>
                    </a:lnR>
                    <a:lnT w="9525" cap="flat" cmpd="sng" algn="ctr">
                      <a:solidFill>
                        <a:srgbClr val="DCDDF5"/>
                      </a:solidFill>
                      <a:prstDash val="solid"/>
                      <a:round/>
                      <a:headEnd type="none" w="med" len="med"/>
                      <a:tailEnd type="none" w="med" len="med"/>
                    </a:lnT>
                    <a:lnB w="9525" cap="flat" cmpd="sng" algn="ctr">
                      <a:solidFill>
                        <a:srgbClr val="DCDDF5"/>
                      </a:solidFill>
                      <a:prstDash val="solid"/>
                      <a:round/>
                      <a:headEnd type="none" w="med" len="med"/>
                      <a:tailEnd type="none" w="med" len="med"/>
                    </a:lnB>
                    <a:solidFill>
                      <a:srgbClr val="FFFFFF"/>
                    </a:solidFill>
                  </a:tcPr>
                </a:tc>
                <a:tc>
                  <a:txBody>
                    <a:bodyPr/>
                    <a:lstStyle/>
                    <a:p>
                      <a:pPr marL="0" indent="0">
                        <a:buNone/>
                      </a:pPr>
                      <a:r>
                        <a:rPr lang="en-US" sz="1250" dirty="0">
                          <a:solidFill>
                            <a:srgbClr val="1E1B4B"/>
                          </a:solidFill>
                          <a:latin typeface="Calibri" pitchFamily="34" charset="0"/>
                          <a:ea typeface="Calibri" pitchFamily="34" charset="-122"/>
                          <a:cs typeface="Calibri" pitchFamily="34" charset="-120"/>
                        </a:rPr>
                        <a:t>Dividing by zero</a:t>
                      </a:r>
                      <a:endParaRPr lang="en-US" sz="1250" dirty="0">
                        <a:latin typeface="Calibri" charset="0"/>
                        <a:ea typeface="Calibri" charset="0"/>
                        <a:cs typeface="Calibri" charset="0"/>
                      </a:endParaRPr>
                    </a:p>
                  </a:txBody>
                  <a:tcPr marL="128016" marR="128016" marT="0" marB="0" anchor="ctr">
                    <a:lnL w="9525" cap="flat" cmpd="sng" algn="ctr">
                      <a:solidFill>
                        <a:srgbClr val="DCDDF5"/>
                      </a:solidFill>
                      <a:prstDash val="solid"/>
                      <a:round/>
                      <a:headEnd type="none" w="med" len="med"/>
                      <a:tailEnd type="none" w="med" len="med"/>
                    </a:lnL>
                    <a:lnR w="9525" cap="flat" cmpd="sng" algn="ctr">
                      <a:solidFill>
                        <a:srgbClr val="DCDDF5"/>
                      </a:solidFill>
                      <a:prstDash val="solid"/>
                      <a:round/>
                      <a:headEnd type="none" w="med" len="med"/>
                      <a:tailEnd type="none" w="med" len="med"/>
                    </a:lnR>
                    <a:lnT w="9525" cap="flat" cmpd="sng" algn="ctr">
                      <a:solidFill>
                        <a:srgbClr val="DCDDF5"/>
                      </a:solidFill>
                      <a:prstDash val="solid"/>
                      <a:round/>
                      <a:headEnd type="none" w="med" len="med"/>
                      <a:tailEnd type="none" w="med" len="med"/>
                    </a:lnT>
                    <a:lnB w="9525" cap="flat" cmpd="sng" algn="ctr">
                      <a:solidFill>
                        <a:srgbClr val="DCDDF5"/>
                      </a:solidFill>
                      <a:prstDash val="solid"/>
                      <a:round/>
                      <a:headEnd type="none" w="med" len="med"/>
                      <a:tailEnd type="none" w="med" len="med"/>
                    </a:lnB>
                    <a:solidFill>
                      <a:srgbClr val="FFFFFF"/>
                    </a:solidFill>
                  </a:tcPr>
                </a:tc>
                <a:tc>
                  <a:txBody>
                    <a:bodyPr/>
                    <a:lstStyle/>
                    <a:p>
                      <a:pPr marL="0" indent="0">
                        <a:buNone/>
                      </a:pPr>
                      <a:r>
                        <a:rPr lang="en-US" sz="1150" dirty="0">
                          <a:solidFill>
                            <a:srgbClr val="1E1B4B"/>
                          </a:solidFill>
                          <a:latin typeface="Courier New" pitchFamily="34" charset="0"/>
                          <a:ea typeface="Courier New" pitchFamily="34" charset="-122"/>
                          <a:cs typeface="Courier New" pitchFamily="34" charset="-120"/>
                        </a:rPr>
                        <a:t>10 / 0</a:t>
                      </a:r>
                      <a:endParaRPr lang="en-US" sz="1150" dirty="0">
                        <a:latin typeface="Courier New" charset="0"/>
                        <a:ea typeface="Courier New" charset="0"/>
                        <a:cs typeface="Courier New" charset="0"/>
                      </a:endParaRPr>
                    </a:p>
                  </a:txBody>
                  <a:tcPr marL="128016" marR="128016" marT="0" marB="0" anchor="ctr">
                    <a:lnL w="9525" cap="flat" cmpd="sng" algn="ctr">
                      <a:solidFill>
                        <a:srgbClr val="DCDDF5"/>
                      </a:solidFill>
                      <a:prstDash val="solid"/>
                      <a:round/>
                      <a:headEnd type="none" w="med" len="med"/>
                      <a:tailEnd type="none" w="med" len="med"/>
                    </a:lnL>
                    <a:lnR w="9525" cap="flat" cmpd="sng" algn="ctr">
                      <a:solidFill>
                        <a:srgbClr val="DCDDF5"/>
                      </a:solidFill>
                      <a:prstDash val="solid"/>
                      <a:round/>
                      <a:headEnd type="none" w="med" len="med"/>
                      <a:tailEnd type="none" w="med" len="med"/>
                    </a:lnR>
                    <a:lnT w="9525" cap="flat" cmpd="sng" algn="ctr">
                      <a:solidFill>
                        <a:srgbClr val="DCDDF5"/>
                      </a:solidFill>
                      <a:prstDash val="solid"/>
                      <a:round/>
                      <a:headEnd type="none" w="med" len="med"/>
                      <a:tailEnd type="none" w="med" len="med"/>
                    </a:lnT>
                    <a:lnB w="9525" cap="flat" cmpd="sng" algn="ctr">
                      <a:solidFill>
                        <a:srgbClr val="DCDDF5"/>
                      </a:solidFill>
                      <a:prstDash val="solid"/>
                      <a:round/>
                      <a:headEnd type="none" w="med" len="med"/>
                      <a:tailEnd type="none" w="med" len="med"/>
                    </a:lnB>
                    <a:solidFill>
                      <a:srgbClr val="FFFFFF"/>
                    </a:solidFill>
                  </a:tcPr>
                </a:tc>
                <a:tc>
                  <a:txBody>
                    <a:bodyPr/>
                    <a:lstStyle/>
                    <a:p>
                      <a:pPr marL="0" indent="0">
                        <a:buNone/>
                      </a:pPr>
                      <a:r>
                        <a:rPr lang="en-US" sz="1250" dirty="0">
                          <a:solidFill>
                            <a:srgbClr val="1E1B4B"/>
                          </a:solidFill>
                          <a:latin typeface="Calibri" pitchFamily="34" charset="0"/>
                          <a:ea typeface="Calibri" pitchFamily="34" charset="-122"/>
                          <a:cs typeface="Calibri" pitchFamily="34" charset="-120"/>
                        </a:rPr>
                        <a:t>Check that the divisor is not 0 first</a:t>
                      </a:r>
                      <a:endParaRPr lang="en-US" sz="1250" dirty="0">
                        <a:latin typeface="Calibri" charset="0"/>
                        <a:ea typeface="Calibri" charset="0"/>
                        <a:cs typeface="Calibri" charset="0"/>
                      </a:endParaRPr>
                    </a:p>
                  </a:txBody>
                  <a:tcPr marL="128016" marR="128016" marT="0" marB="0" anchor="ctr">
                    <a:lnL w="9525" cap="flat" cmpd="sng" algn="ctr">
                      <a:solidFill>
                        <a:srgbClr val="DCDDF5"/>
                      </a:solidFill>
                      <a:prstDash val="solid"/>
                      <a:round/>
                      <a:headEnd type="none" w="med" len="med"/>
                      <a:tailEnd type="none" w="med" len="med"/>
                    </a:lnL>
                    <a:lnR w="9525" cap="flat" cmpd="sng" algn="ctr">
                      <a:solidFill>
                        <a:srgbClr val="DCDDF5"/>
                      </a:solidFill>
                      <a:prstDash val="solid"/>
                      <a:round/>
                      <a:headEnd type="none" w="med" len="med"/>
                      <a:tailEnd type="none" w="med" len="med"/>
                    </a:lnR>
                    <a:lnT w="9525" cap="flat" cmpd="sng" algn="ctr">
                      <a:solidFill>
                        <a:srgbClr val="DCDDF5"/>
                      </a:solidFill>
                      <a:prstDash val="solid"/>
                      <a:round/>
                      <a:headEnd type="none" w="med" len="med"/>
                      <a:tailEnd type="none" w="med" len="med"/>
                    </a:lnT>
                    <a:lnB w="9525" cap="flat" cmpd="sng" algn="ctr">
                      <a:solidFill>
                        <a:srgbClr val="DCDDF5"/>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48640">
                <a:tc>
                  <a:txBody>
                    <a:bodyPr/>
                    <a:lstStyle/>
                    <a:p>
                      <a:pPr marL="0" indent="0">
                        <a:buNone/>
                      </a:pPr>
                      <a:r>
                        <a:rPr lang="en-US" sz="1150" b="1" dirty="0">
                          <a:solidFill>
                            <a:srgbClr val="C0392B"/>
                          </a:solidFill>
                          <a:latin typeface="Courier New" pitchFamily="34" charset="0"/>
                          <a:ea typeface="Courier New" pitchFamily="34" charset="-122"/>
                          <a:cs typeface="Courier New" pitchFamily="34" charset="-120"/>
                        </a:rPr>
                        <a:t>ValueError</a:t>
                      </a:r>
                      <a:endParaRPr lang="en-US" sz="1150" dirty="0">
                        <a:latin typeface="Courier New" charset="0"/>
                        <a:ea typeface="Courier New" charset="0"/>
                        <a:cs typeface="Courier New" charset="0"/>
                      </a:endParaRPr>
                    </a:p>
                  </a:txBody>
                  <a:tcPr marL="128016" marR="128016" marT="0" marB="0" anchor="ctr">
                    <a:lnL w="9525" cap="flat" cmpd="sng" algn="ctr">
                      <a:solidFill>
                        <a:srgbClr val="DCDDF5"/>
                      </a:solidFill>
                      <a:prstDash val="solid"/>
                      <a:round/>
                      <a:headEnd type="none" w="med" len="med"/>
                      <a:tailEnd type="none" w="med" len="med"/>
                    </a:lnL>
                    <a:lnR w="9525" cap="flat" cmpd="sng" algn="ctr">
                      <a:solidFill>
                        <a:srgbClr val="DCDDF5"/>
                      </a:solidFill>
                      <a:prstDash val="solid"/>
                      <a:round/>
                      <a:headEnd type="none" w="med" len="med"/>
                      <a:tailEnd type="none" w="med" len="med"/>
                    </a:lnR>
                    <a:lnT w="9525" cap="flat" cmpd="sng" algn="ctr">
                      <a:solidFill>
                        <a:srgbClr val="DCDDF5"/>
                      </a:solidFill>
                      <a:prstDash val="solid"/>
                      <a:round/>
                      <a:headEnd type="none" w="med" len="med"/>
                      <a:tailEnd type="none" w="med" len="med"/>
                    </a:lnT>
                    <a:lnB w="9525" cap="flat" cmpd="sng" algn="ctr">
                      <a:solidFill>
                        <a:srgbClr val="DCDDF5"/>
                      </a:solidFill>
                      <a:prstDash val="solid"/>
                      <a:round/>
                      <a:headEnd type="none" w="med" len="med"/>
                      <a:tailEnd type="none" w="med" len="med"/>
                    </a:lnB>
                    <a:solidFill>
                      <a:srgbClr val="F6F6FF"/>
                    </a:solidFill>
                  </a:tcPr>
                </a:tc>
                <a:tc>
                  <a:txBody>
                    <a:bodyPr/>
                    <a:lstStyle/>
                    <a:p>
                      <a:pPr marL="0" indent="0">
                        <a:buNone/>
                      </a:pPr>
                      <a:r>
                        <a:rPr lang="en-US" sz="1250" dirty="0">
                          <a:solidFill>
                            <a:srgbClr val="1E1B4B"/>
                          </a:solidFill>
                          <a:latin typeface="Calibri" pitchFamily="34" charset="0"/>
                          <a:ea typeface="Calibri" pitchFamily="34" charset="-122"/>
                          <a:cs typeface="Calibri" pitchFamily="34" charset="-120"/>
                        </a:rPr>
                        <a:t>Invalid input</a:t>
                      </a:r>
                      <a:endParaRPr lang="en-US" sz="1250" dirty="0">
                        <a:latin typeface="Calibri" charset="0"/>
                        <a:ea typeface="Calibri" charset="0"/>
                        <a:cs typeface="Calibri" charset="0"/>
                      </a:endParaRPr>
                    </a:p>
                  </a:txBody>
                  <a:tcPr marL="128016" marR="128016" marT="0" marB="0" anchor="ctr">
                    <a:lnL w="9525" cap="flat" cmpd="sng" algn="ctr">
                      <a:solidFill>
                        <a:srgbClr val="DCDDF5"/>
                      </a:solidFill>
                      <a:prstDash val="solid"/>
                      <a:round/>
                      <a:headEnd type="none" w="med" len="med"/>
                      <a:tailEnd type="none" w="med" len="med"/>
                    </a:lnL>
                    <a:lnR w="9525" cap="flat" cmpd="sng" algn="ctr">
                      <a:solidFill>
                        <a:srgbClr val="DCDDF5"/>
                      </a:solidFill>
                      <a:prstDash val="solid"/>
                      <a:round/>
                      <a:headEnd type="none" w="med" len="med"/>
                      <a:tailEnd type="none" w="med" len="med"/>
                    </a:lnR>
                    <a:lnT w="9525" cap="flat" cmpd="sng" algn="ctr">
                      <a:solidFill>
                        <a:srgbClr val="DCDDF5"/>
                      </a:solidFill>
                      <a:prstDash val="solid"/>
                      <a:round/>
                      <a:headEnd type="none" w="med" len="med"/>
                      <a:tailEnd type="none" w="med" len="med"/>
                    </a:lnT>
                    <a:lnB w="9525" cap="flat" cmpd="sng" algn="ctr">
                      <a:solidFill>
                        <a:srgbClr val="DCDDF5"/>
                      </a:solidFill>
                      <a:prstDash val="solid"/>
                      <a:round/>
                      <a:headEnd type="none" w="med" len="med"/>
                      <a:tailEnd type="none" w="med" len="med"/>
                    </a:lnB>
                    <a:solidFill>
                      <a:srgbClr val="F6F6FF"/>
                    </a:solidFill>
                  </a:tcPr>
                </a:tc>
                <a:tc>
                  <a:txBody>
                    <a:bodyPr/>
                    <a:lstStyle/>
                    <a:p>
                      <a:pPr marL="0" indent="0">
                        <a:buNone/>
                      </a:pPr>
                      <a:r>
                        <a:rPr lang="en-US" sz="1150" dirty="0">
                          <a:solidFill>
                            <a:srgbClr val="1E1B4B"/>
                          </a:solidFill>
                          <a:latin typeface="Courier New" pitchFamily="34" charset="0"/>
                          <a:ea typeface="Courier New" pitchFamily="34" charset="-122"/>
                          <a:cs typeface="Courier New" pitchFamily="34" charset="-120"/>
                        </a:rPr>
                        <a:t>int("abc")</a:t>
                      </a:r>
                      <a:endParaRPr lang="en-US" sz="1150" dirty="0">
                        <a:latin typeface="Courier New" charset="0"/>
                        <a:ea typeface="Courier New" charset="0"/>
                        <a:cs typeface="Courier New" charset="0"/>
                      </a:endParaRPr>
                    </a:p>
                  </a:txBody>
                  <a:tcPr marL="128016" marR="128016" marT="0" marB="0" anchor="ctr">
                    <a:lnL w="9525" cap="flat" cmpd="sng" algn="ctr">
                      <a:solidFill>
                        <a:srgbClr val="DCDDF5"/>
                      </a:solidFill>
                      <a:prstDash val="solid"/>
                      <a:round/>
                      <a:headEnd type="none" w="med" len="med"/>
                      <a:tailEnd type="none" w="med" len="med"/>
                    </a:lnL>
                    <a:lnR w="9525" cap="flat" cmpd="sng" algn="ctr">
                      <a:solidFill>
                        <a:srgbClr val="DCDDF5"/>
                      </a:solidFill>
                      <a:prstDash val="solid"/>
                      <a:round/>
                      <a:headEnd type="none" w="med" len="med"/>
                      <a:tailEnd type="none" w="med" len="med"/>
                    </a:lnR>
                    <a:lnT w="9525" cap="flat" cmpd="sng" algn="ctr">
                      <a:solidFill>
                        <a:srgbClr val="DCDDF5"/>
                      </a:solidFill>
                      <a:prstDash val="solid"/>
                      <a:round/>
                      <a:headEnd type="none" w="med" len="med"/>
                      <a:tailEnd type="none" w="med" len="med"/>
                    </a:lnT>
                    <a:lnB w="9525" cap="flat" cmpd="sng" algn="ctr">
                      <a:solidFill>
                        <a:srgbClr val="DCDDF5"/>
                      </a:solidFill>
                      <a:prstDash val="solid"/>
                      <a:round/>
                      <a:headEnd type="none" w="med" len="med"/>
                      <a:tailEnd type="none" w="med" len="med"/>
                    </a:lnB>
                    <a:solidFill>
                      <a:srgbClr val="F6F6FF"/>
                    </a:solidFill>
                  </a:tcPr>
                </a:tc>
                <a:tc>
                  <a:txBody>
                    <a:bodyPr/>
                    <a:lstStyle/>
                    <a:p>
                      <a:pPr marL="0" indent="0">
                        <a:buNone/>
                      </a:pPr>
                      <a:r>
                        <a:rPr lang="en-US" sz="1250" dirty="0">
                          <a:solidFill>
                            <a:srgbClr val="1E1B4B"/>
                          </a:solidFill>
                          <a:latin typeface="Calibri" pitchFamily="34" charset="0"/>
                          <a:ea typeface="Calibri" pitchFamily="34" charset="-122"/>
                          <a:cs typeface="Calibri" pitchFamily="34" charset="-120"/>
                        </a:rPr>
                        <a:t>Validate input or catch it with try / except</a:t>
                      </a:r>
                      <a:endParaRPr lang="en-US" sz="1250" dirty="0">
                        <a:latin typeface="Calibri" charset="0"/>
                        <a:ea typeface="Calibri" charset="0"/>
                        <a:cs typeface="Calibri" charset="0"/>
                      </a:endParaRPr>
                    </a:p>
                  </a:txBody>
                  <a:tcPr marL="128016" marR="128016" marT="0" marB="0" anchor="ctr">
                    <a:lnL w="9525" cap="flat" cmpd="sng" algn="ctr">
                      <a:solidFill>
                        <a:srgbClr val="DCDDF5"/>
                      </a:solidFill>
                      <a:prstDash val="solid"/>
                      <a:round/>
                      <a:headEnd type="none" w="med" len="med"/>
                      <a:tailEnd type="none" w="med" len="med"/>
                    </a:lnL>
                    <a:lnR w="9525" cap="flat" cmpd="sng" algn="ctr">
                      <a:solidFill>
                        <a:srgbClr val="DCDDF5"/>
                      </a:solidFill>
                      <a:prstDash val="solid"/>
                      <a:round/>
                      <a:headEnd type="none" w="med" len="med"/>
                      <a:tailEnd type="none" w="med" len="med"/>
                    </a:lnR>
                    <a:lnT w="9525" cap="flat" cmpd="sng" algn="ctr">
                      <a:solidFill>
                        <a:srgbClr val="DCDDF5"/>
                      </a:solidFill>
                      <a:prstDash val="solid"/>
                      <a:round/>
                      <a:headEnd type="none" w="med" len="med"/>
                      <a:tailEnd type="none" w="med" len="med"/>
                    </a:lnT>
                    <a:lnB w="9525" cap="flat" cmpd="sng" algn="ctr">
                      <a:solidFill>
                        <a:srgbClr val="DCDDF5"/>
                      </a:solidFill>
                      <a:prstDash val="solid"/>
                      <a:round/>
                      <a:headEnd type="none" w="med" len="med"/>
                      <a:tailEnd type="none" w="med" len="med"/>
                    </a:lnB>
                    <a:solidFill>
                      <a:srgbClr val="F6F6FF"/>
                    </a:solidFill>
                  </a:tcPr>
                </a:tc>
                <a:extLst>
                  <a:ext uri="{0D108BD9-81ED-4DB2-BD59-A6C34878D82A}">
                    <a16:rowId xmlns:a16="http://schemas.microsoft.com/office/drawing/2014/main" val="10002"/>
                  </a:ext>
                </a:extLst>
              </a:tr>
              <a:tr h="548640">
                <a:tc>
                  <a:txBody>
                    <a:bodyPr/>
                    <a:lstStyle/>
                    <a:p>
                      <a:pPr marL="0" indent="0">
                        <a:buNone/>
                      </a:pPr>
                      <a:r>
                        <a:rPr lang="en-US" sz="1150" b="1" dirty="0">
                          <a:solidFill>
                            <a:srgbClr val="C0392B"/>
                          </a:solidFill>
                          <a:latin typeface="Courier New" pitchFamily="34" charset="0"/>
                          <a:ea typeface="Courier New" pitchFamily="34" charset="-122"/>
                          <a:cs typeface="Courier New" pitchFamily="34" charset="-120"/>
                        </a:rPr>
                        <a:t>TypeError</a:t>
                      </a:r>
                      <a:endParaRPr lang="en-US" sz="1150" dirty="0">
                        <a:latin typeface="Courier New" charset="0"/>
                        <a:ea typeface="Courier New" charset="0"/>
                        <a:cs typeface="Courier New" charset="0"/>
                      </a:endParaRPr>
                    </a:p>
                  </a:txBody>
                  <a:tcPr marL="128016" marR="128016" marT="0" marB="0" anchor="ctr">
                    <a:lnL w="9525" cap="flat" cmpd="sng" algn="ctr">
                      <a:solidFill>
                        <a:srgbClr val="DCDDF5"/>
                      </a:solidFill>
                      <a:prstDash val="solid"/>
                      <a:round/>
                      <a:headEnd type="none" w="med" len="med"/>
                      <a:tailEnd type="none" w="med" len="med"/>
                    </a:lnL>
                    <a:lnR w="9525" cap="flat" cmpd="sng" algn="ctr">
                      <a:solidFill>
                        <a:srgbClr val="DCDDF5"/>
                      </a:solidFill>
                      <a:prstDash val="solid"/>
                      <a:round/>
                      <a:headEnd type="none" w="med" len="med"/>
                      <a:tailEnd type="none" w="med" len="med"/>
                    </a:lnR>
                    <a:lnT w="9525" cap="flat" cmpd="sng" algn="ctr">
                      <a:solidFill>
                        <a:srgbClr val="DCDDF5"/>
                      </a:solidFill>
                      <a:prstDash val="solid"/>
                      <a:round/>
                      <a:headEnd type="none" w="med" len="med"/>
                      <a:tailEnd type="none" w="med" len="med"/>
                    </a:lnT>
                    <a:lnB w="9525" cap="flat" cmpd="sng" algn="ctr">
                      <a:solidFill>
                        <a:srgbClr val="DCDDF5"/>
                      </a:solidFill>
                      <a:prstDash val="solid"/>
                      <a:round/>
                      <a:headEnd type="none" w="med" len="med"/>
                      <a:tailEnd type="none" w="med" len="med"/>
                    </a:lnB>
                    <a:solidFill>
                      <a:srgbClr val="FFFFFF"/>
                    </a:solidFill>
                  </a:tcPr>
                </a:tc>
                <a:tc>
                  <a:txBody>
                    <a:bodyPr/>
                    <a:lstStyle/>
                    <a:p>
                      <a:pPr marL="0" indent="0">
                        <a:buNone/>
                      </a:pPr>
                      <a:r>
                        <a:rPr lang="en-US" sz="1250" dirty="0">
                          <a:solidFill>
                            <a:srgbClr val="1E1B4B"/>
                          </a:solidFill>
                          <a:latin typeface="Calibri" pitchFamily="34" charset="0"/>
                          <a:ea typeface="Calibri" pitchFamily="34" charset="-122"/>
                          <a:cs typeface="Calibri" pitchFamily="34" charset="-120"/>
                        </a:rPr>
                        <a:t>Wrong data type</a:t>
                      </a:r>
                      <a:endParaRPr lang="en-US" sz="1250" dirty="0">
                        <a:latin typeface="Calibri" charset="0"/>
                        <a:ea typeface="Calibri" charset="0"/>
                        <a:cs typeface="Calibri" charset="0"/>
                      </a:endParaRPr>
                    </a:p>
                  </a:txBody>
                  <a:tcPr marL="128016" marR="128016" marT="0" marB="0" anchor="ctr">
                    <a:lnL w="9525" cap="flat" cmpd="sng" algn="ctr">
                      <a:solidFill>
                        <a:srgbClr val="DCDDF5"/>
                      </a:solidFill>
                      <a:prstDash val="solid"/>
                      <a:round/>
                      <a:headEnd type="none" w="med" len="med"/>
                      <a:tailEnd type="none" w="med" len="med"/>
                    </a:lnL>
                    <a:lnR w="9525" cap="flat" cmpd="sng" algn="ctr">
                      <a:solidFill>
                        <a:srgbClr val="DCDDF5"/>
                      </a:solidFill>
                      <a:prstDash val="solid"/>
                      <a:round/>
                      <a:headEnd type="none" w="med" len="med"/>
                      <a:tailEnd type="none" w="med" len="med"/>
                    </a:lnR>
                    <a:lnT w="9525" cap="flat" cmpd="sng" algn="ctr">
                      <a:solidFill>
                        <a:srgbClr val="DCDDF5"/>
                      </a:solidFill>
                      <a:prstDash val="solid"/>
                      <a:round/>
                      <a:headEnd type="none" w="med" len="med"/>
                      <a:tailEnd type="none" w="med" len="med"/>
                    </a:lnT>
                    <a:lnB w="9525" cap="flat" cmpd="sng" algn="ctr">
                      <a:solidFill>
                        <a:srgbClr val="DCDDF5"/>
                      </a:solidFill>
                      <a:prstDash val="solid"/>
                      <a:round/>
                      <a:headEnd type="none" w="med" len="med"/>
                      <a:tailEnd type="none" w="med" len="med"/>
                    </a:lnB>
                    <a:solidFill>
                      <a:srgbClr val="FFFFFF"/>
                    </a:solidFill>
                  </a:tcPr>
                </a:tc>
                <a:tc>
                  <a:txBody>
                    <a:bodyPr/>
                    <a:lstStyle/>
                    <a:p>
                      <a:pPr marL="0" indent="0">
                        <a:buNone/>
                      </a:pPr>
                      <a:r>
                        <a:rPr lang="en-US" sz="1150" dirty="0">
                          <a:solidFill>
                            <a:srgbClr val="1E1B4B"/>
                          </a:solidFill>
                          <a:latin typeface="Courier New" pitchFamily="34" charset="0"/>
                          <a:ea typeface="Courier New" pitchFamily="34" charset="-122"/>
                          <a:cs typeface="Courier New" pitchFamily="34" charset="-120"/>
                        </a:rPr>
                        <a:t>"5" + 5</a:t>
                      </a:r>
                      <a:endParaRPr lang="en-US" sz="1150" dirty="0">
                        <a:latin typeface="Courier New" charset="0"/>
                        <a:ea typeface="Courier New" charset="0"/>
                        <a:cs typeface="Courier New" charset="0"/>
                      </a:endParaRPr>
                    </a:p>
                  </a:txBody>
                  <a:tcPr marL="128016" marR="128016" marT="0" marB="0" anchor="ctr">
                    <a:lnL w="9525" cap="flat" cmpd="sng" algn="ctr">
                      <a:solidFill>
                        <a:srgbClr val="DCDDF5"/>
                      </a:solidFill>
                      <a:prstDash val="solid"/>
                      <a:round/>
                      <a:headEnd type="none" w="med" len="med"/>
                      <a:tailEnd type="none" w="med" len="med"/>
                    </a:lnL>
                    <a:lnR w="9525" cap="flat" cmpd="sng" algn="ctr">
                      <a:solidFill>
                        <a:srgbClr val="DCDDF5"/>
                      </a:solidFill>
                      <a:prstDash val="solid"/>
                      <a:round/>
                      <a:headEnd type="none" w="med" len="med"/>
                      <a:tailEnd type="none" w="med" len="med"/>
                    </a:lnR>
                    <a:lnT w="9525" cap="flat" cmpd="sng" algn="ctr">
                      <a:solidFill>
                        <a:srgbClr val="DCDDF5"/>
                      </a:solidFill>
                      <a:prstDash val="solid"/>
                      <a:round/>
                      <a:headEnd type="none" w="med" len="med"/>
                      <a:tailEnd type="none" w="med" len="med"/>
                    </a:lnT>
                    <a:lnB w="9525" cap="flat" cmpd="sng" algn="ctr">
                      <a:solidFill>
                        <a:srgbClr val="DCDDF5"/>
                      </a:solidFill>
                      <a:prstDash val="solid"/>
                      <a:round/>
                      <a:headEnd type="none" w="med" len="med"/>
                      <a:tailEnd type="none" w="med" len="med"/>
                    </a:lnB>
                    <a:solidFill>
                      <a:srgbClr val="FFFFFF"/>
                    </a:solidFill>
                  </a:tcPr>
                </a:tc>
                <a:tc>
                  <a:txBody>
                    <a:bodyPr/>
                    <a:lstStyle/>
                    <a:p>
                      <a:pPr marL="0" indent="0">
                        <a:buNone/>
                      </a:pPr>
                      <a:r>
                        <a:rPr lang="en-US" sz="1250" dirty="0">
                          <a:solidFill>
                            <a:srgbClr val="1E1B4B"/>
                          </a:solidFill>
                          <a:latin typeface="Calibri" pitchFamily="34" charset="0"/>
                          <a:ea typeface="Calibri" pitchFamily="34" charset="-122"/>
                          <a:cs typeface="Calibri" pitchFamily="34" charset="-120"/>
                        </a:rPr>
                        <a:t>Convert types first: int("5") + 5</a:t>
                      </a:r>
                      <a:endParaRPr lang="en-US" sz="1250" dirty="0">
                        <a:latin typeface="Calibri" charset="0"/>
                        <a:ea typeface="Calibri" charset="0"/>
                        <a:cs typeface="Calibri" charset="0"/>
                      </a:endParaRPr>
                    </a:p>
                  </a:txBody>
                  <a:tcPr marL="128016" marR="128016" marT="0" marB="0" anchor="ctr">
                    <a:lnL w="9525" cap="flat" cmpd="sng" algn="ctr">
                      <a:solidFill>
                        <a:srgbClr val="DCDDF5"/>
                      </a:solidFill>
                      <a:prstDash val="solid"/>
                      <a:round/>
                      <a:headEnd type="none" w="med" len="med"/>
                      <a:tailEnd type="none" w="med" len="med"/>
                    </a:lnL>
                    <a:lnR w="9525" cap="flat" cmpd="sng" algn="ctr">
                      <a:solidFill>
                        <a:srgbClr val="DCDDF5"/>
                      </a:solidFill>
                      <a:prstDash val="solid"/>
                      <a:round/>
                      <a:headEnd type="none" w="med" len="med"/>
                      <a:tailEnd type="none" w="med" len="med"/>
                    </a:lnR>
                    <a:lnT w="9525" cap="flat" cmpd="sng" algn="ctr">
                      <a:solidFill>
                        <a:srgbClr val="DCDDF5"/>
                      </a:solidFill>
                      <a:prstDash val="solid"/>
                      <a:round/>
                      <a:headEnd type="none" w="med" len="med"/>
                      <a:tailEnd type="none" w="med" len="med"/>
                    </a:lnT>
                    <a:lnB w="9525" cap="flat" cmpd="sng" algn="ctr">
                      <a:solidFill>
                        <a:srgbClr val="DCDDF5"/>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48640">
                <a:tc>
                  <a:txBody>
                    <a:bodyPr/>
                    <a:lstStyle/>
                    <a:p>
                      <a:pPr marL="0" indent="0">
                        <a:buNone/>
                      </a:pPr>
                      <a:r>
                        <a:rPr lang="en-US" sz="1150" b="1" dirty="0">
                          <a:solidFill>
                            <a:srgbClr val="C0392B"/>
                          </a:solidFill>
                          <a:latin typeface="Courier New" pitchFamily="34" charset="0"/>
                          <a:ea typeface="Courier New" pitchFamily="34" charset="-122"/>
                          <a:cs typeface="Courier New" pitchFamily="34" charset="-120"/>
                        </a:rPr>
                        <a:t>IndexError</a:t>
                      </a:r>
                      <a:endParaRPr lang="en-US" sz="1150" dirty="0">
                        <a:latin typeface="Courier New" charset="0"/>
                        <a:ea typeface="Courier New" charset="0"/>
                        <a:cs typeface="Courier New" charset="0"/>
                      </a:endParaRPr>
                    </a:p>
                  </a:txBody>
                  <a:tcPr marL="128016" marR="128016" marT="0" marB="0" anchor="ctr">
                    <a:lnL w="9525" cap="flat" cmpd="sng" algn="ctr">
                      <a:solidFill>
                        <a:srgbClr val="DCDDF5"/>
                      </a:solidFill>
                      <a:prstDash val="solid"/>
                      <a:round/>
                      <a:headEnd type="none" w="med" len="med"/>
                      <a:tailEnd type="none" w="med" len="med"/>
                    </a:lnL>
                    <a:lnR w="9525" cap="flat" cmpd="sng" algn="ctr">
                      <a:solidFill>
                        <a:srgbClr val="DCDDF5"/>
                      </a:solidFill>
                      <a:prstDash val="solid"/>
                      <a:round/>
                      <a:headEnd type="none" w="med" len="med"/>
                      <a:tailEnd type="none" w="med" len="med"/>
                    </a:lnR>
                    <a:lnT w="9525" cap="flat" cmpd="sng" algn="ctr">
                      <a:solidFill>
                        <a:srgbClr val="DCDDF5"/>
                      </a:solidFill>
                      <a:prstDash val="solid"/>
                      <a:round/>
                      <a:headEnd type="none" w="med" len="med"/>
                      <a:tailEnd type="none" w="med" len="med"/>
                    </a:lnT>
                    <a:lnB w="9525" cap="flat" cmpd="sng" algn="ctr">
                      <a:solidFill>
                        <a:srgbClr val="DCDDF5"/>
                      </a:solidFill>
                      <a:prstDash val="solid"/>
                      <a:round/>
                      <a:headEnd type="none" w="med" len="med"/>
                      <a:tailEnd type="none" w="med" len="med"/>
                    </a:lnB>
                    <a:solidFill>
                      <a:srgbClr val="F6F6FF"/>
                    </a:solidFill>
                  </a:tcPr>
                </a:tc>
                <a:tc>
                  <a:txBody>
                    <a:bodyPr/>
                    <a:lstStyle/>
                    <a:p>
                      <a:pPr marL="0" indent="0">
                        <a:buNone/>
                      </a:pPr>
                      <a:r>
                        <a:rPr lang="en-US" sz="1250" dirty="0">
                          <a:solidFill>
                            <a:srgbClr val="1E1B4B"/>
                          </a:solidFill>
                          <a:latin typeface="Calibri" pitchFamily="34" charset="0"/>
                          <a:ea typeface="Calibri" pitchFamily="34" charset="-122"/>
                          <a:cs typeface="Calibri" pitchFamily="34" charset="-120"/>
                        </a:rPr>
                        <a:t>Invalid list index</a:t>
                      </a:r>
                      <a:endParaRPr lang="en-US" sz="1250" dirty="0">
                        <a:latin typeface="Calibri" charset="0"/>
                        <a:ea typeface="Calibri" charset="0"/>
                        <a:cs typeface="Calibri" charset="0"/>
                      </a:endParaRPr>
                    </a:p>
                  </a:txBody>
                  <a:tcPr marL="128016" marR="128016" marT="0" marB="0" anchor="ctr">
                    <a:lnL w="9525" cap="flat" cmpd="sng" algn="ctr">
                      <a:solidFill>
                        <a:srgbClr val="DCDDF5"/>
                      </a:solidFill>
                      <a:prstDash val="solid"/>
                      <a:round/>
                      <a:headEnd type="none" w="med" len="med"/>
                      <a:tailEnd type="none" w="med" len="med"/>
                    </a:lnL>
                    <a:lnR w="9525" cap="flat" cmpd="sng" algn="ctr">
                      <a:solidFill>
                        <a:srgbClr val="DCDDF5"/>
                      </a:solidFill>
                      <a:prstDash val="solid"/>
                      <a:round/>
                      <a:headEnd type="none" w="med" len="med"/>
                      <a:tailEnd type="none" w="med" len="med"/>
                    </a:lnR>
                    <a:lnT w="9525" cap="flat" cmpd="sng" algn="ctr">
                      <a:solidFill>
                        <a:srgbClr val="DCDDF5"/>
                      </a:solidFill>
                      <a:prstDash val="solid"/>
                      <a:round/>
                      <a:headEnd type="none" w="med" len="med"/>
                      <a:tailEnd type="none" w="med" len="med"/>
                    </a:lnT>
                    <a:lnB w="9525" cap="flat" cmpd="sng" algn="ctr">
                      <a:solidFill>
                        <a:srgbClr val="DCDDF5"/>
                      </a:solidFill>
                      <a:prstDash val="solid"/>
                      <a:round/>
                      <a:headEnd type="none" w="med" len="med"/>
                      <a:tailEnd type="none" w="med" len="med"/>
                    </a:lnB>
                    <a:solidFill>
                      <a:srgbClr val="F6F6FF"/>
                    </a:solidFill>
                  </a:tcPr>
                </a:tc>
                <a:tc>
                  <a:txBody>
                    <a:bodyPr/>
                    <a:lstStyle/>
                    <a:p>
                      <a:pPr marL="0" indent="0">
                        <a:buNone/>
                      </a:pPr>
                      <a:r>
                        <a:rPr lang="en-US" sz="1150" dirty="0">
                          <a:solidFill>
                            <a:srgbClr val="1E1B4B"/>
                          </a:solidFill>
                          <a:latin typeface="Courier New" pitchFamily="34" charset="0"/>
                          <a:ea typeface="Courier New" pitchFamily="34" charset="-122"/>
                          <a:cs typeface="Courier New" pitchFamily="34" charset="-120"/>
                        </a:rPr>
                        <a:t>[1, 2, 3][5]</a:t>
                      </a:r>
                      <a:endParaRPr lang="en-US" sz="1150" dirty="0">
                        <a:latin typeface="Courier New" charset="0"/>
                        <a:ea typeface="Courier New" charset="0"/>
                        <a:cs typeface="Courier New" charset="0"/>
                      </a:endParaRPr>
                    </a:p>
                  </a:txBody>
                  <a:tcPr marL="128016" marR="128016" marT="0" marB="0" anchor="ctr">
                    <a:lnL w="9525" cap="flat" cmpd="sng" algn="ctr">
                      <a:solidFill>
                        <a:srgbClr val="DCDDF5"/>
                      </a:solidFill>
                      <a:prstDash val="solid"/>
                      <a:round/>
                      <a:headEnd type="none" w="med" len="med"/>
                      <a:tailEnd type="none" w="med" len="med"/>
                    </a:lnL>
                    <a:lnR w="9525" cap="flat" cmpd="sng" algn="ctr">
                      <a:solidFill>
                        <a:srgbClr val="DCDDF5"/>
                      </a:solidFill>
                      <a:prstDash val="solid"/>
                      <a:round/>
                      <a:headEnd type="none" w="med" len="med"/>
                      <a:tailEnd type="none" w="med" len="med"/>
                    </a:lnR>
                    <a:lnT w="9525" cap="flat" cmpd="sng" algn="ctr">
                      <a:solidFill>
                        <a:srgbClr val="DCDDF5"/>
                      </a:solidFill>
                      <a:prstDash val="solid"/>
                      <a:round/>
                      <a:headEnd type="none" w="med" len="med"/>
                      <a:tailEnd type="none" w="med" len="med"/>
                    </a:lnT>
                    <a:lnB w="9525" cap="flat" cmpd="sng" algn="ctr">
                      <a:solidFill>
                        <a:srgbClr val="DCDDF5"/>
                      </a:solidFill>
                      <a:prstDash val="solid"/>
                      <a:round/>
                      <a:headEnd type="none" w="med" len="med"/>
                      <a:tailEnd type="none" w="med" len="med"/>
                    </a:lnB>
                    <a:solidFill>
                      <a:srgbClr val="F6F6FF"/>
                    </a:solidFill>
                  </a:tcPr>
                </a:tc>
                <a:tc>
                  <a:txBody>
                    <a:bodyPr/>
                    <a:lstStyle/>
                    <a:p>
                      <a:pPr marL="0" indent="0">
                        <a:buNone/>
                      </a:pPr>
                      <a:r>
                        <a:rPr lang="en-US" sz="1250" dirty="0">
                          <a:solidFill>
                            <a:srgbClr val="1E1B4B"/>
                          </a:solidFill>
                          <a:latin typeface="Calibri" pitchFamily="34" charset="0"/>
                          <a:ea typeface="Calibri" pitchFamily="34" charset="-122"/>
                          <a:cs typeface="Calibri" pitchFamily="34" charset="-120"/>
                        </a:rPr>
                        <a:t>Check len() before using an index</a:t>
                      </a:r>
                      <a:endParaRPr lang="en-US" sz="1250" dirty="0">
                        <a:latin typeface="Calibri" charset="0"/>
                        <a:ea typeface="Calibri" charset="0"/>
                        <a:cs typeface="Calibri" charset="0"/>
                      </a:endParaRPr>
                    </a:p>
                  </a:txBody>
                  <a:tcPr marL="128016" marR="128016" marT="0" marB="0" anchor="ctr">
                    <a:lnL w="9525" cap="flat" cmpd="sng" algn="ctr">
                      <a:solidFill>
                        <a:srgbClr val="DCDDF5"/>
                      </a:solidFill>
                      <a:prstDash val="solid"/>
                      <a:round/>
                      <a:headEnd type="none" w="med" len="med"/>
                      <a:tailEnd type="none" w="med" len="med"/>
                    </a:lnL>
                    <a:lnR w="9525" cap="flat" cmpd="sng" algn="ctr">
                      <a:solidFill>
                        <a:srgbClr val="DCDDF5"/>
                      </a:solidFill>
                      <a:prstDash val="solid"/>
                      <a:round/>
                      <a:headEnd type="none" w="med" len="med"/>
                      <a:tailEnd type="none" w="med" len="med"/>
                    </a:lnR>
                    <a:lnT w="9525" cap="flat" cmpd="sng" algn="ctr">
                      <a:solidFill>
                        <a:srgbClr val="DCDDF5"/>
                      </a:solidFill>
                      <a:prstDash val="solid"/>
                      <a:round/>
                      <a:headEnd type="none" w="med" len="med"/>
                      <a:tailEnd type="none" w="med" len="med"/>
                    </a:lnT>
                    <a:lnB w="9525" cap="flat" cmpd="sng" algn="ctr">
                      <a:solidFill>
                        <a:srgbClr val="DCDDF5"/>
                      </a:solidFill>
                      <a:prstDash val="solid"/>
                      <a:round/>
                      <a:headEnd type="none" w="med" len="med"/>
                      <a:tailEnd type="none" w="med" len="med"/>
                    </a:lnB>
                    <a:solidFill>
                      <a:srgbClr val="F6F6FF"/>
                    </a:solidFill>
                  </a:tcPr>
                </a:tc>
                <a:extLst>
                  <a:ext uri="{0D108BD9-81ED-4DB2-BD59-A6C34878D82A}">
                    <a16:rowId xmlns:a16="http://schemas.microsoft.com/office/drawing/2014/main" val="10004"/>
                  </a:ext>
                </a:extLst>
              </a:tr>
              <a:tr h="548640">
                <a:tc>
                  <a:txBody>
                    <a:bodyPr/>
                    <a:lstStyle/>
                    <a:p>
                      <a:pPr marL="0" indent="0">
                        <a:buNone/>
                      </a:pPr>
                      <a:r>
                        <a:rPr lang="en-US" sz="1150" b="1" dirty="0">
                          <a:solidFill>
                            <a:srgbClr val="C0392B"/>
                          </a:solidFill>
                          <a:latin typeface="Courier New" pitchFamily="34" charset="0"/>
                          <a:ea typeface="Courier New" pitchFamily="34" charset="-122"/>
                          <a:cs typeface="Courier New" pitchFamily="34" charset="-120"/>
                        </a:rPr>
                        <a:t>NameError</a:t>
                      </a:r>
                      <a:endParaRPr lang="en-US" sz="1150" dirty="0">
                        <a:latin typeface="Courier New" charset="0"/>
                        <a:ea typeface="Courier New" charset="0"/>
                        <a:cs typeface="Courier New" charset="0"/>
                      </a:endParaRPr>
                    </a:p>
                  </a:txBody>
                  <a:tcPr marL="128016" marR="128016" marT="0" marB="0" anchor="ctr">
                    <a:lnL w="9525" cap="flat" cmpd="sng" algn="ctr">
                      <a:solidFill>
                        <a:srgbClr val="DCDDF5"/>
                      </a:solidFill>
                      <a:prstDash val="solid"/>
                      <a:round/>
                      <a:headEnd type="none" w="med" len="med"/>
                      <a:tailEnd type="none" w="med" len="med"/>
                    </a:lnL>
                    <a:lnR w="9525" cap="flat" cmpd="sng" algn="ctr">
                      <a:solidFill>
                        <a:srgbClr val="DCDDF5"/>
                      </a:solidFill>
                      <a:prstDash val="solid"/>
                      <a:round/>
                      <a:headEnd type="none" w="med" len="med"/>
                      <a:tailEnd type="none" w="med" len="med"/>
                    </a:lnR>
                    <a:lnT w="9525" cap="flat" cmpd="sng" algn="ctr">
                      <a:solidFill>
                        <a:srgbClr val="DCDDF5"/>
                      </a:solidFill>
                      <a:prstDash val="solid"/>
                      <a:round/>
                      <a:headEnd type="none" w="med" len="med"/>
                      <a:tailEnd type="none" w="med" len="med"/>
                    </a:lnT>
                    <a:lnB w="9525" cap="flat" cmpd="sng" algn="ctr">
                      <a:solidFill>
                        <a:srgbClr val="DCDDF5"/>
                      </a:solidFill>
                      <a:prstDash val="solid"/>
                      <a:round/>
                      <a:headEnd type="none" w="med" len="med"/>
                      <a:tailEnd type="none" w="med" len="med"/>
                    </a:lnB>
                    <a:solidFill>
                      <a:srgbClr val="FFFFFF"/>
                    </a:solidFill>
                  </a:tcPr>
                </a:tc>
                <a:tc>
                  <a:txBody>
                    <a:bodyPr/>
                    <a:lstStyle/>
                    <a:p>
                      <a:pPr marL="0" indent="0">
                        <a:buNone/>
                      </a:pPr>
                      <a:r>
                        <a:rPr lang="en-US" sz="1250" dirty="0">
                          <a:solidFill>
                            <a:srgbClr val="1E1B4B"/>
                          </a:solidFill>
                          <a:latin typeface="Calibri" pitchFamily="34" charset="0"/>
                          <a:ea typeface="Calibri" pitchFamily="34" charset="-122"/>
                          <a:cs typeface="Calibri" pitchFamily="34" charset="-120"/>
                        </a:rPr>
                        <a:t>Variable not defined</a:t>
                      </a:r>
                      <a:endParaRPr lang="en-US" sz="1250" dirty="0">
                        <a:latin typeface="Calibri" charset="0"/>
                        <a:ea typeface="Calibri" charset="0"/>
                        <a:cs typeface="Calibri" charset="0"/>
                      </a:endParaRPr>
                    </a:p>
                  </a:txBody>
                  <a:tcPr marL="128016" marR="128016" marT="0" marB="0" anchor="ctr">
                    <a:lnL w="9525" cap="flat" cmpd="sng" algn="ctr">
                      <a:solidFill>
                        <a:srgbClr val="DCDDF5"/>
                      </a:solidFill>
                      <a:prstDash val="solid"/>
                      <a:round/>
                      <a:headEnd type="none" w="med" len="med"/>
                      <a:tailEnd type="none" w="med" len="med"/>
                    </a:lnL>
                    <a:lnR w="9525" cap="flat" cmpd="sng" algn="ctr">
                      <a:solidFill>
                        <a:srgbClr val="DCDDF5"/>
                      </a:solidFill>
                      <a:prstDash val="solid"/>
                      <a:round/>
                      <a:headEnd type="none" w="med" len="med"/>
                      <a:tailEnd type="none" w="med" len="med"/>
                    </a:lnR>
                    <a:lnT w="9525" cap="flat" cmpd="sng" algn="ctr">
                      <a:solidFill>
                        <a:srgbClr val="DCDDF5"/>
                      </a:solidFill>
                      <a:prstDash val="solid"/>
                      <a:round/>
                      <a:headEnd type="none" w="med" len="med"/>
                      <a:tailEnd type="none" w="med" len="med"/>
                    </a:lnT>
                    <a:lnB w="9525" cap="flat" cmpd="sng" algn="ctr">
                      <a:solidFill>
                        <a:srgbClr val="DCDDF5"/>
                      </a:solidFill>
                      <a:prstDash val="solid"/>
                      <a:round/>
                      <a:headEnd type="none" w="med" len="med"/>
                      <a:tailEnd type="none" w="med" len="med"/>
                    </a:lnB>
                    <a:solidFill>
                      <a:srgbClr val="FFFFFF"/>
                    </a:solidFill>
                  </a:tcPr>
                </a:tc>
                <a:tc>
                  <a:txBody>
                    <a:bodyPr/>
                    <a:lstStyle/>
                    <a:p>
                      <a:pPr marL="0" indent="0">
                        <a:buNone/>
                      </a:pPr>
                      <a:r>
                        <a:rPr lang="en-US" sz="1150" dirty="0">
                          <a:solidFill>
                            <a:srgbClr val="1E1B4B"/>
                          </a:solidFill>
                          <a:latin typeface="Courier New" pitchFamily="34" charset="0"/>
                          <a:ea typeface="Courier New" pitchFamily="34" charset="-122"/>
                          <a:cs typeface="Courier New" pitchFamily="34" charset="-120"/>
                        </a:rPr>
                        <a:t>print(total)</a:t>
                      </a:r>
                      <a:endParaRPr lang="en-US" sz="1150" dirty="0">
                        <a:latin typeface="Courier New" charset="0"/>
                        <a:ea typeface="Courier New" charset="0"/>
                        <a:cs typeface="Courier New" charset="0"/>
                      </a:endParaRPr>
                    </a:p>
                  </a:txBody>
                  <a:tcPr marL="128016" marR="128016" marT="0" marB="0" anchor="ctr">
                    <a:lnL w="9525" cap="flat" cmpd="sng" algn="ctr">
                      <a:solidFill>
                        <a:srgbClr val="DCDDF5"/>
                      </a:solidFill>
                      <a:prstDash val="solid"/>
                      <a:round/>
                      <a:headEnd type="none" w="med" len="med"/>
                      <a:tailEnd type="none" w="med" len="med"/>
                    </a:lnL>
                    <a:lnR w="9525" cap="flat" cmpd="sng" algn="ctr">
                      <a:solidFill>
                        <a:srgbClr val="DCDDF5"/>
                      </a:solidFill>
                      <a:prstDash val="solid"/>
                      <a:round/>
                      <a:headEnd type="none" w="med" len="med"/>
                      <a:tailEnd type="none" w="med" len="med"/>
                    </a:lnR>
                    <a:lnT w="9525" cap="flat" cmpd="sng" algn="ctr">
                      <a:solidFill>
                        <a:srgbClr val="DCDDF5"/>
                      </a:solidFill>
                      <a:prstDash val="solid"/>
                      <a:round/>
                      <a:headEnd type="none" w="med" len="med"/>
                      <a:tailEnd type="none" w="med" len="med"/>
                    </a:lnT>
                    <a:lnB w="9525" cap="flat" cmpd="sng" algn="ctr">
                      <a:solidFill>
                        <a:srgbClr val="DCDDF5"/>
                      </a:solidFill>
                      <a:prstDash val="solid"/>
                      <a:round/>
                      <a:headEnd type="none" w="med" len="med"/>
                      <a:tailEnd type="none" w="med" len="med"/>
                    </a:lnB>
                    <a:solidFill>
                      <a:srgbClr val="FFFFFF"/>
                    </a:solidFill>
                  </a:tcPr>
                </a:tc>
                <a:tc>
                  <a:txBody>
                    <a:bodyPr/>
                    <a:lstStyle/>
                    <a:p>
                      <a:pPr marL="0" indent="0">
                        <a:buNone/>
                      </a:pPr>
                      <a:r>
                        <a:rPr lang="en-US" sz="1250" dirty="0">
                          <a:solidFill>
                            <a:srgbClr val="1E1B4B"/>
                          </a:solidFill>
                          <a:latin typeface="Calibri" pitchFamily="34" charset="0"/>
                          <a:ea typeface="Calibri" pitchFamily="34" charset="-122"/>
                          <a:cs typeface="Calibri" pitchFamily="34" charset="-120"/>
                        </a:rPr>
                        <a:t>Define (and spell) the variable before use</a:t>
                      </a:r>
                      <a:endParaRPr lang="en-US" sz="1250" dirty="0">
                        <a:latin typeface="Calibri" charset="0"/>
                        <a:ea typeface="Calibri" charset="0"/>
                        <a:cs typeface="Calibri" charset="0"/>
                      </a:endParaRPr>
                    </a:p>
                  </a:txBody>
                  <a:tcPr marL="128016" marR="128016" marT="0" marB="0" anchor="ctr">
                    <a:lnL w="9525" cap="flat" cmpd="sng" algn="ctr">
                      <a:solidFill>
                        <a:srgbClr val="DCDDF5"/>
                      </a:solidFill>
                      <a:prstDash val="solid"/>
                      <a:round/>
                      <a:headEnd type="none" w="med" len="med"/>
                      <a:tailEnd type="none" w="med" len="med"/>
                    </a:lnL>
                    <a:lnR w="9525" cap="flat" cmpd="sng" algn="ctr">
                      <a:solidFill>
                        <a:srgbClr val="DCDDF5"/>
                      </a:solidFill>
                      <a:prstDash val="solid"/>
                      <a:round/>
                      <a:headEnd type="none" w="med" len="med"/>
                      <a:tailEnd type="none" w="med" len="med"/>
                    </a:lnR>
                    <a:lnT w="9525" cap="flat" cmpd="sng" algn="ctr">
                      <a:solidFill>
                        <a:srgbClr val="DCDDF5"/>
                      </a:solidFill>
                      <a:prstDash val="solid"/>
                      <a:round/>
                      <a:headEnd type="none" w="med" len="med"/>
                      <a:tailEnd type="none" w="med" len="med"/>
                    </a:lnT>
                    <a:lnB w="9525" cap="flat" cmpd="sng" algn="ctr">
                      <a:solidFill>
                        <a:srgbClr val="DCDDF5"/>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548640">
                <a:tc>
                  <a:txBody>
                    <a:bodyPr/>
                    <a:lstStyle/>
                    <a:p>
                      <a:pPr marL="0" indent="0">
                        <a:buNone/>
                      </a:pPr>
                      <a:r>
                        <a:rPr lang="en-US" sz="1150" b="1" dirty="0">
                          <a:solidFill>
                            <a:srgbClr val="C0392B"/>
                          </a:solidFill>
                          <a:latin typeface="Courier New" pitchFamily="34" charset="0"/>
                          <a:ea typeface="Courier New" pitchFamily="34" charset="-122"/>
                          <a:cs typeface="Courier New" pitchFamily="34" charset="-120"/>
                        </a:rPr>
                        <a:t>FileNotFoundError</a:t>
                      </a:r>
                      <a:endParaRPr lang="en-US" sz="1150" dirty="0">
                        <a:latin typeface="Courier New" charset="0"/>
                        <a:ea typeface="Courier New" charset="0"/>
                        <a:cs typeface="Courier New" charset="0"/>
                      </a:endParaRPr>
                    </a:p>
                  </a:txBody>
                  <a:tcPr marL="128016" marR="128016" marT="0" marB="0" anchor="ctr">
                    <a:lnL w="9525" cap="flat" cmpd="sng" algn="ctr">
                      <a:solidFill>
                        <a:srgbClr val="DCDDF5"/>
                      </a:solidFill>
                      <a:prstDash val="solid"/>
                      <a:round/>
                      <a:headEnd type="none" w="med" len="med"/>
                      <a:tailEnd type="none" w="med" len="med"/>
                    </a:lnL>
                    <a:lnR w="9525" cap="flat" cmpd="sng" algn="ctr">
                      <a:solidFill>
                        <a:srgbClr val="DCDDF5"/>
                      </a:solidFill>
                      <a:prstDash val="solid"/>
                      <a:round/>
                      <a:headEnd type="none" w="med" len="med"/>
                      <a:tailEnd type="none" w="med" len="med"/>
                    </a:lnR>
                    <a:lnT w="9525" cap="flat" cmpd="sng" algn="ctr">
                      <a:solidFill>
                        <a:srgbClr val="DCDDF5"/>
                      </a:solidFill>
                      <a:prstDash val="solid"/>
                      <a:round/>
                      <a:headEnd type="none" w="med" len="med"/>
                      <a:tailEnd type="none" w="med" len="med"/>
                    </a:lnT>
                    <a:lnB w="9525" cap="flat" cmpd="sng" algn="ctr">
                      <a:solidFill>
                        <a:srgbClr val="DCDDF5"/>
                      </a:solidFill>
                      <a:prstDash val="solid"/>
                      <a:round/>
                      <a:headEnd type="none" w="med" len="med"/>
                      <a:tailEnd type="none" w="med" len="med"/>
                    </a:lnB>
                    <a:solidFill>
                      <a:srgbClr val="F6F6FF"/>
                    </a:solidFill>
                  </a:tcPr>
                </a:tc>
                <a:tc>
                  <a:txBody>
                    <a:bodyPr/>
                    <a:lstStyle/>
                    <a:p>
                      <a:pPr marL="0" indent="0">
                        <a:buNone/>
                      </a:pPr>
                      <a:r>
                        <a:rPr lang="en-US" sz="1250" dirty="0">
                          <a:solidFill>
                            <a:srgbClr val="1E1B4B"/>
                          </a:solidFill>
                          <a:latin typeface="Calibri" pitchFamily="34" charset="0"/>
                          <a:ea typeface="Calibri" pitchFamily="34" charset="-122"/>
                          <a:cs typeface="Calibri" pitchFamily="34" charset="-120"/>
                        </a:rPr>
                        <a:t>File does not exist</a:t>
                      </a:r>
                      <a:endParaRPr lang="en-US" sz="1250" dirty="0">
                        <a:latin typeface="Calibri" charset="0"/>
                        <a:ea typeface="Calibri" charset="0"/>
                        <a:cs typeface="Calibri" charset="0"/>
                      </a:endParaRPr>
                    </a:p>
                  </a:txBody>
                  <a:tcPr marL="128016" marR="128016" marT="0" marB="0" anchor="ctr">
                    <a:lnL w="9525" cap="flat" cmpd="sng" algn="ctr">
                      <a:solidFill>
                        <a:srgbClr val="DCDDF5"/>
                      </a:solidFill>
                      <a:prstDash val="solid"/>
                      <a:round/>
                      <a:headEnd type="none" w="med" len="med"/>
                      <a:tailEnd type="none" w="med" len="med"/>
                    </a:lnL>
                    <a:lnR w="9525" cap="flat" cmpd="sng" algn="ctr">
                      <a:solidFill>
                        <a:srgbClr val="DCDDF5"/>
                      </a:solidFill>
                      <a:prstDash val="solid"/>
                      <a:round/>
                      <a:headEnd type="none" w="med" len="med"/>
                      <a:tailEnd type="none" w="med" len="med"/>
                    </a:lnR>
                    <a:lnT w="9525" cap="flat" cmpd="sng" algn="ctr">
                      <a:solidFill>
                        <a:srgbClr val="DCDDF5"/>
                      </a:solidFill>
                      <a:prstDash val="solid"/>
                      <a:round/>
                      <a:headEnd type="none" w="med" len="med"/>
                      <a:tailEnd type="none" w="med" len="med"/>
                    </a:lnT>
                    <a:lnB w="9525" cap="flat" cmpd="sng" algn="ctr">
                      <a:solidFill>
                        <a:srgbClr val="DCDDF5"/>
                      </a:solidFill>
                      <a:prstDash val="solid"/>
                      <a:round/>
                      <a:headEnd type="none" w="med" len="med"/>
                      <a:tailEnd type="none" w="med" len="med"/>
                    </a:lnB>
                    <a:solidFill>
                      <a:srgbClr val="F6F6FF"/>
                    </a:solidFill>
                  </a:tcPr>
                </a:tc>
                <a:tc>
                  <a:txBody>
                    <a:bodyPr/>
                    <a:lstStyle/>
                    <a:p>
                      <a:pPr marL="0" indent="0">
                        <a:buNone/>
                      </a:pPr>
                      <a:r>
                        <a:rPr lang="en-US" sz="1150" dirty="0">
                          <a:solidFill>
                            <a:srgbClr val="1E1B4B"/>
                          </a:solidFill>
                          <a:latin typeface="Courier New" pitchFamily="34" charset="0"/>
                          <a:ea typeface="Courier New" pitchFamily="34" charset="-122"/>
                          <a:cs typeface="Courier New" pitchFamily="34" charset="-120"/>
                        </a:rPr>
                        <a:t>open("data.txt")</a:t>
                      </a:r>
                      <a:endParaRPr lang="en-US" sz="1150" dirty="0">
                        <a:latin typeface="Courier New" charset="0"/>
                        <a:ea typeface="Courier New" charset="0"/>
                        <a:cs typeface="Courier New" charset="0"/>
                      </a:endParaRPr>
                    </a:p>
                  </a:txBody>
                  <a:tcPr marL="128016" marR="128016" marT="0" marB="0" anchor="ctr">
                    <a:lnL w="9525" cap="flat" cmpd="sng" algn="ctr">
                      <a:solidFill>
                        <a:srgbClr val="DCDDF5"/>
                      </a:solidFill>
                      <a:prstDash val="solid"/>
                      <a:round/>
                      <a:headEnd type="none" w="med" len="med"/>
                      <a:tailEnd type="none" w="med" len="med"/>
                    </a:lnL>
                    <a:lnR w="9525" cap="flat" cmpd="sng" algn="ctr">
                      <a:solidFill>
                        <a:srgbClr val="DCDDF5"/>
                      </a:solidFill>
                      <a:prstDash val="solid"/>
                      <a:round/>
                      <a:headEnd type="none" w="med" len="med"/>
                      <a:tailEnd type="none" w="med" len="med"/>
                    </a:lnR>
                    <a:lnT w="9525" cap="flat" cmpd="sng" algn="ctr">
                      <a:solidFill>
                        <a:srgbClr val="DCDDF5"/>
                      </a:solidFill>
                      <a:prstDash val="solid"/>
                      <a:round/>
                      <a:headEnd type="none" w="med" len="med"/>
                      <a:tailEnd type="none" w="med" len="med"/>
                    </a:lnT>
                    <a:lnB w="9525" cap="flat" cmpd="sng" algn="ctr">
                      <a:solidFill>
                        <a:srgbClr val="DCDDF5"/>
                      </a:solidFill>
                      <a:prstDash val="solid"/>
                      <a:round/>
                      <a:headEnd type="none" w="med" len="med"/>
                      <a:tailEnd type="none" w="med" len="med"/>
                    </a:lnB>
                    <a:solidFill>
                      <a:srgbClr val="F6F6FF"/>
                    </a:solidFill>
                  </a:tcPr>
                </a:tc>
                <a:tc>
                  <a:txBody>
                    <a:bodyPr/>
                    <a:lstStyle/>
                    <a:p>
                      <a:pPr marL="0" indent="0">
                        <a:buNone/>
                      </a:pPr>
                      <a:r>
                        <a:rPr lang="en-US" sz="1250" dirty="0">
                          <a:solidFill>
                            <a:srgbClr val="1E1B4B"/>
                          </a:solidFill>
                          <a:latin typeface="Calibri" pitchFamily="34" charset="0"/>
                          <a:ea typeface="Calibri" pitchFamily="34" charset="-122"/>
                          <a:cs typeface="Calibri" pitchFamily="34" charset="-120"/>
                        </a:rPr>
                        <a:t>Check the file path or catch the error</a:t>
                      </a:r>
                      <a:endParaRPr lang="en-US" sz="1250" dirty="0">
                        <a:latin typeface="Calibri" charset="0"/>
                        <a:ea typeface="Calibri" charset="0"/>
                        <a:cs typeface="Calibri" charset="0"/>
                      </a:endParaRPr>
                    </a:p>
                  </a:txBody>
                  <a:tcPr marL="128016" marR="128016" marT="0" marB="0" anchor="ctr">
                    <a:lnL w="9525" cap="flat" cmpd="sng" algn="ctr">
                      <a:solidFill>
                        <a:srgbClr val="DCDDF5"/>
                      </a:solidFill>
                      <a:prstDash val="solid"/>
                      <a:round/>
                      <a:headEnd type="none" w="med" len="med"/>
                      <a:tailEnd type="none" w="med" len="med"/>
                    </a:lnL>
                    <a:lnR w="9525" cap="flat" cmpd="sng" algn="ctr">
                      <a:solidFill>
                        <a:srgbClr val="DCDDF5"/>
                      </a:solidFill>
                      <a:prstDash val="solid"/>
                      <a:round/>
                      <a:headEnd type="none" w="med" len="med"/>
                      <a:tailEnd type="none" w="med" len="med"/>
                    </a:lnR>
                    <a:lnT w="9525" cap="flat" cmpd="sng" algn="ctr">
                      <a:solidFill>
                        <a:srgbClr val="DCDDF5"/>
                      </a:solidFill>
                      <a:prstDash val="solid"/>
                      <a:round/>
                      <a:headEnd type="none" w="med" len="med"/>
                      <a:tailEnd type="none" w="med" len="med"/>
                    </a:lnT>
                    <a:lnB w="9525" cap="flat" cmpd="sng" algn="ctr">
                      <a:solidFill>
                        <a:srgbClr val="DCDDF5"/>
                      </a:solidFill>
                      <a:prstDash val="solid"/>
                      <a:round/>
                      <a:headEnd type="none" w="med" len="med"/>
                      <a:tailEnd type="none" w="med" len="med"/>
                    </a:lnB>
                    <a:solidFill>
                      <a:srgbClr val="F6F6FF"/>
                    </a:solidFill>
                  </a:tcPr>
                </a:tc>
                <a:extLst>
                  <a:ext uri="{0D108BD9-81ED-4DB2-BD59-A6C34878D82A}">
                    <a16:rowId xmlns:a16="http://schemas.microsoft.com/office/drawing/2014/main" val="10006"/>
                  </a:ext>
                </a:extLst>
              </a:tr>
            </a:tbl>
          </a:graphicData>
        </a:graphic>
      </p:graphicFrame>
      <p:sp>
        <p:nvSpPr>
          <p:cNvPr id="6" name="Shape 4"/>
          <p:cNvSpPr/>
          <p:nvPr/>
        </p:nvSpPr>
        <p:spPr>
          <a:xfrm>
            <a:off x="502920" y="5486400"/>
            <a:ext cx="11185855" cy="731520"/>
          </a:xfrm>
          <a:prstGeom prst="roundRect">
            <a:avLst>
              <a:gd name="adj" fmla="val 15000"/>
            </a:avLst>
          </a:prstGeom>
          <a:solidFill>
            <a:srgbClr val="F1F1FE"/>
          </a:solidFill>
          <a:ln w="9525">
            <a:solidFill>
              <a:srgbClr val="DCDDF5"/>
            </a:solidFill>
            <a:prstDash val="solid"/>
          </a:ln>
        </p:spPr>
        <p:txBody>
          <a:bodyPr/>
          <a:lstStyle/>
          <a:p>
            <a:endParaRPr lang="en-PH"/>
          </a:p>
        </p:txBody>
      </p:sp>
      <p:sp>
        <p:nvSpPr>
          <p:cNvPr id="8" name="Shape 5"/>
          <p:cNvSpPr/>
          <p:nvPr/>
        </p:nvSpPr>
        <p:spPr>
          <a:xfrm>
            <a:off x="704088" y="5669280"/>
            <a:ext cx="365760" cy="365760"/>
          </a:xfrm>
          <a:prstGeom prst="ellipse">
            <a:avLst/>
          </a:prstGeom>
          <a:solidFill>
            <a:srgbClr val="4F46E5"/>
          </a:solidFill>
          <a:ln w="12700">
            <a:solidFill>
              <a:srgbClr val="4F46E5"/>
            </a:solidFill>
            <a:prstDash val="solid"/>
          </a:ln>
        </p:spPr>
        <p:txBody>
          <a:bodyPr/>
          <a:lstStyle/>
          <a:p>
            <a:endParaRPr lang="en-PH"/>
          </a:p>
        </p:txBody>
      </p:sp>
      <p:sp>
        <p:nvSpPr>
          <p:cNvPr id="9" name="Text 6"/>
          <p:cNvSpPr txBox="1"/>
          <p:nvPr/>
        </p:nvSpPr>
        <p:spPr>
          <a:xfrm>
            <a:off x="704088" y="5669280"/>
            <a:ext cx="36576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i</a:t>
            </a:r>
            <a:endParaRPr lang="en-US" sz="1400" dirty="0"/>
          </a:p>
        </p:txBody>
      </p:sp>
      <p:sp>
        <p:nvSpPr>
          <p:cNvPr id="10" name="Text 7"/>
          <p:cNvSpPr txBox="1"/>
          <p:nvPr/>
        </p:nvSpPr>
        <p:spPr>
          <a:xfrm>
            <a:off x="1234440" y="5559552"/>
            <a:ext cx="10271455" cy="585216"/>
          </a:xfrm>
          <a:prstGeom prst="rect">
            <a:avLst/>
          </a:prstGeom>
          <a:noFill/>
          <a:ln/>
        </p:spPr>
        <p:txBody>
          <a:bodyPr wrap="square" lIns="0" tIns="0" rIns="0" bIns="0" rtlCol="0" anchor="ctr"/>
          <a:lstStyle/>
          <a:p>
            <a:pPr marL="0" indent="0">
              <a:buNone/>
            </a:pPr>
            <a:r>
              <a:rPr lang="en-US" sz="1250" dirty="0">
                <a:solidFill>
                  <a:srgbClr val="1E1B4B"/>
                </a:solidFill>
                <a:latin typeface="Calibri" pitchFamily="34" charset="0"/>
                <a:ea typeface="Calibri" pitchFamily="34" charset="-122"/>
                <a:cs typeface="Calibri" pitchFamily="34" charset="-120"/>
              </a:rPr>
              <a:t>All of these are built on Python's base </a:t>
            </a:r>
            <a:r>
              <a:rPr lang="en-US" sz="1250" dirty="0">
                <a:solidFill>
                  <a:srgbClr val="4F46E5"/>
                </a:solidFill>
                <a:latin typeface="Courier New" pitchFamily="34" charset="0"/>
                <a:ea typeface="Courier New" pitchFamily="34" charset="-122"/>
                <a:cs typeface="Courier New" pitchFamily="34" charset="-120"/>
              </a:rPr>
              <a:t>Exception</a:t>
            </a:r>
            <a:r>
              <a:rPr lang="en-US" sz="1250" dirty="0">
                <a:solidFill>
                  <a:srgbClr val="1E1B4B"/>
                </a:solidFill>
                <a:latin typeface="Calibri" pitchFamily="34" charset="0"/>
                <a:ea typeface="Calibri" pitchFamily="34" charset="-122"/>
                <a:cs typeface="Calibri" pitchFamily="34" charset="-120"/>
              </a:rPr>
              <a:t> class, so </a:t>
            </a:r>
            <a:r>
              <a:rPr lang="en-US" sz="1250" dirty="0">
                <a:solidFill>
                  <a:srgbClr val="4F46E5"/>
                </a:solidFill>
                <a:latin typeface="Courier New" pitchFamily="34" charset="0"/>
                <a:ea typeface="Courier New" pitchFamily="34" charset="-122"/>
                <a:cs typeface="Courier New" pitchFamily="34" charset="-120"/>
              </a:rPr>
              <a:t>except Exception:</a:t>
            </a:r>
            <a:r>
              <a:rPr lang="en-US" sz="1250" dirty="0">
                <a:solidFill>
                  <a:srgbClr val="1E1B4B"/>
                </a:solidFill>
                <a:latin typeface="Calibri" pitchFamily="34" charset="0"/>
                <a:ea typeface="Calibri" pitchFamily="34" charset="-122"/>
                <a:cs typeface="Calibri" pitchFamily="34" charset="-120"/>
              </a:rPr>
              <a:t> would catch any of them — but naming the specific type (for example </a:t>
            </a:r>
            <a:r>
              <a:rPr lang="en-US" sz="1250" dirty="0">
                <a:solidFill>
                  <a:srgbClr val="4F46E5"/>
                </a:solidFill>
                <a:latin typeface="Courier New" pitchFamily="34" charset="0"/>
                <a:ea typeface="Courier New" pitchFamily="34" charset="-122"/>
                <a:cs typeface="Courier New" pitchFamily="34" charset="-120"/>
              </a:rPr>
              <a:t>except ValueError:</a:t>
            </a:r>
            <a:r>
              <a:rPr lang="en-US" sz="1250" dirty="0">
                <a:solidFill>
                  <a:srgbClr val="1E1B4B"/>
                </a:solidFill>
                <a:latin typeface="Calibri" pitchFamily="34" charset="0"/>
                <a:ea typeface="Calibri" pitchFamily="34" charset="-122"/>
                <a:cs typeface="Calibri" pitchFamily="34" charset="-120"/>
              </a:rPr>
              <a:t>) makes your code clearer and safer.</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02920" y="310896"/>
            <a:ext cx="8229600" cy="237744"/>
          </a:xfrm>
          <a:prstGeom prst="rect">
            <a:avLst/>
          </a:prstGeom>
          <a:noFill/>
          <a:ln/>
        </p:spPr>
        <p:txBody>
          <a:bodyPr wrap="square" lIns="0" tIns="0" rIns="0" bIns="0" rtlCol="0" anchor="t"/>
          <a:lstStyle/>
          <a:p>
            <a:pPr marL="0" indent="0">
              <a:buNone/>
            </a:pPr>
            <a:r>
              <a:rPr lang="en-US" sz="1050" b="1" kern="0" spc="200" dirty="0">
                <a:solidFill>
                  <a:srgbClr val="C8559F"/>
                </a:solidFill>
                <a:latin typeface="Calibri" pitchFamily="34" charset="0"/>
                <a:ea typeface="Calibri" pitchFamily="34" charset="-122"/>
                <a:cs typeface="Calibri" pitchFamily="34" charset="-120"/>
              </a:rPr>
              <a:t>UNDERSTANDING EXCEPTIONS · EXAMPLES</a:t>
            </a:r>
            <a:endParaRPr lang="en-US" sz="1050" dirty="0"/>
          </a:p>
        </p:txBody>
      </p:sp>
      <p:sp>
        <p:nvSpPr>
          <p:cNvPr id="3" name="Text 1"/>
          <p:cNvSpPr txBox="1"/>
          <p:nvPr/>
        </p:nvSpPr>
        <p:spPr>
          <a:xfrm>
            <a:off x="502920" y="530352"/>
            <a:ext cx="10241280" cy="640080"/>
          </a:xfrm>
          <a:prstGeom prst="rect">
            <a:avLst/>
          </a:prstGeom>
          <a:noFill/>
          <a:ln/>
        </p:spPr>
        <p:txBody>
          <a:bodyPr wrap="square" lIns="0" tIns="0" rIns="0" bIns="0" rtlCol="0" anchor="ctr"/>
          <a:lstStyle/>
          <a:p>
            <a:pPr marL="0" indent="0">
              <a:buNone/>
            </a:pPr>
            <a:r>
              <a:rPr lang="en-US" sz="2800" b="1" dirty="0">
                <a:solidFill>
                  <a:srgbClr val="1E1B4B"/>
                </a:solidFill>
                <a:latin typeface="Calibri" pitchFamily="34" charset="0"/>
                <a:ea typeface="Calibri" pitchFamily="34" charset="-122"/>
                <a:cs typeface="Calibri" pitchFamily="34" charset="-120"/>
              </a:rPr>
              <a:t>Understanding Exceptions</a:t>
            </a:r>
            <a:endParaRPr lang="en-US" sz="2800" dirty="0"/>
          </a:p>
        </p:txBody>
      </p:sp>
      <p:sp>
        <p:nvSpPr>
          <p:cNvPr id="4" name="Text 2"/>
          <p:cNvSpPr txBox="1"/>
          <p:nvPr/>
        </p:nvSpPr>
        <p:spPr>
          <a:xfrm>
            <a:off x="502920" y="6446520"/>
            <a:ext cx="5486400" cy="228600"/>
          </a:xfrm>
          <a:prstGeom prst="rect">
            <a:avLst/>
          </a:prstGeom>
          <a:noFill/>
          <a:ln/>
        </p:spPr>
        <p:txBody>
          <a:bodyPr wrap="square" lIns="0" tIns="0" rIns="0" bIns="0" rtlCol="0" anchor="t"/>
          <a:lstStyle/>
          <a:p>
            <a:pPr marL="0" indent="0">
              <a:buNone/>
            </a:pPr>
            <a:r>
              <a:rPr lang="en-US" sz="900" dirty="0">
                <a:solidFill>
                  <a:srgbClr val="5B5F7A"/>
                </a:solidFill>
                <a:latin typeface="Calibri" pitchFamily="34" charset="0"/>
                <a:ea typeface="Calibri" pitchFamily="34" charset="-122"/>
                <a:cs typeface="Calibri" pitchFamily="34" charset="-120"/>
              </a:rPr>
              <a:t>Python  ·  Error Handling</a:t>
            </a:r>
            <a:endParaRPr lang="en-US" sz="900" dirty="0"/>
          </a:p>
        </p:txBody>
      </p:sp>
      <p:sp>
        <p:nvSpPr>
          <p:cNvPr id="5" name="Text 3"/>
          <p:cNvSpPr txBox="1"/>
          <p:nvPr/>
        </p:nvSpPr>
        <p:spPr>
          <a:xfrm>
            <a:off x="11140135" y="6446520"/>
            <a:ext cx="548640" cy="228600"/>
          </a:xfrm>
          <a:prstGeom prst="rect">
            <a:avLst/>
          </a:prstGeom>
          <a:noFill/>
          <a:ln/>
        </p:spPr>
        <p:txBody>
          <a:bodyPr wrap="square" lIns="0" tIns="0" rIns="0" bIns="0" rtlCol="0" anchor="t"/>
          <a:lstStyle/>
          <a:p>
            <a:pPr marL="0" indent="0" algn="r">
              <a:buNone/>
            </a:pPr>
            <a:r>
              <a:rPr lang="en-US" sz="900" dirty="0">
                <a:solidFill>
                  <a:srgbClr val="5B5F7A"/>
                </a:solidFill>
                <a:latin typeface="Calibri" pitchFamily="34" charset="0"/>
                <a:ea typeface="Calibri" pitchFamily="34" charset="-122"/>
                <a:cs typeface="Calibri" pitchFamily="34" charset="-120"/>
              </a:rPr>
              <a:t>7</a:t>
            </a:r>
            <a:endParaRPr lang="en-US" sz="900" dirty="0"/>
          </a:p>
        </p:txBody>
      </p:sp>
      <p:sp>
        <p:nvSpPr>
          <p:cNvPr id="6" name="Shape 4"/>
          <p:cNvSpPr/>
          <p:nvPr/>
        </p:nvSpPr>
        <p:spPr>
          <a:xfrm>
            <a:off x="502920" y="1417320"/>
            <a:ext cx="5432908" cy="4800600"/>
          </a:xfrm>
          <a:prstGeom prst="roundRect">
            <a:avLst>
              <a:gd name="adj" fmla="val 2286"/>
            </a:avLst>
          </a:prstGeom>
          <a:solidFill>
            <a:srgbClr val="FFFFFF"/>
          </a:solidFill>
          <a:ln w="9525">
            <a:solidFill>
              <a:srgbClr val="DCDDF5"/>
            </a:solidFill>
            <a:prstDash val="solid"/>
          </a:ln>
          <a:effectLst>
            <a:outerShdw blurRad="127000" dist="25400" dir="5400000" algn="bl" rotWithShape="0">
              <a:srgbClr val="4F46E5">
                <a:alpha val="12000"/>
              </a:srgbClr>
            </a:outerShdw>
          </a:effectLst>
        </p:spPr>
        <p:txBody>
          <a:bodyPr/>
          <a:lstStyle/>
          <a:p>
            <a:endParaRPr lang="en-PH"/>
          </a:p>
        </p:txBody>
      </p:sp>
      <p:sp>
        <p:nvSpPr>
          <p:cNvPr id="7" name="Text 5"/>
          <p:cNvSpPr txBox="1"/>
          <p:nvPr/>
        </p:nvSpPr>
        <p:spPr>
          <a:xfrm>
            <a:off x="731520" y="1572768"/>
            <a:ext cx="4975708" cy="365760"/>
          </a:xfrm>
          <a:prstGeom prst="rect">
            <a:avLst/>
          </a:prstGeom>
          <a:noFill/>
          <a:ln/>
        </p:spPr>
        <p:txBody>
          <a:bodyPr wrap="square" lIns="0" tIns="0" rIns="0" bIns="0" rtlCol="0" anchor="ctr"/>
          <a:lstStyle/>
          <a:p>
            <a:pPr marL="0" indent="0">
              <a:buNone/>
            </a:pPr>
            <a:r>
              <a:rPr lang="en-US" sz="1650" b="1" dirty="0">
                <a:solidFill>
                  <a:srgbClr val="1E1B4B"/>
                </a:solidFill>
                <a:latin typeface="Calibri" pitchFamily="34" charset="0"/>
                <a:ea typeface="Calibri" pitchFamily="34" charset="-122"/>
                <a:cs typeface="Calibri" pitchFamily="34" charset="-120"/>
              </a:rPr>
              <a:t>1. Dividing by Zero</a:t>
            </a:r>
            <a:endParaRPr lang="en-US" sz="1650" dirty="0"/>
          </a:p>
        </p:txBody>
      </p:sp>
      <p:sp>
        <p:nvSpPr>
          <p:cNvPr id="8" name="Shape 6"/>
          <p:cNvSpPr/>
          <p:nvPr/>
        </p:nvSpPr>
        <p:spPr>
          <a:xfrm>
            <a:off x="731520" y="1993392"/>
            <a:ext cx="1600200" cy="274320"/>
          </a:xfrm>
          <a:prstGeom prst="roundRect">
            <a:avLst>
              <a:gd name="adj" fmla="val 50000"/>
            </a:avLst>
          </a:prstGeom>
          <a:solidFill>
            <a:srgbClr val="FDE8EC"/>
          </a:solidFill>
          <a:ln w="12700">
            <a:solidFill>
              <a:srgbClr val="FDE8EC"/>
            </a:solidFill>
            <a:prstDash val="solid"/>
          </a:ln>
        </p:spPr>
        <p:txBody>
          <a:bodyPr/>
          <a:lstStyle/>
          <a:p>
            <a:endParaRPr lang="en-PH"/>
          </a:p>
        </p:txBody>
      </p:sp>
      <p:sp>
        <p:nvSpPr>
          <p:cNvPr id="9" name="Text 7"/>
          <p:cNvSpPr txBox="1"/>
          <p:nvPr/>
        </p:nvSpPr>
        <p:spPr>
          <a:xfrm>
            <a:off x="731520" y="1993392"/>
            <a:ext cx="1600200" cy="274320"/>
          </a:xfrm>
          <a:prstGeom prst="rect">
            <a:avLst/>
          </a:prstGeom>
          <a:noFill/>
          <a:ln/>
        </p:spPr>
        <p:txBody>
          <a:bodyPr wrap="square" lIns="0" tIns="0" rIns="0" bIns="0" rtlCol="0" anchor="ctr"/>
          <a:lstStyle/>
          <a:p>
            <a:pPr marL="0" indent="0" algn="ctr">
              <a:buNone/>
            </a:pPr>
            <a:r>
              <a:rPr lang="en-US" sz="1000" dirty="0">
                <a:solidFill>
                  <a:srgbClr val="C0392B"/>
                </a:solidFill>
                <a:latin typeface="Courier New" pitchFamily="34" charset="0"/>
                <a:ea typeface="Courier New" pitchFamily="34" charset="-122"/>
                <a:cs typeface="Courier New" pitchFamily="34" charset="-120"/>
              </a:rPr>
              <a:t>ZeroDivisionError</a:t>
            </a:r>
            <a:endParaRPr lang="en-US" sz="1000" dirty="0"/>
          </a:p>
        </p:txBody>
      </p:sp>
      <p:sp>
        <p:nvSpPr>
          <p:cNvPr id="10" name="Shape 8"/>
          <p:cNvSpPr/>
          <p:nvPr/>
        </p:nvSpPr>
        <p:spPr>
          <a:xfrm>
            <a:off x="731520" y="2423160"/>
            <a:ext cx="4975708" cy="1134872"/>
          </a:xfrm>
          <a:prstGeom prst="roundRect">
            <a:avLst>
              <a:gd name="adj" fmla="val 8057"/>
            </a:avLst>
          </a:prstGeom>
          <a:solidFill>
            <a:srgbClr val="1F1D36"/>
          </a:solidFill>
          <a:ln w="12700">
            <a:solidFill>
              <a:srgbClr val="1F1D36"/>
            </a:solidFill>
            <a:prstDash val="solid"/>
          </a:ln>
        </p:spPr>
        <p:txBody>
          <a:bodyPr/>
          <a:lstStyle/>
          <a:p>
            <a:endParaRPr lang="en-PH"/>
          </a:p>
        </p:txBody>
      </p:sp>
      <p:sp>
        <p:nvSpPr>
          <p:cNvPr id="11" name="Text 9"/>
          <p:cNvSpPr txBox="1"/>
          <p:nvPr/>
        </p:nvSpPr>
        <p:spPr>
          <a:xfrm>
            <a:off x="896112" y="2505456"/>
            <a:ext cx="4646524" cy="201168"/>
          </a:xfrm>
          <a:prstGeom prst="rect">
            <a:avLst/>
          </a:prstGeom>
          <a:noFill/>
          <a:ln/>
        </p:spPr>
        <p:txBody>
          <a:bodyPr wrap="square" lIns="0" tIns="0" rIns="0" bIns="0" rtlCol="0" anchor="ctr"/>
          <a:lstStyle/>
          <a:p>
            <a:pPr marL="0" indent="0">
              <a:buNone/>
            </a:pPr>
            <a:r>
              <a:rPr lang="en-US" sz="900" b="1" dirty="0">
                <a:solidFill>
                  <a:srgbClr val="8A8FB5"/>
                </a:solidFill>
                <a:latin typeface="Calibri" pitchFamily="34" charset="0"/>
                <a:ea typeface="Calibri" pitchFamily="34" charset="-122"/>
                <a:cs typeface="Calibri" pitchFamily="34" charset="-120"/>
              </a:rPr>
              <a:t>&lt;/&gt;  Python</a:t>
            </a:r>
            <a:endParaRPr lang="en-US" sz="900" dirty="0"/>
          </a:p>
        </p:txBody>
      </p:sp>
      <p:sp>
        <p:nvSpPr>
          <p:cNvPr id="12" name="Text 10"/>
          <p:cNvSpPr txBox="1"/>
          <p:nvPr/>
        </p:nvSpPr>
        <p:spPr>
          <a:xfrm>
            <a:off x="896112" y="2752344"/>
            <a:ext cx="4701388" cy="750824"/>
          </a:xfrm>
          <a:prstGeom prst="rect">
            <a:avLst/>
          </a:prstGeom>
          <a:noFill/>
          <a:ln/>
        </p:spPr>
        <p:txBody>
          <a:bodyPr wrap="square" lIns="0" tIns="0" rIns="0" bIns="0" rtlCol="0" anchor="t"/>
          <a:lstStyle/>
          <a:p>
            <a:pPr marL="0" indent="0">
              <a:buNone/>
            </a:pPr>
            <a:r>
              <a:rPr lang="en-US" sz="1100" dirty="0">
                <a:solidFill>
                  <a:srgbClr val="E4E4F0"/>
                </a:solidFill>
                <a:latin typeface="Courier New" pitchFamily="34" charset="0"/>
                <a:ea typeface="Courier New" pitchFamily="34" charset="-122"/>
                <a:cs typeface="Courier New" pitchFamily="34" charset="-120"/>
              </a:rPr>
              <a:t>number = </a:t>
            </a:r>
            <a:r>
              <a:rPr lang="en-US" sz="1100" dirty="0">
                <a:solidFill>
                  <a:srgbClr val="FAB387"/>
                </a:solidFill>
                <a:latin typeface="Courier New" pitchFamily="34" charset="0"/>
                <a:ea typeface="Courier New" pitchFamily="34" charset="-122"/>
                <a:cs typeface="Courier New" pitchFamily="34" charset="-120"/>
              </a:rPr>
              <a:t>10</a:t>
            </a:r>
            <a:endParaRPr lang="en-US" sz="1100" dirty="0"/>
          </a:p>
          <a:p>
            <a:pPr marL="0" indent="0">
              <a:buNone/>
            </a:pPr>
            <a:r>
              <a:rPr lang="en-US" sz="1100" dirty="0">
                <a:solidFill>
                  <a:srgbClr val="E4E4F0"/>
                </a:solidFill>
                <a:latin typeface="Courier New" pitchFamily="34" charset="0"/>
                <a:ea typeface="Courier New" pitchFamily="34" charset="-122"/>
                <a:cs typeface="Courier New" pitchFamily="34" charset="-120"/>
              </a:rPr>
              <a:t>result = number / </a:t>
            </a:r>
            <a:r>
              <a:rPr lang="en-US" sz="1100" dirty="0">
                <a:solidFill>
                  <a:srgbClr val="FAB387"/>
                </a:solidFill>
                <a:latin typeface="Courier New" pitchFamily="34" charset="0"/>
                <a:ea typeface="Courier New" pitchFamily="34" charset="-122"/>
                <a:cs typeface="Courier New" pitchFamily="34" charset="-120"/>
              </a:rPr>
              <a:t>0</a:t>
            </a:r>
            <a:endParaRPr lang="en-US" sz="1100" dirty="0"/>
          </a:p>
          <a:p>
            <a:pPr marL="0" indent="0">
              <a:buNone/>
            </a:pPr>
            <a:r>
              <a:rPr lang="en-US" sz="1100" dirty="0">
                <a:solidFill>
                  <a:srgbClr val="E4E4F0"/>
                </a:solidFill>
                <a:latin typeface="Courier New" pitchFamily="34" charset="0"/>
                <a:ea typeface="Courier New" pitchFamily="34" charset="-122"/>
                <a:cs typeface="Courier New" pitchFamily="34" charset="-120"/>
              </a:rPr>
              <a:t> </a:t>
            </a:r>
            <a:endParaRPr lang="en-US" sz="1100" dirty="0"/>
          </a:p>
          <a:p>
            <a:pPr marL="0" indent="0">
              <a:buNone/>
            </a:pPr>
            <a:r>
              <a:rPr lang="en-US" sz="1100" dirty="0">
                <a:solidFill>
                  <a:srgbClr val="82AAFF"/>
                </a:solidFill>
                <a:latin typeface="Courier New" pitchFamily="34" charset="0"/>
                <a:ea typeface="Courier New" pitchFamily="34" charset="-122"/>
                <a:cs typeface="Courier New" pitchFamily="34" charset="-120"/>
              </a:rPr>
              <a:t>print</a:t>
            </a:r>
            <a:r>
              <a:rPr lang="en-US" sz="1100" dirty="0">
                <a:solidFill>
                  <a:srgbClr val="E4E4F0"/>
                </a:solidFill>
                <a:latin typeface="Courier New" pitchFamily="34" charset="0"/>
                <a:ea typeface="Courier New" pitchFamily="34" charset="-122"/>
                <a:cs typeface="Courier New" pitchFamily="34" charset="-120"/>
              </a:rPr>
              <a:t>(result)</a:t>
            </a:r>
            <a:endParaRPr lang="en-US" sz="1100" dirty="0"/>
          </a:p>
        </p:txBody>
      </p:sp>
      <p:sp>
        <p:nvSpPr>
          <p:cNvPr id="13" name="Shape 11"/>
          <p:cNvSpPr/>
          <p:nvPr/>
        </p:nvSpPr>
        <p:spPr>
          <a:xfrm>
            <a:off x="731520" y="3667760"/>
            <a:ext cx="4975708" cy="566928"/>
          </a:xfrm>
          <a:prstGeom prst="roundRect">
            <a:avLst>
              <a:gd name="adj" fmla="val 16129"/>
            </a:avLst>
          </a:prstGeom>
          <a:solidFill>
            <a:srgbClr val="F6F6FF"/>
          </a:solidFill>
          <a:ln w="9525">
            <a:solidFill>
              <a:srgbClr val="DCDDF5"/>
            </a:solidFill>
            <a:prstDash val="solid"/>
          </a:ln>
        </p:spPr>
        <p:txBody>
          <a:bodyPr/>
          <a:lstStyle/>
          <a:p>
            <a:endParaRPr lang="en-PH"/>
          </a:p>
        </p:txBody>
      </p:sp>
      <p:sp>
        <p:nvSpPr>
          <p:cNvPr id="14" name="Text 12"/>
          <p:cNvSpPr txBox="1"/>
          <p:nvPr/>
        </p:nvSpPr>
        <p:spPr>
          <a:xfrm>
            <a:off x="877824" y="3740912"/>
            <a:ext cx="4701388" cy="182880"/>
          </a:xfrm>
          <a:prstGeom prst="rect">
            <a:avLst/>
          </a:prstGeom>
          <a:noFill/>
          <a:ln/>
        </p:spPr>
        <p:txBody>
          <a:bodyPr wrap="square" lIns="0" tIns="0" rIns="0" bIns="0" rtlCol="0" anchor="ctr"/>
          <a:lstStyle/>
          <a:p>
            <a:pPr marL="0" indent="0">
              <a:buNone/>
            </a:pPr>
            <a:r>
              <a:rPr lang="en-US" sz="850" b="1" kern="0" spc="150" dirty="0">
                <a:solidFill>
                  <a:srgbClr val="4F46E5"/>
                </a:solidFill>
                <a:latin typeface="Calibri" pitchFamily="34" charset="0"/>
                <a:ea typeface="Calibri" pitchFamily="34" charset="-122"/>
                <a:cs typeface="Calibri" pitchFamily="34" charset="-120"/>
              </a:rPr>
              <a:t>OUTPUT</a:t>
            </a:r>
            <a:endParaRPr lang="en-US" sz="850" dirty="0"/>
          </a:p>
        </p:txBody>
      </p:sp>
      <p:sp>
        <p:nvSpPr>
          <p:cNvPr id="15" name="Text 13"/>
          <p:cNvSpPr txBox="1"/>
          <p:nvPr/>
        </p:nvSpPr>
        <p:spPr>
          <a:xfrm>
            <a:off x="877824" y="3960368"/>
            <a:ext cx="4737964" cy="237744"/>
          </a:xfrm>
          <a:prstGeom prst="rect">
            <a:avLst/>
          </a:prstGeom>
          <a:noFill/>
          <a:ln/>
        </p:spPr>
        <p:txBody>
          <a:bodyPr wrap="square" lIns="0" tIns="0" rIns="0" bIns="0" rtlCol="0" anchor="t"/>
          <a:lstStyle/>
          <a:p>
            <a:pPr marL="0" indent="0">
              <a:buNone/>
            </a:pPr>
            <a:r>
              <a:rPr lang="en-US" sz="1100" dirty="0">
                <a:solidFill>
                  <a:srgbClr val="C0392B"/>
                </a:solidFill>
                <a:latin typeface="Courier New" pitchFamily="34" charset="0"/>
                <a:ea typeface="Courier New" pitchFamily="34" charset="-122"/>
                <a:cs typeface="Courier New" pitchFamily="34" charset="-120"/>
              </a:rPr>
              <a:t>ZeroDivisionError: division by zero</a:t>
            </a:r>
            <a:endParaRPr lang="en-US" sz="1100" dirty="0"/>
          </a:p>
        </p:txBody>
      </p:sp>
      <p:sp>
        <p:nvSpPr>
          <p:cNvPr id="16" name="Text 14"/>
          <p:cNvSpPr txBox="1"/>
          <p:nvPr/>
        </p:nvSpPr>
        <p:spPr>
          <a:xfrm>
            <a:off x="731520" y="4362704"/>
            <a:ext cx="4975708" cy="566928"/>
          </a:xfrm>
          <a:prstGeom prst="rect">
            <a:avLst/>
          </a:prstGeom>
          <a:noFill/>
          <a:ln/>
        </p:spPr>
        <p:txBody>
          <a:bodyPr wrap="square" lIns="0" tIns="0" rIns="0" bIns="0" rtlCol="0" anchor="t"/>
          <a:lstStyle/>
          <a:p>
            <a:pPr marL="0" indent="0">
              <a:buNone/>
            </a:pPr>
            <a:r>
              <a:rPr lang="en-US" sz="1250" b="1" dirty="0">
                <a:solidFill>
                  <a:srgbClr val="5B5F7A"/>
                </a:solidFill>
                <a:latin typeface="Calibri" pitchFamily="34" charset="0"/>
                <a:ea typeface="Calibri" pitchFamily="34" charset="-122"/>
                <a:cs typeface="Calibri" pitchFamily="34" charset="-120"/>
              </a:rPr>
              <a:t>Why it happens:</a:t>
            </a:r>
            <a:r>
              <a:rPr lang="en-US" sz="1250" dirty="0">
                <a:solidFill>
                  <a:srgbClr val="5B5F7A"/>
                </a:solidFill>
                <a:latin typeface="Calibri" pitchFamily="34" charset="0"/>
                <a:ea typeface="Calibri" pitchFamily="34" charset="-122"/>
                <a:cs typeface="Calibri" pitchFamily="34" charset="-120"/>
              </a:rPr>
              <a:t> division by zero is mathematically undefined, so Python raises the error on line 2 — </a:t>
            </a:r>
            <a:r>
              <a:rPr lang="en-US" sz="1250" dirty="0">
                <a:solidFill>
                  <a:srgbClr val="4F46E5"/>
                </a:solidFill>
                <a:latin typeface="Courier New" pitchFamily="34" charset="0"/>
                <a:ea typeface="Courier New" pitchFamily="34" charset="-122"/>
                <a:cs typeface="Courier New" pitchFamily="34" charset="-120"/>
              </a:rPr>
              <a:t>print(result)</a:t>
            </a:r>
            <a:r>
              <a:rPr lang="en-US" sz="1250" dirty="0">
                <a:solidFill>
                  <a:srgbClr val="5B5F7A"/>
                </a:solidFill>
                <a:latin typeface="Calibri" pitchFamily="34" charset="0"/>
                <a:ea typeface="Calibri" pitchFamily="34" charset="-122"/>
                <a:cs typeface="Calibri" pitchFamily="34" charset="-120"/>
              </a:rPr>
              <a:t> never runs.</a:t>
            </a:r>
            <a:endParaRPr lang="en-US" sz="1250" dirty="0"/>
          </a:p>
        </p:txBody>
      </p:sp>
      <p:sp>
        <p:nvSpPr>
          <p:cNvPr id="17" name="Shape 15"/>
          <p:cNvSpPr/>
          <p:nvPr/>
        </p:nvSpPr>
        <p:spPr>
          <a:xfrm>
            <a:off x="731520" y="5021072"/>
            <a:ext cx="4975708" cy="1104900"/>
          </a:xfrm>
          <a:prstGeom prst="roundRect">
            <a:avLst>
              <a:gd name="adj" fmla="val 8276"/>
            </a:avLst>
          </a:prstGeom>
          <a:solidFill>
            <a:srgbClr val="1F1D36"/>
          </a:solidFill>
          <a:ln w="12700">
            <a:solidFill>
              <a:srgbClr val="1F1D36"/>
            </a:solidFill>
            <a:prstDash val="solid"/>
          </a:ln>
        </p:spPr>
        <p:txBody>
          <a:bodyPr/>
          <a:lstStyle/>
          <a:p>
            <a:endParaRPr lang="en-PH"/>
          </a:p>
        </p:txBody>
      </p:sp>
      <p:sp>
        <p:nvSpPr>
          <p:cNvPr id="18" name="Text 16"/>
          <p:cNvSpPr txBox="1"/>
          <p:nvPr/>
        </p:nvSpPr>
        <p:spPr>
          <a:xfrm>
            <a:off x="896112" y="5103368"/>
            <a:ext cx="4646524" cy="201168"/>
          </a:xfrm>
          <a:prstGeom prst="rect">
            <a:avLst/>
          </a:prstGeom>
          <a:noFill/>
          <a:ln/>
        </p:spPr>
        <p:txBody>
          <a:bodyPr wrap="square" lIns="0" tIns="0" rIns="0" bIns="0" rtlCol="0" anchor="ctr"/>
          <a:lstStyle/>
          <a:p>
            <a:pPr marL="0" indent="0">
              <a:buNone/>
            </a:pPr>
            <a:r>
              <a:rPr lang="en-US" sz="900" b="1" dirty="0">
                <a:solidFill>
                  <a:srgbClr val="8A8FB5"/>
                </a:solidFill>
                <a:latin typeface="Calibri" pitchFamily="34" charset="0"/>
                <a:ea typeface="Calibri" pitchFamily="34" charset="-122"/>
                <a:cs typeface="Calibri" pitchFamily="34" charset="-120"/>
              </a:rPr>
              <a:t>&lt;/&gt;  How to handle it with try / except</a:t>
            </a:r>
            <a:endParaRPr lang="en-US" sz="900" dirty="0"/>
          </a:p>
        </p:txBody>
      </p:sp>
      <p:sp>
        <p:nvSpPr>
          <p:cNvPr id="19" name="Text 17"/>
          <p:cNvSpPr txBox="1"/>
          <p:nvPr/>
        </p:nvSpPr>
        <p:spPr>
          <a:xfrm>
            <a:off x="896112" y="5350256"/>
            <a:ext cx="4701388" cy="720852"/>
          </a:xfrm>
          <a:prstGeom prst="rect">
            <a:avLst/>
          </a:prstGeom>
          <a:noFill/>
          <a:ln/>
        </p:spPr>
        <p:txBody>
          <a:bodyPr wrap="square" lIns="0" tIns="0" rIns="0" bIns="0" rtlCol="0" anchor="t"/>
          <a:lstStyle/>
          <a:p>
            <a:pPr marL="0" indent="0">
              <a:buNone/>
            </a:pPr>
            <a:r>
              <a:rPr lang="en-US" sz="1050" dirty="0">
                <a:solidFill>
                  <a:srgbClr val="D3A6FF"/>
                </a:solidFill>
                <a:latin typeface="Courier New" pitchFamily="34" charset="0"/>
                <a:ea typeface="Courier New" pitchFamily="34" charset="-122"/>
                <a:cs typeface="Courier New" pitchFamily="34" charset="-120"/>
              </a:rPr>
              <a:t>try</a:t>
            </a:r>
            <a:r>
              <a:rPr lang="en-US" sz="1050" dirty="0">
                <a:solidFill>
                  <a:srgbClr val="E4E4F0"/>
                </a:solidFill>
                <a:latin typeface="Courier New" pitchFamily="34" charset="0"/>
                <a:ea typeface="Courier New" pitchFamily="34" charset="-122"/>
                <a:cs typeface="Courier New" pitchFamily="34" charset="-120"/>
              </a:rPr>
              <a:t>:</a:t>
            </a:r>
            <a:endParaRPr lang="en-US" sz="1050" dirty="0"/>
          </a:p>
          <a:p>
            <a:pPr marL="0" indent="0">
              <a:buNone/>
            </a:pPr>
            <a:r>
              <a:rPr lang="en-US" sz="1050" dirty="0">
                <a:solidFill>
                  <a:srgbClr val="E4E4F0"/>
                </a:solidFill>
                <a:latin typeface="Courier New" pitchFamily="34" charset="0"/>
                <a:ea typeface="Courier New" pitchFamily="34" charset="-122"/>
                <a:cs typeface="Courier New" pitchFamily="34" charset="-120"/>
              </a:rPr>
              <a:t>    result = number / </a:t>
            </a:r>
            <a:r>
              <a:rPr lang="en-US" sz="1050" dirty="0">
                <a:solidFill>
                  <a:srgbClr val="FAB387"/>
                </a:solidFill>
                <a:latin typeface="Courier New" pitchFamily="34" charset="0"/>
                <a:ea typeface="Courier New" pitchFamily="34" charset="-122"/>
                <a:cs typeface="Courier New" pitchFamily="34" charset="-120"/>
              </a:rPr>
              <a:t>0</a:t>
            </a:r>
            <a:endParaRPr lang="en-US" sz="1050" dirty="0"/>
          </a:p>
          <a:p>
            <a:pPr marL="0" indent="0">
              <a:buNone/>
            </a:pPr>
            <a:r>
              <a:rPr lang="en-US" sz="1050" dirty="0">
                <a:solidFill>
                  <a:srgbClr val="D3A6FF"/>
                </a:solidFill>
                <a:latin typeface="Courier New" pitchFamily="34" charset="0"/>
                <a:ea typeface="Courier New" pitchFamily="34" charset="-122"/>
                <a:cs typeface="Courier New" pitchFamily="34" charset="-120"/>
              </a:rPr>
              <a:t>except</a:t>
            </a:r>
            <a:r>
              <a:rPr lang="en-US" sz="1050" dirty="0">
                <a:solidFill>
                  <a:srgbClr val="E4E4F0"/>
                </a:solidFill>
                <a:latin typeface="Courier New" pitchFamily="34" charset="0"/>
                <a:ea typeface="Courier New" pitchFamily="34" charset="-122"/>
                <a:cs typeface="Courier New" pitchFamily="34" charset="-120"/>
              </a:rPr>
              <a:t> </a:t>
            </a:r>
            <a:r>
              <a:rPr lang="en-US" sz="1050" dirty="0">
                <a:solidFill>
                  <a:srgbClr val="F38BA8"/>
                </a:solidFill>
                <a:latin typeface="Courier New" pitchFamily="34" charset="0"/>
                <a:ea typeface="Courier New" pitchFamily="34" charset="-122"/>
                <a:cs typeface="Courier New" pitchFamily="34" charset="-120"/>
              </a:rPr>
              <a:t>ZeroDivisionError</a:t>
            </a:r>
            <a:r>
              <a:rPr lang="en-US" sz="1050" dirty="0">
                <a:solidFill>
                  <a:srgbClr val="E4E4F0"/>
                </a:solidFill>
                <a:latin typeface="Courier New" pitchFamily="34" charset="0"/>
                <a:ea typeface="Courier New" pitchFamily="34" charset="-122"/>
                <a:cs typeface="Courier New" pitchFamily="34" charset="-120"/>
              </a:rPr>
              <a:t>:</a:t>
            </a:r>
            <a:endParaRPr lang="en-US" sz="1050" dirty="0"/>
          </a:p>
          <a:p>
            <a:pPr marL="0" indent="0">
              <a:buNone/>
            </a:pPr>
            <a:r>
              <a:rPr lang="en-US" sz="1050" dirty="0">
                <a:solidFill>
                  <a:srgbClr val="E4E4F0"/>
                </a:solidFill>
                <a:latin typeface="Courier New" pitchFamily="34" charset="0"/>
                <a:ea typeface="Courier New" pitchFamily="34" charset="-122"/>
                <a:cs typeface="Courier New" pitchFamily="34" charset="-120"/>
              </a:rPr>
              <a:t>    </a:t>
            </a:r>
            <a:r>
              <a:rPr lang="en-US" sz="1050" dirty="0">
                <a:solidFill>
                  <a:srgbClr val="82AAFF"/>
                </a:solidFill>
                <a:latin typeface="Courier New" pitchFamily="34" charset="0"/>
                <a:ea typeface="Courier New" pitchFamily="34" charset="-122"/>
                <a:cs typeface="Courier New" pitchFamily="34" charset="-120"/>
              </a:rPr>
              <a:t>print</a:t>
            </a:r>
            <a:r>
              <a:rPr lang="en-US" sz="1050" dirty="0">
                <a:solidFill>
                  <a:srgbClr val="E4E4F0"/>
                </a:solidFill>
                <a:latin typeface="Courier New" pitchFamily="34" charset="0"/>
                <a:ea typeface="Courier New" pitchFamily="34" charset="-122"/>
                <a:cs typeface="Courier New" pitchFamily="34" charset="-120"/>
              </a:rPr>
              <a:t>(</a:t>
            </a:r>
            <a:r>
              <a:rPr lang="en-US" sz="1050" dirty="0">
                <a:solidFill>
                  <a:srgbClr val="A6E3A1"/>
                </a:solidFill>
                <a:latin typeface="Courier New" pitchFamily="34" charset="0"/>
                <a:ea typeface="Courier New" pitchFamily="34" charset="-122"/>
                <a:cs typeface="Courier New" pitchFamily="34" charset="-120"/>
              </a:rPr>
              <a:t>"Cannot divide by zero."</a:t>
            </a:r>
            <a:r>
              <a:rPr lang="en-US" sz="1050" dirty="0">
                <a:solidFill>
                  <a:srgbClr val="E4E4F0"/>
                </a:solidFill>
                <a:latin typeface="Courier New" pitchFamily="34" charset="0"/>
                <a:ea typeface="Courier New" pitchFamily="34" charset="-122"/>
                <a:cs typeface="Courier New" pitchFamily="34" charset="-120"/>
              </a:rPr>
              <a:t>)</a:t>
            </a:r>
            <a:endParaRPr lang="en-US" sz="1050" dirty="0"/>
          </a:p>
        </p:txBody>
      </p:sp>
      <p:sp>
        <p:nvSpPr>
          <p:cNvPr id="20" name="Shape 18"/>
          <p:cNvSpPr/>
          <p:nvPr/>
        </p:nvSpPr>
        <p:spPr>
          <a:xfrm>
            <a:off x="6255868" y="1417320"/>
            <a:ext cx="5432908" cy="4800600"/>
          </a:xfrm>
          <a:prstGeom prst="roundRect">
            <a:avLst>
              <a:gd name="adj" fmla="val 2286"/>
            </a:avLst>
          </a:prstGeom>
          <a:solidFill>
            <a:srgbClr val="FFFFFF"/>
          </a:solidFill>
          <a:ln w="9525">
            <a:solidFill>
              <a:srgbClr val="DCDDF5"/>
            </a:solidFill>
            <a:prstDash val="solid"/>
          </a:ln>
          <a:effectLst>
            <a:outerShdw blurRad="127000" dist="25400" dir="5400000" algn="bl" rotWithShape="0">
              <a:srgbClr val="4F46E5">
                <a:alpha val="12000"/>
              </a:srgbClr>
            </a:outerShdw>
          </a:effectLst>
        </p:spPr>
        <p:txBody>
          <a:bodyPr/>
          <a:lstStyle/>
          <a:p>
            <a:endParaRPr lang="en-PH"/>
          </a:p>
        </p:txBody>
      </p:sp>
      <p:sp>
        <p:nvSpPr>
          <p:cNvPr id="21" name="Text 19"/>
          <p:cNvSpPr txBox="1"/>
          <p:nvPr/>
        </p:nvSpPr>
        <p:spPr>
          <a:xfrm>
            <a:off x="6484468" y="1572768"/>
            <a:ext cx="4975708" cy="365760"/>
          </a:xfrm>
          <a:prstGeom prst="rect">
            <a:avLst/>
          </a:prstGeom>
          <a:noFill/>
          <a:ln/>
        </p:spPr>
        <p:txBody>
          <a:bodyPr wrap="square" lIns="0" tIns="0" rIns="0" bIns="0" rtlCol="0" anchor="ctr"/>
          <a:lstStyle/>
          <a:p>
            <a:pPr marL="0" indent="0">
              <a:buNone/>
            </a:pPr>
            <a:r>
              <a:rPr lang="en-US" sz="1650" b="1" dirty="0">
                <a:solidFill>
                  <a:srgbClr val="1E1B4B"/>
                </a:solidFill>
                <a:latin typeface="Calibri" pitchFamily="34" charset="0"/>
                <a:ea typeface="Calibri" pitchFamily="34" charset="-122"/>
                <a:cs typeface="Calibri" pitchFamily="34" charset="-120"/>
              </a:rPr>
              <a:t>2. Entering Text Instead of a Number</a:t>
            </a:r>
            <a:endParaRPr lang="en-US" sz="1650" dirty="0"/>
          </a:p>
        </p:txBody>
      </p:sp>
      <p:sp>
        <p:nvSpPr>
          <p:cNvPr id="22" name="Shape 20"/>
          <p:cNvSpPr/>
          <p:nvPr/>
        </p:nvSpPr>
        <p:spPr>
          <a:xfrm>
            <a:off x="6484468" y="1993392"/>
            <a:ext cx="1024128" cy="274320"/>
          </a:xfrm>
          <a:prstGeom prst="roundRect">
            <a:avLst>
              <a:gd name="adj" fmla="val 50000"/>
            </a:avLst>
          </a:prstGeom>
          <a:solidFill>
            <a:srgbClr val="FDE8EC"/>
          </a:solidFill>
          <a:ln w="12700">
            <a:solidFill>
              <a:srgbClr val="FDE8EC"/>
            </a:solidFill>
            <a:prstDash val="solid"/>
          </a:ln>
        </p:spPr>
        <p:txBody>
          <a:bodyPr/>
          <a:lstStyle/>
          <a:p>
            <a:endParaRPr lang="en-PH"/>
          </a:p>
        </p:txBody>
      </p:sp>
      <p:sp>
        <p:nvSpPr>
          <p:cNvPr id="23" name="Text 21"/>
          <p:cNvSpPr txBox="1"/>
          <p:nvPr/>
        </p:nvSpPr>
        <p:spPr>
          <a:xfrm>
            <a:off x="6484468" y="1993392"/>
            <a:ext cx="1024128" cy="274320"/>
          </a:xfrm>
          <a:prstGeom prst="rect">
            <a:avLst/>
          </a:prstGeom>
          <a:noFill/>
          <a:ln/>
        </p:spPr>
        <p:txBody>
          <a:bodyPr wrap="square" lIns="0" tIns="0" rIns="0" bIns="0" rtlCol="0" anchor="ctr"/>
          <a:lstStyle/>
          <a:p>
            <a:pPr marL="0" indent="0" algn="ctr">
              <a:buNone/>
            </a:pPr>
            <a:r>
              <a:rPr lang="en-US" sz="1000" dirty="0">
                <a:solidFill>
                  <a:srgbClr val="C0392B"/>
                </a:solidFill>
                <a:latin typeface="Courier New" pitchFamily="34" charset="0"/>
                <a:ea typeface="Courier New" pitchFamily="34" charset="-122"/>
                <a:cs typeface="Courier New" pitchFamily="34" charset="-120"/>
              </a:rPr>
              <a:t>ValueError</a:t>
            </a:r>
            <a:endParaRPr lang="en-US" sz="1000" dirty="0"/>
          </a:p>
        </p:txBody>
      </p:sp>
      <p:sp>
        <p:nvSpPr>
          <p:cNvPr id="24" name="Shape 22"/>
          <p:cNvSpPr/>
          <p:nvPr/>
        </p:nvSpPr>
        <p:spPr>
          <a:xfrm>
            <a:off x="6484468" y="2423160"/>
            <a:ext cx="4975708" cy="805180"/>
          </a:xfrm>
          <a:prstGeom prst="roundRect">
            <a:avLst>
              <a:gd name="adj" fmla="val 11356"/>
            </a:avLst>
          </a:prstGeom>
          <a:solidFill>
            <a:srgbClr val="1F1D36"/>
          </a:solidFill>
          <a:ln w="12700">
            <a:solidFill>
              <a:srgbClr val="1F1D36"/>
            </a:solidFill>
            <a:prstDash val="solid"/>
          </a:ln>
        </p:spPr>
        <p:txBody>
          <a:bodyPr/>
          <a:lstStyle/>
          <a:p>
            <a:endParaRPr lang="en-PH"/>
          </a:p>
        </p:txBody>
      </p:sp>
      <p:sp>
        <p:nvSpPr>
          <p:cNvPr id="25" name="Text 23"/>
          <p:cNvSpPr txBox="1"/>
          <p:nvPr/>
        </p:nvSpPr>
        <p:spPr>
          <a:xfrm>
            <a:off x="6649060" y="2505456"/>
            <a:ext cx="4646524" cy="201168"/>
          </a:xfrm>
          <a:prstGeom prst="rect">
            <a:avLst/>
          </a:prstGeom>
          <a:noFill/>
          <a:ln/>
        </p:spPr>
        <p:txBody>
          <a:bodyPr wrap="square" lIns="0" tIns="0" rIns="0" bIns="0" rtlCol="0" anchor="ctr"/>
          <a:lstStyle/>
          <a:p>
            <a:pPr marL="0" indent="0">
              <a:buNone/>
            </a:pPr>
            <a:r>
              <a:rPr lang="en-US" sz="900" b="1" dirty="0">
                <a:solidFill>
                  <a:srgbClr val="8A8FB5"/>
                </a:solidFill>
                <a:latin typeface="Calibri" pitchFamily="34" charset="0"/>
                <a:ea typeface="Calibri" pitchFamily="34" charset="-122"/>
                <a:cs typeface="Calibri" pitchFamily="34" charset="-120"/>
              </a:rPr>
              <a:t>&lt;/&gt;  Python</a:t>
            </a:r>
            <a:endParaRPr lang="en-US" sz="900" dirty="0"/>
          </a:p>
        </p:txBody>
      </p:sp>
      <p:sp>
        <p:nvSpPr>
          <p:cNvPr id="26" name="Text 24"/>
          <p:cNvSpPr txBox="1"/>
          <p:nvPr/>
        </p:nvSpPr>
        <p:spPr>
          <a:xfrm>
            <a:off x="6649060" y="2752344"/>
            <a:ext cx="4701388" cy="421132"/>
          </a:xfrm>
          <a:prstGeom prst="rect">
            <a:avLst/>
          </a:prstGeom>
          <a:noFill/>
          <a:ln/>
        </p:spPr>
        <p:txBody>
          <a:bodyPr wrap="square" lIns="0" tIns="0" rIns="0" bIns="0" rtlCol="0" anchor="t"/>
          <a:lstStyle/>
          <a:p>
            <a:pPr marL="0" indent="0">
              <a:buNone/>
            </a:pPr>
            <a:r>
              <a:rPr lang="en-US" sz="1100" dirty="0">
                <a:solidFill>
                  <a:srgbClr val="E4E4F0"/>
                </a:solidFill>
                <a:latin typeface="Courier New" pitchFamily="34" charset="0"/>
                <a:ea typeface="Courier New" pitchFamily="34" charset="-122"/>
                <a:cs typeface="Courier New" pitchFamily="34" charset="-120"/>
              </a:rPr>
              <a:t>age = </a:t>
            </a:r>
            <a:r>
              <a:rPr lang="en-US" sz="1100" dirty="0">
                <a:solidFill>
                  <a:srgbClr val="82AAFF"/>
                </a:solidFill>
                <a:latin typeface="Courier New" pitchFamily="34" charset="0"/>
                <a:ea typeface="Courier New" pitchFamily="34" charset="-122"/>
                <a:cs typeface="Courier New" pitchFamily="34" charset="-120"/>
              </a:rPr>
              <a:t>int</a:t>
            </a:r>
            <a:r>
              <a:rPr lang="en-US" sz="1100" dirty="0">
                <a:solidFill>
                  <a:srgbClr val="E4E4F0"/>
                </a:solidFill>
                <a:latin typeface="Courier New" pitchFamily="34" charset="0"/>
                <a:ea typeface="Courier New" pitchFamily="34" charset="-122"/>
                <a:cs typeface="Courier New" pitchFamily="34" charset="-120"/>
              </a:rPr>
              <a:t>(</a:t>
            </a:r>
            <a:r>
              <a:rPr lang="en-US" sz="1100" dirty="0">
                <a:solidFill>
                  <a:srgbClr val="82AAFF"/>
                </a:solidFill>
                <a:latin typeface="Courier New" pitchFamily="34" charset="0"/>
                <a:ea typeface="Courier New" pitchFamily="34" charset="-122"/>
                <a:cs typeface="Courier New" pitchFamily="34" charset="-120"/>
              </a:rPr>
              <a:t>input</a:t>
            </a:r>
            <a:r>
              <a:rPr lang="en-US" sz="1100" dirty="0">
                <a:solidFill>
                  <a:srgbClr val="E4E4F0"/>
                </a:solidFill>
                <a:latin typeface="Courier New" pitchFamily="34" charset="0"/>
                <a:ea typeface="Courier New" pitchFamily="34" charset="-122"/>
                <a:cs typeface="Courier New" pitchFamily="34" charset="-120"/>
              </a:rPr>
              <a:t>(</a:t>
            </a:r>
            <a:r>
              <a:rPr lang="en-US" sz="1100" dirty="0">
                <a:solidFill>
                  <a:srgbClr val="A6E3A1"/>
                </a:solidFill>
                <a:latin typeface="Courier New" pitchFamily="34" charset="0"/>
                <a:ea typeface="Courier New" pitchFamily="34" charset="-122"/>
                <a:cs typeface="Courier New" pitchFamily="34" charset="-120"/>
              </a:rPr>
              <a:t>"Enter your age: "</a:t>
            </a:r>
            <a:r>
              <a:rPr lang="en-US" sz="1100" dirty="0">
                <a:solidFill>
                  <a:srgbClr val="E4E4F0"/>
                </a:solidFill>
                <a:latin typeface="Courier New" pitchFamily="34" charset="0"/>
                <a:ea typeface="Courier New" pitchFamily="34" charset="-122"/>
                <a:cs typeface="Courier New" pitchFamily="34" charset="-120"/>
              </a:rPr>
              <a:t>))</a:t>
            </a:r>
            <a:endParaRPr lang="en-US" sz="1100" dirty="0"/>
          </a:p>
          <a:p>
            <a:pPr marL="0" indent="0">
              <a:buNone/>
            </a:pPr>
            <a:r>
              <a:rPr lang="en-US" sz="1100" dirty="0">
                <a:solidFill>
                  <a:srgbClr val="82AAFF"/>
                </a:solidFill>
                <a:latin typeface="Courier New" pitchFamily="34" charset="0"/>
                <a:ea typeface="Courier New" pitchFamily="34" charset="-122"/>
                <a:cs typeface="Courier New" pitchFamily="34" charset="-120"/>
              </a:rPr>
              <a:t>print</a:t>
            </a:r>
            <a:r>
              <a:rPr lang="en-US" sz="1100" dirty="0">
                <a:solidFill>
                  <a:srgbClr val="E4E4F0"/>
                </a:solidFill>
                <a:latin typeface="Courier New" pitchFamily="34" charset="0"/>
                <a:ea typeface="Courier New" pitchFamily="34" charset="-122"/>
                <a:cs typeface="Courier New" pitchFamily="34" charset="-120"/>
              </a:rPr>
              <a:t>(age)</a:t>
            </a:r>
            <a:endParaRPr lang="en-US" sz="1100" dirty="0"/>
          </a:p>
        </p:txBody>
      </p:sp>
      <p:sp>
        <p:nvSpPr>
          <p:cNvPr id="27" name="Shape 25"/>
          <p:cNvSpPr/>
          <p:nvPr/>
        </p:nvSpPr>
        <p:spPr>
          <a:xfrm>
            <a:off x="6484468" y="3338068"/>
            <a:ext cx="1280160" cy="566928"/>
          </a:xfrm>
          <a:prstGeom prst="roundRect">
            <a:avLst>
              <a:gd name="adj" fmla="val 16129"/>
            </a:avLst>
          </a:prstGeom>
          <a:solidFill>
            <a:srgbClr val="F6F6FF"/>
          </a:solidFill>
          <a:ln w="9525">
            <a:solidFill>
              <a:srgbClr val="DCDDF5"/>
            </a:solidFill>
            <a:prstDash val="solid"/>
          </a:ln>
        </p:spPr>
        <p:txBody>
          <a:bodyPr/>
          <a:lstStyle/>
          <a:p>
            <a:endParaRPr lang="en-PH"/>
          </a:p>
        </p:txBody>
      </p:sp>
      <p:sp>
        <p:nvSpPr>
          <p:cNvPr id="28" name="Text 26"/>
          <p:cNvSpPr txBox="1"/>
          <p:nvPr/>
        </p:nvSpPr>
        <p:spPr>
          <a:xfrm>
            <a:off x="6630772" y="3411220"/>
            <a:ext cx="1005840" cy="182880"/>
          </a:xfrm>
          <a:prstGeom prst="rect">
            <a:avLst/>
          </a:prstGeom>
          <a:noFill/>
          <a:ln/>
        </p:spPr>
        <p:txBody>
          <a:bodyPr wrap="square" lIns="0" tIns="0" rIns="0" bIns="0" rtlCol="0" anchor="ctr"/>
          <a:lstStyle/>
          <a:p>
            <a:pPr marL="0" indent="0">
              <a:buNone/>
            </a:pPr>
            <a:r>
              <a:rPr lang="en-US" sz="850" b="1" kern="0" spc="150" dirty="0">
                <a:solidFill>
                  <a:srgbClr val="C8559F"/>
                </a:solidFill>
                <a:latin typeface="Calibri" pitchFamily="34" charset="0"/>
                <a:ea typeface="Calibri" pitchFamily="34" charset="-122"/>
                <a:cs typeface="Calibri" pitchFamily="34" charset="-120"/>
              </a:rPr>
              <a:t>INPUT</a:t>
            </a:r>
            <a:endParaRPr lang="en-US" sz="850" dirty="0"/>
          </a:p>
        </p:txBody>
      </p:sp>
      <p:sp>
        <p:nvSpPr>
          <p:cNvPr id="29" name="Text 27"/>
          <p:cNvSpPr txBox="1"/>
          <p:nvPr/>
        </p:nvSpPr>
        <p:spPr>
          <a:xfrm>
            <a:off x="6630772" y="3630676"/>
            <a:ext cx="1042416" cy="237744"/>
          </a:xfrm>
          <a:prstGeom prst="rect">
            <a:avLst/>
          </a:prstGeom>
          <a:noFill/>
          <a:ln/>
        </p:spPr>
        <p:txBody>
          <a:bodyPr wrap="square" lIns="0" tIns="0" rIns="0" bIns="0" rtlCol="0" anchor="t"/>
          <a:lstStyle/>
          <a:p>
            <a:pPr marL="0" indent="0">
              <a:buNone/>
            </a:pPr>
            <a:r>
              <a:rPr lang="en-US" sz="1100" dirty="0">
                <a:solidFill>
                  <a:srgbClr val="1E1B4B"/>
                </a:solidFill>
                <a:latin typeface="Courier New" pitchFamily="34" charset="0"/>
                <a:ea typeface="Courier New" pitchFamily="34" charset="-122"/>
                <a:cs typeface="Courier New" pitchFamily="34" charset="-120"/>
              </a:rPr>
              <a:t>hello</a:t>
            </a:r>
            <a:endParaRPr lang="en-US" sz="1100" dirty="0"/>
          </a:p>
        </p:txBody>
      </p:sp>
      <p:sp>
        <p:nvSpPr>
          <p:cNvPr id="30" name="Shape 28"/>
          <p:cNvSpPr/>
          <p:nvPr/>
        </p:nvSpPr>
        <p:spPr>
          <a:xfrm>
            <a:off x="7901788" y="3338068"/>
            <a:ext cx="3558388" cy="566928"/>
          </a:xfrm>
          <a:prstGeom prst="roundRect">
            <a:avLst>
              <a:gd name="adj" fmla="val 16129"/>
            </a:avLst>
          </a:prstGeom>
          <a:solidFill>
            <a:srgbClr val="F6F6FF"/>
          </a:solidFill>
          <a:ln w="9525">
            <a:solidFill>
              <a:srgbClr val="DCDDF5"/>
            </a:solidFill>
            <a:prstDash val="solid"/>
          </a:ln>
        </p:spPr>
        <p:txBody>
          <a:bodyPr/>
          <a:lstStyle/>
          <a:p>
            <a:endParaRPr lang="en-PH"/>
          </a:p>
        </p:txBody>
      </p:sp>
      <p:sp>
        <p:nvSpPr>
          <p:cNvPr id="31" name="Text 29"/>
          <p:cNvSpPr txBox="1"/>
          <p:nvPr/>
        </p:nvSpPr>
        <p:spPr>
          <a:xfrm>
            <a:off x="8048092" y="3411220"/>
            <a:ext cx="3284068" cy="182880"/>
          </a:xfrm>
          <a:prstGeom prst="rect">
            <a:avLst/>
          </a:prstGeom>
          <a:noFill/>
          <a:ln/>
        </p:spPr>
        <p:txBody>
          <a:bodyPr wrap="square" lIns="0" tIns="0" rIns="0" bIns="0" rtlCol="0" anchor="ctr"/>
          <a:lstStyle/>
          <a:p>
            <a:pPr marL="0" indent="0">
              <a:buNone/>
            </a:pPr>
            <a:r>
              <a:rPr lang="en-US" sz="850" b="1" kern="0" spc="150" dirty="0">
                <a:solidFill>
                  <a:srgbClr val="4F46E5"/>
                </a:solidFill>
                <a:latin typeface="Calibri" pitchFamily="34" charset="0"/>
                <a:ea typeface="Calibri" pitchFamily="34" charset="-122"/>
                <a:cs typeface="Calibri" pitchFamily="34" charset="-120"/>
              </a:rPr>
              <a:t>OUTPUT</a:t>
            </a:r>
            <a:endParaRPr lang="en-US" sz="850" dirty="0"/>
          </a:p>
        </p:txBody>
      </p:sp>
      <p:sp>
        <p:nvSpPr>
          <p:cNvPr id="32" name="Text 30"/>
          <p:cNvSpPr txBox="1"/>
          <p:nvPr/>
        </p:nvSpPr>
        <p:spPr>
          <a:xfrm>
            <a:off x="8048092" y="3630676"/>
            <a:ext cx="3320644" cy="237744"/>
          </a:xfrm>
          <a:prstGeom prst="rect">
            <a:avLst/>
          </a:prstGeom>
          <a:noFill/>
          <a:ln/>
        </p:spPr>
        <p:txBody>
          <a:bodyPr wrap="square" lIns="0" tIns="0" rIns="0" bIns="0" rtlCol="0" anchor="t"/>
          <a:lstStyle/>
          <a:p>
            <a:pPr marL="0" indent="0">
              <a:buNone/>
            </a:pPr>
            <a:r>
              <a:rPr lang="en-US" sz="1100" dirty="0">
                <a:solidFill>
                  <a:srgbClr val="C0392B"/>
                </a:solidFill>
                <a:latin typeface="Courier New" pitchFamily="34" charset="0"/>
                <a:ea typeface="Courier New" pitchFamily="34" charset="-122"/>
                <a:cs typeface="Courier New" pitchFamily="34" charset="-120"/>
              </a:rPr>
              <a:t>ValueError: invalid literal for int()</a:t>
            </a:r>
            <a:endParaRPr lang="en-US" sz="1100" dirty="0"/>
          </a:p>
        </p:txBody>
      </p:sp>
      <p:sp>
        <p:nvSpPr>
          <p:cNvPr id="33" name="Text 31"/>
          <p:cNvSpPr txBox="1"/>
          <p:nvPr/>
        </p:nvSpPr>
        <p:spPr>
          <a:xfrm>
            <a:off x="6484468" y="4033012"/>
            <a:ext cx="4975708" cy="566928"/>
          </a:xfrm>
          <a:prstGeom prst="rect">
            <a:avLst/>
          </a:prstGeom>
          <a:noFill/>
          <a:ln/>
        </p:spPr>
        <p:txBody>
          <a:bodyPr wrap="square" lIns="0" tIns="0" rIns="0" bIns="0" rtlCol="0" anchor="t"/>
          <a:lstStyle/>
          <a:p>
            <a:pPr marL="0" indent="0">
              <a:buNone/>
            </a:pPr>
            <a:r>
              <a:rPr lang="en-US" sz="1250" b="1" dirty="0">
                <a:solidFill>
                  <a:srgbClr val="5B5F7A"/>
                </a:solidFill>
                <a:latin typeface="Calibri" pitchFamily="34" charset="0"/>
                <a:ea typeface="Calibri" pitchFamily="34" charset="-122"/>
                <a:cs typeface="Calibri" pitchFamily="34" charset="-120"/>
              </a:rPr>
              <a:t>Why it happens:</a:t>
            </a:r>
            <a:r>
              <a:rPr lang="en-US" sz="1250" dirty="0">
                <a:solidFill>
                  <a:srgbClr val="5B5F7A"/>
                </a:solidFill>
                <a:latin typeface="Calibri" pitchFamily="34" charset="0"/>
                <a:ea typeface="Calibri" pitchFamily="34" charset="-122"/>
                <a:cs typeface="Calibri" pitchFamily="34" charset="-120"/>
              </a:rPr>
              <a:t> </a:t>
            </a:r>
            <a:r>
              <a:rPr lang="en-US" sz="1250" dirty="0">
                <a:solidFill>
                  <a:srgbClr val="4F46E5"/>
                </a:solidFill>
                <a:latin typeface="Courier New" pitchFamily="34" charset="0"/>
                <a:ea typeface="Courier New" pitchFamily="34" charset="-122"/>
                <a:cs typeface="Courier New" pitchFamily="34" charset="-120"/>
              </a:rPr>
              <a:t>int()</a:t>
            </a:r>
            <a:r>
              <a:rPr lang="en-US" sz="1250" dirty="0">
                <a:solidFill>
                  <a:srgbClr val="5B5F7A"/>
                </a:solidFill>
                <a:latin typeface="Calibri" pitchFamily="34" charset="0"/>
                <a:ea typeface="Calibri" pitchFamily="34" charset="-122"/>
                <a:cs typeface="Calibri" pitchFamily="34" charset="-120"/>
              </a:rPr>
              <a:t> can only convert text that looks like a whole number. "hello" is text, not a number, so the conversion fails.</a:t>
            </a:r>
            <a:endParaRPr lang="en-US" sz="1250" dirty="0"/>
          </a:p>
        </p:txBody>
      </p:sp>
      <p:sp>
        <p:nvSpPr>
          <p:cNvPr id="34" name="Shape 32"/>
          <p:cNvSpPr/>
          <p:nvPr/>
        </p:nvSpPr>
        <p:spPr>
          <a:xfrm>
            <a:off x="6484468" y="4691380"/>
            <a:ext cx="4975708" cy="1104900"/>
          </a:xfrm>
          <a:prstGeom prst="roundRect">
            <a:avLst>
              <a:gd name="adj" fmla="val 8276"/>
            </a:avLst>
          </a:prstGeom>
          <a:solidFill>
            <a:srgbClr val="1F1D36"/>
          </a:solidFill>
          <a:ln w="12700">
            <a:solidFill>
              <a:srgbClr val="1F1D36"/>
            </a:solidFill>
            <a:prstDash val="solid"/>
          </a:ln>
        </p:spPr>
        <p:txBody>
          <a:bodyPr/>
          <a:lstStyle/>
          <a:p>
            <a:endParaRPr lang="en-PH"/>
          </a:p>
        </p:txBody>
      </p:sp>
      <p:sp>
        <p:nvSpPr>
          <p:cNvPr id="35" name="Text 33"/>
          <p:cNvSpPr txBox="1"/>
          <p:nvPr/>
        </p:nvSpPr>
        <p:spPr>
          <a:xfrm>
            <a:off x="6649060" y="4773676"/>
            <a:ext cx="4646524" cy="201168"/>
          </a:xfrm>
          <a:prstGeom prst="rect">
            <a:avLst/>
          </a:prstGeom>
          <a:noFill/>
          <a:ln/>
        </p:spPr>
        <p:txBody>
          <a:bodyPr wrap="square" lIns="0" tIns="0" rIns="0" bIns="0" rtlCol="0" anchor="ctr"/>
          <a:lstStyle/>
          <a:p>
            <a:pPr marL="0" indent="0">
              <a:buNone/>
            </a:pPr>
            <a:r>
              <a:rPr lang="en-US" sz="900" b="1" dirty="0">
                <a:solidFill>
                  <a:srgbClr val="8A8FB5"/>
                </a:solidFill>
                <a:latin typeface="Calibri" pitchFamily="34" charset="0"/>
                <a:ea typeface="Calibri" pitchFamily="34" charset="-122"/>
                <a:cs typeface="Calibri" pitchFamily="34" charset="-120"/>
              </a:rPr>
              <a:t>&lt;/&gt;  How to handle it with try / except</a:t>
            </a:r>
            <a:endParaRPr lang="en-US" sz="900" dirty="0"/>
          </a:p>
        </p:txBody>
      </p:sp>
      <p:sp>
        <p:nvSpPr>
          <p:cNvPr id="36" name="Text 34"/>
          <p:cNvSpPr txBox="1"/>
          <p:nvPr/>
        </p:nvSpPr>
        <p:spPr>
          <a:xfrm>
            <a:off x="6649060" y="5020564"/>
            <a:ext cx="4701388" cy="720852"/>
          </a:xfrm>
          <a:prstGeom prst="rect">
            <a:avLst/>
          </a:prstGeom>
          <a:noFill/>
          <a:ln/>
        </p:spPr>
        <p:txBody>
          <a:bodyPr wrap="square" lIns="0" tIns="0" rIns="0" bIns="0" rtlCol="0" anchor="t"/>
          <a:lstStyle/>
          <a:p>
            <a:pPr marL="0" indent="0">
              <a:buNone/>
            </a:pPr>
            <a:r>
              <a:rPr lang="en-US" sz="1050" dirty="0">
                <a:solidFill>
                  <a:srgbClr val="D3A6FF"/>
                </a:solidFill>
                <a:latin typeface="Courier New" pitchFamily="34" charset="0"/>
                <a:ea typeface="Courier New" pitchFamily="34" charset="-122"/>
                <a:cs typeface="Courier New" pitchFamily="34" charset="-120"/>
              </a:rPr>
              <a:t>try</a:t>
            </a:r>
            <a:r>
              <a:rPr lang="en-US" sz="1050" dirty="0">
                <a:solidFill>
                  <a:srgbClr val="E4E4F0"/>
                </a:solidFill>
                <a:latin typeface="Courier New" pitchFamily="34" charset="0"/>
                <a:ea typeface="Courier New" pitchFamily="34" charset="-122"/>
                <a:cs typeface="Courier New" pitchFamily="34" charset="-120"/>
              </a:rPr>
              <a:t>:</a:t>
            </a:r>
            <a:endParaRPr lang="en-US" sz="1050" dirty="0"/>
          </a:p>
          <a:p>
            <a:pPr marL="0" indent="0">
              <a:buNone/>
            </a:pPr>
            <a:r>
              <a:rPr lang="en-US" sz="1050" dirty="0">
                <a:solidFill>
                  <a:srgbClr val="E4E4F0"/>
                </a:solidFill>
                <a:latin typeface="Courier New" pitchFamily="34" charset="0"/>
                <a:ea typeface="Courier New" pitchFamily="34" charset="-122"/>
                <a:cs typeface="Courier New" pitchFamily="34" charset="-120"/>
              </a:rPr>
              <a:t>    age = </a:t>
            </a:r>
            <a:r>
              <a:rPr lang="en-US" sz="1050" dirty="0">
                <a:solidFill>
                  <a:srgbClr val="82AAFF"/>
                </a:solidFill>
                <a:latin typeface="Courier New" pitchFamily="34" charset="0"/>
                <a:ea typeface="Courier New" pitchFamily="34" charset="-122"/>
                <a:cs typeface="Courier New" pitchFamily="34" charset="-120"/>
              </a:rPr>
              <a:t>int</a:t>
            </a:r>
            <a:r>
              <a:rPr lang="en-US" sz="1050" dirty="0">
                <a:solidFill>
                  <a:srgbClr val="E4E4F0"/>
                </a:solidFill>
                <a:latin typeface="Courier New" pitchFamily="34" charset="0"/>
                <a:ea typeface="Courier New" pitchFamily="34" charset="-122"/>
                <a:cs typeface="Courier New" pitchFamily="34" charset="-120"/>
              </a:rPr>
              <a:t>(</a:t>
            </a:r>
            <a:r>
              <a:rPr lang="en-US" sz="1050" dirty="0">
                <a:solidFill>
                  <a:srgbClr val="82AAFF"/>
                </a:solidFill>
                <a:latin typeface="Courier New" pitchFamily="34" charset="0"/>
                <a:ea typeface="Courier New" pitchFamily="34" charset="-122"/>
                <a:cs typeface="Courier New" pitchFamily="34" charset="-120"/>
              </a:rPr>
              <a:t>input</a:t>
            </a:r>
            <a:r>
              <a:rPr lang="en-US" sz="1050" dirty="0">
                <a:solidFill>
                  <a:srgbClr val="E4E4F0"/>
                </a:solidFill>
                <a:latin typeface="Courier New" pitchFamily="34" charset="0"/>
                <a:ea typeface="Courier New" pitchFamily="34" charset="-122"/>
                <a:cs typeface="Courier New" pitchFamily="34" charset="-120"/>
              </a:rPr>
              <a:t>(</a:t>
            </a:r>
            <a:r>
              <a:rPr lang="en-US" sz="1050" dirty="0">
                <a:solidFill>
                  <a:srgbClr val="A6E3A1"/>
                </a:solidFill>
                <a:latin typeface="Courier New" pitchFamily="34" charset="0"/>
                <a:ea typeface="Courier New" pitchFamily="34" charset="-122"/>
                <a:cs typeface="Courier New" pitchFamily="34" charset="-120"/>
              </a:rPr>
              <a:t>"Enter your age: "</a:t>
            </a:r>
            <a:r>
              <a:rPr lang="en-US" sz="1050" dirty="0">
                <a:solidFill>
                  <a:srgbClr val="E4E4F0"/>
                </a:solidFill>
                <a:latin typeface="Courier New" pitchFamily="34" charset="0"/>
                <a:ea typeface="Courier New" pitchFamily="34" charset="-122"/>
                <a:cs typeface="Courier New" pitchFamily="34" charset="-120"/>
              </a:rPr>
              <a:t>))</a:t>
            </a:r>
            <a:endParaRPr lang="en-US" sz="1050" dirty="0"/>
          </a:p>
          <a:p>
            <a:pPr marL="0" indent="0">
              <a:buNone/>
            </a:pPr>
            <a:r>
              <a:rPr lang="en-US" sz="1050" dirty="0">
                <a:solidFill>
                  <a:srgbClr val="D3A6FF"/>
                </a:solidFill>
                <a:latin typeface="Courier New" pitchFamily="34" charset="0"/>
                <a:ea typeface="Courier New" pitchFamily="34" charset="-122"/>
                <a:cs typeface="Courier New" pitchFamily="34" charset="-120"/>
              </a:rPr>
              <a:t>except</a:t>
            </a:r>
            <a:r>
              <a:rPr lang="en-US" sz="1050" dirty="0">
                <a:solidFill>
                  <a:srgbClr val="E4E4F0"/>
                </a:solidFill>
                <a:latin typeface="Courier New" pitchFamily="34" charset="0"/>
                <a:ea typeface="Courier New" pitchFamily="34" charset="-122"/>
                <a:cs typeface="Courier New" pitchFamily="34" charset="-120"/>
              </a:rPr>
              <a:t> </a:t>
            </a:r>
            <a:r>
              <a:rPr lang="en-US" sz="1050" dirty="0">
                <a:solidFill>
                  <a:srgbClr val="F38BA8"/>
                </a:solidFill>
                <a:latin typeface="Courier New" pitchFamily="34" charset="0"/>
                <a:ea typeface="Courier New" pitchFamily="34" charset="-122"/>
                <a:cs typeface="Courier New" pitchFamily="34" charset="-120"/>
              </a:rPr>
              <a:t>ValueError</a:t>
            </a:r>
            <a:r>
              <a:rPr lang="en-US" sz="1050" dirty="0">
                <a:solidFill>
                  <a:srgbClr val="E4E4F0"/>
                </a:solidFill>
                <a:latin typeface="Courier New" pitchFamily="34" charset="0"/>
                <a:ea typeface="Courier New" pitchFamily="34" charset="-122"/>
                <a:cs typeface="Courier New" pitchFamily="34" charset="-120"/>
              </a:rPr>
              <a:t>:</a:t>
            </a:r>
            <a:endParaRPr lang="en-US" sz="1050" dirty="0"/>
          </a:p>
          <a:p>
            <a:pPr marL="0" indent="0">
              <a:buNone/>
            </a:pPr>
            <a:r>
              <a:rPr lang="en-US" sz="1050" dirty="0">
                <a:solidFill>
                  <a:srgbClr val="E4E4F0"/>
                </a:solidFill>
                <a:latin typeface="Courier New" pitchFamily="34" charset="0"/>
                <a:ea typeface="Courier New" pitchFamily="34" charset="-122"/>
                <a:cs typeface="Courier New" pitchFamily="34" charset="-120"/>
              </a:rPr>
              <a:t>    </a:t>
            </a:r>
            <a:r>
              <a:rPr lang="en-US" sz="1050" dirty="0">
                <a:solidFill>
                  <a:srgbClr val="82AAFF"/>
                </a:solidFill>
                <a:latin typeface="Courier New" pitchFamily="34" charset="0"/>
                <a:ea typeface="Courier New" pitchFamily="34" charset="-122"/>
                <a:cs typeface="Courier New" pitchFamily="34" charset="-120"/>
              </a:rPr>
              <a:t>print</a:t>
            </a:r>
            <a:r>
              <a:rPr lang="en-US" sz="1050" dirty="0">
                <a:solidFill>
                  <a:srgbClr val="E4E4F0"/>
                </a:solidFill>
                <a:latin typeface="Courier New" pitchFamily="34" charset="0"/>
                <a:ea typeface="Courier New" pitchFamily="34" charset="-122"/>
                <a:cs typeface="Courier New" pitchFamily="34" charset="-120"/>
              </a:rPr>
              <a:t>(</a:t>
            </a:r>
            <a:r>
              <a:rPr lang="en-US" sz="1050" dirty="0">
                <a:solidFill>
                  <a:srgbClr val="A6E3A1"/>
                </a:solidFill>
                <a:latin typeface="Courier New" pitchFamily="34" charset="0"/>
                <a:ea typeface="Courier New" pitchFamily="34" charset="-122"/>
                <a:cs typeface="Courier New" pitchFamily="34" charset="-120"/>
              </a:rPr>
              <a:t>"Please enter a number."</a:t>
            </a:r>
            <a:r>
              <a:rPr lang="en-US" sz="1050" dirty="0">
                <a:solidFill>
                  <a:srgbClr val="E4E4F0"/>
                </a:solidFill>
                <a:latin typeface="Courier New" pitchFamily="34" charset="0"/>
                <a:ea typeface="Courier New" pitchFamily="34" charset="-122"/>
                <a:cs typeface="Courier New" pitchFamily="34" charset="-120"/>
              </a:rPr>
              <a:t>)</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02920" y="310896"/>
            <a:ext cx="8229600" cy="237744"/>
          </a:xfrm>
          <a:prstGeom prst="rect">
            <a:avLst/>
          </a:prstGeom>
          <a:noFill/>
          <a:ln/>
        </p:spPr>
        <p:txBody>
          <a:bodyPr wrap="square" lIns="0" tIns="0" rIns="0" bIns="0" rtlCol="0" anchor="t"/>
          <a:lstStyle/>
          <a:p>
            <a:pPr marL="0" indent="0">
              <a:buNone/>
            </a:pPr>
            <a:r>
              <a:rPr lang="en-US" sz="1050" b="1" kern="0" spc="200" dirty="0">
                <a:solidFill>
                  <a:srgbClr val="C8559F"/>
                </a:solidFill>
                <a:latin typeface="Calibri" pitchFamily="34" charset="0"/>
                <a:ea typeface="Calibri" pitchFamily="34" charset="-122"/>
                <a:cs typeface="Calibri" pitchFamily="34" charset="-120"/>
              </a:rPr>
              <a:t>UNDERSTANDING EXCEPTIONS · EXAMPLES</a:t>
            </a:r>
            <a:endParaRPr lang="en-US" sz="1050" dirty="0"/>
          </a:p>
        </p:txBody>
      </p:sp>
      <p:sp>
        <p:nvSpPr>
          <p:cNvPr id="3" name="Text 1"/>
          <p:cNvSpPr txBox="1"/>
          <p:nvPr/>
        </p:nvSpPr>
        <p:spPr>
          <a:xfrm>
            <a:off x="502920" y="530352"/>
            <a:ext cx="10241280" cy="640080"/>
          </a:xfrm>
          <a:prstGeom prst="rect">
            <a:avLst/>
          </a:prstGeom>
          <a:noFill/>
          <a:ln/>
        </p:spPr>
        <p:txBody>
          <a:bodyPr wrap="square" lIns="0" tIns="0" rIns="0" bIns="0" rtlCol="0" anchor="ctr"/>
          <a:lstStyle/>
          <a:p>
            <a:pPr marL="0" indent="0">
              <a:buNone/>
            </a:pPr>
            <a:r>
              <a:rPr lang="en-US" sz="2800" b="1" dirty="0">
                <a:solidFill>
                  <a:srgbClr val="1E1B4B"/>
                </a:solidFill>
                <a:latin typeface="Calibri" pitchFamily="34" charset="0"/>
                <a:ea typeface="Calibri" pitchFamily="34" charset="-122"/>
                <a:cs typeface="Calibri" pitchFamily="34" charset="-120"/>
              </a:rPr>
              <a:t>Understanding Exceptions</a:t>
            </a:r>
            <a:endParaRPr lang="en-US" sz="2800" dirty="0"/>
          </a:p>
        </p:txBody>
      </p:sp>
      <p:sp>
        <p:nvSpPr>
          <p:cNvPr id="4" name="Text 2"/>
          <p:cNvSpPr txBox="1"/>
          <p:nvPr/>
        </p:nvSpPr>
        <p:spPr>
          <a:xfrm>
            <a:off x="502920" y="6446520"/>
            <a:ext cx="5486400" cy="228600"/>
          </a:xfrm>
          <a:prstGeom prst="rect">
            <a:avLst/>
          </a:prstGeom>
          <a:noFill/>
          <a:ln/>
        </p:spPr>
        <p:txBody>
          <a:bodyPr wrap="square" lIns="0" tIns="0" rIns="0" bIns="0" rtlCol="0" anchor="t"/>
          <a:lstStyle/>
          <a:p>
            <a:pPr marL="0" indent="0">
              <a:buNone/>
            </a:pPr>
            <a:r>
              <a:rPr lang="en-US" sz="900" dirty="0">
                <a:solidFill>
                  <a:srgbClr val="5B5F7A"/>
                </a:solidFill>
                <a:latin typeface="Calibri" pitchFamily="34" charset="0"/>
                <a:ea typeface="Calibri" pitchFamily="34" charset="-122"/>
                <a:cs typeface="Calibri" pitchFamily="34" charset="-120"/>
              </a:rPr>
              <a:t>Python  ·  Error Handling</a:t>
            </a:r>
            <a:endParaRPr lang="en-US" sz="900" dirty="0"/>
          </a:p>
        </p:txBody>
      </p:sp>
      <p:sp>
        <p:nvSpPr>
          <p:cNvPr id="5" name="Text 3"/>
          <p:cNvSpPr txBox="1"/>
          <p:nvPr/>
        </p:nvSpPr>
        <p:spPr>
          <a:xfrm>
            <a:off x="11140135" y="6446520"/>
            <a:ext cx="548640" cy="228600"/>
          </a:xfrm>
          <a:prstGeom prst="rect">
            <a:avLst/>
          </a:prstGeom>
          <a:noFill/>
          <a:ln/>
        </p:spPr>
        <p:txBody>
          <a:bodyPr wrap="square" lIns="0" tIns="0" rIns="0" bIns="0" rtlCol="0" anchor="t"/>
          <a:lstStyle/>
          <a:p>
            <a:pPr marL="0" indent="0" algn="r">
              <a:buNone/>
            </a:pPr>
            <a:r>
              <a:rPr lang="en-US" sz="900" dirty="0">
                <a:solidFill>
                  <a:srgbClr val="5B5F7A"/>
                </a:solidFill>
                <a:latin typeface="Calibri" pitchFamily="34" charset="0"/>
                <a:ea typeface="Calibri" pitchFamily="34" charset="-122"/>
                <a:cs typeface="Calibri" pitchFamily="34" charset="-120"/>
              </a:rPr>
              <a:t>8</a:t>
            </a:r>
            <a:endParaRPr lang="en-US" sz="900" dirty="0"/>
          </a:p>
        </p:txBody>
      </p:sp>
      <p:sp>
        <p:nvSpPr>
          <p:cNvPr id="6" name="Shape 4"/>
          <p:cNvSpPr/>
          <p:nvPr/>
        </p:nvSpPr>
        <p:spPr>
          <a:xfrm>
            <a:off x="502920" y="1417320"/>
            <a:ext cx="5432908" cy="4800600"/>
          </a:xfrm>
          <a:prstGeom prst="roundRect">
            <a:avLst>
              <a:gd name="adj" fmla="val 2286"/>
            </a:avLst>
          </a:prstGeom>
          <a:solidFill>
            <a:srgbClr val="FFFFFF"/>
          </a:solidFill>
          <a:ln w="9525">
            <a:solidFill>
              <a:srgbClr val="DCDDF5"/>
            </a:solidFill>
            <a:prstDash val="solid"/>
          </a:ln>
          <a:effectLst>
            <a:outerShdw blurRad="127000" dist="25400" dir="5400000" algn="bl" rotWithShape="0">
              <a:srgbClr val="4F46E5">
                <a:alpha val="12000"/>
              </a:srgbClr>
            </a:outerShdw>
          </a:effectLst>
        </p:spPr>
        <p:txBody>
          <a:bodyPr/>
          <a:lstStyle/>
          <a:p>
            <a:endParaRPr lang="en-PH"/>
          </a:p>
        </p:txBody>
      </p:sp>
      <p:sp>
        <p:nvSpPr>
          <p:cNvPr id="7" name="Text 5"/>
          <p:cNvSpPr txBox="1"/>
          <p:nvPr/>
        </p:nvSpPr>
        <p:spPr>
          <a:xfrm>
            <a:off x="731520" y="1572768"/>
            <a:ext cx="4975708" cy="365760"/>
          </a:xfrm>
          <a:prstGeom prst="rect">
            <a:avLst/>
          </a:prstGeom>
          <a:noFill/>
          <a:ln/>
        </p:spPr>
        <p:txBody>
          <a:bodyPr wrap="square" lIns="0" tIns="0" rIns="0" bIns="0" rtlCol="0" anchor="ctr"/>
          <a:lstStyle/>
          <a:p>
            <a:pPr marL="0" indent="0">
              <a:buNone/>
            </a:pPr>
            <a:r>
              <a:rPr lang="en-US" sz="1650" b="1" dirty="0">
                <a:solidFill>
                  <a:srgbClr val="1E1B4B"/>
                </a:solidFill>
                <a:latin typeface="Calibri" pitchFamily="34" charset="0"/>
                <a:ea typeface="Calibri" pitchFamily="34" charset="-122"/>
                <a:cs typeface="Calibri" pitchFamily="34" charset="-120"/>
              </a:rPr>
              <a:t>3. Accessing an Invalid List Index</a:t>
            </a:r>
            <a:endParaRPr lang="en-US" sz="1650" dirty="0"/>
          </a:p>
        </p:txBody>
      </p:sp>
      <p:sp>
        <p:nvSpPr>
          <p:cNvPr id="8" name="Shape 6"/>
          <p:cNvSpPr/>
          <p:nvPr/>
        </p:nvSpPr>
        <p:spPr>
          <a:xfrm>
            <a:off x="731520" y="1993392"/>
            <a:ext cx="1024128" cy="274320"/>
          </a:xfrm>
          <a:prstGeom prst="roundRect">
            <a:avLst>
              <a:gd name="adj" fmla="val 50000"/>
            </a:avLst>
          </a:prstGeom>
          <a:solidFill>
            <a:srgbClr val="FDE8EC"/>
          </a:solidFill>
          <a:ln w="12700">
            <a:solidFill>
              <a:srgbClr val="FDE8EC"/>
            </a:solidFill>
            <a:prstDash val="solid"/>
          </a:ln>
        </p:spPr>
        <p:txBody>
          <a:bodyPr/>
          <a:lstStyle/>
          <a:p>
            <a:endParaRPr lang="en-PH"/>
          </a:p>
        </p:txBody>
      </p:sp>
      <p:sp>
        <p:nvSpPr>
          <p:cNvPr id="9" name="Text 7"/>
          <p:cNvSpPr txBox="1"/>
          <p:nvPr/>
        </p:nvSpPr>
        <p:spPr>
          <a:xfrm>
            <a:off x="731520" y="1993392"/>
            <a:ext cx="1024128" cy="274320"/>
          </a:xfrm>
          <a:prstGeom prst="rect">
            <a:avLst/>
          </a:prstGeom>
          <a:noFill/>
          <a:ln/>
        </p:spPr>
        <p:txBody>
          <a:bodyPr wrap="square" lIns="0" tIns="0" rIns="0" bIns="0" rtlCol="0" anchor="ctr"/>
          <a:lstStyle/>
          <a:p>
            <a:pPr marL="0" indent="0" algn="ctr">
              <a:buNone/>
            </a:pPr>
            <a:r>
              <a:rPr lang="en-US" sz="1000" dirty="0">
                <a:solidFill>
                  <a:srgbClr val="C0392B"/>
                </a:solidFill>
                <a:latin typeface="Courier New" pitchFamily="34" charset="0"/>
                <a:ea typeface="Courier New" pitchFamily="34" charset="-122"/>
                <a:cs typeface="Courier New" pitchFamily="34" charset="-120"/>
              </a:rPr>
              <a:t>IndexError</a:t>
            </a:r>
            <a:endParaRPr lang="en-US" sz="1000" dirty="0"/>
          </a:p>
        </p:txBody>
      </p:sp>
      <p:sp>
        <p:nvSpPr>
          <p:cNvPr id="10" name="Shape 8"/>
          <p:cNvSpPr/>
          <p:nvPr/>
        </p:nvSpPr>
        <p:spPr>
          <a:xfrm>
            <a:off x="731520" y="2423160"/>
            <a:ext cx="4975708" cy="970026"/>
          </a:xfrm>
          <a:prstGeom prst="roundRect">
            <a:avLst>
              <a:gd name="adj" fmla="val 9427"/>
            </a:avLst>
          </a:prstGeom>
          <a:solidFill>
            <a:srgbClr val="1F1D36"/>
          </a:solidFill>
          <a:ln w="12700">
            <a:solidFill>
              <a:srgbClr val="1F1D36"/>
            </a:solidFill>
            <a:prstDash val="solid"/>
          </a:ln>
        </p:spPr>
        <p:txBody>
          <a:bodyPr/>
          <a:lstStyle/>
          <a:p>
            <a:endParaRPr lang="en-PH"/>
          </a:p>
        </p:txBody>
      </p:sp>
      <p:sp>
        <p:nvSpPr>
          <p:cNvPr id="11" name="Text 9"/>
          <p:cNvSpPr txBox="1"/>
          <p:nvPr/>
        </p:nvSpPr>
        <p:spPr>
          <a:xfrm>
            <a:off x="896112" y="2505456"/>
            <a:ext cx="4646524" cy="201168"/>
          </a:xfrm>
          <a:prstGeom prst="rect">
            <a:avLst/>
          </a:prstGeom>
          <a:noFill/>
          <a:ln/>
        </p:spPr>
        <p:txBody>
          <a:bodyPr wrap="square" lIns="0" tIns="0" rIns="0" bIns="0" rtlCol="0" anchor="ctr"/>
          <a:lstStyle/>
          <a:p>
            <a:pPr marL="0" indent="0">
              <a:buNone/>
            </a:pPr>
            <a:r>
              <a:rPr lang="en-US" sz="900" b="1" dirty="0">
                <a:solidFill>
                  <a:srgbClr val="8A8FB5"/>
                </a:solidFill>
                <a:latin typeface="Calibri" pitchFamily="34" charset="0"/>
                <a:ea typeface="Calibri" pitchFamily="34" charset="-122"/>
                <a:cs typeface="Calibri" pitchFamily="34" charset="-120"/>
              </a:rPr>
              <a:t>&lt;/&gt;  Python</a:t>
            </a:r>
            <a:endParaRPr lang="en-US" sz="900" dirty="0"/>
          </a:p>
        </p:txBody>
      </p:sp>
      <p:sp>
        <p:nvSpPr>
          <p:cNvPr id="12" name="Text 10"/>
          <p:cNvSpPr txBox="1"/>
          <p:nvPr/>
        </p:nvSpPr>
        <p:spPr>
          <a:xfrm>
            <a:off x="896112" y="2752344"/>
            <a:ext cx="4701388" cy="585978"/>
          </a:xfrm>
          <a:prstGeom prst="rect">
            <a:avLst/>
          </a:prstGeom>
          <a:noFill/>
          <a:ln/>
        </p:spPr>
        <p:txBody>
          <a:bodyPr wrap="square" lIns="0" tIns="0" rIns="0" bIns="0" rtlCol="0" anchor="t"/>
          <a:lstStyle/>
          <a:p>
            <a:pPr marL="0" indent="0">
              <a:buNone/>
            </a:pPr>
            <a:r>
              <a:rPr lang="en-US" sz="1100" dirty="0">
                <a:solidFill>
                  <a:srgbClr val="E4E4F0"/>
                </a:solidFill>
                <a:latin typeface="Courier New" pitchFamily="34" charset="0"/>
                <a:ea typeface="Courier New" pitchFamily="34" charset="-122"/>
                <a:cs typeface="Courier New" pitchFamily="34" charset="-120"/>
              </a:rPr>
              <a:t>fruits = [</a:t>
            </a:r>
            <a:r>
              <a:rPr lang="en-US" sz="1100" dirty="0">
                <a:solidFill>
                  <a:srgbClr val="A6E3A1"/>
                </a:solidFill>
                <a:latin typeface="Courier New" pitchFamily="34" charset="0"/>
                <a:ea typeface="Courier New" pitchFamily="34" charset="-122"/>
                <a:cs typeface="Courier New" pitchFamily="34" charset="-120"/>
              </a:rPr>
              <a:t>"Apple"</a:t>
            </a:r>
            <a:r>
              <a:rPr lang="en-US" sz="1100" dirty="0">
                <a:solidFill>
                  <a:srgbClr val="E4E4F0"/>
                </a:solidFill>
                <a:latin typeface="Courier New" pitchFamily="34" charset="0"/>
                <a:ea typeface="Courier New" pitchFamily="34" charset="-122"/>
                <a:cs typeface="Courier New" pitchFamily="34" charset="-120"/>
              </a:rPr>
              <a:t>, </a:t>
            </a:r>
            <a:r>
              <a:rPr lang="en-US" sz="1100" dirty="0">
                <a:solidFill>
                  <a:srgbClr val="A6E3A1"/>
                </a:solidFill>
                <a:latin typeface="Courier New" pitchFamily="34" charset="0"/>
                <a:ea typeface="Courier New" pitchFamily="34" charset="-122"/>
                <a:cs typeface="Courier New" pitchFamily="34" charset="-120"/>
              </a:rPr>
              <a:t>"Banana"</a:t>
            </a:r>
            <a:r>
              <a:rPr lang="en-US" sz="1100" dirty="0">
                <a:solidFill>
                  <a:srgbClr val="E4E4F0"/>
                </a:solidFill>
                <a:latin typeface="Courier New" pitchFamily="34" charset="0"/>
                <a:ea typeface="Courier New" pitchFamily="34" charset="-122"/>
                <a:cs typeface="Courier New" pitchFamily="34" charset="-120"/>
              </a:rPr>
              <a:t>, </a:t>
            </a:r>
            <a:r>
              <a:rPr lang="en-US" sz="1100" dirty="0">
                <a:solidFill>
                  <a:srgbClr val="A6E3A1"/>
                </a:solidFill>
                <a:latin typeface="Courier New" pitchFamily="34" charset="0"/>
                <a:ea typeface="Courier New" pitchFamily="34" charset="-122"/>
                <a:cs typeface="Courier New" pitchFamily="34" charset="-120"/>
              </a:rPr>
              <a:t>"Mango"</a:t>
            </a:r>
            <a:r>
              <a:rPr lang="en-US" sz="1100" dirty="0">
                <a:solidFill>
                  <a:srgbClr val="E4E4F0"/>
                </a:solidFill>
                <a:latin typeface="Courier New" pitchFamily="34" charset="0"/>
                <a:ea typeface="Courier New" pitchFamily="34" charset="-122"/>
                <a:cs typeface="Courier New" pitchFamily="34" charset="-120"/>
              </a:rPr>
              <a:t>]</a:t>
            </a:r>
            <a:endParaRPr lang="en-US" sz="1100" dirty="0"/>
          </a:p>
          <a:p>
            <a:pPr marL="0" indent="0">
              <a:buNone/>
            </a:pPr>
            <a:r>
              <a:rPr lang="en-US" sz="1100" dirty="0">
                <a:solidFill>
                  <a:srgbClr val="E4E4F0"/>
                </a:solidFill>
                <a:latin typeface="Courier New" pitchFamily="34" charset="0"/>
                <a:ea typeface="Courier New" pitchFamily="34" charset="-122"/>
                <a:cs typeface="Courier New" pitchFamily="34" charset="-120"/>
              </a:rPr>
              <a:t> </a:t>
            </a:r>
            <a:endParaRPr lang="en-US" sz="1100" dirty="0"/>
          </a:p>
          <a:p>
            <a:pPr marL="0" indent="0">
              <a:buNone/>
            </a:pPr>
            <a:r>
              <a:rPr lang="en-US" sz="1100" dirty="0">
                <a:solidFill>
                  <a:srgbClr val="82AAFF"/>
                </a:solidFill>
                <a:latin typeface="Courier New" pitchFamily="34" charset="0"/>
                <a:ea typeface="Courier New" pitchFamily="34" charset="-122"/>
                <a:cs typeface="Courier New" pitchFamily="34" charset="-120"/>
              </a:rPr>
              <a:t>print</a:t>
            </a:r>
            <a:r>
              <a:rPr lang="en-US" sz="1100" dirty="0">
                <a:solidFill>
                  <a:srgbClr val="E4E4F0"/>
                </a:solidFill>
                <a:latin typeface="Courier New" pitchFamily="34" charset="0"/>
                <a:ea typeface="Courier New" pitchFamily="34" charset="-122"/>
                <a:cs typeface="Courier New" pitchFamily="34" charset="-120"/>
              </a:rPr>
              <a:t>(fruits[</a:t>
            </a:r>
            <a:r>
              <a:rPr lang="en-US" sz="1100" dirty="0">
                <a:solidFill>
                  <a:srgbClr val="FAB387"/>
                </a:solidFill>
                <a:latin typeface="Courier New" pitchFamily="34" charset="0"/>
                <a:ea typeface="Courier New" pitchFamily="34" charset="-122"/>
                <a:cs typeface="Courier New" pitchFamily="34" charset="-120"/>
              </a:rPr>
              <a:t>5</a:t>
            </a:r>
            <a:r>
              <a:rPr lang="en-US" sz="1100" dirty="0">
                <a:solidFill>
                  <a:srgbClr val="E4E4F0"/>
                </a:solidFill>
                <a:latin typeface="Courier New" pitchFamily="34" charset="0"/>
                <a:ea typeface="Courier New" pitchFamily="34" charset="-122"/>
                <a:cs typeface="Courier New" pitchFamily="34" charset="-120"/>
              </a:rPr>
              <a:t>])</a:t>
            </a:r>
            <a:endParaRPr lang="en-US" sz="1100" dirty="0"/>
          </a:p>
        </p:txBody>
      </p:sp>
      <p:sp>
        <p:nvSpPr>
          <p:cNvPr id="13" name="Shape 11"/>
          <p:cNvSpPr/>
          <p:nvPr/>
        </p:nvSpPr>
        <p:spPr>
          <a:xfrm>
            <a:off x="731520" y="3502914"/>
            <a:ext cx="4975708" cy="566928"/>
          </a:xfrm>
          <a:prstGeom prst="roundRect">
            <a:avLst>
              <a:gd name="adj" fmla="val 16129"/>
            </a:avLst>
          </a:prstGeom>
          <a:solidFill>
            <a:srgbClr val="F6F6FF"/>
          </a:solidFill>
          <a:ln w="9525">
            <a:solidFill>
              <a:srgbClr val="DCDDF5"/>
            </a:solidFill>
            <a:prstDash val="solid"/>
          </a:ln>
        </p:spPr>
        <p:txBody>
          <a:bodyPr/>
          <a:lstStyle/>
          <a:p>
            <a:endParaRPr lang="en-PH"/>
          </a:p>
        </p:txBody>
      </p:sp>
      <p:sp>
        <p:nvSpPr>
          <p:cNvPr id="14" name="Text 12"/>
          <p:cNvSpPr txBox="1"/>
          <p:nvPr/>
        </p:nvSpPr>
        <p:spPr>
          <a:xfrm>
            <a:off x="877824" y="3576066"/>
            <a:ext cx="4701388" cy="182880"/>
          </a:xfrm>
          <a:prstGeom prst="rect">
            <a:avLst/>
          </a:prstGeom>
          <a:noFill/>
          <a:ln/>
        </p:spPr>
        <p:txBody>
          <a:bodyPr wrap="square" lIns="0" tIns="0" rIns="0" bIns="0" rtlCol="0" anchor="ctr"/>
          <a:lstStyle/>
          <a:p>
            <a:pPr marL="0" indent="0">
              <a:buNone/>
            </a:pPr>
            <a:r>
              <a:rPr lang="en-US" sz="850" b="1" kern="0" spc="150" dirty="0">
                <a:solidFill>
                  <a:srgbClr val="4F46E5"/>
                </a:solidFill>
                <a:latin typeface="Calibri" pitchFamily="34" charset="0"/>
                <a:ea typeface="Calibri" pitchFamily="34" charset="-122"/>
                <a:cs typeface="Calibri" pitchFamily="34" charset="-120"/>
              </a:rPr>
              <a:t>OUTPUT</a:t>
            </a:r>
            <a:endParaRPr lang="en-US" sz="850" dirty="0"/>
          </a:p>
        </p:txBody>
      </p:sp>
      <p:sp>
        <p:nvSpPr>
          <p:cNvPr id="15" name="Text 13"/>
          <p:cNvSpPr txBox="1"/>
          <p:nvPr/>
        </p:nvSpPr>
        <p:spPr>
          <a:xfrm>
            <a:off x="877824" y="3795522"/>
            <a:ext cx="4737964" cy="237744"/>
          </a:xfrm>
          <a:prstGeom prst="rect">
            <a:avLst/>
          </a:prstGeom>
          <a:noFill/>
          <a:ln/>
        </p:spPr>
        <p:txBody>
          <a:bodyPr wrap="square" lIns="0" tIns="0" rIns="0" bIns="0" rtlCol="0" anchor="t"/>
          <a:lstStyle/>
          <a:p>
            <a:pPr marL="0" indent="0">
              <a:buNone/>
            </a:pPr>
            <a:r>
              <a:rPr lang="en-US" sz="1100" dirty="0">
                <a:solidFill>
                  <a:srgbClr val="C0392B"/>
                </a:solidFill>
                <a:latin typeface="Courier New" pitchFamily="34" charset="0"/>
                <a:ea typeface="Courier New" pitchFamily="34" charset="-122"/>
                <a:cs typeface="Courier New" pitchFamily="34" charset="-120"/>
              </a:rPr>
              <a:t>IndexError: list index out of range</a:t>
            </a:r>
            <a:endParaRPr lang="en-US" sz="1100" dirty="0"/>
          </a:p>
        </p:txBody>
      </p:sp>
      <p:sp>
        <p:nvSpPr>
          <p:cNvPr id="16" name="Text 14"/>
          <p:cNvSpPr txBox="1"/>
          <p:nvPr/>
        </p:nvSpPr>
        <p:spPr>
          <a:xfrm>
            <a:off x="731520" y="4197858"/>
            <a:ext cx="4975708" cy="566928"/>
          </a:xfrm>
          <a:prstGeom prst="rect">
            <a:avLst/>
          </a:prstGeom>
          <a:noFill/>
          <a:ln/>
        </p:spPr>
        <p:txBody>
          <a:bodyPr wrap="square" lIns="0" tIns="0" rIns="0" bIns="0" rtlCol="0" anchor="t"/>
          <a:lstStyle/>
          <a:p>
            <a:pPr marL="0" indent="0">
              <a:buNone/>
            </a:pPr>
            <a:r>
              <a:rPr lang="en-US" sz="1250" b="1" dirty="0">
                <a:solidFill>
                  <a:srgbClr val="5B5F7A"/>
                </a:solidFill>
                <a:latin typeface="Calibri" pitchFamily="34" charset="0"/>
                <a:ea typeface="Calibri" pitchFamily="34" charset="-122"/>
                <a:cs typeface="Calibri" pitchFamily="34" charset="-120"/>
              </a:rPr>
              <a:t>Why it happens:</a:t>
            </a:r>
            <a:r>
              <a:rPr lang="en-US" sz="1250" dirty="0">
                <a:solidFill>
                  <a:srgbClr val="5B5F7A"/>
                </a:solidFill>
                <a:latin typeface="Calibri" pitchFamily="34" charset="0"/>
                <a:ea typeface="Calibri" pitchFamily="34" charset="-122"/>
                <a:cs typeface="Calibri" pitchFamily="34" charset="-120"/>
              </a:rPr>
              <a:t> the list holds 3 items, so the only valid indexes are 0, 1 and 2. Index 5 is outside that range.</a:t>
            </a:r>
            <a:endParaRPr lang="en-US" sz="1250" dirty="0"/>
          </a:p>
        </p:txBody>
      </p:sp>
      <p:sp>
        <p:nvSpPr>
          <p:cNvPr id="17" name="Shape 15"/>
          <p:cNvSpPr/>
          <p:nvPr/>
        </p:nvSpPr>
        <p:spPr>
          <a:xfrm>
            <a:off x="731520" y="4856226"/>
            <a:ext cx="4975708" cy="1104900"/>
          </a:xfrm>
          <a:prstGeom prst="roundRect">
            <a:avLst>
              <a:gd name="adj" fmla="val 8276"/>
            </a:avLst>
          </a:prstGeom>
          <a:solidFill>
            <a:srgbClr val="1F1D36"/>
          </a:solidFill>
          <a:ln w="12700">
            <a:solidFill>
              <a:srgbClr val="1F1D36"/>
            </a:solidFill>
            <a:prstDash val="solid"/>
          </a:ln>
        </p:spPr>
        <p:txBody>
          <a:bodyPr/>
          <a:lstStyle/>
          <a:p>
            <a:endParaRPr lang="en-PH"/>
          </a:p>
        </p:txBody>
      </p:sp>
      <p:sp>
        <p:nvSpPr>
          <p:cNvPr id="18" name="Text 16"/>
          <p:cNvSpPr txBox="1"/>
          <p:nvPr/>
        </p:nvSpPr>
        <p:spPr>
          <a:xfrm>
            <a:off x="896112" y="4938522"/>
            <a:ext cx="4646524" cy="201168"/>
          </a:xfrm>
          <a:prstGeom prst="rect">
            <a:avLst/>
          </a:prstGeom>
          <a:noFill/>
          <a:ln/>
        </p:spPr>
        <p:txBody>
          <a:bodyPr wrap="square" lIns="0" tIns="0" rIns="0" bIns="0" rtlCol="0" anchor="ctr"/>
          <a:lstStyle/>
          <a:p>
            <a:pPr marL="0" indent="0">
              <a:buNone/>
            </a:pPr>
            <a:r>
              <a:rPr lang="en-US" sz="900" b="1" dirty="0">
                <a:solidFill>
                  <a:srgbClr val="8A8FB5"/>
                </a:solidFill>
                <a:latin typeface="Calibri" pitchFamily="34" charset="0"/>
                <a:ea typeface="Calibri" pitchFamily="34" charset="-122"/>
                <a:cs typeface="Calibri" pitchFamily="34" charset="-120"/>
              </a:rPr>
              <a:t>&lt;/&gt;  How to handle it with try / except</a:t>
            </a:r>
            <a:endParaRPr lang="en-US" sz="900" dirty="0"/>
          </a:p>
        </p:txBody>
      </p:sp>
      <p:sp>
        <p:nvSpPr>
          <p:cNvPr id="19" name="Text 17"/>
          <p:cNvSpPr txBox="1"/>
          <p:nvPr/>
        </p:nvSpPr>
        <p:spPr>
          <a:xfrm>
            <a:off x="896112" y="5185410"/>
            <a:ext cx="4701388" cy="720852"/>
          </a:xfrm>
          <a:prstGeom prst="rect">
            <a:avLst/>
          </a:prstGeom>
          <a:noFill/>
          <a:ln/>
        </p:spPr>
        <p:txBody>
          <a:bodyPr wrap="square" lIns="0" tIns="0" rIns="0" bIns="0" rtlCol="0" anchor="t"/>
          <a:lstStyle/>
          <a:p>
            <a:pPr marL="0" indent="0">
              <a:buNone/>
            </a:pPr>
            <a:r>
              <a:rPr lang="en-US" sz="1050" dirty="0">
                <a:solidFill>
                  <a:srgbClr val="D3A6FF"/>
                </a:solidFill>
                <a:latin typeface="Courier New" pitchFamily="34" charset="0"/>
                <a:ea typeface="Courier New" pitchFamily="34" charset="-122"/>
                <a:cs typeface="Courier New" pitchFamily="34" charset="-120"/>
              </a:rPr>
              <a:t>try</a:t>
            </a:r>
            <a:r>
              <a:rPr lang="en-US" sz="1050" dirty="0">
                <a:solidFill>
                  <a:srgbClr val="E4E4F0"/>
                </a:solidFill>
                <a:latin typeface="Courier New" pitchFamily="34" charset="0"/>
                <a:ea typeface="Courier New" pitchFamily="34" charset="-122"/>
                <a:cs typeface="Courier New" pitchFamily="34" charset="-120"/>
              </a:rPr>
              <a:t>:</a:t>
            </a:r>
            <a:endParaRPr lang="en-US" sz="1050" dirty="0"/>
          </a:p>
          <a:p>
            <a:pPr marL="0" indent="0">
              <a:buNone/>
            </a:pPr>
            <a:r>
              <a:rPr lang="en-US" sz="1050" dirty="0">
                <a:solidFill>
                  <a:srgbClr val="E4E4F0"/>
                </a:solidFill>
                <a:latin typeface="Courier New" pitchFamily="34" charset="0"/>
                <a:ea typeface="Courier New" pitchFamily="34" charset="-122"/>
                <a:cs typeface="Courier New" pitchFamily="34" charset="-120"/>
              </a:rPr>
              <a:t>    </a:t>
            </a:r>
            <a:r>
              <a:rPr lang="en-US" sz="1050" dirty="0">
                <a:solidFill>
                  <a:srgbClr val="82AAFF"/>
                </a:solidFill>
                <a:latin typeface="Courier New" pitchFamily="34" charset="0"/>
                <a:ea typeface="Courier New" pitchFamily="34" charset="-122"/>
                <a:cs typeface="Courier New" pitchFamily="34" charset="-120"/>
              </a:rPr>
              <a:t>print</a:t>
            </a:r>
            <a:r>
              <a:rPr lang="en-US" sz="1050" dirty="0">
                <a:solidFill>
                  <a:srgbClr val="E4E4F0"/>
                </a:solidFill>
                <a:latin typeface="Courier New" pitchFamily="34" charset="0"/>
                <a:ea typeface="Courier New" pitchFamily="34" charset="-122"/>
                <a:cs typeface="Courier New" pitchFamily="34" charset="-120"/>
              </a:rPr>
              <a:t>(fruits[</a:t>
            </a:r>
            <a:r>
              <a:rPr lang="en-US" sz="1050" dirty="0">
                <a:solidFill>
                  <a:srgbClr val="FAB387"/>
                </a:solidFill>
                <a:latin typeface="Courier New" pitchFamily="34" charset="0"/>
                <a:ea typeface="Courier New" pitchFamily="34" charset="-122"/>
                <a:cs typeface="Courier New" pitchFamily="34" charset="-120"/>
              </a:rPr>
              <a:t>5</a:t>
            </a:r>
            <a:r>
              <a:rPr lang="en-US" sz="1050" dirty="0">
                <a:solidFill>
                  <a:srgbClr val="E4E4F0"/>
                </a:solidFill>
                <a:latin typeface="Courier New" pitchFamily="34" charset="0"/>
                <a:ea typeface="Courier New" pitchFamily="34" charset="-122"/>
                <a:cs typeface="Courier New" pitchFamily="34" charset="-120"/>
              </a:rPr>
              <a:t>])</a:t>
            </a:r>
            <a:endParaRPr lang="en-US" sz="1050" dirty="0"/>
          </a:p>
          <a:p>
            <a:pPr marL="0" indent="0">
              <a:buNone/>
            </a:pPr>
            <a:r>
              <a:rPr lang="en-US" sz="1050" dirty="0">
                <a:solidFill>
                  <a:srgbClr val="D3A6FF"/>
                </a:solidFill>
                <a:latin typeface="Courier New" pitchFamily="34" charset="0"/>
                <a:ea typeface="Courier New" pitchFamily="34" charset="-122"/>
                <a:cs typeface="Courier New" pitchFamily="34" charset="-120"/>
              </a:rPr>
              <a:t>except</a:t>
            </a:r>
            <a:r>
              <a:rPr lang="en-US" sz="1050" dirty="0">
                <a:solidFill>
                  <a:srgbClr val="E4E4F0"/>
                </a:solidFill>
                <a:latin typeface="Courier New" pitchFamily="34" charset="0"/>
                <a:ea typeface="Courier New" pitchFamily="34" charset="-122"/>
                <a:cs typeface="Courier New" pitchFamily="34" charset="-120"/>
              </a:rPr>
              <a:t> </a:t>
            </a:r>
            <a:r>
              <a:rPr lang="en-US" sz="1050" dirty="0">
                <a:solidFill>
                  <a:srgbClr val="F38BA8"/>
                </a:solidFill>
                <a:latin typeface="Courier New" pitchFamily="34" charset="0"/>
                <a:ea typeface="Courier New" pitchFamily="34" charset="-122"/>
                <a:cs typeface="Courier New" pitchFamily="34" charset="-120"/>
              </a:rPr>
              <a:t>IndexError</a:t>
            </a:r>
            <a:r>
              <a:rPr lang="en-US" sz="1050" dirty="0">
                <a:solidFill>
                  <a:srgbClr val="E4E4F0"/>
                </a:solidFill>
                <a:latin typeface="Courier New" pitchFamily="34" charset="0"/>
                <a:ea typeface="Courier New" pitchFamily="34" charset="-122"/>
                <a:cs typeface="Courier New" pitchFamily="34" charset="-120"/>
              </a:rPr>
              <a:t>:</a:t>
            </a:r>
            <a:endParaRPr lang="en-US" sz="1050" dirty="0"/>
          </a:p>
          <a:p>
            <a:pPr marL="0" indent="0">
              <a:buNone/>
            </a:pPr>
            <a:r>
              <a:rPr lang="en-US" sz="1050" dirty="0">
                <a:solidFill>
                  <a:srgbClr val="E4E4F0"/>
                </a:solidFill>
                <a:latin typeface="Courier New" pitchFamily="34" charset="0"/>
                <a:ea typeface="Courier New" pitchFamily="34" charset="-122"/>
                <a:cs typeface="Courier New" pitchFamily="34" charset="-120"/>
              </a:rPr>
              <a:t>    </a:t>
            </a:r>
            <a:r>
              <a:rPr lang="en-US" sz="1050" dirty="0">
                <a:solidFill>
                  <a:srgbClr val="82AAFF"/>
                </a:solidFill>
                <a:latin typeface="Courier New" pitchFamily="34" charset="0"/>
                <a:ea typeface="Courier New" pitchFamily="34" charset="-122"/>
                <a:cs typeface="Courier New" pitchFamily="34" charset="-120"/>
              </a:rPr>
              <a:t>print</a:t>
            </a:r>
            <a:r>
              <a:rPr lang="en-US" sz="1050" dirty="0">
                <a:solidFill>
                  <a:srgbClr val="E4E4F0"/>
                </a:solidFill>
                <a:latin typeface="Courier New" pitchFamily="34" charset="0"/>
                <a:ea typeface="Courier New" pitchFamily="34" charset="-122"/>
                <a:cs typeface="Courier New" pitchFamily="34" charset="-120"/>
              </a:rPr>
              <a:t>(</a:t>
            </a:r>
            <a:r>
              <a:rPr lang="en-US" sz="1050" dirty="0">
                <a:solidFill>
                  <a:srgbClr val="A6E3A1"/>
                </a:solidFill>
                <a:latin typeface="Courier New" pitchFamily="34" charset="0"/>
                <a:ea typeface="Courier New" pitchFamily="34" charset="-122"/>
                <a:cs typeface="Courier New" pitchFamily="34" charset="-120"/>
              </a:rPr>
              <a:t>"That index does not exist."</a:t>
            </a:r>
            <a:r>
              <a:rPr lang="en-US" sz="1050" dirty="0">
                <a:solidFill>
                  <a:srgbClr val="E4E4F0"/>
                </a:solidFill>
                <a:latin typeface="Courier New" pitchFamily="34" charset="0"/>
                <a:ea typeface="Courier New" pitchFamily="34" charset="-122"/>
                <a:cs typeface="Courier New" pitchFamily="34" charset="-120"/>
              </a:rPr>
              <a:t>)</a:t>
            </a:r>
            <a:endParaRPr lang="en-US" sz="1050" dirty="0"/>
          </a:p>
        </p:txBody>
      </p:sp>
      <p:sp>
        <p:nvSpPr>
          <p:cNvPr id="20" name="Shape 18"/>
          <p:cNvSpPr/>
          <p:nvPr/>
        </p:nvSpPr>
        <p:spPr>
          <a:xfrm>
            <a:off x="6255868" y="1417320"/>
            <a:ext cx="5432908" cy="4800600"/>
          </a:xfrm>
          <a:prstGeom prst="roundRect">
            <a:avLst>
              <a:gd name="adj" fmla="val 2286"/>
            </a:avLst>
          </a:prstGeom>
          <a:solidFill>
            <a:srgbClr val="FFFFFF"/>
          </a:solidFill>
          <a:ln w="9525">
            <a:solidFill>
              <a:srgbClr val="DCDDF5"/>
            </a:solidFill>
            <a:prstDash val="solid"/>
          </a:ln>
          <a:effectLst>
            <a:outerShdw blurRad="127000" dist="25400" dir="5400000" algn="bl" rotWithShape="0">
              <a:srgbClr val="4F46E5">
                <a:alpha val="12000"/>
              </a:srgbClr>
            </a:outerShdw>
          </a:effectLst>
        </p:spPr>
        <p:txBody>
          <a:bodyPr/>
          <a:lstStyle/>
          <a:p>
            <a:endParaRPr lang="en-PH"/>
          </a:p>
        </p:txBody>
      </p:sp>
      <p:sp>
        <p:nvSpPr>
          <p:cNvPr id="21" name="Text 19"/>
          <p:cNvSpPr txBox="1"/>
          <p:nvPr/>
        </p:nvSpPr>
        <p:spPr>
          <a:xfrm>
            <a:off x="6484468" y="1572768"/>
            <a:ext cx="4975708" cy="365760"/>
          </a:xfrm>
          <a:prstGeom prst="rect">
            <a:avLst/>
          </a:prstGeom>
          <a:noFill/>
          <a:ln/>
        </p:spPr>
        <p:txBody>
          <a:bodyPr wrap="square" lIns="0" tIns="0" rIns="0" bIns="0" rtlCol="0" anchor="ctr"/>
          <a:lstStyle/>
          <a:p>
            <a:pPr marL="0" indent="0">
              <a:buNone/>
            </a:pPr>
            <a:r>
              <a:rPr lang="en-US" sz="1650" b="1" dirty="0">
                <a:solidFill>
                  <a:srgbClr val="1E1B4B"/>
                </a:solidFill>
                <a:latin typeface="Calibri" pitchFamily="34" charset="0"/>
                <a:ea typeface="Calibri" pitchFamily="34" charset="-122"/>
                <a:cs typeface="Calibri" pitchFamily="34" charset="-120"/>
              </a:rPr>
              <a:t>4. Using an Undefined Variable</a:t>
            </a:r>
            <a:endParaRPr lang="en-US" sz="1650" dirty="0"/>
          </a:p>
        </p:txBody>
      </p:sp>
      <p:sp>
        <p:nvSpPr>
          <p:cNvPr id="22" name="Shape 20"/>
          <p:cNvSpPr/>
          <p:nvPr/>
        </p:nvSpPr>
        <p:spPr>
          <a:xfrm>
            <a:off x="6484468" y="1993392"/>
            <a:ext cx="941832" cy="274320"/>
          </a:xfrm>
          <a:prstGeom prst="roundRect">
            <a:avLst>
              <a:gd name="adj" fmla="val 50000"/>
            </a:avLst>
          </a:prstGeom>
          <a:solidFill>
            <a:srgbClr val="FDE8EC"/>
          </a:solidFill>
          <a:ln w="12700">
            <a:solidFill>
              <a:srgbClr val="FDE8EC"/>
            </a:solidFill>
            <a:prstDash val="solid"/>
          </a:ln>
        </p:spPr>
        <p:txBody>
          <a:bodyPr/>
          <a:lstStyle/>
          <a:p>
            <a:endParaRPr lang="en-PH"/>
          </a:p>
        </p:txBody>
      </p:sp>
      <p:sp>
        <p:nvSpPr>
          <p:cNvPr id="23" name="Text 21"/>
          <p:cNvSpPr txBox="1"/>
          <p:nvPr/>
        </p:nvSpPr>
        <p:spPr>
          <a:xfrm>
            <a:off x="6484468" y="1993392"/>
            <a:ext cx="941832" cy="274320"/>
          </a:xfrm>
          <a:prstGeom prst="rect">
            <a:avLst/>
          </a:prstGeom>
          <a:noFill/>
          <a:ln/>
        </p:spPr>
        <p:txBody>
          <a:bodyPr wrap="square" lIns="0" tIns="0" rIns="0" bIns="0" rtlCol="0" anchor="ctr"/>
          <a:lstStyle/>
          <a:p>
            <a:pPr marL="0" indent="0" algn="ctr">
              <a:buNone/>
            </a:pPr>
            <a:r>
              <a:rPr lang="en-US" sz="1000" dirty="0">
                <a:solidFill>
                  <a:srgbClr val="C0392B"/>
                </a:solidFill>
                <a:latin typeface="Courier New" pitchFamily="34" charset="0"/>
                <a:ea typeface="Courier New" pitchFamily="34" charset="-122"/>
                <a:cs typeface="Courier New" pitchFamily="34" charset="-120"/>
              </a:rPr>
              <a:t>NameError</a:t>
            </a:r>
            <a:endParaRPr lang="en-US" sz="1000" dirty="0"/>
          </a:p>
        </p:txBody>
      </p:sp>
      <p:sp>
        <p:nvSpPr>
          <p:cNvPr id="24" name="Shape 22"/>
          <p:cNvSpPr/>
          <p:nvPr/>
        </p:nvSpPr>
        <p:spPr>
          <a:xfrm>
            <a:off x="6484468" y="2423160"/>
            <a:ext cx="4975708" cy="970026"/>
          </a:xfrm>
          <a:prstGeom prst="roundRect">
            <a:avLst>
              <a:gd name="adj" fmla="val 9427"/>
            </a:avLst>
          </a:prstGeom>
          <a:solidFill>
            <a:srgbClr val="1F1D36"/>
          </a:solidFill>
          <a:ln w="12700">
            <a:solidFill>
              <a:srgbClr val="1F1D36"/>
            </a:solidFill>
            <a:prstDash val="solid"/>
          </a:ln>
        </p:spPr>
        <p:txBody>
          <a:bodyPr/>
          <a:lstStyle/>
          <a:p>
            <a:endParaRPr lang="en-PH"/>
          </a:p>
        </p:txBody>
      </p:sp>
      <p:sp>
        <p:nvSpPr>
          <p:cNvPr id="25" name="Text 23"/>
          <p:cNvSpPr txBox="1"/>
          <p:nvPr/>
        </p:nvSpPr>
        <p:spPr>
          <a:xfrm>
            <a:off x="6649060" y="2505456"/>
            <a:ext cx="4646524" cy="201168"/>
          </a:xfrm>
          <a:prstGeom prst="rect">
            <a:avLst/>
          </a:prstGeom>
          <a:noFill/>
          <a:ln/>
        </p:spPr>
        <p:txBody>
          <a:bodyPr wrap="square" lIns="0" tIns="0" rIns="0" bIns="0" rtlCol="0" anchor="ctr"/>
          <a:lstStyle/>
          <a:p>
            <a:pPr marL="0" indent="0">
              <a:buNone/>
            </a:pPr>
            <a:r>
              <a:rPr lang="en-US" sz="900" b="1" dirty="0">
                <a:solidFill>
                  <a:srgbClr val="8A8FB5"/>
                </a:solidFill>
                <a:latin typeface="Calibri" pitchFamily="34" charset="0"/>
                <a:ea typeface="Calibri" pitchFamily="34" charset="-122"/>
                <a:cs typeface="Calibri" pitchFamily="34" charset="-120"/>
              </a:rPr>
              <a:t>&lt;/&gt;  Python</a:t>
            </a:r>
            <a:endParaRPr lang="en-US" sz="900" dirty="0"/>
          </a:p>
        </p:txBody>
      </p:sp>
      <p:sp>
        <p:nvSpPr>
          <p:cNvPr id="26" name="Text 24"/>
          <p:cNvSpPr txBox="1"/>
          <p:nvPr/>
        </p:nvSpPr>
        <p:spPr>
          <a:xfrm>
            <a:off x="6649060" y="2752344"/>
            <a:ext cx="4701388" cy="585978"/>
          </a:xfrm>
          <a:prstGeom prst="rect">
            <a:avLst/>
          </a:prstGeom>
          <a:noFill/>
          <a:ln/>
        </p:spPr>
        <p:txBody>
          <a:bodyPr wrap="square" lIns="0" tIns="0" rIns="0" bIns="0" rtlCol="0" anchor="t"/>
          <a:lstStyle/>
          <a:p>
            <a:pPr marL="0" indent="0">
              <a:buNone/>
            </a:pPr>
            <a:r>
              <a:rPr lang="en-US" sz="1100" dirty="0">
                <a:solidFill>
                  <a:srgbClr val="E4E4F0"/>
                </a:solidFill>
                <a:latin typeface="Courier New" pitchFamily="34" charset="0"/>
                <a:ea typeface="Courier New" pitchFamily="34" charset="-122"/>
                <a:cs typeface="Courier New" pitchFamily="34" charset="-120"/>
              </a:rPr>
              <a:t>price = </a:t>
            </a:r>
            <a:r>
              <a:rPr lang="en-US" sz="1100" dirty="0">
                <a:solidFill>
                  <a:srgbClr val="FAB387"/>
                </a:solidFill>
                <a:latin typeface="Courier New" pitchFamily="34" charset="0"/>
                <a:ea typeface="Courier New" pitchFamily="34" charset="-122"/>
                <a:cs typeface="Courier New" pitchFamily="34" charset="-120"/>
              </a:rPr>
              <a:t>100</a:t>
            </a:r>
            <a:endParaRPr lang="en-US" sz="1100" dirty="0"/>
          </a:p>
          <a:p>
            <a:pPr marL="0" indent="0">
              <a:buNone/>
            </a:pPr>
            <a:r>
              <a:rPr lang="en-US" sz="1100" dirty="0">
                <a:solidFill>
                  <a:srgbClr val="E4E4F0"/>
                </a:solidFill>
                <a:latin typeface="Courier New" pitchFamily="34" charset="0"/>
                <a:ea typeface="Courier New" pitchFamily="34" charset="-122"/>
                <a:cs typeface="Courier New" pitchFamily="34" charset="-120"/>
              </a:rPr>
              <a:t> </a:t>
            </a:r>
            <a:endParaRPr lang="en-US" sz="1100" dirty="0"/>
          </a:p>
          <a:p>
            <a:pPr marL="0" indent="0">
              <a:buNone/>
            </a:pPr>
            <a:r>
              <a:rPr lang="en-US" sz="1100" dirty="0">
                <a:solidFill>
                  <a:srgbClr val="82AAFF"/>
                </a:solidFill>
                <a:latin typeface="Courier New" pitchFamily="34" charset="0"/>
                <a:ea typeface="Courier New" pitchFamily="34" charset="-122"/>
                <a:cs typeface="Courier New" pitchFamily="34" charset="-120"/>
              </a:rPr>
              <a:t>print</a:t>
            </a:r>
            <a:r>
              <a:rPr lang="en-US" sz="1100" dirty="0">
                <a:solidFill>
                  <a:srgbClr val="E4E4F0"/>
                </a:solidFill>
                <a:latin typeface="Courier New" pitchFamily="34" charset="0"/>
                <a:ea typeface="Courier New" pitchFamily="34" charset="-122"/>
                <a:cs typeface="Courier New" pitchFamily="34" charset="-120"/>
              </a:rPr>
              <a:t>(total)</a:t>
            </a:r>
            <a:endParaRPr lang="en-US" sz="1100" dirty="0"/>
          </a:p>
        </p:txBody>
      </p:sp>
      <p:sp>
        <p:nvSpPr>
          <p:cNvPr id="27" name="Shape 25"/>
          <p:cNvSpPr/>
          <p:nvPr/>
        </p:nvSpPr>
        <p:spPr>
          <a:xfrm>
            <a:off x="6484468" y="3502914"/>
            <a:ext cx="4975708" cy="566928"/>
          </a:xfrm>
          <a:prstGeom prst="roundRect">
            <a:avLst>
              <a:gd name="adj" fmla="val 16129"/>
            </a:avLst>
          </a:prstGeom>
          <a:solidFill>
            <a:srgbClr val="F6F6FF"/>
          </a:solidFill>
          <a:ln w="9525">
            <a:solidFill>
              <a:srgbClr val="DCDDF5"/>
            </a:solidFill>
            <a:prstDash val="solid"/>
          </a:ln>
        </p:spPr>
        <p:txBody>
          <a:bodyPr/>
          <a:lstStyle/>
          <a:p>
            <a:endParaRPr lang="en-PH"/>
          </a:p>
        </p:txBody>
      </p:sp>
      <p:sp>
        <p:nvSpPr>
          <p:cNvPr id="28" name="Text 26"/>
          <p:cNvSpPr txBox="1"/>
          <p:nvPr/>
        </p:nvSpPr>
        <p:spPr>
          <a:xfrm>
            <a:off x="6630772" y="3576066"/>
            <a:ext cx="4701388" cy="182880"/>
          </a:xfrm>
          <a:prstGeom prst="rect">
            <a:avLst/>
          </a:prstGeom>
          <a:noFill/>
          <a:ln/>
        </p:spPr>
        <p:txBody>
          <a:bodyPr wrap="square" lIns="0" tIns="0" rIns="0" bIns="0" rtlCol="0" anchor="ctr"/>
          <a:lstStyle/>
          <a:p>
            <a:pPr marL="0" indent="0">
              <a:buNone/>
            </a:pPr>
            <a:r>
              <a:rPr lang="en-US" sz="850" b="1" kern="0" spc="150" dirty="0">
                <a:solidFill>
                  <a:srgbClr val="4F46E5"/>
                </a:solidFill>
                <a:latin typeface="Calibri" pitchFamily="34" charset="0"/>
                <a:ea typeface="Calibri" pitchFamily="34" charset="-122"/>
                <a:cs typeface="Calibri" pitchFamily="34" charset="-120"/>
              </a:rPr>
              <a:t>OUTPUT</a:t>
            </a:r>
            <a:endParaRPr lang="en-US" sz="850" dirty="0"/>
          </a:p>
        </p:txBody>
      </p:sp>
      <p:sp>
        <p:nvSpPr>
          <p:cNvPr id="29" name="Text 27"/>
          <p:cNvSpPr txBox="1"/>
          <p:nvPr/>
        </p:nvSpPr>
        <p:spPr>
          <a:xfrm>
            <a:off x="6630772" y="3795522"/>
            <a:ext cx="4737964" cy="237744"/>
          </a:xfrm>
          <a:prstGeom prst="rect">
            <a:avLst/>
          </a:prstGeom>
          <a:noFill/>
          <a:ln/>
        </p:spPr>
        <p:txBody>
          <a:bodyPr wrap="square" lIns="0" tIns="0" rIns="0" bIns="0" rtlCol="0" anchor="t"/>
          <a:lstStyle/>
          <a:p>
            <a:pPr marL="0" indent="0">
              <a:buNone/>
            </a:pPr>
            <a:r>
              <a:rPr lang="en-US" sz="1100" dirty="0">
                <a:solidFill>
                  <a:srgbClr val="C0392B"/>
                </a:solidFill>
                <a:latin typeface="Courier New" pitchFamily="34" charset="0"/>
                <a:ea typeface="Courier New" pitchFamily="34" charset="-122"/>
                <a:cs typeface="Courier New" pitchFamily="34" charset="-120"/>
              </a:rPr>
              <a:t>NameError: name 'total' is not defined</a:t>
            </a:r>
            <a:endParaRPr lang="en-US" sz="1100" dirty="0"/>
          </a:p>
        </p:txBody>
      </p:sp>
      <p:sp>
        <p:nvSpPr>
          <p:cNvPr id="30" name="Text 28"/>
          <p:cNvSpPr txBox="1"/>
          <p:nvPr/>
        </p:nvSpPr>
        <p:spPr>
          <a:xfrm>
            <a:off x="6484468" y="4197858"/>
            <a:ext cx="4975708" cy="566928"/>
          </a:xfrm>
          <a:prstGeom prst="rect">
            <a:avLst/>
          </a:prstGeom>
          <a:noFill/>
          <a:ln/>
        </p:spPr>
        <p:txBody>
          <a:bodyPr wrap="square" lIns="0" tIns="0" rIns="0" bIns="0" rtlCol="0" anchor="t"/>
          <a:lstStyle/>
          <a:p>
            <a:pPr marL="0" indent="0">
              <a:buNone/>
            </a:pPr>
            <a:r>
              <a:rPr lang="en-US" sz="1250" b="1" dirty="0">
                <a:solidFill>
                  <a:srgbClr val="5B5F7A"/>
                </a:solidFill>
                <a:latin typeface="Calibri" pitchFamily="34" charset="0"/>
                <a:ea typeface="Calibri" pitchFamily="34" charset="-122"/>
                <a:cs typeface="Calibri" pitchFamily="34" charset="-120"/>
              </a:rPr>
              <a:t>Why it happens:</a:t>
            </a:r>
            <a:r>
              <a:rPr lang="en-US" sz="1250" dirty="0">
                <a:solidFill>
                  <a:srgbClr val="5B5F7A"/>
                </a:solidFill>
                <a:latin typeface="Calibri" pitchFamily="34" charset="0"/>
                <a:ea typeface="Calibri" pitchFamily="34" charset="-122"/>
                <a:cs typeface="Calibri" pitchFamily="34" charset="-120"/>
              </a:rPr>
              <a:t> Python looks for a variable called </a:t>
            </a:r>
            <a:r>
              <a:rPr lang="en-US" sz="1250" dirty="0">
                <a:solidFill>
                  <a:srgbClr val="4F46E5"/>
                </a:solidFill>
                <a:latin typeface="Courier New" pitchFamily="34" charset="0"/>
                <a:ea typeface="Courier New" pitchFamily="34" charset="-122"/>
                <a:cs typeface="Courier New" pitchFamily="34" charset="-120"/>
              </a:rPr>
              <a:t>total</a:t>
            </a:r>
            <a:r>
              <a:rPr lang="en-US" sz="1250" dirty="0">
                <a:solidFill>
                  <a:srgbClr val="5B5F7A"/>
                </a:solidFill>
                <a:latin typeface="Calibri" pitchFamily="34" charset="0"/>
                <a:ea typeface="Calibri" pitchFamily="34" charset="-122"/>
                <a:cs typeface="Calibri" pitchFamily="34" charset="-120"/>
              </a:rPr>
              <a:t> but it was never created (or its name was misspelled).</a:t>
            </a:r>
            <a:endParaRPr lang="en-US" sz="1250" dirty="0"/>
          </a:p>
        </p:txBody>
      </p:sp>
      <p:sp>
        <p:nvSpPr>
          <p:cNvPr id="31" name="Shape 29"/>
          <p:cNvSpPr/>
          <p:nvPr/>
        </p:nvSpPr>
        <p:spPr>
          <a:xfrm>
            <a:off x="6484468" y="4856226"/>
            <a:ext cx="4975708" cy="1104900"/>
          </a:xfrm>
          <a:prstGeom prst="roundRect">
            <a:avLst>
              <a:gd name="adj" fmla="val 8276"/>
            </a:avLst>
          </a:prstGeom>
          <a:solidFill>
            <a:srgbClr val="1F1D36"/>
          </a:solidFill>
          <a:ln w="12700">
            <a:solidFill>
              <a:srgbClr val="1F1D36"/>
            </a:solidFill>
            <a:prstDash val="solid"/>
          </a:ln>
        </p:spPr>
        <p:txBody>
          <a:bodyPr/>
          <a:lstStyle/>
          <a:p>
            <a:endParaRPr lang="en-PH"/>
          </a:p>
        </p:txBody>
      </p:sp>
      <p:sp>
        <p:nvSpPr>
          <p:cNvPr id="32" name="Text 30"/>
          <p:cNvSpPr txBox="1"/>
          <p:nvPr/>
        </p:nvSpPr>
        <p:spPr>
          <a:xfrm>
            <a:off x="6649060" y="4938522"/>
            <a:ext cx="4646524" cy="201168"/>
          </a:xfrm>
          <a:prstGeom prst="rect">
            <a:avLst/>
          </a:prstGeom>
          <a:noFill/>
          <a:ln/>
        </p:spPr>
        <p:txBody>
          <a:bodyPr wrap="square" lIns="0" tIns="0" rIns="0" bIns="0" rtlCol="0" anchor="ctr"/>
          <a:lstStyle/>
          <a:p>
            <a:pPr marL="0" indent="0">
              <a:buNone/>
            </a:pPr>
            <a:r>
              <a:rPr lang="en-US" sz="900" b="1" dirty="0">
                <a:solidFill>
                  <a:srgbClr val="8A8FB5"/>
                </a:solidFill>
                <a:latin typeface="Calibri" pitchFamily="34" charset="0"/>
                <a:ea typeface="Calibri" pitchFamily="34" charset="-122"/>
                <a:cs typeface="Calibri" pitchFamily="34" charset="-120"/>
              </a:rPr>
              <a:t>&lt;/&gt;  How to handle it with try / except</a:t>
            </a:r>
            <a:endParaRPr lang="en-US" sz="900" dirty="0"/>
          </a:p>
        </p:txBody>
      </p:sp>
      <p:sp>
        <p:nvSpPr>
          <p:cNvPr id="33" name="Text 31"/>
          <p:cNvSpPr txBox="1"/>
          <p:nvPr/>
        </p:nvSpPr>
        <p:spPr>
          <a:xfrm>
            <a:off x="6649060" y="5185410"/>
            <a:ext cx="4701388" cy="720852"/>
          </a:xfrm>
          <a:prstGeom prst="rect">
            <a:avLst/>
          </a:prstGeom>
          <a:noFill/>
          <a:ln/>
        </p:spPr>
        <p:txBody>
          <a:bodyPr wrap="square" lIns="0" tIns="0" rIns="0" bIns="0" rtlCol="0" anchor="t"/>
          <a:lstStyle/>
          <a:p>
            <a:pPr marL="0" indent="0">
              <a:buNone/>
            </a:pPr>
            <a:r>
              <a:rPr lang="en-US" sz="1050" dirty="0">
                <a:solidFill>
                  <a:srgbClr val="D3A6FF"/>
                </a:solidFill>
                <a:latin typeface="Courier New" pitchFamily="34" charset="0"/>
                <a:ea typeface="Courier New" pitchFamily="34" charset="-122"/>
                <a:cs typeface="Courier New" pitchFamily="34" charset="-120"/>
              </a:rPr>
              <a:t>try</a:t>
            </a:r>
            <a:r>
              <a:rPr lang="en-US" sz="1050" dirty="0">
                <a:solidFill>
                  <a:srgbClr val="E4E4F0"/>
                </a:solidFill>
                <a:latin typeface="Courier New" pitchFamily="34" charset="0"/>
                <a:ea typeface="Courier New" pitchFamily="34" charset="-122"/>
                <a:cs typeface="Courier New" pitchFamily="34" charset="-120"/>
              </a:rPr>
              <a:t>:</a:t>
            </a:r>
            <a:endParaRPr lang="en-US" sz="1050" dirty="0"/>
          </a:p>
          <a:p>
            <a:pPr marL="0" indent="0">
              <a:buNone/>
            </a:pPr>
            <a:r>
              <a:rPr lang="en-US" sz="1050" dirty="0">
                <a:solidFill>
                  <a:srgbClr val="E4E4F0"/>
                </a:solidFill>
                <a:latin typeface="Courier New" pitchFamily="34" charset="0"/>
                <a:ea typeface="Courier New" pitchFamily="34" charset="-122"/>
                <a:cs typeface="Courier New" pitchFamily="34" charset="-120"/>
              </a:rPr>
              <a:t>    </a:t>
            </a:r>
            <a:r>
              <a:rPr lang="en-US" sz="1050" dirty="0">
                <a:solidFill>
                  <a:srgbClr val="82AAFF"/>
                </a:solidFill>
                <a:latin typeface="Courier New" pitchFamily="34" charset="0"/>
                <a:ea typeface="Courier New" pitchFamily="34" charset="-122"/>
                <a:cs typeface="Courier New" pitchFamily="34" charset="-120"/>
              </a:rPr>
              <a:t>print</a:t>
            </a:r>
            <a:r>
              <a:rPr lang="en-US" sz="1050" dirty="0">
                <a:solidFill>
                  <a:srgbClr val="E4E4F0"/>
                </a:solidFill>
                <a:latin typeface="Courier New" pitchFamily="34" charset="0"/>
                <a:ea typeface="Courier New" pitchFamily="34" charset="-122"/>
                <a:cs typeface="Courier New" pitchFamily="34" charset="-120"/>
              </a:rPr>
              <a:t>(total)</a:t>
            </a:r>
            <a:endParaRPr lang="en-US" sz="1050" dirty="0"/>
          </a:p>
          <a:p>
            <a:pPr marL="0" indent="0">
              <a:buNone/>
            </a:pPr>
            <a:r>
              <a:rPr lang="en-US" sz="1050" dirty="0">
                <a:solidFill>
                  <a:srgbClr val="D3A6FF"/>
                </a:solidFill>
                <a:latin typeface="Courier New" pitchFamily="34" charset="0"/>
                <a:ea typeface="Courier New" pitchFamily="34" charset="-122"/>
                <a:cs typeface="Courier New" pitchFamily="34" charset="-120"/>
              </a:rPr>
              <a:t>except</a:t>
            </a:r>
            <a:r>
              <a:rPr lang="en-US" sz="1050" dirty="0">
                <a:solidFill>
                  <a:srgbClr val="E4E4F0"/>
                </a:solidFill>
                <a:latin typeface="Courier New" pitchFamily="34" charset="0"/>
                <a:ea typeface="Courier New" pitchFamily="34" charset="-122"/>
                <a:cs typeface="Courier New" pitchFamily="34" charset="-120"/>
              </a:rPr>
              <a:t> </a:t>
            </a:r>
            <a:r>
              <a:rPr lang="en-US" sz="1050" dirty="0">
                <a:solidFill>
                  <a:srgbClr val="F38BA8"/>
                </a:solidFill>
                <a:latin typeface="Courier New" pitchFamily="34" charset="0"/>
                <a:ea typeface="Courier New" pitchFamily="34" charset="-122"/>
                <a:cs typeface="Courier New" pitchFamily="34" charset="-120"/>
              </a:rPr>
              <a:t>NameError</a:t>
            </a:r>
            <a:r>
              <a:rPr lang="en-US" sz="1050" dirty="0">
                <a:solidFill>
                  <a:srgbClr val="E4E4F0"/>
                </a:solidFill>
                <a:latin typeface="Courier New" pitchFamily="34" charset="0"/>
                <a:ea typeface="Courier New" pitchFamily="34" charset="-122"/>
                <a:cs typeface="Courier New" pitchFamily="34" charset="-120"/>
              </a:rPr>
              <a:t>:</a:t>
            </a:r>
            <a:endParaRPr lang="en-US" sz="1050" dirty="0"/>
          </a:p>
          <a:p>
            <a:pPr marL="0" indent="0">
              <a:buNone/>
            </a:pPr>
            <a:r>
              <a:rPr lang="en-US" sz="1050" dirty="0">
                <a:solidFill>
                  <a:srgbClr val="E4E4F0"/>
                </a:solidFill>
                <a:latin typeface="Courier New" pitchFamily="34" charset="0"/>
                <a:ea typeface="Courier New" pitchFamily="34" charset="-122"/>
                <a:cs typeface="Courier New" pitchFamily="34" charset="-120"/>
              </a:rPr>
              <a:t>    </a:t>
            </a:r>
            <a:r>
              <a:rPr lang="en-US" sz="1050" dirty="0">
                <a:solidFill>
                  <a:srgbClr val="82AAFF"/>
                </a:solidFill>
                <a:latin typeface="Courier New" pitchFamily="34" charset="0"/>
                <a:ea typeface="Courier New" pitchFamily="34" charset="-122"/>
                <a:cs typeface="Courier New" pitchFamily="34" charset="-120"/>
              </a:rPr>
              <a:t>print</a:t>
            </a:r>
            <a:r>
              <a:rPr lang="en-US" sz="1050" dirty="0">
                <a:solidFill>
                  <a:srgbClr val="E4E4F0"/>
                </a:solidFill>
                <a:latin typeface="Courier New" pitchFamily="34" charset="0"/>
                <a:ea typeface="Courier New" pitchFamily="34" charset="-122"/>
                <a:cs typeface="Courier New" pitchFamily="34" charset="-120"/>
              </a:rPr>
              <a:t>(</a:t>
            </a:r>
            <a:r>
              <a:rPr lang="en-US" sz="1050" dirty="0">
                <a:solidFill>
                  <a:srgbClr val="A6E3A1"/>
                </a:solidFill>
                <a:latin typeface="Courier New" pitchFamily="34" charset="0"/>
                <a:ea typeface="Courier New" pitchFamily="34" charset="-122"/>
                <a:cs typeface="Courier New" pitchFamily="34" charset="-120"/>
              </a:rPr>
              <a:t>"total has not been created yet."</a:t>
            </a:r>
            <a:r>
              <a:rPr lang="en-US" sz="1050" dirty="0">
                <a:solidFill>
                  <a:srgbClr val="E4E4F0"/>
                </a:solidFill>
                <a:latin typeface="Courier New" pitchFamily="34" charset="0"/>
                <a:ea typeface="Courier New" pitchFamily="34" charset="-122"/>
                <a:cs typeface="Courier New" pitchFamily="34" charset="-120"/>
              </a:rPr>
              <a:t>)</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02920" y="310896"/>
            <a:ext cx="8229600" cy="237744"/>
          </a:xfrm>
          <a:prstGeom prst="rect">
            <a:avLst/>
          </a:prstGeom>
          <a:noFill/>
          <a:ln/>
        </p:spPr>
        <p:txBody>
          <a:bodyPr wrap="square" lIns="0" tIns="0" rIns="0" bIns="0" rtlCol="0" anchor="t"/>
          <a:lstStyle/>
          <a:p>
            <a:pPr marL="0" indent="0">
              <a:buNone/>
            </a:pPr>
            <a:r>
              <a:rPr lang="en-US" sz="1050" b="1" kern="0" spc="200" dirty="0">
                <a:solidFill>
                  <a:srgbClr val="C8559F"/>
                </a:solidFill>
                <a:latin typeface="Calibri" pitchFamily="34" charset="0"/>
                <a:ea typeface="Calibri" pitchFamily="34" charset="-122"/>
                <a:cs typeface="Calibri" pitchFamily="34" charset="-120"/>
              </a:rPr>
              <a:t>TRY, EXCEPT, FINALLY</a:t>
            </a:r>
            <a:endParaRPr lang="en-US" sz="1050" dirty="0"/>
          </a:p>
        </p:txBody>
      </p:sp>
      <p:sp>
        <p:nvSpPr>
          <p:cNvPr id="3" name="Text 1"/>
          <p:cNvSpPr txBox="1"/>
          <p:nvPr/>
        </p:nvSpPr>
        <p:spPr>
          <a:xfrm>
            <a:off x="502920" y="530352"/>
            <a:ext cx="10241280" cy="640080"/>
          </a:xfrm>
          <a:prstGeom prst="rect">
            <a:avLst/>
          </a:prstGeom>
          <a:noFill/>
          <a:ln/>
        </p:spPr>
        <p:txBody>
          <a:bodyPr wrap="square" lIns="0" tIns="0" rIns="0" bIns="0" rtlCol="0" anchor="ctr"/>
          <a:lstStyle/>
          <a:p>
            <a:pPr marL="0" indent="0">
              <a:buNone/>
            </a:pPr>
            <a:r>
              <a:rPr lang="en-US" sz="2800" b="1" dirty="0">
                <a:solidFill>
                  <a:srgbClr val="1E1B4B"/>
                </a:solidFill>
                <a:latin typeface="Calibri" pitchFamily="34" charset="0"/>
                <a:ea typeface="Calibri" pitchFamily="34" charset="-122"/>
                <a:cs typeface="Calibri" pitchFamily="34" charset="-120"/>
              </a:rPr>
              <a:t>Try and Except</a:t>
            </a:r>
            <a:endParaRPr lang="en-US" sz="2800" dirty="0"/>
          </a:p>
        </p:txBody>
      </p:sp>
      <p:sp>
        <p:nvSpPr>
          <p:cNvPr id="4" name="Text 2"/>
          <p:cNvSpPr txBox="1"/>
          <p:nvPr/>
        </p:nvSpPr>
        <p:spPr>
          <a:xfrm>
            <a:off x="502920" y="6446520"/>
            <a:ext cx="5486400" cy="228600"/>
          </a:xfrm>
          <a:prstGeom prst="rect">
            <a:avLst/>
          </a:prstGeom>
          <a:noFill/>
          <a:ln/>
        </p:spPr>
        <p:txBody>
          <a:bodyPr wrap="square" lIns="0" tIns="0" rIns="0" bIns="0" rtlCol="0" anchor="t"/>
          <a:lstStyle/>
          <a:p>
            <a:pPr marL="0" indent="0">
              <a:buNone/>
            </a:pPr>
            <a:r>
              <a:rPr lang="en-US" sz="900" dirty="0">
                <a:solidFill>
                  <a:srgbClr val="5B5F7A"/>
                </a:solidFill>
                <a:latin typeface="Calibri" pitchFamily="34" charset="0"/>
                <a:ea typeface="Calibri" pitchFamily="34" charset="-122"/>
                <a:cs typeface="Calibri" pitchFamily="34" charset="-120"/>
              </a:rPr>
              <a:t>Python  ·  Error Handling</a:t>
            </a:r>
            <a:endParaRPr lang="en-US" sz="900" dirty="0"/>
          </a:p>
        </p:txBody>
      </p:sp>
      <p:sp>
        <p:nvSpPr>
          <p:cNvPr id="5" name="Text 3"/>
          <p:cNvSpPr txBox="1"/>
          <p:nvPr/>
        </p:nvSpPr>
        <p:spPr>
          <a:xfrm>
            <a:off x="11140135" y="6446520"/>
            <a:ext cx="548640" cy="228600"/>
          </a:xfrm>
          <a:prstGeom prst="rect">
            <a:avLst/>
          </a:prstGeom>
          <a:noFill/>
          <a:ln/>
        </p:spPr>
        <p:txBody>
          <a:bodyPr wrap="square" lIns="0" tIns="0" rIns="0" bIns="0" rtlCol="0" anchor="t"/>
          <a:lstStyle/>
          <a:p>
            <a:pPr marL="0" indent="0" algn="r">
              <a:buNone/>
            </a:pPr>
            <a:r>
              <a:rPr lang="en-US" sz="900" dirty="0">
                <a:solidFill>
                  <a:srgbClr val="5B5F7A"/>
                </a:solidFill>
                <a:latin typeface="Calibri" pitchFamily="34" charset="0"/>
                <a:ea typeface="Calibri" pitchFamily="34" charset="-122"/>
                <a:cs typeface="Calibri" pitchFamily="34" charset="-120"/>
              </a:rPr>
              <a:t>9</a:t>
            </a:r>
            <a:endParaRPr lang="en-US" sz="900" dirty="0"/>
          </a:p>
        </p:txBody>
      </p:sp>
      <p:sp>
        <p:nvSpPr>
          <p:cNvPr id="6" name="Text 4"/>
          <p:cNvSpPr txBox="1"/>
          <p:nvPr/>
        </p:nvSpPr>
        <p:spPr>
          <a:xfrm>
            <a:off x="502920" y="1417320"/>
            <a:ext cx="5029200" cy="1783080"/>
          </a:xfrm>
          <a:prstGeom prst="rect">
            <a:avLst/>
          </a:prstGeom>
          <a:noFill/>
          <a:ln/>
        </p:spPr>
        <p:txBody>
          <a:bodyPr wrap="square" lIns="0" tIns="0" rIns="0" bIns="0" rtlCol="0" anchor="t"/>
          <a:lstStyle/>
          <a:p>
            <a:pPr marL="0" indent="0">
              <a:buNone/>
            </a:pPr>
            <a:r>
              <a:rPr lang="en-US" sz="1450" dirty="0">
                <a:solidFill>
                  <a:srgbClr val="1E1B4B"/>
                </a:solidFill>
                <a:latin typeface="Calibri" pitchFamily="34" charset="0"/>
                <a:ea typeface="Calibri" pitchFamily="34" charset="-122"/>
                <a:cs typeface="Calibri" pitchFamily="34" charset="-120"/>
              </a:rPr>
              <a:t>The </a:t>
            </a:r>
            <a:r>
              <a:rPr lang="en-US" sz="1450" dirty="0">
                <a:solidFill>
                  <a:srgbClr val="4F46E5"/>
                </a:solidFill>
                <a:latin typeface="Courier New" pitchFamily="34" charset="0"/>
                <a:ea typeface="Courier New" pitchFamily="34" charset="-122"/>
                <a:cs typeface="Courier New" pitchFamily="34" charset="-120"/>
              </a:rPr>
              <a:t>try</a:t>
            </a:r>
            <a:r>
              <a:rPr lang="en-US" sz="1450" dirty="0">
                <a:solidFill>
                  <a:srgbClr val="1E1B4B"/>
                </a:solidFill>
                <a:latin typeface="Calibri" pitchFamily="34" charset="0"/>
                <a:ea typeface="Calibri" pitchFamily="34" charset="-122"/>
                <a:cs typeface="Calibri" pitchFamily="34" charset="-120"/>
              </a:rPr>
              <a:t> and </a:t>
            </a:r>
            <a:r>
              <a:rPr lang="en-US" sz="1450" dirty="0">
                <a:solidFill>
                  <a:srgbClr val="4F46E5"/>
                </a:solidFill>
                <a:latin typeface="Courier New" pitchFamily="34" charset="0"/>
                <a:ea typeface="Courier New" pitchFamily="34" charset="-122"/>
                <a:cs typeface="Courier New" pitchFamily="34" charset="-120"/>
              </a:rPr>
              <a:t>except</a:t>
            </a:r>
            <a:r>
              <a:rPr lang="en-US" sz="1450" dirty="0">
                <a:solidFill>
                  <a:srgbClr val="1E1B4B"/>
                </a:solidFill>
                <a:latin typeface="Calibri" pitchFamily="34" charset="0"/>
                <a:ea typeface="Calibri" pitchFamily="34" charset="-122"/>
                <a:cs typeface="Calibri" pitchFamily="34" charset="-120"/>
              </a:rPr>
              <a:t> statements are used in Python to </a:t>
            </a:r>
            <a:r>
              <a:rPr lang="en-US" sz="1450" b="1" dirty="0">
                <a:solidFill>
                  <a:srgbClr val="1E1B4B"/>
                </a:solidFill>
                <a:latin typeface="Calibri" pitchFamily="34" charset="0"/>
                <a:ea typeface="Calibri" pitchFamily="34" charset="-122"/>
                <a:cs typeface="Calibri" pitchFamily="34" charset="-120"/>
              </a:rPr>
              <a:t>handle errors (exceptions)</a:t>
            </a:r>
            <a:r>
              <a:rPr lang="en-US" sz="1450" dirty="0">
                <a:solidFill>
                  <a:srgbClr val="1E1B4B"/>
                </a:solidFill>
                <a:latin typeface="Calibri" pitchFamily="34" charset="0"/>
                <a:ea typeface="Calibri" pitchFamily="34" charset="-122"/>
                <a:cs typeface="Calibri" pitchFamily="34" charset="-120"/>
              </a:rPr>
              <a:t> that may occur while a program is running. Instead of letting the program crash, they allow you to </a:t>
            </a:r>
            <a:r>
              <a:rPr lang="en-US" sz="1450" b="1" dirty="0">
                <a:solidFill>
                  <a:srgbClr val="1E1B4B"/>
                </a:solidFill>
                <a:latin typeface="Calibri" pitchFamily="34" charset="0"/>
                <a:ea typeface="Calibri" pitchFamily="34" charset="-122"/>
                <a:cs typeface="Calibri" pitchFamily="34" charset="-120"/>
              </a:rPr>
              <a:t>catch the error</a:t>
            </a:r>
            <a:r>
              <a:rPr lang="en-US" sz="1450" dirty="0">
                <a:solidFill>
                  <a:srgbClr val="1E1B4B"/>
                </a:solidFill>
                <a:latin typeface="Calibri" pitchFamily="34" charset="0"/>
                <a:ea typeface="Calibri" pitchFamily="34" charset="-122"/>
                <a:cs typeface="Calibri" pitchFamily="34" charset="-120"/>
              </a:rPr>
              <a:t>, display a meaningful message, and continue running the program.</a:t>
            </a:r>
            <a:endParaRPr lang="en-US" sz="1450" dirty="0"/>
          </a:p>
        </p:txBody>
      </p:sp>
      <p:sp>
        <p:nvSpPr>
          <p:cNvPr id="7" name="Text 5"/>
          <p:cNvSpPr txBox="1"/>
          <p:nvPr/>
        </p:nvSpPr>
        <p:spPr>
          <a:xfrm>
            <a:off x="502920" y="3063240"/>
            <a:ext cx="3657600" cy="228600"/>
          </a:xfrm>
          <a:prstGeom prst="rect">
            <a:avLst/>
          </a:prstGeom>
          <a:noFill/>
          <a:ln/>
        </p:spPr>
        <p:txBody>
          <a:bodyPr wrap="square" lIns="0" tIns="0" rIns="0" bIns="0" rtlCol="0" anchor="t"/>
          <a:lstStyle/>
          <a:p>
            <a:pPr marL="0" indent="0">
              <a:buNone/>
            </a:pPr>
            <a:r>
              <a:rPr lang="en-US" sz="1050" b="1" kern="0" spc="200" dirty="0">
                <a:solidFill>
                  <a:srgbClr val="C8559F"/>
                </a:solidFill>
                <a:latin typeface="Calibri" pitchFamily="34" charset="0"/>
                <a:ea typeface="Calibri" pitchFamily="34" charset="-122"/>
                <a:cs typeface="Calibri" pitchFamily="34" charset="-120"/>
              </a:rPr>
              <a:t>HOW IT WORKS</a:t>
            </a:r>
            <a:endParaRPr lang="en-US" sz="1050" dirty="0"/>
          </a:p>
        </p:txBody>
      </p:sp>
      <p:sp>
        <p:nvSpPr>
          <p:cNvPr id="8" name="Shape 6"/>
          <p:cNvSpPr/>
          <p:nvPr/>
        </p:nvSpPr>
        <p:spPr>
          <a:xfrm>
            <a:off x="502920" y="3383280"/>
            <a:ext cx="5029200" cy="822960"/>
          </a:xfrm>
          <a:prstGeom prst="roundRect">
            <a:avLst>
              <a:gd name="adj" fmla="val 13333"/>
            </a:avLst>
          </a:prstGeom>
          <a:solidFill>
            <a:srgbClr val="FFFFFF"/>
          </a:solidFill>
          <a:ln w="9525">
            <a:solidFill>
              <a:srgbClr val="DCDDF5"/>
            </a:solidFill>
            <a:prstDash val="solid"/>
          </a:ln>
          <a:effectLst>
            <a:outerShdw blurRad="127000" dist="25400" dir="5400000" algn="bl" rotWithShape="0">
              <a:srgbClr val="4F46E5">
                <a:alpha val="12000"/>
              </a:srgbClr>
            </a:outerShdw>
          </a:effectLst>
        </p:spPr>
        <p:txBody>
          <a:bodyPr/>
          <a:lstStyle/>
          <a:p>
            <a:endParaRPr lang="en-PH"/>
          </a:p>
        </p:txBody>
      </p:sp>
      <p:sp>
        <p:nvSpPr>
          <p:cNvPr id="9" name="Shape 7"/>
          <p:cNvSpPr/>
          <p:nvPr/>
        </p:nvSpPr>
        <p:spPr>
          <a:xfrm>
            <a:off x="685800" y="3593592"/>
            <a:ext cx="402336" cy="402336"/>
          </a:xfrm>
          <a:prstGeom prst="ellipse">
            <a:avLst/>
          </a:prstGeom>
          <a:solidFill>
            <a:srgbClr val="4F46E5"/>
          </a:solidFill>
          <a:ln w="12700">
            <a:solidFill>
              <a:srgbClr val="4F46E5"/>
            </a:solidFill>
            <a:prstDash val="solid"/>
          </a:ln>
        </p:spPr>
        <p:txBody>
          <a:bodyPr/>
          <a:lstStyle/>
          <a:p>
            <a:endParaRPr lang="en-PH"/>
          </a:p>
        </p:txBody>
      </p:sp>
      <p:sp>
        <p:nvSpPr>
          <p:cNvPr id="10" name="Text 8"/>
          <p:cNvSpPr txBox="1"/>
          <p:nvPr/>
        </p:nvSpPr>
        <p:spPr>
          <a:xfrm>
            <a:off x="685800" y="3593592"/>
            <a:ext cx="402336" cy="402336"/>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1" name="Text 9"/>
          <p:cNvSpPr txBox="1"/>
          <p:nvPr/>
        </p:nvSpPr>
        <p:spPr>
          <a:xfrm>
            <a:off x="1252728" y="3474720"/>
            <a:ext cx="4114800" cy="640080"/>
          </a:xfrm>
          <a:prstGeom prst="rect">
            <a:avLst/>
          </a:prstGeom>
          <a:noFill/>
          <a:ln/>
        </p:spPr>
        <p:txBody>
          <a:bodyPr wrap="square" lIns="0" tIns="0" rIns="0" bIns="0" rtlCol="0" anchor="ctr"/>
          <a:lstStyle/>
          <a:p>
            <a:pPr marL="0" indent="0">
              <a:buNone/>
            </a:pPr>
            <a:r>
              <a:rPr lang="en-US" sz="1300" dirty="0">
                <a:solidFill>
                  <a:srgbClr val="1E1B4B"/>
                </a:solidFill>
                <a:latin typeface="Calibri" pitchFamily="34" charset="0"/>
                <a:ea typeface="Calibri" pitchFamily="34" charset="-122"/>
                <a:cs typeface="Calibri" pitchFamily="34" charset="-120"/>
              </a:rPr>
              <a:t>Python runs the code inside </a:t>
            </a:r>
            <a:r>
              <a:rPr lang="en-US" sz="1300" dirty="0">
                <a:solidFill>
                  <a:srgbClr val="4F46E5"/>
                </a:solidFill>
                <a:latin typeface="Courier New" pitchFamily="34" charset="0"/>
                <a:ea typeface="Courier New" pitchFamily="34" charset="-122"/>
                <a:cs typeface="Courier New" pitchFamily="34" charset="-120"/>
              </a:rPr>
              <a:t>try</a:t>
            </a:r>
            <a:r>
              <a:rPr lang="en-US" sz="1300" dirty="0">
                <a:solidFill>
                  <a:srgbClr val="1E1B4B"/>
                </a:solidFill>
                <a:latin typeface="Calibri" pitchFamily="34" charset="0"/>
                <a:ea typeface="Calibri" pitchFamily="34" charset="-122"/>
                <a:cs typeface="Calibri" pitchFamily="34" charset="-120"/>
              </a:rPr>
              <a:t> line by line.</a:t>
            </a:r>
            <a:endParaRPr lang="en-US" sz="1300" dirty="0"/>
          </a:p>
        </p:txBody>
      </p:sp>
      <p:sp>
        <p:nvSpPr>
          <p:cNvPr id="12" name="Shape 10"/>
          <p:cNvSpPr/>
          <p:nvPr/>
        </p:nvSpPr>
        <p:spPr>
          <a:xfrm>
            <a:off x="502920" y="4325112"/>
            <a:ext cx="5029200" cy="822960"/>
          </a:xfrm>
          <a:prstGeom prst="roundRect">
            <a:avLst>
              <a:gd name="adj" fmla="val 13333"/>
            </a:avLst>
          </a:prstGeom>
          <a:solidFill>
            <a:srgbClr val="FFFFFF"/>
          </a:solidFill>
          <a:ln w="9525">
            <a:solidFill>
              <a:srgbClr val="DCDDF5"/>
            </a:solidFill>
            <a:prstDash val="solid"/>
          </a:ln>
          <a:effectLst>
            <a:outerShdw blurRad="127000" dist="25400" dir="5400000" algn="bl" rotWithShape="0">
              <a:srgbClr val="4F46E5">
                <a:alpha val="12000"/>
              </a:srgbClr>
            </a:outerShdw>
          </a:effectLst>
        </p:spPr>
        <p:txBody>
          <a:bodyPr/>
          <a:lstStyle/>
          <a:p>
            <a:endParaRPr lang="en-PH"/>
          </a:p>
        </p:txBody>
      </p:sp>
      <p:sp>
        <p:nvSpPr>
          <p:cNvPr id="13" name="Shape 11"/>
          <p:cNvSpPr/>
          <p:nvPr/>
        </p:nvSpPr>
        <p:spPr>
          <a:xfrm>
            <a:off x="685800" y="4535424"/>
            <a:ext cx="402336" cy="402336"/>
          </a:xfrm>
          <a:prstGeom prst="ellipse">
            <a:avLst/>
          </a:prstGeom>
          <a:solidFill>
            <a:srgbClr val="4F46E5"/>
          </a:solidFill>
          <a:ln w="12700">
            <a:solidFill>
              <a:srgbClr val="4F46E5"/>
            </a:solidFill>
            <a:prstDash val="solid"/>
          </a:ln>
        </p:spPr>
        <p:txBody>
          <a:bodyPr/>
          <a:lstStyle/>
          <a:p>
            <a:endParaRPr lang="en-PH"/>
          </a:p>
        </p:txBody>
      </p:sp>
      <p:sp>
        <p:nvSpPr>
          <p:cNvPr id="14" name="Text 12"/>
          <p:cNvSpPr txBox="1"/>
          <p:nvPr/>
        </p:nvSpPr>
        <p:spPr>
          <a:xfrm>
            <a:off x="685800" y="4535424"/>
            <a:ext cx="402336" cy="402336"/>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5" name="Text 13"/>
          <p:cNvSpPr txBox="1"/>
          <p:nvPr/>
        </p:nvSpPr>
        <p:spPr>
          <a:xfrm>
            <a:off x="1252728" y="4416552"/>
            <a:ext cx="4114800" cy="640080"/>
          </a:xfrm>
          <a:prstGeom prst="rect">
            <a:avLst/>
          </a:prstGeom>
          <a:noFill/>
          <a:ln/>
        </p:spPr>
        <p:txBody>
          <a:bodyPr wrap="square" lIns="0" tIns="0" rIns="0" bIns="0" rtlCol="0" anchor="ctr"/>
          <a:lstStyle/>
          <a:p>
            <a:pPr marL="0" indent="0">
              <a:buNone/>
            </a:pPr>
            <a:r>
              <a:rPr lang="en-US" sz="1300" dirty="0">
                <a:solidFill>
                  <a:srgbClr val="1E1B4B"/>
                </a:solidFill>
                <a:latin typeface="Calibri" pitchFamily="34" charset="0"/>
                <a:ea typeface="Calibri" pitchFamily="34" charset="-122"/>
                <a:cs typeface="Calibri" pitchFamily="34" charset="-120"/>
              </a:rPr>
              <a:t>If an error occurs, it jumps straight to </a:t>
            </a:r>
            <a:r>
              <a:rPr lang="en-US" sz="1300" dirty="0">
                <a:solidFill>
                  <a:srgbClr val="4F46E5"/>
                </a:solidFill>
                <a:latin typeface="Courier New" pitchFamily="34" charset="0"/>
                <a:ea typeface="Courier New" pitchFamily="34" charset="-122"/>
                <a:cs typeface="Courier New" pitchFamily="34" charset="-120"/>
              </a:rPr>
              <a:t>except</a:t>
            </a:r>
            <a:r>
              <a:rPr lang="en-US" sz="1300" dirty="0">
                <a:solidFill>
                  <a:srgbClr val="1E1B4B"/>
                </a:solidFill>
                <a:latin typeface="Calibri" pitchFamily="34" charset="0"/>
                <a:ea typeface="Calibri" pitchFamily="34" charset="-122"/>
                <a:cs typeface="Calibri" pitchFamily="34" charset="-120"/>
              </a:rPr>
              <a:t> — the rest of </a:t>
            </a:r>
            <a:r>
              <a:rPr lang="en-US" sz="1300" dirty="0">
                <a:solidFill>
                  <a:srgbClr val="4F46E5"/>
                </a:solidFill>
                <a:latin typeface="Courier New" pitchFamily="34" charset="0"/>
                <a:ea typeface="Courier New" pitchFamily="34" charset="-122"/>
                <a:cs typeface="Courier New" pitchFamily="34" charset="-120"/>
              </a:rPr>
              <a:t>try</a:t>
            </a:r>
            <a:r>
              <a:rPr lang="en-US" sz="1300" dirty="0">
                <a:solidFill>
                  <a:srgbClr val="1E1B4B"/>
                </a:solidFill>
                <a:latin typeface="Calibri" pitchFamily="34" charset="0"/>
                <a:ea typeface="Calibri" pitchFamily="34" charset="-122"/>
                <a:cs typeface="Calibri" pitchFamily="34" charset="-120"/>
              </a:rPr>
              <a:t> is skipped.</a:t>
            </a:r>
            <a:endParaRPr lang="en-US" sz="1300" dirty="0"/>
          </a:p>
        </p:txBody>
      </p:sp>
      <p:sp>
        <p:nvSpPr>
          <p:cNvPr id="16" name="Shape 14"/>
          <p:cNvSpPr/>
          <p:nvPr/>
        </p:nvSpPr>
        <p:spPr>
          <a:xfrm>
            <a:off x="502920" y="5266944"/>
            <a:ext cx="5029200" cy="822960"/>
          </a:xfrm>
          <a:prstGeom prst="roundRect">
            <a:avLst>
              <a:gd name="adj" fmla="val 13333"/>
            </a:avLst>
          </a:prstGeom>
          <a:solidFill>
            <a:srgbClr val="FFFFFF"/>
          </a:solidFill>
          <a:ln w="9525">
            <a:solidFill>
              <a:srgbClr val="DCDDF5"/>
            </a:solidFill>
            <a:prstDash val="solid"/>
          </a:ln>
          <a:effectLst>
            <a:outerShdw blurRad="127000" dist="25400" dir="5400000" algn="bl" rotWithShape="0">
              <a:srgbClr val="4F46E5">
                <a:alpha val="12000"/>
              </a:srgbClr>
            </a:outerShdw>
          </a:effectLst>
        </p:spPr>
        <p:txBody>
          <a:bodyPr/>
          <a:lstStyle/>
          <a:p>
            <a:endParaRPr lang="en-PH"/>
          </a:p>
        </p:txBody>
      </p:sp>
      <p:sp>
        <p:nvSpPr>
          <p:cNvPr id="17" name="Shape 15"/>
          <p:cNvSpPr/>
          <p:nvPr/>
        </p:nvSpPr>
        <p:spPr>
          <a:xfrm>
            <a:off x="685800" y="5477256"/>
            <a:ext cx="402336" cy="402336"/>
          </a:xfrm>
          <a:prstGeom prst="ellipse">
            <a:avLst/>
          </a:prstGeom>
          <a:solidFill>
            <a:srgbClr val="4F46E5"/>
          </a:solidFill>
          <a:ln w="12700">
            <a:solidFill>
              <a:srgbClr val="4F46E5"/>
            </a:solidFill>
            <a:prstDash val="solid"/>
          </a:ln>
        </p:spPr>
        <p:txBody>
          <a:bodyPr/>
          <a:lstStyle/>
          <a:p>
            <a:endParaRPr lang="en-PH"/>
          </a:p>
        </p:txBody>
      </p:sp>
      <p:sp>
        <p:nvSpPr>
          <p:cNvPr id="18" name="Text 16"/>
          <p:cNvSpPr txBox="1"/>
          <p:nvPr/>
        </p:nvSpPr>
        <p:spPr>
          <a:xfrm>
            <a:off x="685800" y="5477256"/>
            <a:ext cx="402336" cy="402336"/>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9" name="Text 17"/>
          <p:cNvSpPr txBox="1"/>
          <p:nvPr/>
        </p:nvSpPr>
        <p:spPr>
          <a:xfrm>
            <a:off x="1252728" y="5358384"/>
            <a:ext cx="4114800" cy="640080"/>
          </a:xfrm>
          <a:prstGeom prst="rect">
            <a:avLst/>
          </a:prstGeom>
          <a:noFill/>
          <a:ln/>
        </p:spPr>
        <p:txBody>
          <a:bodyPr wrap="square" lIns="0" tIns="0" rIns="0" bIns="0" rtlCol="0" anchor="ctr"/>
          <a:lstStyle/>
          <a:p>
            <a:pPr marL="0" indent="0">
              <a:buNone/>
            </a:pPr>
            <a:r>
              <a:rPr lang="en-US" sz="1300" dirty="0">
                <a:solidFill>
                  <a:srgbClr val="1E1B4B"/>
                </a:solidFill>
                <a:latin typeface="Calibri" pitchFamily="34" charset="0"/>
                <a:ea typeface="Calibri" pitchFamily="34" charset="-122"/>
                <a:cs typeface="Calibri" pitchFamily="34" charset="-120"/>
              </a:rPr>
              <a:t>If no error occurs, the </a:t>
            </a:r>
            <a:r>
              <a:rPr lang="en-US" sz="1300" dirty="0">
                <a:solidFill>
                  <a:srgbClr val="4F46E5"/>
                </a:solidFill>
                <a:latin typeface="Courier New" pitchFamily="34" charset="0"/>
                <a:ea typeface="Courier New" pitchFamily="34" charset="-122"/>
                <a:cs typeface="Courier New" pitchFamily="34" charset="-120"/>
              </a:rPr>
              <a:t>except</a:t>
            </a:r>
            <a:r>
              <a:rPr lang="en-US" sz="1300" dirty="0">
                <a:solidFill>
                  <a:srgbClr val="1E1B4B"/>
                </a:solidFill>
                <a:latin typeface="Calibri" pitchFamily="34" charset="0"/>
                <a:ea typeface="Calibri" pitchFamily="34" charset="-122"/>
                <a:cs typeface="Calibri" pitchFamily="34" charset="-120"/>
              </a:rPr>
              <a:t> block is skipped entirely.</a:t>
            </a:r>
            <a:endParaRPr lang="en-US" sz="1300" dirty="0"/>
          </a:p>
        </p:txBody>
      </p:sp>
      <p:sp>
        <p:nvSpPr>
          <p:cNvPr id="20" name="Text 18"/>
          <p:cNvSpPr txBox="1"/>
          <p:nvPr/>
        </p:nvSpPr>
        <p:spPr>
          <a:xfrm>
            <a:off x="5852160" y="1417320"/>
            <a:ext cx="2743200" cy="228600"/>
          </a:xfrm>
          <a:prstGeom prst="rect">
            <a:avLst/>
          </a:prstGeom>
          <a:noFill/>
          <a:ln/>
        </p:spPr>
        <p:txBody>
          <a:bodyPr wrap="square" lIns="0" tIns="0" rIns="0" bIns="0" rtlCol="0" anchor="t"/>
          <a:lstStyle/>
          <a:p>
            <a:pPr marL="0" indent="0">
              <a:buNone/>
            </a:pPr>
            <a:r>
              <a:rPr lang="en-US" sz="1050" b="1" kern="0" spc="200" dirty="0">
                <a:solidFill>
                  <a:srgbClr val="C8559F"/>
                </a:solidFill>
                <a:latin typeface="Calibri" pitchFamily="34" charset="0"/>
                <a:ea typeface="Calibri" pitchFamily="34" charset="-122"/>
                <a:cs typeface="Calibri" pitchFamily="34" charset="-120"/>
              </a:rPr>
              <a:t>SYNTAX</a:t>
            </a:r>
            <a:endParaRPr lang="en-US" sz="1050" dirty="0"/>
          </a:p>
        </p:txBody>
      </p:sp>
      <p:sp>
        <p:nvSpPr>
          <p:cNvPr id="21" name="Shape 19"/>
          <p:cNvSpPr/>
          <p:nvPr/>
        </p:nvSpPr>
        <p:spPr>
          <a:xfrm>
            <a:off x="5852160" y="1700784"/>
            <a:ext cx="5836615" cy="1164844"/>
          </a:xfrm>
          <a:prstGeom prst="roundRect">
            <a:avLst>
              <a:gd name="adj" fmla="val 7850"/>
            </a:avLst>
          </a:prstGeom>
          <a:solidFill>
            <a:srgbClr val="1F1D36"/>
          </a:solidFill>
          <a:ln w="12700">
            <a:solidFill>
              <a:srgbClr val="1F1D36"/>
            </a:solidFill>
            <a:prstDash val="solid"/>
          </a:ln>
        </p:spPr>
        <p:txBody>
          <a:bodyPr/>
          <a:lstStyle/>
          <a:p>
            <a:endParaRPr lang="en-PH"/>
          </a:p>
        </p:txBody>
      </p:sp>
      <p:sp>
        <p:nvSpPr>
          <p:cNvPr id="22" name="Text 20"/>
          <p:cNvSpPr txBox="1"/>
          <p:nvPr/>
        </p:nvSpPr>
        <p:spPr>
          <a:xfrm>
            <a:off x="6016752" y="1783080"/>
            <a:ext cx="5507431" cy="201168"/>
          </a:xfrm>
          <a:prstGeom prst="rect">
            <a:avLst/>
          </a:prstGeom>
          <a:noFill/>
          <a:ln/>
        </p:spPr>
        <p:txBody>
          <a:bodyPr wrap="square" lIns="0" tIns="0" rIns="0" bIns="0" rtlCol="0" anchor="ctr"/>
          <a:lstStyle/>
          <a:p>
            <a:pPr marL="0" indent="0">
              <a:buNone/>
            </a:pPr>
            <a:r>
              <a:rPr lang="en-US" sz="900" b="1" dirty="0">
                <a:solidFill>
                  <a:srgbClr val="8A8FB5"/>
                </a:solidFill>
                <a:latin typeface="Calibri" pitchFamily="34" charset="0"/>
                <a:ea typeface="Calibri" pitchFamily="34" charset="-122"/>
                <a:cs typeface="Calibri" pitchFamily="34" charset="-120"/>
              </a:rPr>
              <a:t>&lt;/&gt;  Python</a:t>
            </a:r>
            <a:endParaRPr lang="en-US" sz="900" dirty="0"/>
          </a:p>
        </p:txBody>
      </p:sp>
      <p:sp>
        <p:nvSpPr>
          <p:cNvPr id="23" name="Text 21"/>
          <p:cNvSpPr txBox="1"/>
          <p:nvPr/>
        </p:nvSpPr>
        <p:spPr>
          <a:xfrm>
            <a:off x="6016752" y="2029968"/>
            <a:ext cx="5562295" cy="780796"/>
          </a:xfrm>
          <a:prstGeom prst="rect">
            <a:avLst/>
          </a:prstGeom>
          <a:noFill/>
          <a:ln/>
        </p:spPr>
        <p:txBody>
          <a:bodyPr wrap="square" lIns="0" tIns="0" rIns="0" bIns="0" rtlCol="0" anchor="t"/>
          <a:lstStyle/>
          <a:p>
            <a:pPr marL="0" indent="0">
              <a:buNone/>
            </a:pPr>
            <a:r>
              <a:rPr lang="en-US" sz="1150" dirty="0">
                <a:solidFill>
                  <a:srgbClr val="D3A6FF"/>
                </a:solidFill>
                <a:latin typeface="Courier New" pitchFamily="34" charset="0"/>
                <a:ea typeface="Courier New" pitchFamily="34" charset="-122"/>
                <a:cs typeface="Courier New" pitchFamily="34" charset="-120"/>
              </a:rPr>
              <a:t>try</a:t>
            </a:r>
            <a:r>
              <a:rPr lang="en-US" sz="1150" dirty="0">
                <a:solidFill>
                  <a:srgbClr val="E4E4F0"/>
                </a:solidFill>
                <a:latin typeface="Courier New" pitchFamily="34" charset="0"/>
                <a:ea typeface="Courier New" pitchFamily="34" charset="-122"/>
                <a:cs typeface="Courier New" pitchFamily="34" charset="-120"/>
              </a:rPr>
              <a:t>:</a:t>
            </a:r>
            <a:endParaRPr lang="en-US" sz="1150" dirty="0"/>
          </a:p>
          <a:p>
            <a:pPr marL="0" indent="0">
              <a:buNone/>
            </a:pPr>
            <a:r>
              <a:rPr lang="en-US" sz="1150" dirty="0">
                <a:solidFill>
                  <a:srgbClr val="E4E4F0"/>
                </a:solidFill>
                <a:latin typeface="Courier New" pitchFamily="34" charset="0"/>
                <a:ea typeface="Courier New" pitchFamily="34" charset="-122"/>
                <a:cs typeface="Courier New" pitchFamily="34" charset="-120"/>
              </a:rPr>
              <a:t>    </a:t>
            </a:r>
            <a:r>
              <a:rPr lang="en-US" sz="1150" i="1" dirty="0">
                <a:solidFill>
                  <a:srgbClr val="8A8FB5"/>
                </a:solidFill>
                <a:latin typeface="Courier New" pitchFamily="34" charset="0"/>
                <a:ea typeface="Courier New" pitchFamily="34" charset="-122"/>
                <a:cs typeface="Courier New" pitchFamily="34" charset="-120"/>
              </a:rPr>
              <a:t># Code that may cause an error</a:t>
            </a:r>
            <a:endParaRPr lang="en-US" sz="1150" dirty="0"/>
          </a:p>
          <a:p>
            <a:pPr marL="0" indent="0">
              <a:buNone/>
            </a:pPr>
            <a:r>
              <a:rPr lang="en-US" sz="1150" dirty="0">
                <a:solidFill>
                  <a:srgbClr val="D3A6FF"/>
                </a:solidFill>
                <a:latin typeface="Courier New" pitchFamily="34" charset="0"/>
                <a:ea typeface="Courier New" pitchFamily="34" charset="-122"/>
                <a:cs typeface="Courier New" pitchFamily="34" charset="-120"/>
              </a:rPr>
              <a:t>except</a:t>
            </a:r>
            <a:r>
              <a:rPr lang="en-US" sz="1150" dirty="0">
                <a:solidFill>
                  <a:srgbClr val="E4E4F0"/>
                </a:solidFill>
                <a:latin typeface="Courier New" pitchFamily="34" charset="0"/>
                <a:ea typeface="Courier New" pitchFamily="34" charset="-122"/>
                <a:cs typeface="Courier New" pitchFamily="34" charset="-120"/>
              </a:rPr>
              <a:t>:</a:t>
            </a:r>
            <a:endParaRPr lang="en-US" sz="1150" dirty="0"/>
          </a:p>
          <a:p>
            <a:pPr marL="0" indent="0">
              <a:buNone/>
            </a:pPr>
            <a:r>
              <a:rPr lang="en-US" sz="1150" dirty="0">
                <a:solidFill>
                  <a:srgbClr val="E4E4F0"/>
                </a:solidFill>
                <a:latin typeface="Courier New" pitchFamily="34" charset="0"/>
                <a:ea typeface="Courier New" pitchFamily="34" charset="-122"/>
                <a:cs typeface="Courier New" pitchFamily="34" charset="-120"/>
              </a:rPr>
              <a:t>    </a:t>
            </a:r>
            <a:r>
              <a:rPr lang="en-US" sz="1150" i="1" dirty="0">
                <a:solidFill>
                  <a:srgbClr val="8A8FB5"/>
                </a:solidFill>
                <a:latin typeface="Courier New" pitchFamily="34" charset="0"/>
                <a:ea typeface="Courier New" pitchFamily="34" charset="-122"/>
                <a:cs typeface="Courier New" pitchFamily="34" charset="-120"/>
              </a:rPr>
              <a:t># Code that handles the error</a:t>
            </a:r>
            <a:endParaRPr lang="en-US" sz="1150" dirty="0"/>
          </a:p>
        </p:txBody>
      </p:sp>
      <p:sp>
        <p:nvSpPr>
          <p:cNvPr id="24" name="Text 22"/>
          <p:cNvSpPr txBox="1"/>
          <p:nvPr/>
        </p:nvSpPr>
        <p:spPr>
          <a:xfrm>
            <a:off x="5852160" y="3048508"/>
            <a:ext cx="2743200" cy="228600"/>
          </a:xfrm>
          <a:prstGeom prst="rect">
            <a:avLst/>
          </a:prstGeom>
          <a:noFill/>
          <a:ln/>
        </p:spPr>
        <p:txBody>
          <a:bodyPr wrap="square" lIns="0" tIns="0" rIns="0" bIns="0" rtlCol="0" anchor="t"/>
          <a:lstStyle/>
          <a:p>
            <a:pPr marL="0" indent="0">
              <a:buNone/>
            </a:pPr>
            <a:r>
              <a:rPr lang="en-US" sz="1050" b="1" kern="0" spc="200" dirty="0">
                <a:solidFill>
                  <a:srgbClr val="C8559F"/>
                </a:solidFill>
                <a:latin typeface="Calibri" pitchFamily="34" charset="0"/>
                <a:ea typeface="Calibri" pitchFamily="34" charset="-122"/>
                <a:cs typeface="Calibri" pitchFamily="34" charset="-120"/>
              </a:rPr>
              <a:t>EXAMPLE</a:t>
            </a:r>
            <a:endParaRPr lang="en-US" sz="1050" dirty="0"/>
          </a:p>
        </p:txBody>
      </p:sp>
      <p:sp>
        <p:nvSpPr>
          <p:cNvPr id="25" name="Shape 23"/>
          <p:cNvSpPr/>
          <p:nvPr/>
        </p:nvSpPr>
        <p:spPr>
          <a:xfrm>
            <a:off x="5852160" y="3331972"/>
            <a:ext cx="5836615" cy="1337183"/>
          </a:xfrm>
          <a:prstGeom prst="roundRect">
            <a:avLst>
              <a:gd name="adj" fmla="val 6838"/>
            </a:avLst>
          </a:prstGeom>
          <a:solidFill>
            <a:srgbClr val="1F1D36"/>
          </a:solidFill>
          <a:ln w="12700">
            <a:solidFill>
              <a:srgbClr val="1F1D36"/>
            </a:solidFill>
            <a:prstDash val="solid"/>
          </a:ln>
        </p:spPr>
        <p:txBody>
          <a:bodyPr/>
          <a:lstStyle/>
          <a:p>
            <a:endParaRPr lang="en-PH"/>
          </a:p>
        </p:txBody>
      </p:sp>
      <p:sp>
        <p:nvSpPr>
          <p:cNvPr id="26" name="Text 24"/>
          <p:cNvSpPr txBox="1"/>
          <p:nvPr/>
        </p:nvSpPr>
        <p:spPr>
          <a:xfrm>
            <a:off x="6016752" y="3414268"/>
            <a:ext cx="5507431" cy="201168"/>
          </a:xfrm>
          <a:prstGeom prst="rect">
            <a:avLst/>
          </a:prstGeom>
          <a:noFill/>
          <a:ln/>
        </p:spPr>
        <p:txBody>
          <a:bodyPr wrap="square" lIns="0" tIns="0" rIns="0" bIns="0" rtlCol="0" anchor="ctr"/>
          <a:lstStyle/>
          <a:p>
            <a:pPr marL="0" indent="0">
              <a:buNone/>
            </a:pPr>
            <a:r>
              <a:rPr lang="en-US" sz="900" b="1" dirty="0">
                <a:solidFill>
                  <a:srgbClr val="8A8FB5"/>
                </a:solidFill>
                <a:latin typeface="Calibri" pitchFamily="34" charset="0"/>
                <a:ea typeface="Calibri" pitchFamily="34" charset="-122"/>
                <a:cs typeface="Calibri" pitchFamily="34" charset="-120"/>
              </a:rPr>
              <a:t>&lt;/&gt;  Python</a:t>
            </a:r>
            <a:endParaRPr lang="en-US" sz="900" dirty="0"/>
          </a:p>
        </p:txBody>
      </p:sp>
      <p:sp>
        <p:nvSpPr>
          <p:cNvPr id="27" name="Text 25"/>
          <p:cNvSpPr txBox="1"/>
          <p:nvPr/>
        </p:nvSpPr>
        <p:spPr>
          <a:xfrm>
            <a:off x="6016752" y="3661156"/>
            <a:ext cx="5562295" cy="953135"/>
          </a:xfrm>
          <a:prstGeom prst="rect">
            <a:avLst/>
          </a:prstGeom>
          <a:noFill/>
          <a:ln/>
        </p:spPr>
        <p:txBody>
          <a:bodyPr wrap="square" lIns="0" tIns="0" rIns="0" bIns="0" rtlCol="0" anchor="t"/>
          <a:lstStyle/>
          <a:p>
            <a:pPr marL="0" indent="0">
              <a:buNone/>
            </a:pPr>
            <a:r>
              <a:rPr lang="en-US" sz="1150" dirty="0">
                <a:solidFill>
                  <a:srgbClr val="D3A6FF"/>
                </a:solidFill>
                <a:latin typeface="Courier New" pitchFamily="34" charset="0"/>
                <a:ea typeface="Courier New" pitchFamily="34" charset="-122"/>
                <a:cs typeface="Courier New" pitchFamily="34" charset="-120"/>
              </a:rPr>
              <a:t>try</a:t>
            </a:r>
            <a:r>
              <a:rPr lang="en-US" sz="1150" dirty="0">
                <a:solidFill>
                  <a:srgbClr val="E4E4F0"/>
                </a:solidFill>
                <a:latin typeface="Courier New" pitchFamily="34" charset="0"/>
                <a:ea typeface="Courier New" pitchFamily="34" charset="-122"/>
                <a:cs typeface="Courier New" pitchFamily="34" charset="-120"/>
              </a:rPr>
              <a:t>:</a:t>
            </a:r>
            <a:endParaRPr lang="en-US" sz="1150" dirty="0"/>
          </a:p>
          <a:p>
            <a:pPr marL="0" indent="0">
              <a:buNone/>
            </a:pPr>
            <a:r>
              <a:rPr lang="en-US" sz="1150" dirty="0">
                <a:solidFill>
                  <a:srgbClr val="E4E4F0"/>
                </a:solidFill>
                <a:latin typeface="Courier New" pitchFamily="34" charset="0"/>
                <a:ea typeface="Courier New" pitchFamily="34" charset="-122"/>
                <a:cs typeface="Courier New" pitchFamily="34" charset="-120"/>
              </a:rPr>
              <a:t>    number = </a:t>
            </a:r>
            <a:r>
              <a:rPr lang="en-US" sz="1150" dirty="0">
                <a:solidFill>
                  <a:srgbClr val="82AAFF"/>
                </a:solidFill>
                <a:latin typeface="Courier New" pitchFamily="34" charset="0"/>
                <a:ea typeface="Courier New" pitchFamily="34" charset="-122"/>
                <a:cs typeface="Courier New" pitchFamily="34" charset="-120"/>
              </a:rPr>
              <a:t>int</a:t>
            </a:r>
            <a:r>
              <a:rPr lang="en-US" sz="1150" dirty="0">
                <a:solidFill>
                  <a:srgbClr val="E4E4F0"/>
                </a:solidFill>
                <a:latin typeface="Courier New" pitchFamily="34" charset="0"/>
                <a:ea typeface="Courier New" pitchFamily="34" charset="-122"/>
                <a:cs typeface="Courier New" pitchFamily="34" charset="-120"/>
              </a:rPr>
              <a:t>(</a:t>
            </a:r>
            <a:r>
              <a:rPr lang="en-US" sz="1150" dirty="0">
                <a:solidFill>
                  <a:srgbClr val="82AAFF"/>
                </a:solidFill>
                <a:latin typeface="Courier New" pitchFamily="34" charset="0"/>
                <a:ea typeface="Courier New" pitchFamily="34" charset="-122"/>
                <a:cs typeface="Courier New" pitchFamily="34" charset="-120"/>
              </a:rPr>
              <a:t>input</a:t>
            </a:r>
            <a:r>
              <a:rPr lang="en-US" sz="1150" dirty="0">
                <a:solidFill>
                  <a:srgbClr val="E4E4F0"/>
                </a:solidFill>
                <a:latin typeface="Courier New" pitchFamily="34" charset="0"/>
                <a:ea typeface="Courier New" pitchFamily="34" charset="-122"/>
                <a:cs typeface="Courier New" pitchFamily="34" charset="-120"/>
              </a:rPr>
              <a:t>(</a:t>
            </a:r>
            <a:r>
              <a:rPr lang="en-US" sz="1150" dirty="0">
                <a:solidFill>
                  <a:srgbClr val="A6E3A1"/>
                </a:solidFill>
                <a:latin typeface="Courier New" pitchFamily="34" charset="0"/>
                <a:ea typeface="Courier New" pitchFamily="34" charset="-122"/>
                <a:cs typeface="Courier New" pitchFamily="34" charset="-120"/>
              </a:rPr>
              <a:t>"Enter a number: "</a:t>
            </a:r>
            <a:r>
              <a:rPr lang="en-US" sz="1150" dirty="0">
                <a:solidFill>
                  <a:srgbClr val="E4E4F0"/>
                </a:solidFill>
                <a:latin typeface="Courier New" pitchFamily="34" charset="0"/>
                <a:ea typeface="Courier New" pitchFamily="34" charset="-122"/>
                <a:cs typeface="Courier New" pitchFamily="34" charset="-120"/>
              </a:rPr>
              <a:t>))</a:t>
            </a:r>
            <a:endParaRPr lang="en-US" sz="1150" dirty="0"/>
          </a:p>
          <a:p>
            <a:pPr marL="0" indent="0">
              <a:buNone/>
            </a:pPr>
            <a:r>
              <a:rPr lang="en-US" sz="1150" dirty="0">
                <a:solidFill>
                  <a:srgbClr val="E4E4F0"/>
                </a:solidFill>
                <a:latin typeface="Courier New" pitchFamily="34" charset="0"/>
                <a:ea typeface="Courier New" pitchFamily="34" charset="-122"/>
                <a:cs typeface="Courier New" pitchFamily="34" charset="-120"/>
              </a:rPr>
              <a:t>    </a:t>
            </a:r>
            <a:r>
              <a:rPr lang="en-US" sz="1150" dirty="0">
                <a:solidFill>
                  <a:srgbClr val="82AAFF"/>
                </a:solidFill>
                <a:latin typeface="Courier New" pitchFamily="34" charset="0"/>
                <a:ea typeface="Courier New" pitchFamily="34" charset="-122"/>
                <a:cs typeface="Courier New" pitchFamily="34" charset="-120"/>
              </a:rPr>
              <a:t>print</a:t>
            </a:r>
            <a:r>
              <a:rPr lang="en-US" sz="1150" dirty="0">
                <a:solidFill>
                  <a:srgbClr val="E4E4F0"/>
                </a:solidFill>
                <a:latin typeface="Courier New" pitchFamily="34" charset="0"/>
                <a:ea typeface="Courier New" pitchFamily="34" charset="-122"/>
                <a:cs typeface="Courier New" pitchFamily="34" charset="-120"/>
              </a:rPr>
              <a:t>(number)</a:t>
            </a:r>
            <a:endParaRPr lang="en-US" sz="1150" dirty="0"/>
          </a:p>
          <a:p>
            <a:pPr marL="0" indent="0">
              <a:buNone/>
            </a:pPr>
            <a:r>
              <a:rPr lang="en-US" sz="1150" dirty="0">
                <a:solidFill>
                  <a:srgbClr val="D3A6FF"/>
                </a:solidFill>
                <a:latin typeface="Courier New" pitchFamily="34" charset="0"/>
                <a:ea typeface="Courier New" pitchFamily="34" charset="-122"/>
                <a:cs typeface="Courier New" pitchFamily="34" charset="-120"/>
              </a:rPr>
              <a:t>except</a:t>
            </a:r>
            <a:r>
              <a:rPr lang="en-US" sz="1150" dirty="0">
                <a:solidFill>
                  <a:srgbClr val="E4E4F0"/>
                </a:solidFill>
                <a:latin typeface="Courier New" pitchFamily="34" charset="0"/>
                <a:ea typeface="Courier New" pitchFamily="34" charset="-122"/>
                <a:cs typeface="Courier New" pitchFamily="34" charset="-120"/>
              </a:rPr>
              <a:t>:</a:t>
            </a:r>
            <a:endParaRPr lang="en-US" sz="1150" dirty="0"/>
          </a:p>
          <a:p>
            <a:pPr marL="0" indent="0">
              <a:buNone/>
            </a:pPr>
            <a:r>
              <a:rPr lang="en-US" sz="1150" dirty="0">
                <a:solidFill>
                  <a:srgbClr val="E4E4F0"/>
                </a:solidFill>
                <a:latin typeface="Courier New" pitchFamily="34" charset="0"/>
                <a:ea typeface="Courier New" pitchFamily="34" charset="-122"/>
                <a:cs typeface="Courier New" pitchFamily="34" charset="-120"/>
              </a:rPr>
              <a:t>    </a:t>
            </a:r>
            <a:r>
              <a:rPr lang="en-US" sz="1150" dirty="0">
                <a:solidFill>
                  <a:srgbClr val="82AAFF"/>
                </a:solidFill>
                <a:latin typeface="Courier New" pitchFamily="34" charset="0"/>
                <a:ea typeface="Courier New" pitchFamily="34" charset="-122"/>
                <a:cs typeface="Courier New" pitchFamily="34" charset="-120"/>
              </a:rPr>
              <a:t>print</a:t>
            </a:r>
            <a:r>
              <a:rPr lang="en-US" sz="1150" dirty="0">
                <a:solidFill>
                  <a:srgbClr val="E4E4F0"/>
                </a:solidFill>
                <a:latin typeface="Courier New" pitchFamily="34" charset="0"/>
                <a:ea typeface="Courier New" pitchFamily="34" charset="-122"/>
                <a:cs typeface="Courier New" pitchFamily="34" charset="-120"/>
              </a:rPr>
              <a:t>(</a:t>
            </a:r>
            <a:r>
              <a:rPr lang="en-US" sz="1150" dirty="0">
                <a:solidFill>
                  <a:srgbClr val="A6E3A1"/>
                </a:solidFill>
                <a:latin typeface="Courier New" pitchFamily="34" charset="0"/>
                <a:ea typeface="Courier New" pitchFamily="34" charset="-122"/>
                <a:cs typeface="Courier New" pitchFamily="34" charset="-120"/>
              </a:rPr>
              <a:t>"Invalid input."</a:t>
            </a:r>
            <a:r>
              <a:rPr lang="en-US" sz="1150" dirty="0">
                <a:solidFill>
                  <a:srgbClr val="E4E4F0"/>
                </a:solidFill>
                <a:latin typeface="Courier New" pitchFamily="34" charset="0"/>
                <a:ea typeface="Courier New" pitchFamily="34" charset="-122"/>
                <a:cs typeface="Courier New" pitchFamily="34" charset="-120"/>
              </a:rPr>
              <a:t>)</a:t>
            </a:r>
            <a:endParaRPr lang="en-US" sz="1150" dirty="0"/>
          </a:p>
        </p:txBody>
      </p:sp>
      <p:sp>
        <p:nvSpPr>
          <p:cNvPr id="28" name="Shape 26"/>
          <p:cNvSpPr/>
          <p:nvPr/>
        </p:nvSpPr>
        <p:spPr>
          <a:xfrm>
            <a:off x="5852160" y="4806315"/>
            <a:ext cx="2826868" cy="750316"/>
          </a:xfrm>
          <a:prstGeom prst="roundRect">
            <a:avLst>
              <a:gd name="adj" fmla="val 12187"/>
            </a:avLst>
          </a:prstGeom>
          <a:solidFill>
            <a:srgbClr val="F6F6FF"/>
          </a:solidFill>
          <a:ln w="9525">
            <a:solidFill>
              <a:srgbClr val="DCDDF5"/>
            </a:solidFill>
            <a:prstDash val="solid"/>
          </a:ln>
        </p:spPr>
        <p:txBody>
          <a:bodyPr/>
          <a:lstStyle/>
          <a:p>
            <a:endParaRPr lang="en-PH"/>
          </a:p>
        </p:txBody>
      </p:sp>
      <p:sp>
        <p:nvSpPr>
          <p:cNvPr id="29" name="Text 27"/>
          <p:cNvSpPr txBox="1"/>
          <p:nvPr/>
        </p:nvSpPr>
        <p:spPr>
          <a:xfrm>
            <a:off x="5998464" y="4879467"/>
            <a:ext cx="2552548" cy="182880"/>
          </a:xfrm>
          <a:prstGeom prst="rect">
            <a:avLst/>
          </a:prstGeom>
          <a:noFill/>
          <a:ln/>
        </p:spPr>
        <p:txBody>
          <a:bodyPr wrap="square" lIns="0" tIns="0" rIns="0" bIns="0" rtlCol="0" anchor="ctr"/>
          <a:lstStyle/>
          <a:p>
            <a:pPr marL="0" indent="0">
              <a:buNone/>
            </a:pPr>
            <a:r>
              <a:rPr lang="en-US" sz="850" b="1" kern="0" spc="150" dirty="0">
                <a:solidFill>
                  <a:srgbClr val="4F46E5"/>
                </a:solidFill>
                <a:latin typeface="Calibri" pitchFamily="34" charset="0"/>
                <a:ea typeface="Calibri" pitchFamily="34" charset="-122"/>
                <a:cs typeface="Calibri" pitchFamily="34" charset="-120"/>
              </a:rPr>
              <a:t>RUN 1 · VALID INPUT</a:t>
            </a:r>
            <a:endParaRPr lang="en-US" sz="850" dirty="0"/>
          </a:p>
        </p:txBody>
      </p:sp>
      <p:sp>
        <p:nvSpPr>
          <p:cNvPr id="30" name="Text 28"/>
          <p:cNvSpPr txBox="1"/>
          <p:nvPr/>
        </p:nvSpPr>
        <p:spPr>
          <a:xfrm>
            <a:off x="5998464" y="5098923"/>
            <a:ext cx="2589124" cy="421132"/>
          </a:xfrm>
          <a:prstGeom prst="rect">
            <a:avLst/>
          </a:prstGeom>
          <a:noFill/>
          <a:ln/>
        </p:spPr>
        <p:txBody>
          <a:bodyPr wrap="square" lIns="0" tIns="0" rIns="0" bIns="0" rtlCol="0" anchor="t"/>
          <a:lstStyle/>
          <a:p>
            <a:pPr marL="0" indent="0">
              <a:buNone/>
            </a:pPr>
            <a:r>
              <a:rPr lang="en-US" sz="1100" dirty="0">
                <a:solidFill>
                  <a:srgbClr val="1E1B4B"/>
                </a:solidFill>
                <a:latin typeface="Courier New" pitchFamily="34" charset="0"/>
                <a:ea typeface="Courier New" pitchFamily="34" charset="-122"/>
                <a:cs typeface="Courier New" pitchFamily="34" charset="-120"/>
              </a:rPr>
              <a:t>Enter a number: 25</a:t>
            </a:r>
            <a:endParaRPr lang="en-US" sz="1100" dirty="0"/>
          </a:p>
          <a:p>
            <a:pPr marL="0" indent="0">
              <a:buNone/>
            </a:pPr>
            <a:r>
              <a:rPr lang="en-US" sz="1100" dirty="0">
                <a:solidFill>
                  <a:srgbClr val="1E1B4B"/>
                </a:solidFill>
                <a:latin typeface="Courier New" pitchFamily="34" charset="0"/>
                <a:ea typeface="Courier New" pitchFamily="34" charset="-122"/>
                <a:cs typeface="Courier New" pitchFamily="34" charset="-120"/>
              </a:rPr>
              <a:t>25</a:t>
            </a:r>
            <a:endParaRPr lang="en-US" sz="1100" dirty="0"/>
          </a:p>
        </p:txBody>
      </p:sp>
      <p:sp>
        <p:nvSpPr>
          <p:cNvPr id="31" name="Shape 29"/>
          <p:cNvSpPr/>
          <p:nvPr/>
        </p:nvSpPr>
        <p:spPr>
          <a:xfrm>
            <a:off x="8861908" y="4806315"/>
            <a:ext cx="2826868" cy="750316"/>
          </a:xfrm>
          <a:prstGeom prst="roundRect">
            <a:avLst>
              <a:gd name="adj" fmla="val 12187"/>
            </a:avLst>
          </a:prstGeom>
          <a:solidFill>
            <a:srgbClr val="F6F6FF"/>
          </a:solidFill>
          <a:ln w="9525">
            <a:solidFill>
              <a:srgbClr val="DCDDF5"/>
            </a:solidFill>
            <a:prstDash val="solid"/>
          </a:ln>
        </p:spPr>
        <p:txBody>
          <a:bodyPr/>
          <a:lstStyle/>
          <a:p>
            <a:endParaRPr lang="en-PH"/>
          </a:p>
        </p:txBody>
      </p:sp>
      <p:sp>
        <p:nvSpPr>
          <p:cNvPr id="32" name="Text 30"/>
          <p:cNvSpPr txBox="1"/>
          <p:nvPr/>
        </p:nvSpPr>
        <p:spPr>
          <a:xfrm>
            <a:off x="9008212" y="4879467"/>
            <a:ext cx="2552548" cy="182880"/>
          </a:xfrm>
          <a:prstGeom prst="rect">
            <a:avLst/>
          </a:prstGeom>
          <a:noFill/>
          <a:ln/>
        </p:spPr>
        <p:txBody>
          <a:bodyPr wrap="square" lIns="0" tIns="0" rIns="0" bIns="0" rtlCol="0" anchor="ctr"/>
          <a:lstStyle/>
          <a:p>
            <a:pPr marL="0" indent="0">
              <a:buNone/>
            </a:pPr>
            <a:r>
              <a:rPr lang="en-US" sz="850" b="1" kern="0" spc="150" dirty="0">
                <a:solidFill>
                  <a:srgbClr val="4F46E5"/>
                </a:solidFill>
                <a:latin typeface="Calibri" pitchFamily="34" charset="0"/>
                <a:ea typeface="Calibri" pitchFamily="34" charset="-122"/>
                <a:cs typeface="Calibri" pitchFamily="34" charset="-120"/>
              </a:rPr>
              <a:t>RUN 2 · INVALID INPUT</a:t>
            </a:r>
            <a:endParaRPr lang="en-US" sz="850" dirty="0"/>
          </a:p>
        </p:txBody>
      </p:sp>
      <p:sp>
        <p:nvSpPr>
          <p:cNvPr id="33" name="Text 31"/>
          <p:cNvSpPr txBox="1"/>
          <p:nvPr/>
        </p:nvSpPr>
        <p:spPr>
          <a:xfrm>
            <a:off x="9008212" y="5098923"/>
            <a:ext cx="2589124" cy="421132"/>
          </a:xfrm>
          <a:prstGeom prst="rect">
            <a:avLst/>
          </a:prstGeom>
          <a:noFill/>
          <a:ln/>
        </p:spPr>
        <p:txBody>
          <a:bodyPr wrap="square" lIns="0" tIns="0" rIns="0" bIns="0" rtlCol="0" anchor="t"/>
          <a:lstStyle/>
          <a:p>
            <a:pPr marL="0" indent="0">
              <a:buNone/>
            </a:pPr>
            <a:r>
              <a:rPr lang="en-US" sz="1100" dirty="0">
                <a:solidFill>
                  <a:srgbClr val="1E1B4B"/>
                </a:solidFill>
                <a:latin typeface="Courier New" pitchFamily="34" charset="0"/>
                <a:ea typeface="Courier New" pitchFamily="34" charset="-122"/>
                <a:cs typeface="Courier New" pitchFamily="34" charset="-120"/>
              </a:rPr>
              <a:t>Enter a number: abc</a:t>
            </a:r>
            <a:endParaRPr lang="en-US" sz="1100" dirty="0"/>
          </a:p>
          <a:p>
            <a:pPr marL="0" indent="0">
              <a:buNone/>
            </a:pPr>
            <a:r>
              <a:rPr lang="en-US" sz="1100" dirty="0">
                <a:solidFill>
                  <a:srgbClr val="1E1B4B"/>
                </a:solidFill>
                <a:latin typeface="Courier New" pitchFamily="34" charset="0"/>
                <a:ea typeface="Courier New" pitchFamily="34" charset="-122"/>
                <a:cs typeface="Courier New" pitchFamily="34" charset="-120"/>
              </a:rPr>
              <a:t>Invalid input.</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02920" y="310896"/>
            <a:ext cx="8229600" cy="237744"/>
          </a:xfrm>
          <a:prstGeom prst="rect">
            <a:avLst/>
          </a:prstGeom>
          <a:noFill/>
          <a:ln/>
        </p:spPr>
        <p:txBody>
          <a:bodyPr wrap="square" lIns="0" tIns="0" rIns="0" bIns="0" rtlCol="0" anchor="t"/>
          <a:lstStyle/>
          <a:p>
            <a:pPr marL="0" indent="0">
              <a:buNone/>
            </a:pPr>
            <a:r>
              <a:rPr lang="en-US" sz="1050" b="1" kern="0" spc="200" dirty="0">
                <a:solidFill>
                  <a:srgbClr val="C8559F"/>
                </a:solidFill>
                <a:latin typeface="Calibri" pitchFamily="34" charset="0"/>
                <a:ea typeface="Calibri" pitchFamily="34" charset="-122"/>
                <a:cs typeface="Calibri" pitchFamily="34" charset="-120"/>
              </a:rPr>
              <a:t>TRY, EXCEPT, FINALLY</a:t>
            </a:r>
            <a:endParaRPr lang="en-US" sz="1050" dirty="0"/>
          </a:p>
        </p:txBody>
      </p:sp>
      <p:sp>
        <p:nvSpPr>
          <p:cNvPr id="3" name="Text 1"/>
          <p:cNvSpPr txBox="1"/>
          <p:nvPr/>
        </p:nvSpPr>
        <p:spPr>
          <a:xfrm>
            <a:off x="502920" y="530352"/>
            <a:ext cx="10241280" cy="640080"/>
          </a:xfrm>
          <a:prstGeom prst="rect">
            <a:avLst/>
          </a:prstGeom>
          <a:noFill/>
          <a:ln/>
        </p:spPr>
        <p:txBody>
          <a:bodyPr wrap="square" lIns="0" tIns="0" rIns="0" bIns="0" rtlCol="0" anchor="ctr"/>
          <a:lstStyle/>
          <a:p>
            <a:pPr marL="0" indent="0">
              <a:buNone/>
            </a:pPr>
            <a:r>
              <a:rPr lang="en-US" sz="2800" b="1" dirty="0">
                <a:solidFill>
                  <a:srgbClr val="1E1B4B"/>
                </a:solidFill>
                <a:latin typeface="Calibri" pitchFamily="34" charset="0"/>
                <a:ea typeface="Calibri" pitchFamily="34" charset="-122"/>
                <a:cs typeface="Calibri" pitchFamily="34" charset="-120"/>
              </a:rPr>
              <a:t>Try, Except and Finally</a:t>
            </a:r>
            <a:endParaRPr lang="en-US" sz="2800" dirty="0"/>
          </a:p>
        </p:txBody>
      </p:sp>
      <p:sp>
        <p:nvSpPr>
          <p:cNvPr id="4" name="Text 2"/>
          <p:cNvSpPr txBox="1"/>
          <p:nvPr/>
        </p:nvSpPr>
        <p:spPr>
          <a:xfrm>
            <a:off x="502920" y="6446520"/>
            <a:ext cx="5486400" cy="228600"/>
          </a:xfrm>
          <a:prstGeom prst="rect">
            <a:avLst/>
          </a:prstGeom>
          <a:noFill/>
          <a:ln/>
        </p:spPr>
        <p:txBody>
          <a:bodyPr wrap="square" lIns="0" tIns="0" rIns="0" bIns="0" rtlCol="0" anchor="t"/>
          <a:lstStyle/>
          <a:p>
            <a:pPr marL="0" indent="0">
              <a:buNone/>
            </a:pPr>
            <a:r>
              <a:rPr lang="en-US" sz="900" dirty="0">
                <a:solidFill>
                  <a:srgbClr val="5B5F7A"/>
                </a:solidFill>
                <a:latin typeface="Calibri" pitchFamily="34" charset="0"/>
                <a:ea typeface="Calibri" pitchFamily="34" charset="-122"/>
                <a:cs typeface="Calibri" pitchFamily="34" charset="-120"/>
              </a:rPr>
              <a:t>Python  ·  Error Handling</a:t>
            </a:r>
            <a:endParaRPr lang="en-US" sz="900" dirty="0"/>
          </a:p>
        </p:txBody>
      </p:sp>
      <p:sp>
        <p:nvSpPr>
          <p:cNvPr id="5" name="Text 3"/>
          <p:cNvSpPr txBox="1"/>
          <p:nvPr/>
        </p:nvSpPr>
        <p:spPr>
          <a:xfrm>
            <a:off x="11140135" y="6446520"/>
            <a:ext cx="548640" cy="228600"/>
          </a:xfrm>
          <a:prstGeom prst="rect">
            <a:avLst/>
          </a:prstGeom>
          <a:noFill/>
          <a:ln/>
        </p:spPr>
        <p:txBody>
          <a:bodyPr wrap="square" lIns="0" tIns="0" rIns="0" bIns="0" rtlCol="0" anchor="t"/>
          <a:lstStyle/>
          <a:p>
            <a:pPr marL="0" indent="0" algn="r">
              <a:buNone/>
            </a:pPr>
            <a:r>
              <a:rPr lang="en-US" sz="900" dirty="0">
                <a:solidFill>
                  <a:srgbClr val="5B5F7A"/>
                </a:solidFill>
                <a:latin typeface="Calibri" pitchFamily="34" charset="0"/>
                <a:ea typeface="Calibri" pitchFamily="34" charset="-122"/>
                <a:cs typeface="Calibri" pitchFamily="34" charset="-120"/>
              </a:rPr>
              <a:t>10</a:t>
            </a:r>
            <a:endParaRPr lang="en-US" sz="900" dirty="0"/>
          </a:p>
        </p:txBody>
      </p:sp>
      <p:sp>
        <p:nvSpPr>
          <p:cNvPr id="6" name="Text 4"/>
          <p:cNvSpPr txBox="1"/>
          <p:nvPr/>
        </p:nvSpPr>
        <p:spPr>
          <a:xfrm>
            <a:off x="502920" y="1417320"/>
            <a:ext cx="5029200" cy="1920240"/>
          </a:xfrm>
          <a:prstGeom prst="rect">
            <a:avLst/>
          </a:prstGeom>
          <a:noFill/>
          <a:ln/>
        </p:spPr>
        <p:txBody>
          <a:bodyPr wrap="square" lIns="0" tIns="0" rIns="0" bIns="0" rtlCol="0" anchor="t"/>
          <a:lstStyle/>
          <a:p>
            <a:pPr marL="0" indent="0">
              <a:buNone/>
            </a:pPr>
            <a:r>
              <a:rPr lang="en-US" sz="1400" dirty="0">
                <a:solidFill>
                  <a:srgbClr val="1E1B4B"/>
                </a:solidFill>
                <a:latin typeface="Calibri" pitchFamily="34" charset="0"/>
                <a:ea typeface="Calibri" pitchFamily="34" charset="-122"/>
                <a:cs typeface="Calibri" pitchFamily="34" charset="-120"/>
              </a:rPr>
              <a:t>The </a:t>
            </a:r>
            <a:r>
              <a:rPr lang="en-US" sz="1400" dirty="0">
                <a:solidFill>
                  <a:srgbClr val="4F46E5"/>
                </a:solidFill>
                <a:latin typeface="Courier New" pitchFamily="34" charset="0"/>
                <a:ea typeface="Courier New" pitchFamily="34" charset="-122"/>
                <a:cs typeface="Courier New" pitchFamily="34" charset="-120"/>
              </a:rPr>
              <a:t>try</a:t>
            </a:r>
            <a:r>
              <a:rPr lang="en-US" sz="1400" dirty="0">
                <a:solidFill>
                  <a:srgbClr val="1E1B4B"/>
                </a:solidFill>
                <a:latin typeface="Calibri" pitchFamily="34" charset="0"/>
                <a:ea typeface="Calibri" pitchFamily="34" charset="-122"/>
                <a:cs typeface="Calibri" pitchFamily="34" charset="-120"/>
              </a:rPr>
              <a:t>, </a:t>
            </a:r>
            <a:r>
              <a:rPr lang="en-US" sz="1400" dirty="0">
                <a:solidFill>
                  <a:srgbClr val="4F46E5"/>
                </a:solidFill>
                <a:latin typeface="Courier New" pitchFamily="34" charset="0"/>
                <a:ea typeface="Courier New" pitchFamily="34" charset="-122"/>
                <a:cs typeface="Courier New" pitchFamily="34" charset="-120"/>
              </a:rPr>
              <a:t>except</a:t>
            </a:r>
            <a:r>
              <a:rPr lang="en-US" sz="1400" dirty="0">
                <a:solidFill>
                  <a:srgbClr val="1E1B4B"/>
                </a:solidFill>
                <a:latin typeface="Calibri" pitchFamily="34" charset="0"/>
                <a:ea typeface="Calibri" pitchFamily="34" charset="-122"/>
                <a:cs typeface="Calibri" pitchFamily="34" charset="-120"/>
              </a:rPr>
              <a:t>, and </a:t>
            </a:r>
            <a:r>
              <a:rPr lang="en-US" sz="1400" dirty="0">
                <a:solidFill>
                  <a:srgbClr val="4F46E5"/>
                </a:solidFill>
                <a:latin typeface="Courier New" pitchFamily="34" charset="0"/>
                <a:ea typeface="Courier New" pitchFamily="34" charset="-122"/>
                <a:cs typeface="Courier New" pitchFamily="34" charset="-120"/>
              </a:rPr>
              <a:t>finally</a:t>
            </a:r>
            <a:r>
              <a:rPr lang="en-US" sz="1400" dirty="0">
                <a:solidFill>
                  <a:srgbClr val="1E1B4B"/>
                </a:solidFill>
                <a:latin typeface="Calibri" pitchFamily="34" charset="0"/>
                <a:ea typeface="Calibri" pitchFamily="34" charset="-122"/>
                <a:cs typeface="Calibri" pitchFamily="34" charset="-120"/>
              </a:rPr>
              <a:t> statements are used in Python to </a:t>
            </a:r>
            <a:r>
              <a:rPr lang="en-US" sz="1400" b="1" dirty="0">
                <a:solidFill>
                  <a:srgbClr val="1E1B4B"/>
                </a:solidFill>
                <a:latin typeface="Calibri" pitchFamily="34" charset="0"/>
                <a:ea typeface="Calibri" pitchFamily="34" charset="-122"/>
                <a:cs typeface="Calibri" pitchFamily="34" charset="-120"/>
              </a:rPr>
              <a:t>handle errors (exceptions)</a:t>
            </a:r>
            <a:r>
              <a:rPr lang="en-US" sz="1400" dirty="0">
                <a:solidFill>
                  <a:srgbClr val="1E1B4B"/>
                </a:solidFill>
                <a:latin typeface="Calibri" pitchFamily="34" charset="0"/>
                <a:ea typeface="Calibri" pitchFamily="34" charset="-122"/>
                <a:cs typeface="Calibri" pitchFamily="34" charset="-120"/>
              </a:rPr>
              <a:t> gracefully. Instead of letting the program crash when an error occurs, these statements allow you to catch the error, display a helpful message, and continue or clean up before the program ends.</a:t>
            </a:r>
            <a:endParaRPr lang="en-US" sz="1400" dirty="0"/>
          </a:p>
        </p:txBody>
      </p:sp>
      <p:sp>
        <p:nvSpPr>
          <p:cNvPr id="7" name="Shape 5"/>
          <p:cNvSpPr/>
          <p:nvPr/>
        </p:nvSpPr>
        <p:spPr>
          <a:xfrm>
            <a:off x="502920" y="2971800"/>
            <a:ext cx="5029200" cy="960120"/>
          </a:xfrm>
          <a:prstGeom prst="roundRect">
            <a:avLst>
              <a:gd name="adj" fmla="val 11429"/>
            </a:avLst>
          </a:prstGeom>
          <a:solidFill>
            <a:srgbClr val="FFFFFF"/>
          </a:solidFill>
          <a:ln w="9525">
            <a:solidFill>
              <a:srgbClr val="DCDDF5"/>
            </a:solidFill>
            <a:prstDash val="solid"/>
          </a:ln>
          <a:effectLst>
            <a:outerShdw blurRad="127000" dist="25400" dir="5400000" algn="bl" rotWithShape="0">
              <a:srgbClr val="4F46E5">
                <a:alpha val="12000"/>
              </a:srgbClr>
            </a:outerShdw>
          </a:effectLst>
        </p:spPr>
        <p:txBody>
          <a:bodyPr/>
          <a:lstStyle/>
          <a:p>
            <a:endParaRPr lang="en-PH"/>
          </a:p>
        </p:txBody>
      </p:sp>
      <p:sp>
        <p:nvSpPr>
          <p:cNvPr id="8" name="Shape 6"/>
          <p:cNvSpPr/>
          <p:nvPr/>
        </p:nvSpPr>
        <p:spPr>
          <a:xfrm>
            <a:off x="685800" y="3291840"/>
            <a:ext cx="960120" cy="310896"/>
          </a:xfrm>
          <a:prstGeom prst="roundRect">
            <a:avLst>
              <a:gd name="adj" fmla="val 50000"/>
            </a:avLst>
          </a:prstGeom>
          <a:solidFill>
            <a:srgbClr val="1E1B4B"/>
          </a:solidFill>
          <a:ln w="12700">
            <a:solidFill>
              <a:srgbClr val="1E1B4B"/>
            </a:solidFill>
            <a:prstDash val="solid"/>
          </a:ln>
        </p:spPr>
        <p:txBody>
          <a:bodyPr/>
          <a:lstStyle/>
          <a:p>
            <a:endParaRPr lang="en-PH"/>
          </a:p>
        </p:txBody>
      </p:sp>
      <p:sp>
        <p:nvSpPr>
          <p:cNvPr id="9" name="Text 7"/>
          <p:cNvSpPr txBox="1"/>
          <p:nvPr/>
        </p:nvSpPr>
        <p:spPr>
          <a:xfrm>
            <a:off x="685800" y="3291840"/>
            <a:ext cx="960120" cy="310896"/>
          </a:xfrm>
          <a:prstGeom prst="rect">
            <a:avLst/>
          </a:prstGeom>
          <a:noFill/>
          <a:ln/>
        </p:spPr>
        <p:txBody>
          <a:bodyPr wrap="square" lIns="0" tIns="0" rIns="0" bIns="0" rtlCol="0" anchor="ctr"/>
          <a:lstStyle/>
          <a:p>
            <a:pPr marL="0" indent="0" algn="ctr">
              <a:buNone/>
            </a:pPr>
            <a:r>
              <a:rPr lang="en-US" sz="1150" dirty="0">
                <a:solidFill>
                  <a:srgbClr val="FFFFFF"/>
                </a:solidFill>
                <a:latin typeface="Courier New" pitchFamily="34" charset="0"/>
                <a:ea typeface="Courier New" pitchFamily="34" charset="-122"/>
                <a:cs typeface="Courier New" pitchFamily="34" charset="-120"/>
              </a:rPr>
              <a:t>try</a:t>
            </a:r>
            <a:endParaRPr lang="en-US" sz="1150" dirty="0"/>
          </a:p>
        </p:txBody>
      </p:sp>
      <p:sp>
        <p:nvSpPr>
          <p:cNvPr id="10" name="Text 8"/>
          <p:cNvSpPr txBox="1"/>
          <p:nvPr/>
        </p:nvSpPr>
        <p:spPr>
          <a:xfrm>
            <a:off x="1828800" y="3044952"/>
            <a:ext cx="3520440" cy="822960"/>
          </a:xfrm>
          <a:prstGeom prst="rect">
            <a:avLst/>
          </a:prstGeom>
          <a:noFill/>
          <a:ln/>
        </p:spPr>
        <p:txBody>
          <a:bodyPr wrap="square" lIns="0" tIns="0" rIns="0" bIns="0" rtlCol="0" anchor="ctr"/>
          <a:lstStyle/>
          <a:p>
            <a:pPr marL="0" indent="0">
              <a:buNone/>
            </a:pPr>
            <a:r>
              <a:rPr lang="en-US" sz="1350" dirty="0">
                <a:solidFill>
                  <a:srgbClr val="1E1B4B"/>
                </a:solidFill>
                <a:latin typeface="Calibri" pitchFamily="34" charset="0"/>
                <a:ea typeface="Calibri" pitchFamily="34" charset="-122"/>
                <a:cs typeface="Calibri" pitchFamily="34" charset="-120"/>
              </a:rPr>
              <a:t>Runs first. Holds the code that might fail.</a:t>
            </a:r>
            <a:endParaRPr lang="en-US" sz="1350" dirty="0"/>
          </a:p>
        </p:txBody>
      </p:sp>
      <p:sp>
        <p:nvSpPr>
          <p:cNvPr id="11" name="Shape 9"/>
          <p:cNvSpPr/>
          <p:nvPr/>
        </p:nvSpPr>
        <p:spPr>
          <a:xfrm>
            <a:off x="502920" y="4041648"/>
            <a:ext cx="5029200" cy="960120"/>
          </a:xfrm>
          <a:prstGeom prst="roundRect">
            <a:avLst>
              <a:gd name="adj" fmla="val 11429"/>
            </a:avLst>
          </a:prstGeom>
          <a:solidFill>
            <a:srgbClr val="FFFFFF"/>
          </a:solidFill>
          <a:ln w="9525">
            <a:solidFill>
              <a:srgbClr val="DCDDF5"/>
            </a:solidFill>
            <a:prstDash val="solid"/>
          </a:ln>
          <a:effectLst>
            <a:outerShdw blurRad="127000" dist="25400" dir="5400000" algn="bl" rotWithShape="0">
              <a:srgbClr val="4F46E5">
                <a:alpha val="12000"/>
              </a:srgbClr>
            </a:outerShdw>
          </a:effectLst>
        </p:spPr>
        <p:txBody>
          <a:bodyPr/>
          <a:lstStyle/>
          <a:p>
            <a:endParaRPr lang="en-PH"/>
          </a:p>
        </p:txBody>
      </p:sp>
      <p:sp>
        <p:nvSpPr>
          <p:cNvPr id="12" name="Shape 10"/>
          <p:cNvSpPr/>
          <p:nvPr/>
        </p:nvSpPr>
        <p:spPr>
          <a:xfrm>
            <a:off x="685800" y="4361688"/>
            <a:ext cx="960120" cy="310896"/>
          </a:xfrm>
          <a:prstGeom prst="roundRect">
            <a:avLst>
              <a:gd name="adj" fmla="val 50000"/>
            </a:avLst>
          </a:prstGeom>
          <a:solidFill>
            <a:srgbClr val="1E1B4B"/>
          </a:solidFill>
          <a:ln w="12700">
            <a:solidFill>
              <a:srgbClr val="1E1B4B"/>
            </a:solidFill>
            <a:prstDash val="solid"/>
          </a:ln>
        </p:spPr>
        <p:txBody>
          <a:bodyPr/>
          <a:lstStyle/>
          <a:p>
            <a:endParaRPr lang="en-PH"/>
          </a:p>
        </p:txBody>
      </p:sp>
      <p:sp>
        <p:nvSpPr>
          <p:cNvPr id="13" name="Text 11"/>
          <p:cNvSpPr txBox="1"/>
          <p:nvPr/>
        </p:nvSpPr>
        <p:spPr>
          <a:xfrm>
            <a:off x="685800" y="4361688"/>
            <a:ext cx="960120" cy="310896"/>
          </a:xfrm>
          <a:prstGeom prst="rect">
            <a:avLst/>
          </a:prstGeom>
          <a:noFill/>
          <a:ln/>
        </p:spPr>
        <p:txBody>
          <a:bodyPr wrap="square" lIns="0" tIns="0" rIns="0" bIns="0" rtlCol="0" anchor="ctr"/>
          <a:lstStyle/>
          <a:p>
            <a:pPr marL="0" indent="0" algn="ctr">
              <a:buNone/>
            </a:pPr>
            <a:r>
              <a:rPr lang="en-US" sz="1150" dirty="0">
                <a:solidFill>
                  <a:srgbClr val="FFFFFF"/>
                </a:solidFill>
                <a:latin typeface="Courier New" pitchFamily="34" charset="0"/>
                <a:ea typeface="Courier New" pitchFamily="34" charset="-122"/>
                <a:cs typeface="Courier New" pitchFamily="34" charset="-120"/>
              </a:rPr>
              <a:t>except</a:t>
            </a:r>
            <a:endParaRPr lang="en-US" sz="1150" dirty="0"/>
          </a:p>
        </p:txBody>
      </p:sp>
      <p:sp>
        <p:nvSpPr>
          <p:cNvPr id="14" name="Text 12"/>
          <p:cNvSpPr txBox="1"/>
          <p:nvPr/>
        </p:nvSpPr>
        <p:spPr>
          <a:xfrm>
            <a:off x="1828800" y="4114800"/>
            <a:ext cx="3520440" cy="822960"/>
          </a:xfrm>
          <a:prstGeom prst="rect">
            <a:avLst/>
          </a:prstGeom>
          <a:noFill/>
          <a:ln/>
        </p:spPr>
        <p:txBody>
          <a:bodyPr wrap="square" lIns="0" tIns="0" rIns="0" bIns="0" rtlCol="0" anchor="ctr"/>
          <a:lstStyle/>
          <a:p>
            <a:pPr marL="0" indent="0">
              <a:buNone/>
            </a:pPr>
            <a:r>
              <a:rPr lang="en-US" sz="1350" dirty="0">
                <a:solidFill>
                  <a:srgbClr val="1E1B4B"/>
                </a:solidFill>
                <a:latin typeface="Calibri" pitchFamily="34" charset="0"/>
                <a:ea typeface="Calibri" pitchFamily="34" charset="-122"/>
                <a:cs typeface="Calibri" pitchFamily="34" charset="-120"/>
              </a:rPr>
              <a:t>Runs only if a matching error is raised. Use one per error type.</a:t>
            </a:r>
            <a:endParaRPr lang="en-US" sz="1350" dirty="0"/>
          </a:p>
        </p:txBody>
      </p:sp>
      <p:sp>
        <p:nvSpPr>
          <p:cNvPr id="15" name="Shape 13"/>
          <p:cNvSpPr/>
          <p:nvPr/>
        </p:nvSpPr>
        <p:spPr>
          <a:xfrm>
            <a:off x="502920" y="5111496"/>
            <a:ext cx="5029200" cy="960120"/>
          </a:xfrm>
          <a:prstGeom prst="roundRect">
            <a:avLst>
              <a:gd name="adj" fmla="val 11429"/>
            </a:avLst>
          </a:prstGeom>
          <a:solidFill>
            <a:srgbClr val="FFFFFF"/>
          </a:solidFill>
          <a:ln w="9525">
            <a:solidFill>
              <a:srgbClr val="DCDDF5"/>
            </a:solidFill>
            <a:prstDash val="solid"/>
          </a:ln>
          <a:effectLst>
            <a:outerShdw blurRad="127000" dist="25400" dir="5400000" algn="bl" rotWithShape="0">
              <a:srgbClr val="4F46E5">
                <a:alpha val="12000"/>
              </a:srgbClr>
            </a:outerShdw>
          </a:effectLst>
        </p:spPr>
        <p:txBody>
          <a:bodyPr/>
          <a:lstStyle/>
          <a:p>
            <a:endParaRPr lang="en-PH"/>
          </a:p>
        </p:txBody>
      </p:sp>
      <p:sp>
        <p:nvSpPr>
          <p:cNvPr id="16" name="Shape 14"/>
          <p:cNvSpPr/>
          <p:nvPr/>
        </p:nvSpPr>
        <p:spPr>
          <a:xfrm>
            <a:off x="685800" y="5431536"/>
            <a:ext cx="960120" cy="310896"/>
          </a:xfrm>
          <a:prstGeom prst="roundRect">
            <a:avLst>
              <a:gd name="adj" fmla="val 50000"/>
            </a:avLst>
          </a:prstGeom>
          <a:solidFill>
            <a:srgbClr val="1E1B4B"/>
          </a:solidFill>
          <a:ln w="12700">
            <a:solidFill>
              <a:srgbClr val="1E1B4B"/>
            </a:solidFill>
            <a:prstDash val="solid"/>
          </a:ln>
        </p:spPr>
        <p:txBody>
          <a:bodyPr/>
          <a:lstStyle/>
          <a:p>
            <a:endParaRPr lang="en-PH"/>
          </a:p>
        </p:txBody>
      </p:sp>
      <p:sp>
        <p:nvSpPr>
          <p:cNvPr id="17" name="Text 15"/>
          <p:cNvSpPr txBox="1"/>
          <p:nvPr/>
        </p:nvSpPr>
        <p:spPr>
          <a:xfrm>
            <a:off x="685800" y="5431536"/>
            <a:ext cx="960120" cy="310896"/>
          </a:xfrm>
          <a:prstGeom prst="rect">
            <a:avLst/>
          </a:prstGeom>
          <a:noFill/>
          <a:ln/>
        </p:spPr>
        <p:txBody>
          <a:bodyPr wrap="square" lIns="0" tIns="0" rIns="0" bIns="0" rtlCol="0" anchor="ctr"/>
          <a:lstStyle/>
          <a:p>
            <a:pPr marL="0" indent="0" algn="ctr">
              <a:buNone/>
            </a:pPr>
            <a:r>
              <a:rPr lang="en-US" sz="1150" dirty="0">
                <a:solidFill>
                  <a:srgbClr val="FFFFFF"/>
                </a:solidFill>
                <a:latin typeface="Courier New" pitchFamily="34" charset="0"/>
                <a:ea typeface="Courier New" pitchFamily="34" charset="-122"/>
                <a:cs typeface="Courier New" pitchFamily="34" charset="-120"/>
              </a:rPr>
              <a:t>finally</a:t>
            </a:r>
            <a:endParaRPr lang="en-US" sz="1150" dirty="0"/>
          </a:p>
        </p:txBody>
      </p:sp>
      <p:sp>
        <p:nvSpPr>
          <p:cNvPr id="18" name="Text 16"/>
          <p:cNvSpPr txBox="1"/>
          <p:nvPr/>
        </p:nvSpPr>
        <p:spPr>
          <a:xfrm>
            <a:off x="1828800" y="5184648"/>
            <a:ext cx="3520440" cy="822960"/>
          </a:xfrm>
          <a:prstGeom prst="rect">
            <a:avLst/>
          </a:prstGeom>
          <a:noFill/>
          <a:ln/>
        </p:spPr>
        <p:txBody>
          <a:bodyPr wrap="square" lIns="0" tIns="0" rIns="0" bIns="0" rtlCol="0" anchor="ctr"/>
          <a:lstStyle/>
          <a:p>
            <a:pPr marL="0" indent="0">
              <a:buNone/>
            </a:pPr>
            <a:r>
              <a:rPr lang="en-US" sz="1350" dirty="0">
                <a:solidFill>
                  <a:srgbClr val="1E1B4B"/>
                </a:solidFill>
                <a:latin typeface="Calibri" pitchFamily="34" charset="0"/>
                <a:ea typeface="Calibri" pitchFamily="34" charset="-122"/>
                <a:cs typeface="Calibri" pitchFamily="34" charset="-120"/>
              </a:rPr>
              <a:t>Always runs last — error or not. Ideal for clean-up.</a:t>
            </a:r>
            <a:endParaRPr lang="en-US" sz="1350" dirty="0"/>
          </a:p>
        </p:txBody>
      </p:sp>
      <p:sp>
        <p:nvSpPr>
          <p:cNvPr id="19" name="Shape 17"/>
          <p:cNvSpPr/>
          <p:nvPr/>
        </p:nvSpPr>
        <p:spPr>
          <a:xfrm>
            <a:off x="5852160" y="1417320"/>
            <a:ext cx="5836615" cy="2618486"/>
          </a:xfrm>
          <a:prstGeom prst="roundRect">
            <a:avLst>
              <a:gd name="adj" fmla="val 3492"/>
            </a:avLst>
          </a:prstGeom>
          <a:solidFill>
            <a:srgbClr val="1F1D36"/>
          </a:solidFill>
          <a:ln w="12700">
            <a:solidFill>
              <a:srgbClr val="1F1D36"/>
            </a:solidFill>
            <a:prstDash val="solid"/>
          </a:ln>
        </p:spPr>
        <p:txBody>
          <a:bodyPr/>
          <a:lstStyle/>
          <a:p>
            <a:endParaRPr lang="en-PH"/>
          </a:p>
        </p:txBody>
      </p:sp>
      <p:sp>
        <p:nvSpPr>
          <p:cNvPr id="20" name="Text 18"/>
          <p:cNvSpPr txBox="1"/>
          <p:nvPr/>
        </p:nvSpPr>
        <p:spPr>
          <a:xfrm>
            <a:off x="6016752" y="1499616"/>
            <a:ext cx="5507431" cy="201168"/>
          </a:xfrm>
          <a:prstGeom prst="rect">
            <a:avLst/>
          </a:prstGeom>
          <a:noFill/>
          <a:ln/>
        </p:spPr>
        <p:txBody>
          <a:bodyPr wrap="square" lIns="0" tIns="0" rIns="0" bIns="0" rtlCol="0" anchor="ctr"/>
          <a:lstStyle/>
          <a:p>
            <a:pPr marL="0" indent="0">
              <a:buNone/>
            </a:pPr>
            <a:r>
              <a:rPr lang="en-US" sz="900" b="1" dirty="0">
                <a:solidFill>
                  <a:srgbClr val="8A8FB5"/>
                </a:solidFill>
                <a:latin typeface="Calibri" pitchFamily="34" charset="0"/>
                <a:ea typeface="Calibri" pitchFamily="34" charset="-122"/>
                <a:cs typeface="Calibri" pitchFamily="34" charset="-120"/>
              </a:rPr>
              <a:t>&lt;/&gt;  Python</a:t>
            </a:r>
            <a:endParaRPr lang="en-US" sz="900" dirty="0"/>
          </a:p>
        </p:txBody>
      </p:sp>
      <p:sp>
        <p:nvSpPr>
          <p:cNvPr id="21" name="Text 19"/>
          <p:cNvSpPr txBox="1"/>
          <p:nvPr/>
        </p:nvSpPr>
        <p:spPr>
          <a:xfrm>
            <a:off x="6016752" y="1746504"/>
            <a:ext cx="5562295" cy="2234438"/>
          </a:xfrm>
          <a:prstGeom prst="rect">
            <a:avLst/>
          </a:prstGeom>
          <a:noFill/>
          <a:ln/>
        </p:spPr>
        <p:txBody>
          <a:bodyPr wrap="square" lIns="0" tIns="0" rIns="0" bIns="0" rtlCol="0" anchor="t"/>
          <a:lstStyle/>
          <a:p>
            <a:pPr marL="0" indent="0">
              <a:buNone/>
            </a:pPr>
            <a:r>
              <a:rPr lang="en-US" sz="1100" dirty="0">
                <a:solidFill>
                  <a:srgbClr val="D3A6FF"/>
                </a:solidFill>
                <a:latin typeface="Courier New" pitchFamily="34" charset="0"/>
                <a:ea typeface="Courier New" pitchFamily="34" charset="-122"/>
                <a:cs typeface="Courier New" pitchFamily="34" charset="-120"/>
              </a:rPr>
              <a:t>try</a:t>
            </a:r>
            <a:r>
              <a:rPr lang="en-US" sz="1100" dirty="0">
                <a:solidFill>
                  <a:srgbClr val="E4E4F0"/>
                </a:solidFill>
                <a:latin typeface="Courier New" pitchFamily="34" charset="0"/>
                <a:ea typeface="Courier New" pitchFamily="34" charset="-122"/>
                <a:cs typeface="Courier New" pitchFamily="34" charset="-120"/>
              </a:rPr>
              <a:t>:</a:t>
            </a:r>
            <a:endParaRPr lang="en-US" sz="1100" dirty="0"/>
          </a:p>
          <a:p>
            <a:pPr marL="0" indent="0">
              <a:buNone/>
            </a:pPr>
            <a:r>
              <a:rPr lang="en-US" sz="1100" dirty="0">
                <a:solidFill>
                  <a:srgbClr val="E4E4F0"/>
                </a:solidFill>
                <a:latin typeface="Courier New" pitchFamily="34" charset="0"/>
                <a:ea typeface="Courier New" pitchFamily="34" charset="-122"/>
                <a:cs typeface="Courier New" pitchFamily="34" charset="-120"/>
              </a:rPr>
              <a:t>    number = </a:t>
            </a:r>
            <a:r>
              <a:rPr lang="en-US" sz="1100" dirty="0">
                <a:solidFill>
                  <a:srgbClr val="82AAFF"/>
                </a:solidFill>
                <a:latin typeface="Courier New" pitchFamily="34" charset="0"/>
                <a:ea typeface="Courier New" pitchFamily="34" charset="-122"/>
                <a:cs typeface="Courier New" pitchFamily="34" charset="-120"/>
              </a:rPr>
              <a:t>int</a:t>
            </a:r>
            <a:r>
              <a:rPr lang="en-US" sz="1100" dirty="0">
                <a:solidFill>
                  <a:srgbClr val="E4E4F0"/>
                </a:solidFill>
                <a:latin typeface="Courier New" pitchFamily="34" charset="0"/>
                <a:ea typeface="Courier New" pitchFamily="34" charset="-122"/>
                <a:cs typeface="Courier New" pitchFamily="34" charset="-120"/>
              </a:rPr>
              <a:t>(</a:t>
            </a:r>
            <a:r>
              <a:rPr lang="en-US" sz="1100" dirty="0">
                <a:solidFill>
                  <a:srgbClr val="82AAFF"/>
                </a:solidFill>
                <a:latin typeface="Courier New" pitchFamily="34" charset="0"/>
                <a:ea typeface="Courier New" pitchFamily="34" charset="-122"/>
                <a:cs typeface="Courier New" pitchFamily="34" charset="-120"/>
              </a:rPr>
              <a:t>input</a:t>
            </a:r>
            <a:r>
              <a:rPr lang="en-US" sz="1100" dirty="0">
                <a:solidFill>
                  <a:srgbClr val="E4E4F0"/>
                </a:solidFill>
                <a:latin typeface="Courier New" pitchFamily="34" charset="0"/>
                <a:ea typeface="Courier New" pitchFamily="34" charset="-122"/>
                <a:cs typeface="Courier New" pitchFamily="34" charset="-120"/>
              </a:rPr>
              <a:t>(</a:t>
            </a:r>
            <a:r>
              <a:rPr lang="en-US" sz="1100" dirty="0">
                <a:solidFill>
                  <a:srgbClr val="A6E3A1"/>
                </a:solidFill>
                <a:latin typeface="Courier New" pitchFamily="34" charset="0"/>
                <a:ea typeface="Courier New" pitchFamily="34" charset="-122"/>
                <a:cs typeface="Courier New" pitchFamily="34" charset="-120"/>
              </a:rPr>
              <a:t>"Enter a number: "</a:t>
            </a:r>
            <a:r>
              <a:rPr lang="en-US" sz="1100" dirty="0">
                <a:solidFill>
                  <a:srgbClr val="E4E4F0"/>
                </a:solidFill>
                <a:latin typeface="Courier New" pitchFamily="34" charset="0"/>
                <a:ea typeface="Courier New" pitchFamily="34" charset="-122"/>
                <a:cs typeface="Courier New" pitchFamily="34" charset="-120"/>
              </a:rPr>
              <a:t>))</a:t>
            </a:r>
            <a:endParaRPr lang="en-US" sz="1100" dirty="0"/>
          </a:p>
          <a:p>
            <a:pPr marL="0" indent="0">
              <a:buNone/>
            </a:pPr>
            <a:r>
              <a:rPr lang="en-US" sz="1100" dirty="0">
                <a:solidFill>
                  <a:srgbClr val="E4E4F0"/>
                </a:solidFill>
                <a:latin typeface="Courier New" pitchFamily="34" charset="0"/>
                <a:ea typeface="Courier New" pitchFamily="34" charset="-122"/>
                <a:cs typeface="Courier New" pitchFamily="34" charset="-120"/>
              </a:rPr>
              <a:t>    result = </a:t>
            </a:r>
            <a:r>
              <a:rPr lang="en-US" sz="1100" dirty="0">
                <a:solidFill>
                  <a:srgbClr val="FAB387"/>
                </a:solidFill>
                <a:latin typeface="Courier New" pitchFamily="34" charset="0"/>
                <a:ea typeface="Courier New" pitchFamily="34" charset="-122"/>
                <a:cs typeface="Courier New" pitchFamily="34" charset="-120"/>
              </a:rPr>
              <a:t>10</a:t>
            </a:r>
            <a:r>
              <a:rPr lang="en-US" sz="1100" dirty="0">
                <a:solidFill>
                  <a:srgbClr val="E4E4F0"/>
                </a:solidFill>
                <a:latin typeface="Courier New" pitchFamily="34" charset="0"/>
                <a:ea typeface="Courier New" pitchFamily="34" charset="-122"/>
                <a:cs typeface="Courier New" pitchFamily="34" charset="-120"/>
              </a:rPr>
              <a:t> / number</a:t>
            </a:r>
            <a:endParaRPr lang="en-US" sz="1100" dirty="0"/>
          </a:p>
          <a:p>
            <a:pPr marL="0" indent="0">
              <a:buNone/>
            </a:pPr>
            <a:r>
              <a:rPr lang="en-US" sz="1100" dirty="0">
                <a:solidFill>
                  <a:srgbClr val="E4E4F0"/>
                </a:solidFill>
                <a:latin typeface="Courier New" pitchFamily="34" charset="0"/>
                <a:ea typeface="Courier New" pitchFamily="34" charset="-122"/>
                <a:cs typeface="Courier New" pitchFamily="34" charset="-120"/>
              </a:rPr>
              <a:t>    </a:t>
            </a:r>
            <a:r>
              <a:rPr lang="en-US" sz="1100" dirty="0">
                <a:solidFill>
                  <a:srgbClr val="82AAFF"/>
                </a:solidFill>
                <a:latin typeface="Courier New" pitchFamily="34" charset="0"/>
                <a:ea typeface="Courier New" pitchFamily="34" charset="-122"/>
                <a:cs typeface="Courier New" pitchFamily="34" charset="-120"/>
              </a:rPr>
              <a:t>print</a:t>
            </a:r>
            <a:r>
              <a:rPr lang="en-US" sz="1100" dirty="0">
                <a:solidFill>
                  <a:srgbClr val="E4E4F0"/>
                </a:solidFill>
                <a:latin typeface="Courier New" pitchFamily="34" charset="0"/>
                <a:ea typeface="Courier New" pitchFamily="34" charset="-122"/>
                <a:cs typeface="Courier New" pitchFamily="34" charset="-120"/>
              </a:rPr>
              <a:t>(</a:t>
            </a:r>
            <a:r>
              <a:rPr lang="en-US" sz="1100" dirty="0">
                <a:solidFill>
                  <a:srgbClr val="A6E3A1"/>
                </a:solidFill>
                <a:latin typeface="Courier New" pitchFamily="34" charset="0"/>
                <a:ea typeface="Courier New" pitchFamily="34" charset="-122"/>
                <a:cs typeface="Courier New" pitchFamily="34" charset="-120"/>
              </a:rPr>
              <a:t>"Result:"</a:t>
            </a:r>
            <a:r>
              <a:rPr lang="en-US" sz="1100" dirty="0">
                <a:solidFill>
                  <a:srgbClr val="E4E4F0"/>
                </a:solidFill>
                <a:latin typeface="Courier New" pitchFamily="34" charset="0"/>
                <a:ea typeface="Courier New" pitchFamily="34" charset="-122"/>
                <a:cs typeface="Courier New" pitchFamily="34" charset="-120"/>
              </a:rPr>
              <a:t>, result)</a:t>
            </a:r>
            <a:endParaRPr lang="en-US" sz="1100" dirty="0"/>
          </a:p>
          <a:p>
            <a:pPr marL="0" indent="0">
              <a:buNone/>
            </a:pPr>
            <a:r>
              <a:rPr lang="en-US" sz="1100" dirty="0">
                <a:solidFill>
                  <a:srgbClr val="E4E4F0"/>
                </a:solidFill>
                <a:latin typeface="Courier New" pitchFamily="34" charset="0"/>
                <a:ea typeface="Courier New" pitchFamily="34" charset="-122"/>
                <a:cs typeface="Courier New" pitchFamily="34" charset="-120"/>
              </a:rPr>
              <a:t> </a:t>
            </a:r>
            <a:endParaRPr lang="en-US" sz="1100" dirty="0"/>
          </a:p>
          <a:p>
            <a:pPr marL="0" indent="0">
              <a:buNone/>
            </a:pPr>
            <a:r>
              <a:rPr lang="en-US" sz="1100" dirty="0">
                <a:solidFill>
                  <a:srgbClr val="D3A6FF"/>
                </a:solidFill>
                <a:latin typeface="Courier New" pitchFamily="34" charset="0"/>
                <a:ea typeface="Courier New" pitchFamily="34" charset="-122"/>
                <a:cs typeface="Courier New" pitchFamily="34" charset="-120"/>
              </a:rPr>
              <a:t>except</a:t>
            </a:r>
            <a:r>
              <a:rPr lang="en-US" sz="1100" dirty="0">
                <a:solidFill>
                  <a:srgbClr val="E4E4F0"/>
                </a:solidFill>
                <a:latin typeface="Courier New" pitchFamily="34" charset="0"/>
                <a:ea typeface="Courier New" pitchFamily="34" charset="-122"/>
                <a:cs typeface="Courier New" pitchFamily="34" charset="-120"/>
              </a:rPr>
              <a:t> </a:t>
            </a:r>
            <a:r>
              <a:rPr lang="en-US" sz="1100" dirty="0">
                <a:solidFill>
                  <a:srgbClr val="F38BA8"/>
                </a:solidFill>
                <a:latin typeface="Courier New" pitchFamily="34" charset="0"/>
                <a:ea typeface="Courier New" pitchFamily="34" charset="-122"/>
                <a:cs typeface="Courier New" pitchFamily="34" charset="-120"/>
              </a:rPr>
              <a:t>ZeroDivisionError</a:t>
            </a:r>
            <a:r>
              <a:rPr lang="en-US" sz="1100" dirty="0">
                <a:solidFill>
                  <a:srgbClr val="E4E4F0"/>
                </a:solidFill>
                <a:latin typeface="Courier New" pitchFamily="34" charset="0"/>
                <a:ea typeface="Courier New" pitchFamily="34" charset="-122"/>
                <a:cs typeface="Courier New" pitchFamily="34" charset="-120"/>
              </a:rPr>
              <a:t>:</a:t>
            </a:r>
            <a:endParaRPr lang="en-US" sz="1100" dirty="0"/>
          </a:p>
          <a:p>
            <a:pPr marL="0" indent="0">
              <a:buNone/>
            </a:pPr>
            <a:r>
              <a:rPr lang="en-US" sz="1100" dirty="0">
                <a:solidFill>
                  <a:srgbClr val="E4E4F0"/>
                </a:solidFill>
                <a:latin typeface="Courier New" pitchFamily="34" charset="0"/>
                <a:ea typeface="Courier New" pitchFamily="34" charset="-122"/>
                <a:cs typeface="Courier New" pitchFamily="34" charset="-120"/>
              </a:rPr>
              <a:t>    </a:t>
            </a:r>
            <a:r>
              <a:rPr lang="en-US" sz="1100" dirty="0">
                <a:solidFill>
                  <a:srgbClr val="82AAFF"/>
                </a:solidFill>
                <a:latin typeface="Courier New" pitchFamily="34" charset="0"/>
                <a:ea typeface="Courier New" pitchFamily="34" charset="-122"/>
                <a:cs typeface="Courier New" pitchFamily="34" charset="-120"/>
              </a:rPr>
              <a:t>print</a:t>
            </a:r>
            <a:r>
              <a:rPr lang="en-US" sz="1100" dirty="0">
                <a:solidFill>
                  <a:srgbClr val="E4E4F0"/>
                </a:solidFill>
                <a:latin typeface="Courier New" pitchFamily="34" charset="0"/>
                <a:ea typeface="Courier New" pitchFamily="34" charset="-122"/>
                <a:cs typeface="Courier New" pitchFamily="34" charset="-120"/>
              </a:rPr>
              <a:t>(</a:t>
            </a:r>
            <a:r>
              <a:rPr lang="en-US" sz="1100" dirty="0">
                <a:solidFill>
                  <a:srgbClr val="A6E3A1"/>
                </a:solidFill>
                <a:latin typeface="Courier New" pitchFamily="34" charset="0"/>
                <a:ea typeface="Courier New" pitchFamily="34" charset="-122"/>
                <a:cs typeface="Courier New" pitchFamily="34" charset="-120"/>
              </a:rPr>
              <a:t>"Error: Cannot divide by zero."</a:t>
            </a:r>
            <a:r>
              <a:rPr lang="en-US" sz="1100" dirty="0">
                <a:solidFill>
                  <a:srgbClr val="E4E4F0"/>
                </a:solidFill>
                <a:latin typeface="Courier New" pitchFamily="34" charset="0"/>
                <a:ea typeface="Courier New" pitchFamily="34" charset="-122"/>
                <a:cs typeface="Courier New" pitchFamily="34" charset="-120"/>
              </a:rPr>
              <a:t>)</a:t>
            </a:r>
            <a:endParaRPr lang="en-US" sz="1100" dirty="0"/>
          </a:p>
          <a:p>
            <a:pPr marL="0" indent="0">
              <a:buNone/>
            </a:pPr>
            <a:r>
              <a:rPr lang="en-US" sz="1100" dirty="0">
                <a:solidFill>
                  <a:srgbClr val="E4E4F0"/>
                </a:solidFill>
                <a:latin typeface="Courier New" pitchFamily="34" charset="0"/>
                <a:ea typeface="Courier New" pitchFamily="34" charset="-122"/>
                <a:cs typeface="Courier New" pitchFamily="34" charset="-120"/>
              </a:rPr>
              <a:t> </a:t>
            </a:r>
            <a:endParaRPr lang="en-US" sz="1100" dirty="0"/>
          </a:p>
          <a:p>
            <a:pPr marL="0" indent="0">
              <a:buNone/>
            </a:pPr>
            <a:r>
              <a:rPr lang="en-US" sz="1100" dirty="0">
                <a:solidFill>
                  <a:srgbClr val="D3A6FF"/>
                </a:solidFill>
                <a:latin typeface="Courier New" pitchFamily="34" charset="0"/>
                <a:ea typeface="Courier New" pitchFamily="34" charset="-122"/>
                <a:cs typeface="Courier New" pitchFamily="34" charset="-120"/>
              </a:rPr>
              <a:t>except</a:t>
            </a:r>
            <a:r>
              <a:rPr lang="en-US" sz="1100" dirty="0">
                <a:solidFill>
                  <a:srgbClr val="E4E4F0"/>
                </a:solidFill>
                <a:latin typeface="Courier New" pitchFamily="34" charset="0"/>
                <a:ea typeface="Courier New" pitchFamily="34" charset="-122"/>
                <a:cs typeface="Courier New" pitchFamily="34" charset="-120"/>
              </a:rPr>
              <a:t> </a:t>
            </a:r>
            <a:r>
              <a:rPr lang="en-US" sz="1100" dirty="0">
                <a:solidFill>
                  <a:srgbClr val="F38BA8"/>
                </a:solidFill>
                <a:latin typeface="Courier New" pitchFamily="34" charset="0"/>
                <a:ea typeface="Courier New" pitchFamily="34" charset="-122"/>
                <a:cs typeface="Courier New" pitchFamily="34" charset="-120"/>
              </a:rPr>
              <a:t>ValueError</a:t>
            </a:r>
            <a:r>
              <a:rPr lang="en-US" sz="1100" dirty="0">
                <a:solidFill>
                  <a:srgbClr val="E4E4F0"/>
                </a:solidFill>
                <a:latin typeface="Courier New" pitchFamily="34" charset="0"/>
                <a:ea typeface="Courier New" pitchFamily="34" charset="-122"/>
                <a:cs typeface="Courier New" pitchFamily="34" charset="-120"/>
              </a:rPr>
              <a:t>:</a:t>
            </a:r>
            <a:endParaRPr lang="en-US" sz="1100" dirty="0"/>
          </a:p>
          <a:p>
            <a:pPr marL="0" indent="0">
              <a:buNone/>
            </a:pPr>
            <a:r>
              <a:rPr lang="en-US" sz="1100" dirty="0">
                <a:solidFill>
                  <a:srgbClr val="E4E4F0"/>
                </a:solidFill>
                <a:latin typeface="Courier New" pitchFamily="34" charset="0"/>
                <a:ea typeface="Courier New" pitchFamily="34" charset="-122"/>
                <a:cs typeface="Courier New" pitchFamily="34" charset="-120"/>
              </a:rPr>
              <a:t>    </a:t>
            </a:r>
            <a:r>
              <a:rPr lang="en-US" sz="1100" dirty="0">
                <a:solidFill>
                  <a:srgbClr val="82AAFF"/>
                </a:solidFill>
                <a:latin typeface="Courier New" pitchFamily="34" charset="0"/>
                <a:ea typeface="Courier New" pitchFamily="34" charset="-122"/>
                <a:cs typeface="Courier New" pitchFamily="34" charset="-120"/>
              </a:rPr>
              <a:t>print</a:t>
            </a:r>
            <a:r>
              <a:rPr lang="en-US" sz="1100" dirty="0">
                <a:solidFill>
                  <a:srgbClr val="E4E4F0"/>
                </a:solidFill>
                <a:latin typeface="Courier New" pitchFamily="34" charset="0"/>
                <a:ea typeface="Courier New" pitchFamily="34" charset="-122"/>
                <a:cs typeface="Courier New" pitchFamily="34" charset="-120"/>
              </a:rPr>
              <a:t>(</a:t>
            </a:r>
            <a:r>
              <a:rPr lang="en-US" sz="1100" dirty="0">
                <a:solidFill>
                  <a:srgbClr val="A6E3A1"/>
                </a:solidFill>
                <a:latin typeface="Courier New" pitchFamily="34" charset="0"/>
                <a:ea typeface="Courier New" pitchFamily="34" charset="-122"/>
                <a:cs typeface="Courier New" pitchFamily="34" charset="-120"/>
              </a:rPr>
              <a:t>"Error: Please enter a valid number."</a:t>
            </a:r>
            <a:r>
              <a:rPr lang="en-US" sz="1100" dirty="0">
                <a:solidFill>
                  <a:srgbClr val="E4E4F0"/>
                </a:solidFill>
                <a:latin typeface="Courier New" pitchFamily="34" charset="0"/>
                <a:ea typeface="Courier New" pitchFamily="34" charset="-122"/>
                <a:cs typeface="Courier New" pitchFamily="34" charset="-120"/>
              </a:rPr>
              <a:t>)</a:t>
            </a:r>
            <a:endParaRPr lang="en-US" sz="1100" dirty="0"/>
          </a:p>
          <a:p>
            <a:pPr marL="0" indent="0">
              <a:buNone/>
            </a:pPr>
            <a:r>
              <a:rPr lang="en-US" sz="1100" dirty="0">
                <a:solidFill>
                  <a:srgbClr val="E4E4F0"/>
                </a:solidFill>
                <a:latin typeface="Courier New" pitchFamily="34" charset="0"/>
                <a:ea typeface="Courier New" pitchFamily="34" charset="-122"/>
                <a:cs typeface="Courier New" pitchFamily="34" charset="-120"/>
              </a:rPr>
              <a:t> </a:t>
            </a:r>
            <a:endParaRPr lang="en-US" sz="1100" dirty="0"/>
          </a:p>
          <a:p>
            <a:pPr marL="0" indent="0">
              <a:buNone/>
            </a:pPr>
            <a:r>
              <a:rPr lang="en-US" sz="1100" dirty="0">
                <a:solidFill>
                  <a:srgbClr val="D3A6FF"/>
                </a:solidFill>
                <a:latin typeface="Courier New" pitchFamily="34" charset="0"/>
                <a:ea typeface="Courier New" pitchFamily="34" charset="-122"/>
                <a:cs typeface="Courier New" pitchFamily="34" charset="-120"/>
              </a:rPr>
              <a:t>finally</a:t>
            </a:r>
            <a:r>
              <a:rPr lang="en-US" sz="1100" dirty="0">
                <a:solidFill>
                  <a:srgbClr val="E4E4F0"/>
                </a:solidFill>
                <a:latin typeface="Courier New" pitchFamily="34" charset="0"/>
                <a:ea typeface="Courier New" pitchFamily="34" charset="-122"/>
                <a:cs typeface="Courier New" pitchFamily="34" charset="-120"/>
              </a:rPr>
              <a:t>:</a:t>
            </a:r>
            <a:endParaRPr lang="en-US" sz="1100" dirty="0"/>
          </a:p>
          <a:p>
            <a:pPr marL="0" indent="0">
              <a:buNone/>
            </a:pPr>
            <a:r>
              <a:rPr lang="en-US" sz="1100" dirty="0">
                <a:solidFill>
                  <a:srgbClr val="E4E4F0"/>
                </a:solidFill>
                <a:latin typeface="Courier New" pitchFamily="34" charset="0"/>
                <a:ea typeface="Courier New" pitchFamily="34" charset="-122"/>
                <a:cs typeface="Courier New" pitchFamily="34" charset="-120"/>
              </a:rPr>
              <a:t>    </a:t>
            </a:r>
            <a:r>
              <a:rPr lang="en-US" sz="1100" dirty="0">
                <a:solidFill>
                  <a:srgbClr val="82AAFF"/>
                </a:solidFill>
                <a:latin typeface="Courier New" pitchFamily="34" charset="0"/>
                <a:ea typeface="Courier New" pitchFamily="34" charset="-122"/>
                <a:cs typeface="Courier New" pitchFamily="34" charset="-120"/>
              </a:rPr>
              <a:t>print</a:t>
            </a:r>
            <a:r>
              <a:rPr lang="en-US" sz="1100" dirty="0">
                <a:solidFill>
                  <a:srgbClr val="E4E4F0"/>
                </a:solidFill>
                <a:latin typeface="Courier New" pitchFamily="34" charset="0"/>
                <a:ea typeface="Courier New" pitchFamily="34" charset="-122"/>
                <a:cs typeface="Courier New" pitchFamily="34" charset="-120"/>
              </a:rPr>
              <a:t>(</a:t>
            </a:r>
            <a:r>
              <a:rPr lang="en-US" sz="1100" dirty="0">
                <a:solidFill>
                  <a:srgbClr val="A6E3A1"/>
                </a:solidFill>
                <a:latin typeface="Courier New" pitchFamily="34" charset="0"/>
                <a:ea typeface="Courier New" pitchFamily="34" charset="-122"/>
                <a:cs typeface="Courier New" pitchFamily="34" charset="-120"/>
              </a:rPr>
              <a:t>"Program finished."</a:t>
            </a:r>
            <a:r>
              <a:rPr lang="en-US" sz="1100" dirty="0">
                <a:solidFill>
                  <a:srgbClr val="E4E4F0"/>
                </a:solidFill>
                <a:latin typeface="Courier New" pitchFamily="34" charset="0"/>
                <a:ea typeface="Courier New" pitchFamily="34" charset="-122"/>
                <a:cs typeface="Courier New" pitchFamily="34" charset="-120"/>
              </a:rPr>
              <a:t>)</a:t>
            </a:r>
            <a:endParaRPr lang="en-US" sz="1100" dirty="0"/>
          </a:p>
        </p:txBody>
      </p:sp>
      <p:sp>
        <p:nvSpPr>
          <p:cNvPr id="22" name="Shape 20"/>
          <p:cNvSpPr/>
          <p:nvPr/>
        </p:nvSpPr>
        <p:spPr>
          <a:xfrm>
            <a:off x="5852160" y="4172966"/>
            <a:ext cx="1854098" cy="932688"/>
          </a:xfrm>
          <a:prstGeom prst="roundRect">
            <a:avLst>
              <a:gd name="adj" fmla="val 9804"/>
            </a:avLst>
          </a:prstGeom>
          <a:solidFill>
            <a:srgbClr val="F6F6FF"/>
          </a:solidFill>
          <a:ln w="9525">
            <a:solidFill>
              <a:srgbClr val="DCDDF5"/>
            </a:solidFill>
            <a:prstDash val="solid"/>
          </a:ln>
        </p:spPr>
        <p:txBody>
          <a:bodyPr/>
          <a:lstStyle/>
          <a:p>
            <a:endParaRPr lang="en-PH"/>
          </a:p>
        </p:txBody>
      </p:sp>
      <p:sp>
        <p:nvSpPr>
          <p:cNvPr id="23" name="Text 21"/>
          <p:cNvSpPr txBox="1"/>
          <p:nvPr/>
        </p:nvSpPr>
        <p:spPr>
          <a:xfrm>
            <a:off x="5998464" y="4246118"/>
            <a:ext cx="1579778" cy="182880"/>
          </a:xfrm>
          <a:prstGeom prst="rect">
            <a:avLst/>
          </a:prstGeom>
          <a:noFill/>
          <a:ln/>
        </p:spPr>
        <p:txBody>
          <a:bodyPr wrap="square" lIns="0" tIns="0" rIns="0" bIns="0" rtlCol="0" anchor="ctr"/>
          <a:lstStyle/>
          <a:p>
            <a:pPr marL="0" indent="0">
              <a:buNone/>
            </a:pPr>
            <a:r>
              <a:rPr lang="en-US" sz="850" b="1" kern="0" spc="150" dirty="0">
                <a:solidFill>
                  <a:srgbClr val="4F46E5"/>
                </a:solidFill>
                <a:latin typeface="Calibri" pitchFamily="34" charset="0"/>
                <a:ea typeface="Calibri" pitchFamily="34" charset="-122"/>
                <a:cs typeface="Calibri" pitchFamily="34" charset="-120"/>
              </a:rPr>
              <a:t>INPUT: 5</a:t>
            </a:r>
            <a:endParaRPr lang="en-US" sz="850" dirty="0"/>
          </a:p>
        </p:txBody>
      </p:sp>
      <p:sp>
        <p:nvSpPr>
          <p:cNvPr id="24" name="Text 22"/>
          <p:cNvSpPr txBox="1"/>
          <p:nvPr/>
        </p:nvSpPr>
        <p:spPr>
          <a:xfrm>
            <a:off x="5998464" y="4465574"/>
            <a:ext cx="1616354" cy="603504"/>
          </a:xfrm>
          <a:prstGeom prst="rect">
            <a:avLst/>
          </a:prstGeom>
          <a:noFill/>
          <a:ln/>
        </p:spPr>
        <p:txBody>
          <a:bodyPr wrap="square" lIns="0" tIns="0" rIns="0" bIns="0" rtlCol="0" anchor="t"/>
          <a:lstStyle/>
          <a:p>
            <a:pPr marL="0" indent="0">
              <a:buNone/>
            </a:pPr>
            <a:r>
              <a:rPr lang="en-US" sz="1000" dirty="0">
                <a:solidFill>
                  <a:srgbClr val="1E1B4B"/>
                </a:solidFill>
                <a:latin typeface="Courier New" pitchFamily="34" charset="0"/>
                <a:ea typeface="Courier New" pitchFamily="34" charset="-122"/>
                <a:cs typeface="Courier New" pitchFamily="34" charset="-120"/>
              </a:rPr>
              <a:t>Result: 2.0</a:t>
            </a:r>
            <a:endParaRPr lang="en-US" sz="1000" dirty="0"/>
          </a:p>
          <a:p>
            <a:pPr marL="0" indent="0">
              <a:buNone/>
            </a:pPr>
            <a:r>
              <a:rPr lang="en-US" sz="1000" dirty="0">
                <a:solidFill>
                  <a:srgbClr val="1E1B4B"/>
                </a:solidFill>
                <a:latin typeface="Courier New" pitchFamily="34" charset="0"/>
                <a:ea typeface="Courier New" pitchFamily="34" charset="-122"/>
                <a:cs typeface="Courier New" pitchFamily="34" charset="-120"/>
              </a:rPr>
              <a:t>Program finished.</a:t>
            </a:r>
            <a:endParaRPr lang="en-US" sz="1000" dirty="0"/>
          </a:p>
        </p:txBody>
      </p:sp>
      <p:sp>
        <p:nvSpPr>
          <p:cNvPr id="25" name="Shape 23"/>
          <p:cNvSpPr/>
          <p:nvPr/>
        </p:nvSpPr>
        <p:spPr>
          <a:xfrm>
            <a:off x="7843418" y="4172966"/>
            <a:ext cx="1854098" cy="932688"/>
          </a:xfrm>
          <a:prstGeom prst="roundRect">
            <a:avLst>
              <a:gd name="adj" fmla="val 9804"/>
            </a:avLst>
          </a:prstGeom>
          <a:solidFill>
            <a:srgbClr val="F6F6FF"/>
          </a:solidFill>
          <a:ln w="9525">
            <a:solidFill>
              <a:srgbClr val="DCDDF5"/>
            </a:solidFill>
            <a:prstDash val="solid"/>
          </a:ln>
        </p:spPr>
        <p:txBody>
          <a:bodyPr/>
          <a:lstStyle/>
          <a:p>
            <a:endParaRPr lang="en-PH"/>
          </a:p>
        </p:txBody>
      </p:sp>
      <p:sp>
        <p:nvSpPr>
          <p:cNvPr id="26" name="Text 24"/>
          <p:cNvSpPr txBox="1"/>
          <p:nvPr/>
        </p:nvSpPr>
        <p:spPr>
          <a:xfrm>
            <a:off x="7989722" y="4246118"/>
            <a:ext cx="1579778" cy="182880"/>
          </a:xfrm>
          <a:prstGeom prst="rect">
            <a:avLst/>
          </a:prstGeom>
          <a:noFill/>
          <a:ln/>
        </p:spPr>
        <p:txBody>
          <a:bodyPr wrap="square" lIns="0" tIns="0" rIns="0" bIns="0" rtlCol="0" anchor="ctr"/>
          <a:lstStyle/>
          <a:p>
            <a:pPr marL="0" indent="0">
              <a:buNone/>
            </a:pPr>
            <a:r>
              <a:rPr lang="en-US" sz="850" b="1" kern="0" spc="150" dirty="0">
                <a:solidFill>
                  <a:srgbClr val="4F46E5"/>
                </a:solidFill>
                <a:latin typeface="Calibri" pitchFamily="34" charset="0"/>
                <a:ea typeface="Calibri" pitchFamily="34" charset="-122"/>
                <a:cs typeface="Calibri" pitchFamily="34" charset="-120"/>
              </a:rPr>
              <a:t>INPUT: 0</a:t>
            </a:r>
            <a:endParaRPr lang="en-US" sz="850" dirty="0"/>
          </a:p>
        </p:txBody>
      </p:sp>
      <p:sp>
        <p:nvSpPr>
          <p:cNvPr id="27" name="Text 25"/>
          <p:cNvSpPr txBox="1"/>
          <p:nvPr/>
        </p:nvSpPr>
        <p:spPr>
          <a:xfrm>
            <a:off x="7989722" y="4465574"/>
            <a:ext cx="1616354" cy="603504"/>
          </a:xfrm>
          <a:prstGeom prst="rect">
            <a:avLst/>
          </a:prstGeom>
          <a:noFill/>
          <a:ln/>
        </p:spPr>
        <p:txBody>
          <a:bodyPr wrap="square" lIns="0" tIns="0" rIns="0" bIns="0" rtlCol="0" anchor="t"/>
          <a:lstStyle/>
          <a:p>
            <a:pPr marL="0" indent="0">
              <a:buNone/>
            </a:pPr>
            <a:r>
              <a:rPr lang="en-US" sz="1000" dirty="0">
                <a:solidFill>
                  <a:srgbClr val="C0392B"/>
                </a:solidFill>
                <a:latin typeface="Courier New" pitchFamily="34" charset="0"/>
                <a:ea typeface="Courier New" pitchFamily="34" charset="-122"/>
                <a:cs typeface="Courier New" pitchFamily="34" charset="-120"/>
              </a:rPr>
              <a:t>Error: Cannot</a:t>
            </a:r>
            <a:endParaRPr lang="en-US" sz="1000" dirty="0"/>
          </a:p>
          <a:p>
            <a:pPr marL="0" indent="0">
              <a:buNone/>
            </a:pPr>
            <a:r>
              <a:rPr lang="en-US" sz="1000" dirty="0">
                <a:solidFill>
                  <a:srgbClr val="1E1B4B"/>
                </a:solidFill>
                <a:latin typeface="Courier New" pitchFamily="34" charset="0"/>
                <a:ea typeface="Courier New" pitchFamily="34" charset="-122"/>
                <a:cs typeface="Courier New" pitchFamily="34" charset="-120"/>
              </a:rPr>
              <a:t>divide by zero.</a:t>
            </a:r>
            <a:endParaRPr lang="en-US" sz="1000" dirty="0"/>
          </a:p>
          <a:p>
            <a:pPr marL="0" indent="0">
              <a:buNone/>
            </a:pPr>
            <a:r>
              <a:rPr lang="en-US" sz="1000" dirty="0">
                <a:solidFill>
                  <a:srgbClr val="1E1B4B"/>
                </a:solidFill>
                <a:latin typeface="Courier New" pitchFamily="34" charset="0"/>
                <a:ea typeface="Courier New" pitchFamily="34" charset="-122"/>
                <a:cs typeface="Courier New" pitchFamily="34" charset="-120"/>
              </a:rPr>
              <a:t>Program finished.</a:t>
            </a:r>
            <a:endParaRPr lang="en-US" sz="1000" dirty="0"/>
          </a:p>
        </p:txBody>
      </p:sp>
      <p:sp>
        <p:nvSpPr>
          <p:cNvPr id="28" name="Shape 26"/>
          <p:cNvSpPr/>
          <p:nvPr/>
        </p:nvSpPr>
        <p:spPr>
          <a:xfrm>
            <a:off x="9834677" y="4172966"/>
            <a:ext cx="1854098" cy="932688"/>
          </a:xfrm>
          <a:prstGeom prst="roundRect">
            <a:avLst>
              <a:gd name="adj" fmla="val 9804"/>
            </a:avLst>
          </a:prstGeom>
          <a:solidFill>
            <a:srgbClr val="F6F6FF"/>
          </a:solidFill>
          <a:ln w="9525">
            <a:solidFill>
              <a:srgbClr val="DCDDF5"/>
            </a:solidFill>
            <a:prstDash val="solid"/>
          </a:ln>
        </p:spPr>
        <p:txBody>
          <a:bodyPr/>
          <a:lstStyle/>
          <a:p>
            <a:endParaRPr lang="en-PH"/>
          </a:p>
        </p:txBody>
      </p:sp>
      <p:sp>
        <p:nvSpPr>
          <p:cNvPr id="29" name="Text 27"/>
          <p:cNvSpPr txBox="1"/>
          <p:nvPr/>
        </p:nvSpPr>
        <p:spPr>
          <a:xfrm>
            <a:off x="9980981" y="4246118"/>
            <a:ext cx="1579778" cy="182880"/>
          </a:xfrm>
          <a:prstGeom prst="rect">
            <a:avLst/>
          </a:prstGeom>
          <a:noFill/>
          <a:ln/>
        </p:spPr>
        <p:txBody>
          <a:bodyPr wrap="square" lIns="0" tIns="0" rIns="0" bIns="0" rtlCol="0" anchor="ctr"/>
          <a:lstStyle/>
          <a:p>
            <a:pPr marL="0" indent="0">
              <a:buNone/>
            </a:pPr>
            <a:r>
              <a:rPr lang="en-US" sz="850" b="1" kern="0" spc="150" dirty="0">
                <a:solidFill>
                  <a:srgbClr val="4F46E5"/>
                </a:solidFill>
                <a:latin typeface="Calibri" pitchFamily="34" charset="0"/>
                <a:ea typeface="Calibri" pitchFamily="34" charset="-122"/>
                <a:cs typeface="Calibri" pitchFamily="34" charset="-120"/>
              </a:rPr>
              <a:t>INPUT: abc</a:t>
            </a:r>
            <a:endParaRPr lang="en-US" sz="850" dirty="0"/>
          </a:p>
        </p:txBody>
      </p:sp>
      <p:sp>
        <p:nvSpPr>
          <p:cNvPr id="30" name="Text 28"/>
          <p:cNvSpPr txBox="1"/>
          <p:nvPr/>
        </p:nvSpPr>
        <p:spPr>
          <a:xfrm>
            <a:off x="9980981" y="4465574"/>
            <a:ext cx="1616354" cy="603504"/>
          </a:xfrm>
          <a:prstGeom prst="rect">
            <a:avLst/>
          </a:prstGeom>
          <a:noFill/>
          <a:ln/>
        </p:spPr>
        <p:txBody>
          <a:bodyPr wrap="square" lIns="0" tIns="0" rIns="0" bIns="0" rtlCol="0" anchor="t"/>
          <a:lstStyle/>
          <a:p>
            <a:pPr marL="0" indent="0">
              <a:buNone/>
            </a:pPr>
            <a:r>
              <a:rPr lang="en-US" sz="1000" dirty="0">
                <a:solidFill>
                  <a:srgbClr val="C0392B"/>
                </a:solidFill>
                <a:latin typeface="Courier New" pitchFamily="34" charset="0"/>
                <a:ea typeface="Courier New" pitchFamily="34" charset="-122"/>
                <a:cs typeface="Courier New" pitchFamily="34" charset="-120"/>
              </a:rPr>
              <a:t>Error: Please enter</a:t>
            </a:r>
            <a:endParaRPr lang="en-US" sz="1000" dirty="0"/>
          </a:p>
          <a:p>
            <a:pPr marL="0" indent="0">
              <a:buNone/>
            </a:pPr>
            <a:r>
              <a:rPr lang="en-US" sz="1000" dirty="0">
                <a:solidFill>
                  <a:srgbClr val="1E1B4B"/>
                </a:solidFill>
                <a:latin typeface="Courier New" pitchFamily="34" charset="0"/>
                <a:ea typeface="Courier New" pitchFamily="34" charset="-122"/>
                <a:cs typeface="Courier New" pitchFamily="34" charset="-120"/>
              </a:rPr>
              <a:t>a valid number.</a:t>
            </a:r>
            <a:endParaRPr lang="en-US" sz="1000" dirty="0"/>
          </a:p>
          <a:p>
            <a:pPr marL="0" indent="0">
              <a:buNone/>
            </a:pPr>
            <a:r>
              <a:rPr lang="en-US" sz="1000" dirty="0">
                <a:solidFill>
                  <a:srgbClr val="1E1B4B"/>
                </a:solidFill>
                <a:latin typeface="Courier New" pitchFamily="34" charset="0"/>
                <a:ea typeface="Courier New" pitchFamily="34" charset="-122"/>
                <a:cs typeface="Courier New" pitchFamily="34" charset="-120"/>
              </a:rPr>
              <a:t>Program finished.</a:t>
            </a:r>
            <a:endParaRPr lang="en-US" sz="1000" dirty="0"/>
          </a:p>
        </p:txBody>
      </p:sp>
      <p:sp>
        <p:nvSpPr>
          <p:cNvPr id="31" name="Shape 29"/>
          <p:cNvSpPr/>
          <p:nvPr/>
        </p:nvSpPr>
        <p:spPr>
          <a:xfrm>
            <a:off x="5852160" y="5270246"/>
            <a:ext cx="5836615" cy="901954"/>
          </a:xfrm>
          <a:prstGeom prst="roundRect">
            <a:avLst>
              <a:gd name="adj" fmla="val 12166"/>
            </a:avLst>
          </a:prstGeom>
          <a:solidFill>
            <a:srgbClr val="F1F1FE"/>
          </a:solidFill>
          <a:ln w="9525">
            <a:solidFill>
              <a:srgbClr val="DCDDF5"/>
            </a:solidFill>
            <a:prstDash val="solid"/>
          </a:ln>
        </p:spPr>
        <p:txBody>
          <a:bodyPr/>
          <a:lstStyle/>
          <a:p>
            <a:endParaRPr lang="en-PH"/>
          </a:p>
        </p:txBody>
      </p:sp>
      <p:sp>
        <p:nvSpPr>
          <p:cNvPr id="32" name="Text 30"/>
          <p:cNvSpPr txBox="1"/>
          <p:nvPr/>
        </p:nvSpPr>
        <p:spPr>
          <a:xfrm>
            <a:off x="6080760" y="5361686"/>
            <a:ext cx="5379415" cy="719074"/>
          </a:xfrm>
          <a:prstGeom prst="rect">
            <a:avLst/>
          </a:prstGeom>
          <a:noFill/>
          <a:ln/>
        </p:spPr>
        <p:txBody>
          <a:bodyPr wrap="square" lIns="0" tIns="0" rIns="0" bIns="0" rtlCol="0" anchor="ctr"/>
          <a:lstStyle/>
          <a:p>
            <a:pPr marL="0" indent="0">
              <a:spcAft>
                <a:spcPts val="400"/>
              </a:spcAft>
              <a:buNone/>
            </a:pPr>
            <a:r>
              <a:rPr lang="en-US" sz="1200" b="1" dirty="0">
                <a:solidFill>
                  <a:srgbClr val="1E1B4B"/>
                </a:solidFill>
                <a:latin typeface="Calibri" pitchFamily="34" charset="0"/>
                <a:ea typeface="Calibri" pitchFamily="34" charset="-122"/>
                <a:cs typeface="Calibri" pitchFamily="34" charset="-120"/>
              </a:rPr>
              <a:t>Notice:</a:t>
            </a:r>
            <a:r>
              <a:rPr lang="en-US" sz="1200" dirty="0">
                <a:solidFill>
                  <a:srgbClr val="1E1B4B"/>
                </a:solidFill>
                <a:latin typeface="Calibri" pitchFamily="34" charset="0"/>
                <a:ea typeface="Calibri" pitchFamily="34" charset="-122"/>
                <a:cs typeface="Calibri" pitchFamily="34" charset="-120"/>
              </a:rPr>
              <a:t> </a:t>
            </a:r>
            <a:r>
              <a:rPr lang="en-US" sz="1200" dirty="0">
                <a:solidFill>
                  <a:srgbClr val="4F46E5"/>
                </a:solidFill>
                <a:latin typeface="Courier New" pitchFamily="34" charset="0"/>
                <a:ea typeface="Courier New" pitchFamily="34" charset="-122"/>
                <a:cs typeface="Courier New" pitchFamily="34" charset="-120"/>
              </a:rPr>
              <a:t>finally</a:t>
            </a:r>
            <a:r>
              <a:rPr lang="en-US" sz="1200" dirty="0">
                <a:solidFill>
                  <a:srgbClr val="1E1B4B"/>
                </a:solidFill>
                <a:latin typeface="Calibri" pitchFamily="34" charset="0"/>
                <a:ea typeface="Calibri" pitchFamily="34" charset="-122"/>
                <a:cs typeface="Calibri" pitchFamily="34" charset="-120"/>
              </a:rPr>
              <a:t> ran in all three cases — every run ends with “Program finished.”</a:t>
            </a:r>
            <a:endParaRPr lang="en-US" sz="1200" dirty="0"/>
          </a:p>
          <a:p>
            <a:pPr marL="0" indent="0">
              <a:spcAft>
                <a:spcPts val="400"/>
              </a:spcAft>
              <a:buNone/>
            </a:pPr>
            <a:r>
              <a:rPr lang="en-US" sz="1200" b="1" dirty="0">
                <a:solidFill>
                  <a:srgbClr val="1E1B4B"/>
                </a:solidFill>
                <a:latin typeface="Calibri" pitchFamily="34" charset="0"/>
                <a:ea typeface="Calibri" pitchFamily="34" charset="-122"/>
                <a:cs typeface="Calibri" pitchFamily="34" charset="-120"/>
              </a:rPr>
              <a:t>Optional:</a:t>
            </a:r>
            <a:r>
              <a:rPr lang="en-US" sz="1200" dirty="0">
                <a:solidFill>
                  <a:srgbClr val="1E1B4B"/>
                </a:solidFill>
                <a:latin typeface="Calibri" pitchFamily="34" charset="0"/>
                <a:ea typeface="Calibri" pitchFamily="34" charset="-122"/>
                <a:cs typeface="Calibri" pitchFamily="34" charset="-120"/>
              </a:rPr>
              <a:t> an </a:t>
            </a:r>
            <a:r>
              <a:rPr lang="en-US" sz="1200" dirty="0">
                <a:solidFill>
                  <a:srgbClr val="4F46E5"/>
                </a:solidFill>
                <a:latin typeface="Courier New" pitchFamily="34" charset="0"/>
                <a:ea typeface="Courier New" pitchFamily="34" charset="-122"/>
                <a:cs typeface="Courier New" pitchFamily="34" charset="-120"/>
              </a:rPr>
              <a:t>else:</a:t>
            </a:r>
            <a:r>
              <a:rPr lang="en-US" sz="1200" dirty="0">
                <a:solidFill>
                  <a:srgbClr val="1E1B4B"/>
                </a:solidFill>
                <a:latin typeface="Calibri" pitchFamily="34" charset="0"/>
                <a:ea typeface="Calibri" pitchFamily="34" charset="-122"/>
                <a:cs typeface="Calibri" pitchFamily="34" charset="-120"/>
              </a:rPr>
              <a:t> block can be added after </a:t>
            </a:r>
            <a:r>
              <a:rPr lang="en-US" sz="1200" dirty="0">
                <a:solidFill>
                  <a:srgbClr val="4F46E5"/>
                </a:solidFill>
                <a:latin typeface="Courier New" pitchFamily="34" charset="0"/>
                <a:ea typeface="Courier New" pitchFamily="34" charset="-122"/>
                <a:cs typeface="Courier New" pitchFamily="34" charset="-120"/>
              </a:rPr>
              <a:t>except</a:t>
            </a:r>
            <a:r>
              <a:rPr lang="en-US" sz="1200" dirty="0">
                <a:solidFill>
                  <a:srgbClr val="1E1B4B"/>
                </a:solidFill>
                <a:latin typeface="Calibri" pitchFamily="34" charset="0"/>
                <a:ea typeface="Calibri" pitchFamily="34" charset="-122"/>
                <a:cs typeface="Calibri" pitchFamily="34" charset="-120"/>
              </a:rPr>
              <a:t>; it runs only when no error occurs.</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02920" y="310896"/>
            <a:ext cx="8229600" cy="237744"/>
          </a:xfrm>
          <a:prstGeom prst="rect">
            <a:avLst/>
          </a:prstGeom>
          <a:noFill/>
          <a:ln/>
        </p:spPr>
        <p:txBody>
          <a:bodyPr wrap="square" lIns="0" tIns="0" rIns="0" bIns="0" rtlCol="0" anchor="t"/>
          <a:lstStyle/>
          <a:p>
            <a:pPr marL="0" indent="0">
              <a:buNone/>
            </a:pPr>
            <a:r>
              <a:rPr lang="en-US" sz="1050" b="1" kern="0" spc="200" dirty="0">
                <a:solidFill>
                  <a:srgbClr val="C8559F"/>
                </a:solidFill>
                <a:latin typeface="Calibri" pitchFamily="34" charset="0"/>
                <a:ea typeface="Calibri" pitchFamily="34" charset="-122"/>
                <a:cs typeface="Calibri" pitchFamily="34" charset="-120"/>
              </a:rPr>
              <a:t>COMMON EXCEPTIONS</a:t>
            </a:r>
            <a:endParaRPr lang="en-US" sz="1050" dirty="0"/>
          </a:p>
        </p:txBody>
      </p:sp>
      <p:sp>
        <p:nvSpPr>
          <p:cNvPr id="3" name="Text 1"/>
          <p:cNvSpPr txBox="1"/>
          <p:nvPr/>
        </p:nvSpPr>
        <p:spPr>
          <a:xfrm>
            <a:off x="502920" y="530352"/>
            <a:ext cx="10241280" cy="640080"/>
          </a:xfrm>
          <a:prstGeom prst="rect">
            <a:avLst/>
          </a:prstGeom>
          <a:noFill/>
          <a:ln/>
        </p:spPr>
        <p:txBody>
          <a:bodyPr wrap="square" lIns="0" tIns="0" rIns="0" bIns="0" rtlCol="0" anchor="ctr"/>
          <a:lstStyle/>
          <a:p>
            <a:pPr marL="0" indent="0">
              <a:buNone/>
            </a:pPr>
            <a:r>
              <a:rPr lang="en-US" sz="2800" b="1" dirty="0">
                <a:solidFill>
                  <a:srgbClr val="1E1B4B"/>
                </a:solidFill>
                <a:latin typeface="Calibri" pitchFamily="34" charset="0"/>
                <a:ea typeface="Calibri" pitchFamily="34" charset="-122"/>
                <a:cs typeface="Calibri" pitchFamily="34" charset="-120"/>
              </a:rPr>
              <a:t>Handling ValueError</a:t>
            </a:r>
            <a:endParaRPr lang="en-US" sz="2800" dirty="0"/>
          </a:p>
        </p:txBody>
      </p:sp>
      <p:sp>
        <p:nvSpPr>
          <p:cNvPr id="4" name="Text 2"/>
          <p:cNvSpPr txBox="1"/>
          <p:nvPr/>
        </p:nvSpPr>
        <p:spPr>
          <a:xfrm>
            <a:off x="502920" y="6446520"/>
            <a:ext cx="5486400" cy="228600"/>
          </a:xfrm>
          <a:prstGeom prst="rect">
            <a:avLst/>
          </a:prstGeom>
          <a:noFill/>
          <a:ln/>
        </p:spPr>
        <p:txBody>
          <a:bodyPr wrap="square" lIns="0" tIns="0" rIns="0" bIns="0" rtlCol="0" anchor="t"/>
          <a:lstStyle/>
          <a:p>
            <a:pPr marL="0" indent="0">
              <a:buNone/>
            </a:pPr>
            <a:r>
              <a:rPr lang="en-US" sz="900" dirty="0">
                <a:solidFill>
                  <a:srgbClr val="5B5F7A"/>
                </a:solidFill>
                <a:latin typeface="Calibri" pitchFamily="34" charset="0"/>
                <a:ea typeface="Calibri" pitchFamily="34" charset="-122"/>
                <a:cs typeface="Calibri" pitchFamily="34" charset="-120"/>
              </a:rPr>
              <a:t>Python  ·  Error Handling</a:t>
            </a:r>
            <a:endParaRPr lang="en-US" sz="900" dirty="0"/>
          </a:p>
        </p:txBody>
      </p:sp>
      <p:sp>
        <p:nvSpPr>
          <p:cNvPr id="5" name="Text 3"/>
          <p:cNvSpPr txBox="1"/>
          <p:nvPr/>
        </p:nvSpPr>
        <p:spPr>
          <a:xfrm>
            <a:off x="11140135" y="6446520"/>
            <a:ext cx="548640" cy="228600"/>
          </a:xfrm>
          <a:prstGeom prst="rect">
            <a:avLst/>
          </a:prstGeom>
          <a:noFill/>
          <a:ln/>
        </p:spPr>
        <p:txBody>
          <a:bodyPr wrap="square" lIns="0" tIns="0" rIns="0" bIns="0" rtlCol="0" anchor="t"/>
          <a:lstStyle/>
          <a:p>
            <a:pPr marL="0" indent="0" algn="r">
              <a:buNone/>
            </a:pPr>
            <a:r>
              <a:rPr lang="en-US" sz="900" dirty="0">
                <a:solidFill>
                  <a:srgbClr val="5B5F7A"/>
                </a:solidFill>
                <a:latin typeface="Calibri" pitchFamily="34" charset="0"/>
                <a:ea typeface="Calibri" pitchFamily="34" charset="-122"/>
                <a:cs typeface="Calibri" pitchFamily="34" charset="-120"/>
              </a:rPr>
              <a:t>11</a:t>
            </a:r>
            <a:endParaRPr lang="en-US" sz="900" dirty="0"/>
          </a:p>
        </p:txBody>
      </p:sp>
      <p:sp>
        <p:nvSpPr>
          <p:cNvPr id="6" name="Shape 4"/>
          <p:cNvSpPr/>
          <p:nvPr/>
        </p:nvSpPr>
        <p:spPr>
          <a:xfrm>
            <a:off x="502920" y="1417320"/>
            <a:ext cx="5394960" cy="4800600"/>
          </a:xfrm>
          <a:prstGeom prst="roundRect">
            <a:avLst>
              <a:gd name="adj" fmla="val 2286"/>
            </a:avLst>
          </a:prstGeom>
          <a:solidFill>
            <a:srgbClr val="FFFFFF"/>
          </a:solidFill>
          <a:ln w="9525">
            <a:solidFill>
              <a:srgbClr val="DCDDF5"/>
            </a:solidFill>
            <a:prstDash val="solid"/>
          </a:ln>
          <a:effectLst>
            <a:outerShdw blurRad="127000" dist="25400" dir="5400000" algn="bl" rotWithShape="0">
              <a:srgbClr val="4F46E5">
                <a:alpha val="12000"/>
              </a:srgbClr>
            </a:outerShdw>
          </a:effectLst>
        </p:spPr>
        <p:txBody>
          <a:bodyPr/>
          <a:lstStyle/>
          <a:p>
            <a:endParaRPr lang="en-PH"/>
          </a:p>
        </p:txBody>
      </p:sp>
      <p:sp>
        <p:nvSpPr>
          <p:cNvPr id="7" name="Text 5"/>
          <p:cNvSpPr txBox="1"/>
          <p:nvPr/>
        </p:nvSpPr>
        <p:spPr>
          <a:xfrm>
            <a:off x="758952" y="1572768"/>
            <a:ext cx="4937760" cy="365760"/>
          </a:xfrm>
          <a:prstGeom prst="rect">
            <a:avLst/>
          </a:prstGeom>
          <a:noFill/>
          <a:ln/>
        </p:spPr>
        <p:txBody>
          <a:bodyPr wrap="square" lIns="0" tIns="0" rIns="0" bIns="0" rtlCol="0" anchor="t"/>
          <a:lstStyle/>
          <a:p>
            <a:pPr marL="0" indent="0">
              <a:buNone/>
            </a:pPr>
            <a:r>
              <a:rPr lang="en-US" sz="1700" b="1" dirty="0">
                <a:solidFill>
                  <a:srgbClr val="1E1B4B"/>
                </a:solidFill>
                <a:latin typeface="Calibri" pitchFamily="34" charset="0"/>
                <a:ea typeface="Calibri" pitchFamily="34" charset="-122"/>
                <a:cs typeface="Calibri" pitchFamily="34" charset="-120"/>
              </a:rPr>
              <a:t>What is a </a:t>
            </a:r>
            <a:r>
              <a:rPr lang="en-US" sz="1700" b="1" dirty="0">
                <a:solidFill>
                  <a:srgbClr val="4F46E5"/>
                </a:solidFill>
                <a:latin typeface="Courier New" pitchFamily="34" charset="0"/>
                <a:ea typeface="Courier New" pitchFamily="34" charset="-122"/>
                <a:cs typeface="Courier New" pitchFamily="34" charset="-120"/>
              </a:rPr>
              <a:t>ValueError</a:t>
            </a:r>
            <a:r>
              <a:rPr lang="en-US" sz="1700" b="1" dirty="0">
                <a:solidFill>
                  <a:srgbClr val="1E1B4B"/>
                </a:solidFill>
                <a:latin typeface="Calibri" pitchFamily="34" charset="0"/>
                <a:ea typeface="Calibri" pitchFamily="34" charset="-122"/>
                <a:cs typeface="Calibri" pitchFamily="34" charset="-120"/>
              </a:rPr>
              <a:t>?</a:t>
            </a:r>
            <a:endParaRPr lang="en-US" sz="1700" dirty="0"/>
          </a:p>
        </p:txBody>
      </p:sp>
      <p:sp>
        <p:nvSpPr>
          <p:cNvPr id="8" name="Text 6"/>
          <p:cNvSpPr txBox="1"/>
          <p:nvPr/>
        </p:nvSpPr>
        <p:spPr>
          <a:xfrm>
            <a:off x="758952" y="2011680"/>
            <a:ext cx="4882896" cy="1600200"/>
          </a:xfrm>
          <a:prstGeom prst="rect">
            <a:avLst/>
          </a:prstGeom>
          <a:noFill/>
          <a:ln/>
        </p:spPr>
        <p:txBody>
          <a:bodyPr wrap="square" lIns="0" tIns="0" rIns="0" bIns="0" rtlCol="0" anchor="t"/>
          <a:lstStyle/>
          <a:p>
            <a:pPr marL="0" indent="0">
              <a:spcAft>
                <a:spcPts val="800"/>
              </a:spcAft>
              <a:buNone/>
            </a:pPr>
            <a:r>
              <a:rPr lang="en-US" sz="1350" dirty="0">
                <a:solidFill>
                  <a:srgbClr val="1E1B4B"/>
                </a:solidFill>
                <a:latin typeface="Calibri" pitchFamily="34" charset="0"/>
                <a:ea typeface="Calibri" pitchFamily="34" charset="-122"/>
                <a:cs typeface="Calibri" pitchFamily="34" charset="-120"/>
              </a:rPr>
              <a:t>A </a:t>
            </a:r>
            <a:r>
              <a:rPr lang="en-US" sz="1350" dirty="0">
                <a:solidFill>
                  <a:srgbClr val="4F46E5"/>
                </a:solidFill>
                <a:latin typeface="Courier New" pitchFamily="34" charset="0"/>
                <a:ea typeface="Courier New" pitchFamily="34" charset="-122"/>
                <a:cs typeface="Courier New" pitchFamily="34" charset="-120"/>
              </a:rPr>
              <a:t>ValueError</a:t>
            </a:r>
            <a:r>
              <a:rPr lang="en-US" sz="1350" dirty="0">
                <a:solidFill>
                  <a:srgbClr val="1E1B4B"/>
                </a:solidFill>
                <a:latin typeface="Calibri" pitchFamily="34" charset="0"/>
                <a:ea typeface="Calibri" pitchFamily="34" charset="-122"/>
                <a:cs typeface="Calibri" pitchFamily="34" charset="-120"/>
              </a:rPr>
              <a:t> occurs when a function receives the </a:t>
            </a:r>
            <a:r>
              <a:rPr lang="en-US" sz="1350" b="1" dirty="0">
                <a:solidFill>
                  <a:srgbClr val="1E1B4B"/>
                </a:solidFill>
                <a:latin typeface="Calibri" pitchFamily="34" charset="0"/>
                <a:ea typeface="Calibri" pitchFamily="34" charset="-122"/>
                <a:cs typeface="Calibri" pitchFamily="34" charset="-120"/>
              </a:rPr>
              <a:t>correct data type</a:t>
            </a:r>
            <a:r>
              <a:rPr lang="en-US" sz="1350" dirty="0">
                <a:solidFill>
                  <a:srgbClr val="1E1B4B"/>
                </a:solidFill>
                <a:latin typeface="Calibri" pitchFamily="34" charset="0"/>
                <a:ea typeface="Calibri" pitchFamily="34" charset="-122"/>
                <a:cs typeface="Calibri" pitchFamily="34" charset="-120"/>
              </a:rPr>
              <a:t> but an </a:t>
            </a:r>
            <a:r>
              <a:rPr lang="en-US" sz="1350" b="1" dirty="0">
                <a:solidFill>
                  <a:srgbClr val="1E1B4B"/>
                </a:solidFill>
                <a:latin typeface="Calibri" pitchFamily="34" charset="0"/>
                <a:ea typeface="Calibri" pitchFamily="34" charset="-122"/>
                <a:cs typeface="Calibri" pitchFamily="34" charset="-120"/>
              </a:rPr>
              <a:t>invalid value</a:t>
            </a:r>
            <a:r>
              <a:rPr lang="en-US" sz="1350" dirty="0">
                <a:solidFill>
                  <a:srgbClr val="1E1B4B"/>
                </a:solidFill>
                <a:latin typeface="Calibri" pitchFamily="34" charset="0"/>
                <a:ea typeface="Calibri" pitchFamily="34" charset="-122"/>
                <a:cs typeface="Calibri" pitchFamily="34" charset="-120"/>
              </a:rPr>
              <a:t>.</a:t>
            </a:r>
            <a:endParaRPr lang="en-US" sz="1350" dirty="0"/>
          </a:p>
          <a:p>
            <a:pPr marL="0" indent="0">
              <a:spcAft>
                <a:spcPts val="800"/>
              </a:spcAft>
              <a:buNone/>
            </a:pPr>
            <a:r>
              <a:rPr lang="en-US" sz="1350" dirty="0">
                <a:solidFill>
                  <a:srgbClr val="1E1B4B"/>
                </a:solidFill>
                <a:latin typeface="Calibri" pitchFamily="34" charset="0"/>
                <a:ea typeface="Calibri" pitchFamily="34" charset="-122"/>
                <a:cs typeface="Calibri" pitchFamily="34" charset="-120"/>
              </a:rPr>
              <a:t>A common example is when the program expects a </a:t>
            </a:r>
            <a:r>
              <a:rPr lang="en-US" sz="1350" b="1" dirty="0">
                <a:solidFill>
                  <a:srgbClr val="1E1B4B"/>
                </a:solidFill>
                <a:latin typeface="Calibri" pitchFamily="34" charset="0"/>
                <a:ea typeface="Calibri" pitchFamily="34" charset="-122"/>
                <a:cs typeface="Calibri" pitchFamily="34" charset="-120"/>
              </a:rPr>
              <a:t>number</a:t>
            </a:r>
            <a:r>
              <a:rPr lang="en-US" sz="1350" dirty="0">
                <a:solidFill>
                  <a:srgbClr val="1E1B4B"/>
                </a:solidFill>
                <a:latin typeface="Calibri" pitchFamily="34" charset="0"/>
                <a:ea typeface="Calibri" pitchFamily="34" charset="-122"/>
                <a:cs typeface="Calibri" pitchFamily="34" charset="-120"/>
              </a:rPr>
              <a:t>, but the user enters </a:t>
            </a:r>
            <a:r>
              <a:rPr lang="en-US" sz="1350" b="1" dirty="0">
                <a:solidFill>
                  <a:srgbClr val="1E1B4B"/>
                </a:solidFill>
                <a:latin typeface="Calibri" pitchFamily="34" charset="0"/>
                <a:ea typeface="Calibri" pitchFamily="34" charset="-122"/>
                <a:cs typeface="Calibri" pitchFamily="34" charset="-120"/>
              </a:rPr>
              <a:t>letters or symbols</a:t>
            </a:r>
            <a:r>
              <a:rPr lang="en-US" sz="1350" dirty="0">
                <a:solidFill>
                  <a:srgbClr val="1E1B4B"/>
                </a:solidFill>
                <a:latin typeface="Calibri" pitchFamily="34" charset="0"/>
                <a:ea typeface="Calibri" pitchFamily="34" charset="-122"/>
                <a:cs typeface="Calibri" pitchFamily="34" charset="-120"/>
              </a:rPr>
              <a:t> instead.</a:t>
            </a:r>
            <a:endParaRPr lang="en-US" sz="1350" dirty="0"/>
          </a:p>
        </p:txBody>
      </p:sp>
      <p:sp>
        <p:nvSpPr>
          <p:cNvPr id="9" name="Text 7"/>
          <p:cNvSpPr txBox="1"/>
          <p:nvPr/>
        </p:nvSpPr>
        <p:spPr>
          <a:xfrm>
            <a:off x="758952" y="3520440"/>
            <a:ext cx="4937760" cy="365760"/>
          </a:xfrm>
          <a:prstGeom prst="rect">
            <a:avLst/>
          </a:prstGeom>
          <a:noFill/>
          <a:ln/>
        </p:spPr>
        <p:txBody>
          <a:bodyPr wrap="square" lIns="0" tIns="0" rIns="0" bIns="0" rtlCol="0" anchor="t"/>
          <a:lstStyle/>
          <a:p>
            <a:pPr marL="0" indent="0">
              <a:buNone/>
            </a:pPr>
            <a:r>
              <a:rPr lang="en-US" sz="1550" b="1" dirty="0">
                <a:solidFill>
                  <a:srgbClr val="1E1B4B"/>
                </a:solidFill>
                <a:latin typeface="Calibri" pitchFamily="34" charset="0"/>
                <a:ea typeface="Calibri" pitchFamily="34" charset="-122"/>
                <a:cs typeface="Calibri" pitchFamily="34" charset="-120"/>
              </a:rPr>
              <a:t>Examples of </a:t>
            </a:r>
            <a:r>
              <a:rPr lang="en-US" sz="1550" b="1" dirty="0">
                <a:solidFill>
                  <a:srgbClr val="4F46E5"/>
                </a:solidFill>
                <a:latin typeface="Courier New" pitchFamily="34" charset="0"/>
                <a:ea typeface="Courier New" pitchFamily="34" charset="-122"/>
                <a:cs typeface="Courier New" pitchFamily="34" charset="-120"/>
              </a:rPr>
              <a:t>ValueError</a:t>
            </a:r>
            <a:endParaRPr lang="en-US" sz="1550" dirty="0"/>
          </a:p>
        </p:txBody>
      </p:sp>
      <p:sp>
        <p:nvSpPr>
          <p:cNvPr id="10" name="Shape 8"/>
          <p:cNvSpPr/>
          <p:nvPr/>
        </p:nvSpPr>
        <p:spPr>
          <a:xfrm>
            <a:off x="758952" y="4041648"/>
            <a:ext cx="310896" cy="310896"/>
          </a:xfrm>
          <a:prstGeom prst="ellipse">
            <a:avLst/>
          </a:prstGeom>
          <a:solidFill>
            <a:srgbClr val="F1F1FE"/>
          </a:solidFill>
          <a:ln w="12700">
            <a:solidFill>
              <a:srgbClr val="F1F1FE"/>
            </a:solidFill>
            <a:prstDash val="solid"/>
          </a:ln>
        </p:spPr>
        <p:txBody>
          <a:bodyPr/>
          <a:lstStyle/>
          <a:p>
            <a:endParaRPr lang="en-PH"/>
          </a:p>
        </p:txBody>
      </p:sp>
      <p:sp>
        <p:nvSpPr>
          <p:cNvPr id="11" name="Text 9"/>
          <p:cNvSpPr txBox="1"/>
          <p:nvPr/>
        </p:nvSpPr>
        <p:spPr>
          <a:xfrm>
            <a:off x="758952" y="4041648"/>
            <a:ext cx="310896" cy="310896"/>
          </a:xfrm>
          <a:prstGeom prst="rect">
            <a:avLst/>
          </a:prstGeom>
          <a:noFill/>
          <a:ln/>
        </p:spPr>
        <p:txBody>
          <a:bodyPr wrap="square" lIns="0" tIns="0" rIns="0" bIns="0" rtlCol="0" anchor="ctr"/>
          <a:lstStyle/>
          <a:p>
            <a:pPr marL="0" indent="0" algn="ctr">
              <a:buNone/>
            </a:pPr>
            <a:r>
              <a:rPr lang="en-US" sz="1100" b="1" dirty="0">
                <a:solidFill>
                  <a:srgbClr val="4F46E5"/>
                </a:solidFill>
                <a:latin typeface="Calibri" pitchFamily="34" charset="0"/>
                <a:ea typeface="Calibri" pitchFamily="34" charset="-122"/>
                <a:cs typeface="Calibri" pitchFamily="34" charset="-120"/>
              </a:rPr>
              <a:t>1</a:t>
            </a:r>
            <a:endParaRPr lang="en-US" sz="1100" dirty="0"/>
          </a:p>
        </p:txBody>
      </p:sp>
      <p:sp>
        <p:nvSpPr>
          <p:cNvPr id="12" name="Text 10"/>
          <p:cNvSpPr txBox="1"/>
          <p:nvPr/>
        </p:nvSpPr>
        <p:spPr>
          <a:xfrm>
            <a:off x="1188720" y="3977640"/>
            <a:ext cx="4480560" cy="438912"/>
          </a:xfrm>
          <a:prstGeom prst="rect">
            <a:avLst/>
          </a:prstGeom>
          <a:noFill/>
          <a:ln/>
        </p:spPr>
        <p:txBody>
          <a:bodyPr wrap="square" lIns="0" tIns="0" rIns="0" bIns="0" rtlCol="0" anchor="ctr"/>
          <a:lstStyle/>
          <a:p>
            <a:pPr marL="0" indent="0">
              <a:buNone/>
            </a:pPr>
            <a:r>
              <a:rPr lang="en-US" sz="1350" dirty="0">
                <a:solidFill>
                  <a:srgbClr val="1E1B4B"/>
                </a:solidFill>
                <a:latin typeface="Calibri" pitchFamily="34" charset="0"/>
                <a:ea typeface="Calibri" pitchFamily="34" charset="-122"/>
                <a:cs typeface="Calibri" pitchFamily="34" charset="-120"/>
              </a:rPr>
              <a:t>Entering </a:t>
            </a:r>
            <a:r>
              <a:rPr lang="en-US" sz="1350" dirty="0">
                <a:solidFill>
                  <a:srgbClr val="4F46E5"/>
                </a:solidFill>
                <a:latin typeface="Courier New" pitchFamily="34" charset="0"/>
                <a:ea typeface="Courier New" pitchFamily="34" charset="-122"/>
                <a:cs typeface="Courier New" pitchFamily="34" charset="-120"/>
              </a:rPr>
              <a:t>"abc"</a:t>
            </a:r>
            <a:r>
              <a:rPr lang="en-US" sz="1350" dirty="0">
                <a:solidFill>
                  <a:srgbClr val="1E1B4B"/>
                </a:solidFill>
                <a:latin typeface="Calibri" pitchFamily="34" charset="0"/>
                <a:ea typeface="Calibri" pitchFamily="34" charset="-122"/>
                <a:cs typeface="Calibri" pitchFamily="34" charset="-120"/>
              </a:rPr>
              <a:t> instead of a number.</a:t>
            </a:r>
            <a:endParaRPr lang="en-US" sz="1350" dirty="0"/>
          </a:p>
        </p:txBody>
      </p:sp>
      <p:sp>
        <p:nvSpPr>
          <p:cNvPr id="13" name="Shape 11"/>
          <p:cNvSpPr/>
          <p:nvPr/>
        </p:nvSpPr>
        <p:spPr>
          <a:xfrm>
            <a:off x="758952" y="4572000"/>
            <a:ext cx="310896" cy="310896"/>
          </a:xfrm>
          <a:prstGeom prst="ellipse">
            <a:avLst/>
          </a:prstGeom>
          <a:solidFill>
            <a:srgbClr val="F1F1FE"/>
          </a:solidFill>
          <a:ln w="12700">
            <a:solidFill>
              <a:srgbClr val="F1F1FE"/>
            </a:solidFill>
            <a:prstDash val="solid"/>
          </a:ln>
        </p:spPr>
        <p:txBody>
          <a:bodyPr/>
          <a:lstStyle/>
          <a:p>
            <a:endParaRPr lang="en-PH"/>
          </a:p>
        </p:txBody>
      </p:sp>
      <p:sp>
        <p:nvSpPr>
          <p:cNvPr id="14" name="Text 12"/>
          <p:cNvSpPr txBox="1"/>
          <p:nvPr/>
        </p:nvSpPr>
        <p:spPr>
          <a:xfrm>
            <a:off x="758952" y="4572000"/>
            <a:ext cx="310896" cy="310896"/>
          </a:xfrm>
          <a:prstGeom prst="rect">
            <a:avLst/>
          </a:prstGeom>
          <a:noFill/>
          <a:ln/>
        </p:spPr>
        <p:txBody>
          <a:bodyPr wrap="square" lIns="0" tIns="0" rIns="0" bIns="0" rtlCol="0" anchor="ctr"/>
          <a:lstStyle/>
          <a:p>
            <a:pPr marL="0" indent="0" algn="ctr">
              <a:buNone/>
            </a:pPr>
            <a:r>
              <a:rPr lang="en-US" sz="1100" b="1" dirty="0">
                <a:solidFill>
                  <a:srgbClr val="4F46E5"/>
                </a:solidFill>
                <a:latin typeface="Calibri" pitchFamily="34" charset="0"/>
                <a:ea typeface="Calibri" pitchFamily="34" charset="-122"/>
                <a:cs typeface="Calibri" pitchFamily="34" charset="-120"/>
              </a:rPr>
              <a:t>2</a:t>
            </a:r>
            <a:endParaRPr lang="en-US" sz="1100" dirty="0"/>
          </a:p>
        </p:txBody>
      </p:sp>
      <p:sp>
        <p:nvSpPr>
          <p:cNvPr id="15" name="Text 13"/>
          <p:cNvSpPr txBox="1"/>
          <p:nvPr/>
        </p:nvSpPr>
        <p:spPr>
          <a:xfrm>
            <a:off x="1188720" y="4507992"/>
            <a:ext cx="4480560" cy="438912"/>
          </a:xfrm>
          <a:prstGeom prst="rect">
            <a:avLst/>
          </a:prstGeom>
          <a:noFill/>
          <a:ln/>
        </p:spPr>
        <p:txBody>
          <a:bodyPr wrap="square" lIns="0" tIns="0" rIns="0" bIns="0" rtlCol="0" anchor="ctr"/>
          <a:lstStyle/>
          <a:p>
            <a:pPr marL="0" indent="0">
              <a:buNone/>
            </a:pPr>
            <a:r>
              <a:rPr lang="en-US" sz="1350" dirty="0">
                <a:solidFill>
                  <a:srgbClr val="1E1B4B"/>
                </a:solidFill>
                <a:latin typeface="Calibri" pitchFamily="34" charset="0"/>
                <a:ea typeface="Calibri" pitchFamily="34" charset="-122"/>
                <a:cs typeface="Calibri" pitchFamily="34" charset="-120"/>
              </a:rPr>
              <a:t>Converting </a:t>
            </a:r>
            <a:r>
              <a:rPr lang="en-US" sz="1350" dirty="0">
                <a:solidFill>
                  <a:srgbClr val="4F46E5"/>
                </a:solidFill>
                <a:latin typeface="Courier New" pitchFamily="34" charset="0"/>
                <a:ea typeface="Courier New" pitchFamily="34" charset="-122"/>
                <a:cs typeface="Courier New" pitchFamily="34" charset="-120"/>
              </a:rPr>
              <a:t>"hello"</a:t>
            </a:r>
            <a:r>
              <a:rPr lang="en-US" sz="1350" dirty="0">
                <a:solidFill>
                  <a:srgbClr val="1E1B4B"/>
                </a:solidFill>
                <a:latin typeface="Calibri" pitchFamily="34" charset="0"/>
                <a:ea typeface="Calibri" pitchFamily="34" charset="-122"/>
                <a:cs typeface="Calibri" pitchFamily="34" charset="-120"/>
              </a:rPr>
              <a:t> to an integer using </a:t>
            </a:r>
            <a:r>
              <a:rPr lang="en-US" sz="1350" dirty="0">
                <a:solidFill>
                  <a:srgbClr val="4F46E5"/>
                </a:solidFill>
                <a:latin typeface="Courier New" pitchFamily="34" charset="0"/>
                <a:ea typeface="Courier New" pitchFamily="34" charset="-122"/>
                <a:cs typeface="Courier New" pitchFamily="34" charset="-120"/>
              </a:rPr>
              <a:t>int()</a:t>
            </a:r>
            <a:r>
              <a:rPr lang="en-US" sz="1350" dirty="0">
                <a:solidFill>
                  <a:srgbClr val="1E1B4B"/>
                </a:solidFill>
                <a:latin typeface="Calibri" pitchFamily="34" charset="0"/>
                <a:ea typeface="Calibri" pitchFamily="34" charset="-122"/>
                <a:cs typeface="Calibri" pitchFamily="34" charset="-120"/>
              </a:rPr>
              <a:t>.</a:t>
            </a:r>
            <a:endParaRPr lang="en-US" sz="1350" dirty="0"/>
          </a:p>
        </p:txBody>
      </p:sp>
      <p:sp>
        <p:nvSpPr>
          <p:cNvPr id="16" name="Shape 14"/>
          <p:cNvSpPr/>
          <p:nvPr/>
        </p:nvSpPr>
        <p:spPr>
          <a:xfrm>
            <a:off x="758952" y="5102352"/>
            <a:ext cx="310896" cy="310896"/>
          </a:xfrm>
          <a:prstGeom prst="ellipse">
            <a:avLst/>
          </a:prstGeom>
          <a:solidFill>
            <a:srgbClr val="F1F1FE"/>
          </a:solidFill>
          <a:ln w="12700">
            <a:solidFill>
              <a:srgbClr val="F1F1FE"/>
            </a:solidFill>
            <a:prstDash val="solid"/>
          </a:ln>
        </p:spPr>
        <p:txBody>
          <a:bodyPr/>
          <a:lstStyle/>
          <a:p>
            <a:endParaRPr lang="en-PH"/>
          </a:p>
        </p:txBody>
      </p:sp>
      <p:sp>
        <p:nvSpPr>
          <p:cNvPr id="17" name="Text 15"/>
          <p:cNvSpPr txBox="1"/>
          <p:nvPr/>
        </p:nvSpPr>
        <p:spPr>
          <a:xfrm>
            <a:off x="758952" y="5102352"/>
            <a:ext cx="310896" cy="310896"/>
          </a:xfrm>
          <a:prstGeom prst="rect">
            <a:avLst/>
          </a:prstGeom>
          <a:noFill/>
          <a:ln/>
        </p:spPr>
        <p:txBody>
          <a:bodyPr wrap="square" lIns="0" tIns="0" rIns="0" bIns="0" rtlCol="0" anchor="ctr"/>
          <a:lstStyle/>
          <a:p>
            <a:pPr marL="0" indent="0" algn="ctr">
              <a:buNone/>
            </a:pPr>
            <a:r>
              <a:rPr lang="en-US" sz="1100" b="1" dirty="0">
                <a:solidFill>
                  <a:srgbClr val="4F46E5"/>
                </a:solidFill>
                <a:latin typeface="Calibri" pitchFamily="34" charset="0"/>
                <a:ea typeface="Calibri" pitchFamily="34" charset="-122"/>
                <a:cs typeface="Calibri" pitchFamily="34" charset="-120"/>
              </a:rPr>
              <a:t>3</a:t>
            </a:r>
            <a:endParaRPr lang="en-US" sz="1100" dirty="0"/>
          </a:p>
        </p:txBody>
      </p:sp>
      <p:sp>
        <p:nvSpPr>
          <p:cNvPr id="18" name="Text 16"/>
          <p:cNvSpPr txBox="1"/>
          <p:nvPr/>
        </p:nvSpPr>
        <p:spPr>
          <a:xfrm>
            <a:off x="1188720" y="5038344"/>
            <a:ext cx="4480560" cy="438912"/>
          </a:xfrm>
          <a:prstGeom prst="rect">
            <a:avLst/>
          </a:prstGeom>
          <a:noFill/>
          <a:ln/>
        </p:spPr>
        <p:txBody>
          <a:bodyPr wrap="square" lIns="0" tIns="0" rIns="0" bIns="0" rtlCol="0" anchor="ctr"/>
          <a:lstStyle/>
          <a:p>
            <a:pPr marL="0" indent="0">
              <a:buNone/>
            </a:pPr>
            <a:r>
              <a:rPr lang="en-US" sz="1350" dirty="0">
                <a:solidFill>
                  <a:srgbClr val="1E1B4B"/>
                </a:solidFill>
                <a:latin typeface="Calibri" pitchFamily="34" charset="0"/>
                <a:ea typeface="Calibri" pitchFamily="34" charset="-122"/>
                <a:cs typeface="Calibri" pitchFamily="34" charset="-120"/>
              </a:rPr>
              <a:t>Entering an invalid value that a function cannot process.</a:t>
            </a:r>
            <a:endParaRPr lang="en-US" sz="1350" dirty="0"/>
          </a:p>
        </p:txBody>
      </p:sp>
      <p:sp>
        <p:nvSpPr>
          <p:cNvPr id="19" name="Shape 17"/>
          <p:cNvSpPr/>
          <p:nvPr/>
        </p:nvSpPr>
        <p:spPr>
          <a:xfrm>
            <a:off x="758952" y="5577840"/>
            <a:ext cx="4882896" cy="502920"/>
          </a:xfrm>
          <a:prstGeom prst="roundRect">
            <a:avLst>
              <a:gd name="adj" fmla="val 14545"/>
            </a:avLst>
          </a:prstGeom>
          <a:solidFill>
            <a:srgbClr val="F1F1FE"/>
          </a:solidFill>
          <a:ln w="9525">
            <a:solidFill>
              <a:srgbClr val="DCDDF5"/>
            </a:solidFill>
            <a:prstDash val="solid"/>
          </a:ln>
        </p:spPr>
        <p:txBody>
          <a:bodyPr/>
          <a:lstStyle/>
          <a:p>
            <a:endParaRPr lang="en-PH"/>
          </a:p>
        </p:txBody>
      </p:sp>
      <p:sp>
        <p:nvSpPr>
          <p:cNvPr id="20" name="Text 18"/>
          <p:cNvSpPr txBox="1"/>
          <p:nvPr/>
        </p:nvSpPr>
        <p:spPr>
          <a:xfrm>
            <a:off x="914400" y="5577840"/>
            <a:ext cx="4663440" cy="502920"/>
          </a:xfrm>
          <a:prstGeom prst="rect">
            <a:avLst/>
          </a:prstGeom>
          <a:noFill/>
          <a:ln/>
        </p:spPr>
        <p:txBody>
          <a:bodyPr wrap="square" lIns="0" tIns="0" rIns="0" bIns="0" rtlCol="0" anchor="ctr"/>
          <a:lstStyle/>
          <a:p>
            <a:pPr marL="0" indent="0">
              <a:buNone/>
            </a:pPr>
            <a:r>
              <a:rPr lang="en-US" sz="1200" b="1" dirty="0">
                <a:solidFill>
                  <a:srgbClr val="1E1B4B"/>
                </a:solidFill>
                <a:latin typeface="Calibri" pitchFamily="34" charset="0"/>
                <a:ea typeface="Calibri" pitchFamily="34" charset="-122"/>
                <a:cs typeface="Calibri" pitchFamily="34" charset="-120"/>
              </a:rPr>
              <a:t>Tip:</a:t>
            </a:r>
            <a:r>
              <a:rPr lang="en-US" sz="1200" dirty="0">
                <a:solidFill>
                  <a:srgbClr val="1E1B4B"/>
                </a:solidFill>
                <a:latin typeface="Calibri" pitchFamily="34" charset="0"/>
                <a:ea typeface="Calibri" pitchFamily="34" charset="-122"/>
                <a:cs typeface="Calibri" pitchFamily="34" charset="-120"/>
              </a:rPr>
              <a:t> right type + wrong value → ValueError.  Wrong type → TypeError.</a:t>
            </a:r>
            <a:endParaRPr lang="en-US" sz="1200" dirty="0"/>
          </a:p>
        </p:txBody>
      </p:sp>
      <p:sp>
        <p:nvSpPr>
          <p:cNvPr id="21" name="Text 19"/>
          <p:cNvSpPr txBox="1"/>
          <p:nvPr/>
        </p:nvSpPr>
        <p:spPr>
          <a:xfrm>
            <a:off x="6217920" y="1417320"/>
            <a:ext cx="5470855" cy="228600"/>
          </a:xfrm>
          <a:prstGeom prst="rect">
            <a:avLst/>
          </a:prstGeom>
          <a:noFill/>
          <a:ln/>
        </p:spPr>
        <p:txBody>
          <a:bodyPr wrap="square" lIns="0" tIns="0" rIns="0" bIns="0" rtlCol="0" anchor="t"/>
          <a:lstStyle/>
          <a:p>
            <a:pPr marL="0" indent="0">
              <a:buNone/>
            </a:pPr>
            <a:r>
              <a:rPr lang="en-US" sz="1050" b="1" kern="0" spc="200" dirty="0">
                <a:solidFill>
                  <a:srgbClr val="C0392B"/>
                </a:solidFill>
                <a:latin typeface="Calibri" pitchFamily="34" charset="0"/>
                <a:ea typeface="Calibri" pitchFamily="34" charset="-122"/>
                <a:cs typeface="Calibri" pitchFamily="34" charset="-120"/>
              </a:rPr>
              <a:t>WITHOUT ERROR HANDLING</a:t>
            </a:r>
            <a:endParaRPr lang="en-US" sz="1050" dirty="0"/>
          </a:p>
        </p:txBody>
      </p:sp>
      <p:sp>
        <p:nvSpPr>
          <p:cNvPr id="22" name="Shape 20"/>
          <p:cNvSpPr/>
          <p:nvPr/>
        </p:nvSpPr>
        <p:spPr>
          <a:xfrm>
            <a:off x="6217920" y="1700784"/>
            <a:ext cx="5470855" cy="820166"/>
          </a:xfrm>
          <a:prstGeom prst="roundRect">
            <a:avLst>
              <a:gd name="adj" fmla="val 11149"/>
            </a:avLst>
          </a:prstGeom>
          <a:solidFill>
            <a:srgbClr val="1F1D36"/>
          </a:solidFill>
          <a:ln w="12700">
            <a:solidFill>
              <a:srgbClr val="1F1D36"/>
            </a:solidFill>
            <a:prstDash val="solid"/>
          </a:ln>
        </p:spPr>
        <p:txBody>
          <a:bodyPr/>
          <a:lstStyle/>
          <a:p>
            <a:endParaRPr lang="en-PH"/>
          </a:p>
        </p:txBody>
      </p:sp>
      <p:sp>
        <p:nvSpPr>
          <p:cNvPr id="23" name="Text 21"/>
          <p:cNvSpPr txBox="1"/>
          <p:nvPr/>
        </p:nvSpPr>
        <p:spPr>
          <a:xfrm>
            <a:off x="6382512" y="1783080"/>
            <a:ext cx="5141671" cy="201168"/>
          </a:xfrm>
          <a:prstGeom prst="rect">
            <a:avLst/>
          </a:prstGeom>
          <a:noFill/>
          <a:ln/>
        </p:spPr>
        <p:txBody>
          <a:bodyPr wrap="square" lIns="0" tIns="0" rIns="0" bIns="0" rtlCol="0" anchor="ctr"/>
          <a:lstStyle/>
          <a:p>
            <a:pPr marL="0" indent="0">
              <a:buNone/>
            </a:pPr>
            <a:r>
              <a:rPr lang="en-US" sz="900" b="1" dirty="0">
                <a:solidFill>
                  <a:srgbClr val="8A8FB5"/>
                </a:solidFill>
                <a:latin typeface="Calibri" pitchFamily="34" charset="0"/>
                <a:ea typeface="Calibri" pitchFamily="34" charset="-122"/>
                <a:cs typeface="Calibri" pitchFamily="34" charset="-120"/>
              </a:rPr>
              <a:t>&lt;/&gt;  Python</a:t>
            </a:r>
            <a:endParaRPr lang="en-US" sz="900" dirty="0"/>
          </a:p>
        </p:txBody>
      </p:sp>
      <p:sp>
        <p:nvSpPr>
          <p:cNvPr id="24" name="Text 22"/>
          <p:cNvSpPr txBox="1"/>
          <p:nvPr/>
        </p:nvSpPr>
        <p:spPr>
          <a:xfrm>
            <a:off x="6382512" y="2029968"/>
            <a:ext cx="5196535" cy="436118"/>
          </a:xfrm>
          <a:prstGeom prst="rect">
            <a:avLst/>
          </a:prstGeom>
          <a:noFill/>
          <a:ln/>
        </p:spPr>
        <p:txBody>
          <a:bodyPr wrap="square" lIns="0" tIns="0" rIns="0" bIns="0" rtlCol="0" anchor="t"/>
          <a:lstStyle/>
          <a:p>
            <a:pPr marL="0" indent="0">
              <a:buNone/>
            </a:pPr>
            <a:r>
              <a:rPr lang="en-US" sz="1150" dirty="0">
                <a:solidFill>
                  <a:srgbClr val="E4E4F0"/>
                </a:solidFill>
                <a:latin typeface="Courier New" pitchFamily="34" charset="0"/>
                <a:ea typeface="Courier New" pitchFamily="34" charset="-122"/>
                <a:cs typeface="Courier New" pitchFamily="34" charset="-120"/>
              </a:rPr>
              <a:t>age = </a:t>
            </a:r>
            <a:r>
              <a:rPr lang="en-US" sz="1150" dirty="0">
                <a:solidFill>
                  <a:srgbClr val="82AAFF"/>
                </a:solidFill>
                <a:latin typeface="Courier New" pitchFamily="34" charset="0"/>
                <a:ea typeface="Courier New" pitchFamily="34" charset="-122"/>
                <a:cs typeface="Courier New" pitchFamily="34" charset="-120"/>
              </a:rPr>
              <a:t>int</a:t>
            </a:r>
            <a:r>
              <a:rPr lang="en-US" sz="1150" dirty="0">
                <a:solidFill>
                  <a:srgbClr val="E4E4F0"/>
                </a:solidFill>
                <a:latin typeface="Courier New" pitchFamily="34" charset="0"/>
                <a:ea typeface="Courier New" pitchFamily="34" charset="-122"/>
                <a:cs typeface="Courier New" pitchFamily="34" charset="-120"/>
              </a:rPr>
              <a:t>(</a:t>
            </a:r>
            <a:r>
              <a:rPr lang="en-US" sz="1150" dirty="0">
                <a:solidFill>
                  <a:srgbClr val="82AAFF"/>
                </a:solidFill>
                <a:latin typeface="Courier New" pitchFamily="34" charset="0"/>
                <a:ea typeface="Courier New" pitchFamily="34" charset="-122"/>
                <a:cs typeface="Courier New" pitchFamily="34" charset="-120"/>
              </a:rPr>
              <a:t>input</a:t>
            </a:r>
            <a:r>
              <a:rPr lang="en-US" sz="1150" dirty="0">
                <a:solidFill>
                  <a:srgbClr val="E4E4F0"/>
                </a:solidFill>
                <a:latin typeface="Courier New" pitchFamily="34" charset="0"/>
                <a:ea typeface="Courier New" pitchFamily="34" charset="-122"/>
                <a:cs typeface="Courier New" pitchFamily="34" charset="-120"/>
              </a:rPr>
              <a:t>(</a:t>
            </a:r>
            <a:r>
              <a:rPr lang="en-US" sz="1150" dirty="0">
                <a:solidFill>
                  <a:srgbClr val="A6E3A1"/>
                </a:solidFill>
                <a:latin typeface="Courier New" pitchFamily="34" charset="0"/>
                <a:ea typeface="Courier New" pitchFamily="34" charset="-122"/>
                <a:cs typeface="Courier New" pitchFamily="34" charset="-120"/>
              </a:rPr>
              <a:t>"Enter your age: "</a:t>
            </a:r>
            <a:r>
              <a:rPr lang="en-US" sz="1150" dirty="0">
                <a:solidFill>
                  <a:srgbClr val="E4E4F0"/>
                </a:solidFill>
                <a:latin typeface="Courier New" pitchFamily="34" charset="0"/>
                <a:ea typeface="Courier New" pitchFamily="34" charset="-122"/>
                <a:cs typeface="Courier New" pitchFamily="34" charset="-120"/>
              </a:rPr>
              <a:t>))</a:t>
            </a:r>
            <a:endParaRPr lang="en-US" sz="1150" dirty="0"/>
          </a:p>
          <a:p>
            <a:pPr marL="0" indent="0">
              <a:buNone/>
            </a:pPr>
            <a:r>
              <a:rPr lang="en-US" sz="1150" dirty="0">
                <a:solidFill>
                  <a:srgbClr val="82AAFF"/>
                </a:solidFill>
                <a:latin typeface="Courier New" pitchFamily="34" charset="0"/>
                <a:ea typeface="Courier New" pitchFamily="34" charset="-122"/>
                <a:cs typeface="Courier New" pitchFamily="34" charset="-120"/>
              </a:rPr>
              <a:t>print</a:t>
            </a:r>
            <a:r>
              <a:rPr lang="en-US" sz="1150" dirty="0">
                <a:solidFill>
                  <a:srgbClr val="E4E4F0"/>
                </a:solidFill>
                <a:latin typeface="Courier New" pitchFamily="34" charset="0"/>
                <a:ea typeface="Courier New" pitchFamily="34" charset="-122"/>
                <a:cs typeface="Courier New" pitchFamily="34" charset="-120"/>
              </a:rPr>
              <a:t>(</a:t>
            </a:r>
            <a:r>
              <a:rPr lang="en-US" sz="1150" dirty="0">
                <a:solidFill>
                  <a:srgbClr val="A6E3A1"/>
                </a:solidFill>
                <a:latin typeface="Courier New" pitchFamily="34" charset="0"/>
                <a:ea typeface="Courier New" pitchFamily="34" charset="-122"/>
                <a:cs typeface="Courier New" pitchFamily="34" charset="-120"/>
              </a:rPr>
              <a:t>"Your age is:"</a:t>
            </a:r>
            <a:r>
              <a:rPr lang="en-US" sz="1150" dirty="0">
                <a:solidFill>
                  <a:srgbClr val="E4E4F0"/>
                </a:solidFill>
                <a:latin typeface="Courier New" pitchFamily="34" charset="0"/>
                <a:ea typeface="Courier New" pitchFamily="34" charset="-122"/>
                <a:cs typeface="Courier New" pitchFamily="34" charset="-120"/>
              </a:rPr>
              <a:t>, age)</a:t>
            </a:r>
            <a:endParaRPr lang="en-US" sz="1150" dirty="0"/>
          </a:p>
        </p:txBody>
      </p:sp>
      <p:sp>
        <p:nvSpPr>
          <p:cNvPr id="25" name="Shape 23"/>
          <p:cNvSpPr/>
          <p:nvPr/>
        </p:nvSpPr>
        <p:spPr>
          <a:xfrm>
            <a:off x="6217920" y="2612390"/>
            <a:ext cx="5470855" cy="750316"/>
          </a:xfrm>
          <a:prstGeom prst="roundRect">
            <a:avLst>
              <a:gd name="adj" fmla="val 12187"/>
            </a:avLst>
          </a:prstGeom>
          <a:solidFill>
            <a:srgbClr val="F6F6FF"/>
          </a:solidFill>
          <a:ln w="9525">
            <a:solidFill>
              <a:srgbClr val="DCDDF5"/>
            </a:solidFill>
            <a:prstDash val="solid"/>
          </a:ln>
        </p:spPr>
        <p:txBody>
          <a:bodyPr/>
          <a:lstStyle/>
          <a:p>
            <a:endParaRPr lang="en-PH"/>
          </a:p>
        </p:txBody>
      </p:sp>
      <p:sp>
        <p:nvSpPr>
          <p:cNvPr id="26" name="Text 24"/>
          <p:cNvSpPr txBox="1"/>
          <p:nvPr/>
        </p:nvSpPr>
        <p:spPr>
          <a:xfrm>
            <a:off x="6364224" y="2685542"/>
            <a:ext cx="5196535" cy="182880"/>
          </a:xfrm>
          <a:prstGeom prst="rect">
            <a:avLst/>
          </a:prstGeom>
          <a:noFill/>
          <a:ln/>
        </p:spPr>
        <p:txBody>
          <a:bodyPr wrap="square" lIns="0" tIns="0" rIns="0" bIns="0" rtlCol="0" anchor="ctr"/>
          <a:lstStyle/>
          <a:p>
            <a:pPr marL="0" indent="0">
              <a:buNone/>
            </a:pPr>
            <a:r>
              <a:rPr lang="en-US" sz="850" b="1" kern="0" spc="150" dirty="0">
                <a:solidFill>
                  <a:srgbClr val="4F46E5"/>
                </a:solidFill>
                <a:latin typeface="Calibri" pitchFamily="34" charset="0"/>
                <a:ea typeface="Calibri" pitchFamily="34" charset="-122"/>
                <a:cs typeface="Calibri" pitchFamily="34" charset="-120"/>
              </a:rPr>
              <a:t>OUTPUT</a:t>
            </a:r>
            <a:endParaRPr lang="en-US" sz="850" dirty="0"/>
          </a:p>
        </p:txBody>
      </p:sp>
      <p:sp>
        <p:nvSpPr>
          <p:cNvPr id="27" name="Text 25"/>
          <p:cNvSpPr txBox="1"/>
          <p:nvPr/>
        </p:nvSpPr>
        <p:spPr>
          <a:xfrm>
            <a:off x="6364224" y="2904998"/>
            <a:ext cx="5233111" cy="421132"/>
          </a:xfrm>
          <a:prstGeom prst="rect">
            <a:avLst/>
          </a:prstGeom>
          <a:noFill/>
          <a:ln/>
        </p:spPr>
        <p:txBody>
          <a:bodyPr wrap="square" lIns="0" tIns="0" rIns="0" bIns="0" rtlCol="0" anchor="t"/>
          <a:lstStyle/>
          <a:p>
            <a:pPr marL="0" indent="0">
              <a:buNone/>
            </a:pPr>
            <a:r>
              <a:rPr lang="en-US" sz="1100" dirty="0">
                <a:solidFill>
                  <a:srgbClr val="1E1B4B"/>
                </a:solidFill>
                <a:latin typeface="Courier New" pitchFamily="34" charset="0"/>
                <a:ea typeface="Courier New" pitchFamily="34" charset="-122"/>
                <a:cs typeface="Courier New" pitchFamily="34" charset="-120"/>
              </a:rPr>
              <a:t>Enter your age: abc</a:t>
            </a:r>
            <a:endParaRPr lang="en-US" sz="1100" dirty="0"/>
          </a:p>
          <a:p>
            <a:pPr marL="0" indent="0">
              <a:buNone/>
            </a:pPr>
            <a:r>
              <a:rPr lang="en-US" sz="1100" dirty="0">
                <a:solidFill>
                  <a:srgbClr val="C0392B"/>
                </a:solidFill>
                <a:latin typeface="Courier New" pitchFamily="34" charset="0"/>
                <a:ea typeface="Courier New" pitchFamily="34" charset="-122"/>
                <a:cs typeface="Courier New" pitchFamily="34" charset="-120"/>
              </a:rPr>
              <a:t>ValueError: invalid literal for int()</a:t>
            </a:r>
            <a:endParaRPr lang="en-US" sz="1100" dirty="0"/>
          </a:p>
        </p:txBody>
      </p:sp>
      <p:sp>
        <p:nvSpPr>
          <p:cNvPr id="28" name="Text 26"/>
          <p:cNvSpPr txBox="1"/>
          <p:nvPr/>
        </p:nvSpPr>
        <p:spPr>
          <a:xfrm>
            <a:off x="6217920" y="3563874"/>
            <a:ext cx="5470855" cy="228600"/>
          </a:xfrm>
          <a:prstGeom prst="rect">
            <a:avLst/>
          </a:prstGeom>
          <a:noFill/>
          <a:ln/>
        </p:spPr>
        <p:txBody>
          <a:bodyPr wrap="square" lIns="0" tIns="0" rIns="0" bIns="0" rtlCol="0" anchor="t"/>
          <a:lstStyle/>
          <a:p>
            <a:pPr marL="0" indent="0">
              <a:buNone/>
            </a:pPr>
            <a:r>
              <a:rPr lang="en-US" sz="1050" b="1" kern="0" spc="200" dirty="0">
                <a:solidFill>
                  <a:srgbClr val="15803D"/>
                </a:solidFill>
                <a:latin typeface="Calibri" pitchFamily="34" charset="0"/>
                <a:ea typeface="Calibri" pitchFamily="34" charset="-122"/>
                <a:cs typeface="Calibri" pitchFamily="34" charset="-120"/>
              </a:rPr>
              <a:t>WITH ERROR HANDLING</a:t>
            </a:r>
            <a:endParaRPr lang="en-US" sz="1050" dirty="0"/>
          </a:p>
        </p:txBody>
      </p:sp>
      <p:sp>
        <p:nvSpPr>
          <p:cNvPr id="29" name="Shape 27"/>
          <p:cNvSpPr/>
          <p:nvPr/>
        </p:nvSpPr>
        <p:spPr>
          <a:xfrm>
            <a:off x="6217920" y="3847338"/>
            <a:ext cx="5470855" cy="1337183"/>
          </a:xfrm>
          <a:prstGeom prst="roundRect">
            <a:avLst>
              <a:gd name="adj" fmla="val 6838"/>
            </a:avLst>
          </a:prstGeom>
          <a:solidFill>
            <a:srgbClr val="1F1D36"/>
          </a:solidFill>
          <a:ln w="12700">
            <a:solidFill>
              <a:srgbClr val="1F1D36"/>
            </a:solidFill>
            <a:prstDash val="solid"/>
          </a:ln>
        </p:spPr>
        <p:txBody>
          <a:bodyPr/>
          <a:lstStyle/>
          <a:p>
            <a:endParaRPr lang="en-PH"/>
          </a:p>
        </p:txBody>
      </p:sp>
      <p:sp>
        <p:nvSpPr>
          <p:cNvPr id="30" name="Text 28"/>
          <p:cNvSpPr txBox="1"/>
          <p:nvPr/>
        </p:nvSpPr>
        <p:spPr>
          <a:xfrm>
            <a:off x="6382512" y="3929634"/>
            <a:ext cx="5141671" cy="201168"/>
          </a:xfrm>
          <a:prstGeom prst="rect">
            <a:avLst/>
          </a:prstGeom>
          <a:noFill/>
          <a:ln/>
        </p:spPr>
        <p:txBody>
          <a:bodyPr wrap="square" lIns="0" tIns="0" rIns="0" bIns="0" rtlCol="0" anchor="ctr"/>
          <a:lstStyle/>
          <a:p>
            <a:pPr marL="0" indent="0">
              <a:buNone/>
            </a:pPr>
            <a:r>
              <a:rPr lang="en-US" sz="900" b="1" dirty="0">
                <a:solidFill>
                  <a:srgbClr val="8A8FB5"/>
                </a:solidFill>
                <a:latin typeface="Calibri" pitchFamily="34" charset="0"/>
                <a:ea typeface="Calibri" pitchFamily="34" charset="-122"/>
                <a:cs typeface="Calibri" pitchFamily="34" charset="-120"/>
              </a:rPr>
              <a:t>&lt;/&gt;  Python</a:t>
            </a:r>
            <a:endParaRPr lang="en-US" sz="900" dirty="0"/>
          </a:p>
        </p:txBody>
      </p:sp>
      <p:sp>
        <p:nvSpPr>
          <p:cNvPr id="31" name="Text 29"/>
          <p:cNvSpPr txBox="1"/>
          <p:nvPr/>
        </p:nvSpPr>
        <p:spPr>
          <a:xfrm>
            <a:off x="6382512" y="4176522"/>
            <a:ext cx="5196535" cy="953135"/>
          </a:xfrm>
          <a:prstGeom prst="rect">
            <a:avLst/>
          </a:prstGeom>
          <a:noFill/>
          <a:ln/>
        </p:spPr>
        <p:txBody>
          <a:bodyPr wrap="square" lIns="0" tIns="0" rIns="0" bIns="0" rtlCol="0" anchor="t"/>
          <a:lstStyle/>
          <a:p>
            <a:pPr marL="0" indent="0">
              <a:buNone/>
            </a:pPr>
            <a:r>
              <a:rPr lang="en-US" sz="1150" dirty="0">
                <a:solidFill>
                  <a:srgbClr val="D3A6FF"/>
                </a:solidFill>
                <a:latin typeface="Courier New" pitchFamily="34" charset="0"/>
                <a:ea typeface="Courier New" pitchFamily="34" charset="-122"/>
                <a:cs typeface="Courier New" pitchFamily="34" charset="-120"/>
              </a:rPr>
              <a:t>try</a:t>
            </a:r>
            <a:r>
              <a:rPr lang="en-US" sz="1150" dirty="0">
                <a:solidFill>
                  <a:srgbClr val="E4E4F0"/>
                </a:solidFill>
                <a:latin typeface="Courier New" pitchFamily="34" charset="0"/>
                <a:ea typeface="Courier New" pitchFamily="34" charset="-122"/>
                <a:cs typeface="Courier New" pitchFamily="34" charset="-120"/>
              </a:rPr>
              <a:t>:</a:t>
            </a:r>
            <a:endParaRPr lang="en-US" sz="1150" dirty="0"/>
          </a:p>
          <a:p>
            <a:pPr marL="0" indent="0">
              <a:buNone/>
            </a:pPr>
            <a:r>
              <a:rPr lang="en-US" sz="1150" dirty="0">
                <a:solidFill>
                  <a:srgbClr val="E4E4F0"/>
                </a:solidFill>
                <a:latin typeface="Courier New" pitchFamily="34" charset="0"/>
                <a:ea typeface="Courier New" pitchFamily="34" charset="-122"/>
                <a:cs typeface="Courier New" pitchFamily="34" charset="-120"/>
              </a:rPr>
              <a:t>    age = </a:t>
            </a:r>
            <a:r>
              <a:rPr lang="en-US" sz="1150" dirty="0">
                <a:solidFill>
                  <a:srgbClr val="82AAFF"/>
                </a:solidFill>
                <a:latin typeface="Courier New" pitchFamily="34" charset="0"/>
                <a:ea typeface="Courier New" pitchFamily="34" charset="-122"/>
                <a:cs typeface="Courier New" pitchFamily="34" charset="-120"/>
              </a:rPr>
              <a:t>int</a:t>
            </a:r>
            <a:r>
              <a:rPr lang="en-US" sz="1150" dirty="0">
                <a:solidFill>
                  <a:srgbClr val="E4E4F0"/>
                </a:solidFill>
                <a:latin typeface="Courier New" pitchFamily="34" charset="0"/>
                <a:ea typeface="Courier New" pitchFamily="34" charset="-122"/>
                <a:cs typeface="Courier New" pitchFamily="34" charset="-120"/>
              </a:rPr>
              <a:t>(</a:t>
            </a:r>
            <a:r>
              <a:rPr lang="en-US" sz="1150" dirty="0">
                <a:solidFill>
                  <a:srgbClr val="82AAFF"/>
                </a:solidFill>
                <a:latin typeface="Courier New" pitchFamily="34" charset="0"/>
                <a:ea typeface="Courier New" pitchFamily="34" charset="-122"/>
                <a:cs typeface="Courier New" pitchFamily="34" charset="-120"/>
              </a:rPr>
              <a:t>input</a:t>
            </a:r>
            <a:r>
              <a:rPr lang="en-US" sz="1150" dirty="0">
                <a:solidFill>
                  <a:srgbClr val="E4E4F0"/>
                </a:solidFill>
                <a:latin typeface="Courier New" pitchFamily="34" charset="0"/>
                <a:ea typeface="Courier New" pitchFamily="34" charset="-122"/>
                <a:cs typeface="Courier New" pitchFamily="34" charset="-120"/>
              </a:rPr>
              <a:t>(</a:t>
            </a:r>
            <a:r>
              <a:rPr lang="en-US" sz="1150" dirty="0">
                <a:solidFill>
                  <a:srgbClr val="A6E3A1"/>
                </a:solidFill>
                <a:latin typeface="Courier New" pitchFamily="34" charset="0"/>
                <a:ea typeface="Courier New" pitchFamily="34" charset="-122"/>
                <a:cs typeface="Courier New" pitchFamily="34" charset="-120"/>
              </a:rPr>
              <a:t>"Enter your age: "</a:t>
            </a:r>
            <a:r>
              <a:rPr lang="en-US" sz="1150" dirty="0">
                <a:solidFill>
                  <a:srgbClr val="E4E4F0"/>
                </a:solidFill>
                <a:latin typeface="Courier New" pitchFamily="34" charset="0"/>
                <a:ea typeface="Courier New" pitchFamily="34" charset="-122"/>
                <a:cs typeface="Courier New" pitchFamily="34" charset="-120"/>
              </a:rPr>
              <a:t>))</a:t>
            </a:r>
            <a:endParaRPr lang="en-US" sz="1150" dirty="0"/>
          </a:p>
          <a:p>
            <a:pPr marL="0" indent="0">
              <a:buNone/>
            </a:pPr>
            <a:r>
              <a:rPr lang="en-US" sz="1150" dirty="0">
                <a:solidFill>
                  <a:srgbClr val="E4E4F0"/>
                </a:solidFill>
                <a:latin typeface="Courier New" pitchFamily="34" charset="0"/>
                <a:ea typeface="Courier New" pitchFamily="34" charset="-122"/>
                <a:cs typeface="Courier New" pitchFamily="34" charset="-120"/>
              </a:rPr>
              <a:t>    </a:t>
            </a:r>
            <a:r>
              <a:rPr lang="en-US" sz="1150" dirty="0">
                <a:solidFill>
                  <a:srgbClr val="82AAFF"/>
                </a:solidFill>
                <a:latin typeface="Courier New" pitchFamily="34" charset="0"/>
                <a:ea typeface="Courier New" pitchFamily="34" charset="-122"/>
                <a:cs typeface="Courier New" pitchFamily="34" charset="-120"/>
              </a:rPr>
              <a:t>print</a:t>
            </a:r>
            <a:r>
              <a:rPr lang="en-US" sz="1150" dirty="0">
                <a:solidFill>
                  <a:srgbClr val="E4E4F0"/>
                </a:solidFill>
                <a:latin typeface="Courier New" pitchFamily="34" charset="0"/>
                <a:ea typeface="Courier New" pitchFamily="34" charset="-122"/>
                <a:cs typeface="Courier New" pitchFamily="34" charset="-120"/>
              </a:rPr>
              <a:t>(</a:t>
            </a:r>
            <a:r>
              <a:rPr lang="en-US" sz="1150" dirty="0">
                <a:solidFill>
                  <a:srgbClr val="A6E3A1"/>
                </a:solidFill>
                <a:latin typeface="Courier New" pitchFamily="34" charset="0"/>
                <a:ea typeface="Courier New" pitchFamily="34" charset="-122"/>
                <a:cs typeface="Courier New" pitchFamily="34" charset="-120"/>
              </a:rPr>
              <a:t>"Your age is:"</a:t>
            </a:r>
            <a:r>
              <a:rPr lang="en-US" sz="1150" dirty="0">
                <a:solidFill>
                  <a:srgbClr val="E4E4F0"/>
                </a:solidFill>
                <a:latin typeface="Courier New" pitchFamily="34" charset="0"/>
                <a:ea typeface="Courier New" pitchFamily="34" charset="-122"/>
                <a:cs typeface="Courier New" pitchFamily="34" charset="-120"/>
              </a:rPr>
              <a:t>, age)</a:t>
            </a:r>
            <a:endParaRPr lang="en-US" sz="1150" dirty="0"/>
          </a:p>
          <a:p>
            <a:pPr marL="0" indent="0">
              <a:buNone/>
            </a:pPr>
            <a:r>
              <a:rPr lang="en-US" sz="1150" dirty="0">
                <a:solidFill>
                  <a:srgbClr val="D3A6FF"/>
                </a:solidFill>
                <a:latin typeface="Courier New" pitchFamily="34" charset="0"/>
                <a:ea typeface="Courier New" pitchFamily="34" charset="-122"/>
                <a:cs typeface="Courier New" pitchFamily="34" charset="-120"/>
              </a:rPr>
              <a:t>except</a:t>
            </a:r>
            <a:r>
              <a:rPr lang="en-US" sz="1150" dirty="0">
                <a:solidFill>
                  <a:srgbClr val="E4E4F0"/>
                </a:solidFill>
                <a:latin typeface="Courier New" pitchFamily="34" charset="0"/>
                <a:ea typeface="Courier New" pitchFamily="34" charset="-122"/>
                <a:cs typeface="Courier New" pitchFamily="34" charset="-120"/>
              </a:rPr>
              <a:t> </a:t>
            </a:r>
            <a:r>
              <a:rPr lang="en-US" sz="1150" dirty="0">
                <a:solidFill>
                  <a:srgbClr val="F38BA8"/>
                </a:solidFill>
                <a:latin typeface="Courier New" pitchFamily="34" charset="0"/>
                <a:ea typeface="Courier New" pitchFamily="34" charset="-122"/>
                <a:cs typeface="Courier New" pitchFamily="34" charset="-120"/>
              </a:rPr>
              <a:t>ValueError</a:t>
            </a:r>
            <a:r>
              <a:rPr lang="en-US" sz="1150" dirty="0">
                <a:solidFill>
                  <a:srgbClr val="E4E4F0"/>
                </a:solidFill>
                <a:latin typeface="Courier New" pitchFamily="34" charset="0"/>
                <a:ea typeface="Courier New" pitchFamily="34" charset="-122"/>
                <a:cs typeface="Courier New" pitchFamily="34" charset="-120"/>
              </a:rPr>
              <a:t>:</a:t>
            </a:r>
            <a:endParaRPr lang="en-US" sz="1150" dirty="0"/>
          </a:p>
          <a:p>
            <a:pPr marL="0" indent="0">
              <a:buNone/>
            </a:pPr>
            <a:r>
              <a:rPr lang="en-US" sz="1150" dirty="0">
                <a:solidFill>
                  <a:srgbClr val="E4E4F0"/>
                </a:solidFill>
                <a:latin typeface="Courier New" pitchFamily="34" charset="0"/>
                <a:ea typeface="Courier New" pitchFamily="34" charset="-122"/>
                <a:cs typeface="Courier New" pitchFamily="34" charset="-120"/>
              </a:rPr>
              <a:t>    </a:t>
            </a:r>
            <a:r>
              <a:rPr lang="en-US" sz="1150" dirty="0">
                <a:solidFill>
                  <a:srgbClr val="82AAFF"/>
                </a:solidFill>
                <a:latin typeface="Courier New" pitchFamily="34" charset="0"/>
                <a:ea typeface="Courier New" pitchFamily="34" charset="-122"/>
                <a:cs typeface="Courier New" pitchFamily="34" charset="-120"/>
              </a:rPr>
              <a:t>print</a:t>
            </a:r>
            <a:r>
              <a:rPr lang="en-US" sz="1150" dirty="0">
                <a:solidFill>
                  <a:srgbClr val="E4E4F0"/>
                </a:solidFill>
                <a:latin typeface="Courier New" pitchFamily="34" charset="0"/>
                <a:ea typeface="Courier New" pitchFamily="34" charset="-122"/>
                <a:cs typeface="Courier New" pitchFamily="34" charset="-120"/>
              </a:rPr>
              <a:t>(</a:t>
            </a:r>
            <a:r>
              <a:rPr lang="en-US" sz="1150" dirty="0">
                <a:solidFill>
                  <a:srgbClr val="A6E3A1"/>
                </a:solidFill>
                <a:latin typeface="Courier New" pitchFamily="34" charset="0"/>
                <a:ea typeface="Courier New" pitchFamily="34" charset="-122"/>
                <a:cs typeface="Courier New" pitchFamily="34" charset="-120"/>
              </a:rPr>
              <a:t>"Please enter a valid number."</a:t>
            </a:r>
            <a:r>
              <a:rPr lang="en-US" sz="1150" dirty="0">
                <a:solidFill>
                  <a:srgbClr val="E4E4F0"/>
                </a:solidFill>
                <a:latin typeface="Courier New" pitchFamily="34" charset="0"/>
                <a:ea typeface="Courier New" pitchFamily="34" charset="-122"/>
                <a:cs typeface="Courier New" pitchFamily="34" charset="-120"/>
              </a:rPr>
              <a:t>)</a:t>
            </a:r>
            <a:endParaRPr lang="en-US" sz="1150" dirty="0"/>
          </a:p>
        </p:txBody>
      </p:sp>
      <p:sp>
        <p:nvSpPr>
          <p:cNvPr id="32" name="Shape 30"/>
          <p:cNvSpPr/>
          <p:nvPr/>
        </p:nvSpPr>
        <p:spPr>
          <a:xfrm>
            <a:off x="6217920" y="5275961"/>
            <a:ext cx="5470855" cy="750316"/>
          </a:xfrm>
          <a:prstGeom prst="roundRect">
            <a:avLst>
              <a:gd name="adj" fmla="val 12187"/>
            </a:avLst>
          </a:prstGeom>
          <a:solidFill>
            <a:srgbClr val="F6F6FF"/>
          </a:solidFill>
          <a:ln w="9525">
            <a:solidFill>
              <a:srgbClr val="DCDDF5"/>
            </a:solidFill>
            <a:prstDash val="solid"/>
          </a:ln>
        </p:spPr>
        <p:txBody>
          <a:bodyPr/>
          <a:lstStyle/>
          <a:p>
            <a:endParaRPr lang="en-PH"/>
          </a:p>
        </p:txBody>
      </p:sp>
      <p:sp>
        <p:nvSpPr>
          <p:cNvPr id="33" name="Text 31"/>
          <p:cNvSpPr txBox="1"/>
          <p:nvPr/>
        </p:nvSpPr>
        <p:spPr>
          <a:xfrm>
            <a:off x="6364224" y="5349113"/>
            <a:ext cx="5196535" cy="182880"/>
          </a:xfrm>
          <a:prstGeom prst="rect">
            <a:avLst/>
          </a:prstGeom>
          <a:noFill/>
          <a:ln/>
        </p:spPr>
        <p:txBody>
          <a:bodyPr wrap="square" lIns="0" tIns="0" rIns="0" bIns="0" rtlCol="0" anchor="ctr"/>
          <a:lstStyle/>
          <a:p>
            <a:pPr marL="0" indent="0">
              <a:buNone/>
            </a:pPr>
            <a:r>
              <a:rPr lang="en-US" sz="850" b="1" kern="0" spc="150" dirty="0">
                <a:solidFill>
                  <a:srgbClr val="4F46E5"/>
                </a:solidFill>
                <a:latin typeface="Calibri" pitchFamily="34" charset="0"/>
                <a:ea typeface="Calibri" pitchFamily="34" charset="-122"/>
                <a:cs typeface="Calibri" pitchFamily="34" charset="-120"/>
              </a:rPr>
              <a:t>OUTPUT</a:t>
            </a:r>
            <a:endParaRPr lang="en-US" sz="850" dirty="0"/>
          </a:p>
        </p:txBody>
      </p:sp>
      <p:sp>
        <p:nvSpPr>
          <p:cNvPr id="34" name="Text 32"/>
          <p:cNvSpPr txBox="1"/>
          <p:nvPr/>
        </p:nvSpPr>
        <p:spPr>
          <a:xfrm>
            <a:off x="6364224" y="5568569"/>
            <a:ext cx="5233111" cy="421132"/>
          </a:xfrm>
          <a:prstGeom prst="rect">
            <a:avLst/>
          </a:prstGeom>
          <a:noFill/>
          <a:ln/>
        </p:spPr>
        <p:txBody>
          <a:bodyPr wrap="square" lIns="0" tIns="0" rIns="0" bIns="0" rtlCol="0" anchor="t"/>
          <a:lstStyle/>
          <a:p>
            <a:pPr marL="0" indent="0">
              <a:buNone/>
            </a:pPr>
            <a:r>
              <a:rPr lang="en-US" sz="1100" dirty="0">
                <a:solidFill>
                  <a:srgbClr val="1E1B4B"/>
                </a:solidFill>
                <a:latin typeface="Courier New" pitchFamily="34" charset="0"/>
                <a:ea typeface="Courier New" pitchFamily="34" charset="-122"/>
                <a:cs typeface="Courier New" pitchFamily="34" charset="-120"/>
              </a:rPr>
              <a:t>Enter your age: abc</a:t>
            </a:r>
            <a:endParaRPr lang="en-US" sz="1100" dirty="0"/>
          </a:p>
          <a:p>
            <a:pPr marL="0" indent="0">
              <a:buNone/>
            </a:pPr>
            <a:r>
              <a:rPr lang="en-US" sz="1100" dirty="0">
                <a:solidFill>
                  <a:srgbClr val="1E1B4B"/>
                </a:solidFill>
                <a:latin typeface="Courier New" pitchFamily="34" charset="0"/>
                <a:ea typeface="Courier New" pitchFamily="34" charset="-122"/>
                <a:cs typeface="Courier New" pitchFamily="34" charset="-120"/>
              </a:rPr>
              <a:t>Please enter a valid number.</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02920" y="310896"/>
            <a:ext cx="8229600" cy="237744"/>
          </a:xfrm>
          <a:prstGeom prst="rect">
            <a:avLst/>
          </a:prstGeom>
          <a:noFill/>
          <a:ln/>
        </p:spPr>
        <p:txBody>
          <a:bodyPr wrap="square" lIns="0" tIns="0" rIns="0" bIns="0" rtlCol="0" anchor="t"/>
          <a:lstStyle/>
          <a:p>
            <a:pPr marL="0" indent="0">
              <a:buNone/>
            </a:pPr>
            <a:r>
              <a:rPr lang="en-US" sz="1050" b="1" kern="0" spc="200" dirty="0">
                <a:solidFill>
                  <a:srgbClr val="C8559F"/>
                </a:solidFill>
                <a:latin typeface="Calibri" pitchFamily="34" charset="0"/>
                <a:ea typeface="Calibri" pitchFamily="34" charset="-122"/>
                <a:cs typeface="Calibri" pitchFamily="34" charset="-120"/>
              </a:rPr>
              <a:t>HANDLING VALUEERROR</a:t>
            </a:r>
            <a:endParaRPr lang="en-US" sz="1050" dirty="0"/>
          </a:p>
        </p:txBody>
      </p:sp>
      <p:sp>
        <p:nvSpPr>
          <p:cNvPr id="3" name="Text 1"/>
          <p:cNvSpPr txBox="1"/>
          <p:nvPr/>
        </p:nvSpPr>
        <p:spPr>
          <a:xfrm>
            <a:off x="502920" y="530352"/>
            <a:ext cx="10241280" cy="640080"/>
          </a:xfrm>
          <a:prstGeom prst="rect">
            <a:avLst/>
          </a:prstGeom>
          <a:noFill/>
          <a:ln/>
        </p:spPr>
        <p:txBody>
          <a:bodyPr wrap="square" lIns="0" tIns="0" rIns="0" bIns="0" rtlCol="0" anchor="ctr"/>
          <a:lstStyle/>
          <a:p>
            <a:pPr marL="0" indent="0">
              <a:buNone/>
            </a:pPr>
            <a:r>
              <a:rPr lang="en-US" sz="2800" b="1" dirty="0">
                <a:solidFill>
                  <a:srgbClr val="1E1B4B"/>
                </a:solidFill>
                <a:latin typeface="Calibri" pitchFamily="34" charset="0"/>
                <a:ea typeface="Calibri" pitchFamily="34" charset="-122"/>
                <a:cs typeface="Calibri" pitchFamily="34" charset="-120"/>
              </a:rPr>
              <a:t>Summary</a:t>
            </a:r>
            <a:endParaRPr lang="en-US" sz="2800" dirty="0"/>
          </a:p>
        </p:txBody>
      </p:sp>
      <p:sp>
        <p:nvSpPr>
          <p:cNvPr id="4" name="Text 2"/>
          <p:cNvSpPr txBox="1"/>
          <p:nvPr/>
        </p:nvSpPr>
        <p:spPr>
          <a:xfrm>
            <a:off x="502920" y="6446520"/>
            <a:ext cx="5486400" cy="228600"/>
          </a:xfrm>
          <a:prstGeom prst="rect">
            <a:avLst/>
          </a:prstGeom>
          <a:noFill/>
          <a:ln/>
        </p:spPr>
        <p:txBody>
          <a:bodyPr wrap="square" lIns="0" tIns="0" rIns="0" bIns="0" rtlCol="0" anchor="t"/>
          <a:lstStyle/>
          <a:p>
            <a:pPr marL="0" indent="0">
              <a:buNone/>
            </a:pPr>
            <a:r>
              <a:rPr lang="en-US" sz="900" dirty="0">
                <a:solidFill>
                  <a:srgbClr val="5B5F7A"/>
                </a:solidFill>
                <a:latin typeface="Calibri" pitchFamily="34" charset="0"/>
                <a:ea typeface="Calibri" pitchFamily="34" charset="-122"/>
                <a:cs typeface="Calibri" pitchFamily="34" charset="-120"/>
              </a:rPr>
              <a:t>Python  ·  Error Handling</a:t>
            </a:r>
            <a:endParaRPr lang="en-US" sz="900" dirty="0"/>
          </a:p>
        </p:txBody>
      </p:sp>
      <p:sp>
        <p:nvSpPr>
          <p:cNvPr id="5" name="Text 3"/>
          <p:cNvSpPr txBox="1"/>
          <p:nvPr/>
        </p:nvSpPr>
        <p:spPr>
          <a:xfrm>
            <a:off x="11140135" y="6446520"/>
            <a:ext cx="548640" cy="228600"/>
          </a:xfrm>
          <a:prstGeom prst="rect">
            <a:avLst/>
          </a:prstGeom>
          <a:noFill/>
          <a:ln/>
        </p:spPr>
        <p:txBody>
          <a:bodyPr wrap="square" lIns="0" tIns="0" rIns="0" bIns="0" rtlCol="0" anchor="t"/>
          <a:lstStyle/>
          <a:p>
            <a:pPr marL="0" indent="0" algn="r">
              <a:buNone/>
            </a:pPr>
            <a:r>
              <a:rPr lang="en-US" sz="900" dirty="0">
                <a:solidFill>
                  <a:srgbClr val="5B5F7A"/>
                </a:solidFill>
                <a:latin typeface="Calibri" pitchFamily="34" charset="0"/>
                <a:ea typeface="Calibri" pitchFamily="34" charset="-122"/>
                <a:cs typeface="Calibri" pitchFamily="34" charset="-120"/>
              </a:rPr>
              <a:t>12</a:t>
            </a:r>
            <a:endParaRPr lang="en-US" sz="9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02920" y="1417320"/>
          <a:ext cx="6949440" cy="4572000"/>
        </p:xfrm>
        <a:graphic>
          <a:graphicData uri="http://schemas.openxmlformats.org/drawingml/2006/table">
            <a:tbl>
              <a:tblPr/>
              <a:tblGrid>
                <a:gridCol w="1920240">
                  <a:extLst>
                    <a:ext uri="{9D8B030D-6E8A-4147-A177-3AD203B41FA5}">
                      <a16:colId xmlns:a16="http://schemas.microsoft.com/office/drawing/2014/main" val="20000"/>
                    </a:ext>
                  </a:extLst>
                </a:gridCol>
                <a:gridCol w="5029200">
                  <a:extLst>
                    <a:ext uri="{9D8B030D-6E8A-4147-A177-3AD203B41FA5}">
                      <a16:colId xmlns:a16="http://schemas.microsoft.com/office/drawing/2014/main" val="20001"/>
                    </a:ext>
                  </a:extLst>
                </a:gridCol>
              </a:tblGrid>
              <a:tr h="548640">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Concept</a:t>
                      </a:r>
                      <a:endParaRPr lang="en-US" sz="1300" dirty="0">
                        <a:latin typeface="Calibri" charset="0"/>
                        <a:ea typeface="Calibri" charset="0"/>
                        <a:cs typeface="Calibri" charset="0"/>
                      </a:endParaRPr>
                    </a:p>
                  </a:txBody>
                  <a:tcPr marL="146304" marR="146304" marT="0" marB="0" anchor="ctr">
                    <a:lnL w="9525" cap="flat" cmpd="sng" algn="ctr">
                      <a:solidFill>
                        <a:srgbClr val="DCDDF5"/>
                      </a:solidFill>
                      <a:prstDash val="solid"/>
                      <a:round/>
                      <a:headEnd type="none" w="med" len="med"/>
                      <a:tailEnd type="none" w="med" len="med"/>
                    </a:lnL>
                    <a:lnR w="9525" cap="flat" cmpd="sng" algn="ctr">
                      <a:solidFill>
                        <a:srgbClr val="DCDDF5"/>
                      </a:solidFill>
                      <a:prstDash val="solid"/>
                      <a:round/>
                      <a:headEnd type="none" w="med" len="med"/>
                      <a:tailEnd type="none" w="med" len="med"/>
                    </a:lnR>
                    <a:lnT w="9525" cap="flat" cmpd="sng" algn="ctr">
                      <a:solidFill>
                        <a:srgbClr val="DCDDF5"/>
                      </a:solidFill>
                      <a:prstDash val="solid"/>
                      <a:round/>
                      <a:headEnd type="none" w="med" len="med"/>
                      <a:tailEnd type="none" w="med" len="med"/>
                    </a:lnT>
                    <a:lnB w="9525" cap="flat" cmpd="sng" algn="ctr">
                      <a:solidFill>
                        <a:srgbClr val="DCDDF5"/>
                      </a:solidFill>
                      <a:prstDash val="solid"/>
                      <a:round/>
                      <a:headEnd type="none" w="med" len="med"/>
                      <a:tailEnd type="none" w="med" len="med"/>
                    </a:lnB>
                    <a:solidFill>
                      <a:srgbClr val="1E1B4B"/>
                    </a:solidFill>
                  </a:tcPr>
                </a:tc>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Description</a:t>
                      </a:r>
                      <a:endParaRPr lang="en-US" sz="1300" dirty="0">
                        <a:latin typeface="Calibri" charset="0"/>
                        <a:ea typeface="Calibri" charset="0"/>
                        <a:cs typeface="Calibri" charset="0"/>
                      </a:endParaRPr>
                    </a:p>
                  </a:txBody>
                  <a:tcPr marL="146304" marR="146304" marT="0" marB="0" anchor="ctr">
                    <a:lnL w="9525" cap="flat" cmpd="sng" algn="ctr">
                      <a:solidFill>
                        <a:srgbClr val="DCDDF5"/>
                      </a:solidFill>
                      <a:prstDash val="solid"/>
                      <a:round/>
                      <a:headEnd type="none" w="med" len="med"/>
                      <a:tailEnd type="none" w="med" len="med"/>
                    </a:lnL>
                    <a:lnR w="9525" cap="flat" cmpd="sng" algn="ctr">
                      <a:solidFill>
                        <a:srgbClr val="DCDDF5"/>
                      </a:solidFill>
                      <a:prstDash val="solid"/>
                      <a:round/>
                      <a:headEnd type="none" w="med" len="med"/>
                      <a:tailEnd type="none" w="med" len="med"/>
                    </a:lnR>
                    <a:lnT w="9525" cap="flat" cmpd="sng" algn="ctr">
                      <a:solidFill>
                        <a:srgbClr val="DCDDF5"/>
                      </a:solidFill>
                      <a:prstDash val="solid"/>
                      <a:round/>
                      <a:headEnd type="none" w="med" len="med"/>
                      <a:tailEnd type="none" w="med" len="med"/>
                    </a:lnT>
                    <a:lnB w="9525" cap="flat" cmpd="sng" algn="ctr">
                      <a:solidFill>
                        <a:srgbClr val="DCDDF5"/>
                      </a:solidFill>
                      <a:prstDash val="solid"/>
                      <a:round/>
                      <a:headEnd type="none" w="med" len="med"/>
                      <a:tailEnd type="none" w="med" len="med"/>
                    </a:lnB>
                    <a:solidFill>
                      <a:srgbClr val="1E1B4B"/>
                    </a:solidFill>
                  </a:tcPr>
                </a:tc>
                <a:extLst>
                  <a:ext uri="{0D108BD9-81ED-4DB2-BD59-A6C34878D82A}">
                    <a16:rowId xmlns:a16="http://schemas.microsoft.com/office/drawing/2014/main" val="10000"/>
                  </a:ext>
                </a:extLst>
              </a:tr>
              <a:tr h="1005840">
                <a:tc>
                  <a:txBody>
                    <a:bodyPr/>
                    <a:lstStyle/>
                    <a:p>
                      <a:pPr marL="0" indent="0">
                        <a:buNone/>
                      </a:pPr>
                      <a:r>
                        <a:rPr lang="en-US" sz="1350" b="1" dirty="0">
                          <a:solidFill>
                            <a:srgbClr val="1E1B4B"/>
                          </a:solidFill>
                          <a:latin typeface="Calibri" pitchFamily="34" charset="0"/>
                          <a:ea typeface="Calibri" pitchFamily="34" charset="-122"/>
                          <a:cs typeface="Calibri" pitchFamily="34" charset="-120"/>
                        </a:rPr>
                        <a:t>ValueError</a:t>
                      </a:r>
                      <a:endParaRPr lang="en-US" sz="1350" dirty="0">
                        <a:latin typeface="Calibri" charset="0"/>
                        <a:ea typeface="Calibri" charset="0"/>
                        <a:cs typeface="Calibri" charset="0"/>
                      </a:endParaRPr>
                    </a:p>
                  </a:txBody>
                  <a:tcPr marL="146304" marR="146304" marT="0" marB="0" anchor="ctr">
                    <a:lnL w="9525" cap="flat" cmpd="sng" algn="ctr">
                      <a:solidFill>
                        <a:srgbClr val="DCDDF5"/>
                      </a:solidFill>
                      <a:prstDash val="solid"/>
                      <a:round/>
                      <a:headEnd type="none" w="med" len="med"/>
                      <a:tailEnd type="none" w="med" len="med"/>
                    </a:lnL>
                    <a:lnR w="9525" cap="flat" cmpd="sng" algn="ctr">
                      <a:solidFill>
                        <a:srgbClr val="DCDDF5"/>
                      </a:solidFill>
                      <a:prstDash val="solid"/>
                      <a:round/>
                      <a:headEnd type="none" w="med" len="med"/>
                      <a:tailEnd type="none" w="med" len="med"/>
                    </a:lnR>
                    <a:lnT w="9525" cap="flat" cmpd="sng" algn="ctr">
                      <a:solidFill>
                        <a:srgbClr val="DCDDF5"/>
                      </a:solidFill>
                      <a:prstDash val="solid"/>
                      <a:round/>
                      <a:headEnd type="none" w="med" len="med"/>
                      <a:tailEnd type="none" w="med" len="med"/>
                    </a:lnT>
                    <a:lnB w="9525" cap="flat" cmpd="sng" algn="ctr">
                      <a:solidFill>
                        <a:srgbClr val="DCDDF5"/>
                      </a:solidFill>
                      <a:prstDash val="solid"/>
                      <a:round/>
                      <a:headEnd type="none" w="med" len="med"/>
                      <a:tailEnd type="none" w="med" len="med"/>
                    </a:lnB>
                    <a:solidFill>
                      <a:srgbClr val="FFFFFF"/>
                    </a:solidFill>
                  </a:tcPr>
                </a:tc>
                <a:tc>
                  <a:txBody>
                    <a:bodyPr/>
                    <a:lstStyle/>
                    <a:p>
                      <a:pPr marL="0" indent="0">
                        <a:buNone/>
                      </a:pPr>
                      <a:r>
                        <a:rPr lang="en-US" sz="1350" dirty="0">
                          <a:solidFill>
                            <a:srgbClr val="1E1B4B"/>
                          </a:solidFill>
                          <a:latin typeface="Calibri" pitchFamily="34" charset="0"/>
                          <a:ea typeface="Calibri" pitchFamily="34" charset="-122"/>
                          <a:cs typeface="Calibri" pitchFamily="34" charset="-120"/>
                        </a:rPr>
                        <a:t>Occurs when a function receives the correct data type but an invalid value.</a:t>
                      </a:r>
                      <a:endParaRPr lang="en-US" sz="1350" dirty="0">
                        <a:latin typeface="Calibri" charset="0"/>
                        <a:ea typeface="Calibri" charset="0"/>
                        <a:cs typeface="Calibri" charset="0"/>
                      </a:endParaRPr>
                    </a:p>
                  </a:txBody>
                  <a:tcPr marL="146304" marR="146304" marT="0" marB="0" anchor="ctr">
                    <a:lnL w="9525" cap="flat" cmpd="sng" algn="ctr">
                      <a:solidFill>
                        <a:srgbClr val="DCDDF5"/>
                      </a:solidFill>
                      <a:prstDash val="solid"/>
                      <a:round/>
                      <a:headEnd type="none" w="med" len="med"/>
                      <a:tailEnd type="none" w="med" len="med"/>
                    </a:lnL>
                    <a:lnR w="9525" cap="flat" cmpd="sng" algn="ctr">
                      <a:solidFill>
                        <a:srgbClr val="DCDDF5"/>
                      </a:solidFill>
                      <a:prstDash val="solid"/>
                      <a:round/>
                      <a:headEnd type="none" w="med" len="med"/>
                      <a:tailEnd type="none" w="med" len="med"/>
                    </a:lnR>
                    <a:lnT w="9525" cap="flat" cmpd="sng" algn="ctr">
                      <a:solidFill>
                        <a:srgbClr val="DCDDF5"/>
                      </a:solidFill>
                      <a:prstDash val="solid"/>
                      <a:round/>
                      <a:headEnd type="none" w="med" len="med"/>
                      <a:tailEnd type="none" w="med" len="med"/>
                    </a:lnT>
                    <a:lnB w="9525" cap="flat" cmpd="sng" algn="ctr">
                      <a:solidFill>
                        <a:srgbClr val="DCDDF5"/>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1005840">
                <a:tc>
                  <a:txBody>
                    <a:bodyPr/>
                    <a:lstStyle/>
                    <a:p>
                      <a:pPr marL="0" indent="0">
                        <a:buNone/>
                      </a:pPr>
                      <a:r>
                        <a:rPr lang="en-US" sz="1350" b="1" dirty="0">
                          <a:solidFill>
                            <a:srgbClr val="1E1B4B"/>
                          </a:solidFill>
                          <a:latin typeface="Calibri" pitchFamily="34" charset="0"/>
                          <a:ea typeface="Calibri" pitchFamily="34" charset="-122"/>
                          <a:cs typeface="Calibri" pitchFamily="34" charset="-120"/>
                        </a:rPr>
                        <a:t>Common Cause</a:t>
                      </a:r>
                      <a:endParaRPr lang="en-US" sz="1350" dirty="0">
                        <a:latin typeface="Calibri" charset="0"/>
                        <a:ea typeface="Calibri" charset="0"/>
                        <a:cs typeface="Calibri" charset="0"/>
                      </a:endParaRPr>
                    </a:p>
                  </a:txBody>
                  <a:tcPr marL="146304" marR="146304" marT="0" marB="0" anchor="ctr">
                    <a:lnL w="9525" cap="flat" cmpd="sng" algn="ctr">
                      <a:solidFill>
                        <a:srgbClr val="DCDDF5"/>
                      </a:solidFill>
                      <a:prstDash val="solid"/>
                      <a:round/>
                      <a:headEnd type="none" w="med" len="med"/>
                      <a:tailEnd type="none" w="med" len="med"/>
                    </a:lnL>
                    <a:lnR w="9525" cap="flat" cmpd="sng" algn="ctr">
                      <a:solidFill>
                        <a:srgbClr val="DCDDF5"/>
                      </a:solidFill>
                      <a:prstDash val="solid"/>
                      <a:round/>
                      <a:headEnd type="none" w="med" len="med"/>
                      <a:tailEnd type="none" w="med" len="med"/>
                    </a:lnR>
                    <a:lnT w="9525" cap="flat" cmpd="sng" algn="ctr">
                      <a:solidFill>
                        <a:srgbClr val="DCDDF5"/>
                      </a:solidFill>
                      <a:prstDash val="solid"/>
                      <a:round/>
                      <a:headEnd type="none" w="med" len="med"/>
                      <a:tailEnd type="none" w="med" len="med"/>
                    </a:lnT>
                    <a:lnB w="9525" cap="flat" cmpd="sng" algn="ctr">
                      <a:solidFill>
                        <a:srgbClr val="DCDDF5"/>
                      </a:solidFill>
                      <a:prstDash val="solid"/>
                      <a:round/>
                      <a:headEnd type="none" w="med" len="med"/>
                      <a:tailEnd type="none" w="med" len="med"/>
                    </a:lnB>
                    <a:solidFill>
                      <a:srgbClr val="F6F6FF"/>
                    </a:solidFill>
                  </a:tcPr>
                </a:tc>
                <a:tc>
                  <a:txBody>
                    <a:bodyPr/>
                    <a:lstStyle/>
                    <a:p>
                      <a:pPr marL="0" indent="0">
                        <a:buNone/>
                      </a:pPr>
                      <a:r>
                        <a:rPr lang="en-US" sz="1350" dirty="0">
                          <a:solidFill>
                            <a:srgbClr val="1E1B4B"/>
                          </a:solidFill>
                          <a:latin typeface="Calibri" pitchFamily="34" charset="0"/>
                          <a:ea typeface="Calibri" pitchFamily="34" charset="-122"/>
                          <a:cs typeface="Calibri" pitchFamily="34" charset="-120"/>
                        </a:rPr>
                        <a:t>Entering text instead of a number.</a:t>
                      </a:r>
                      <a:endParaRPr lang="en-US" sz="1350" dirty="0">
                        <a:latin typeface="Calibri" charset="0"/>
                        <a:ea typeface="Calibri" charset="0"/>
                        <a:cs typeface="Calibri" charset="0"/>
                      </a:endParaRPr>
                    </a:p>
                  </a:txBody>
                  <a:tcPr marL="146304" marR="146304" marT="0" marB="0" anchor="ctr">
                    <a:lnL w="9525" cap="flat" cmpd="sng" algn="ctr">
                      <a:solidFill>
                        <a:srgbClr val="DCDDF5"/>
                      </a:solidFill>
                      <a:prstDash val="solid"/>
                      <a:round/>
                      <a:headEnd type="none" w="med" len="med"/>
                      <a:tailEnd type="none" w="med" len="med"/>
                    </a:lnL>
                    <a:lnR w="9525" cap="flat" cmpd="sng" algn="ctr">
                      <a:solidFill>
                        <a:srgbClr val="DCDDF5"/>
                      </a:solidFill>
                      <a:prstDash val="solid"/>
                      <a:round/>
                      <a:headEnd type="none" w="med" len="med"/>
                      <a:tailEnd type="none" w="med" len="med"/>
                    </a:lnR>
                    <a:lnT w="9525" cap="flat" cmpd="sng" algn="ctr">
                      <a:solidFill>
                        <a:srgbClr val="DCDDF5"/>
                      </a:solidFill>
                      <a:prstDash val="solid"/>
                      <a:round/>
                      <a:headEnd type="none" w="med" len="med"/>
                      <a:tailEnd type="none" w="med" len="med"/>
                    </a:lnT>
                    <a:lnB w="9525" cap="flat" cmpd="sng" algn="ctr">
                      <a:solidFill>
                        <a:srgbClr val="DCDDF5"/>
                      </a:solidFill>
                      <a:prstDash val="solid"/>
                      <a:round/>
                      <a:headEnd type="none" w="med" len="med"/>
                      <a:tailEnd type="none" w="med" len="med"/>
                    </a:lnB>
                    <a:solidFill>
                      <a:srgbClr val="F6F6FF"/>
                    </a:solidFill>
                  </a:tcPr>
                </a:tc>
                <a:extLst>
                  <a:ext uri="{0D108BD9-81ED-4DB2-BD59-A6C34878D82A}">
                    <a16:rowId xmlns:a16="http://schemas.microsoft.com/office/drawing/2014/main" val="10002"/>
                  </a:ext>
                </a:extLst>
              </a:tr>
              <a:tr h="1005840">
                <a:tc>
                  <a:txBody>
                    <a:bodyPr/>
                    <a:lstStyle/>
                    <a:p>
                      <a:pPr marL="0" indent="0">
                        <a:buNone/>
                      </a:pPr>
                      <a:r>
                        <a:rPr lang="en-US" sz="1350" b="1" dirty="0">
                          <a:solidFill>
                            <a:srgbClr val="1E1B4B"/>
                          </a:solidFill>
                          <a:latin typeface="Calibri" pitchFamily="34" charset="0"/>
                          <a:ea typeface="Calibri" pitchFamily="34" charset="-122"/>
                          <a:cs typeface="Calibri" pitchFamily="34" charset="-120"/>
                        </a:rPr>
                        <a:t>Solution</a:t>
                      </a:r>
                      <a:endParaRPr lang="en-US" sz="1350" dirty="0">
                        <a:latin typeface="Calibri" charset="0"/>
                        <a:ea typeface="Calibri" charset="0"/>
                        <a:cs typeface="Calibri" charset="0"/>
                      </a:endParaRPr>
                    </a:p>
                  </a:txBody>
                  <a:tcPr marL="146304" marR="146304" marT="0" marB="0" anchor="ctr">
                    <a:lnL w="9525" cap="flat" cmpd="sng" algn="ctr">
                      <a:solidFill>
                        <a:srgbClr val="DCDDF5"/>
                      </a:solidFill>
                      <a:prstDash val="solid"/>
                      <a:round/>
                      <a:headEnd type="none" w="med" len="med"/>
                      <a:tailEnd type="none" w="med" len="med"/>
                    </a:lnL>
                    <a:lnR w="9525" cap="flat" cmpd="sng" algn="ctr">
                      <a:solidFill>
                        <a:srgbClr val="DCDDF5"/>
                      </a:solidFill>
                      <a:prstDash val="solid"/>
                      <a:round/>
                      <a:headEnd type="none" w="med" len="med"/>
                      <a:tailEnd type="none" w="med" len="med"/>
                    </a:lnR>
                    <a:lnT w="9525" cap="flat" cmpd="sng" algn="ctr">
                      <a:solidFill>
                        <a:srgbClr val="DCDDF5"/>
                      </a:solidFill>
                      <a:prstDash val="solid"/>
                      <a:round/>
                      <a:headEnd type="none" w="med" len="med"/>
                      <a:tailEnd type="none" w="med" len="med"/>
                    </a:lnT>
                    <a:lnB w="9525" cap="flat" cmpd="sng" algn="ctr">
                      <a:solidFill>
                        <a:srgbClr val="DCDDF5"/>
                      </a:solidFill>
                      <a:prstDash val="solid"/>
                      <a:round/>
                      <a:headEnd type="none" w="med" len="med"/>
                      <a:tailEnd type="none" w="med" len="med"/>
                    </a:lnB>
                    <a:solidFill>
                      <a:srgbClr val="FFFFFF"/>
                    </a:solidFill>
                  </a:tcPr>
                </a:tc>
                <a:tc>
                  <a:txBody>
                    <a:bodyPr/>
                    <a:lstStyle/>
                    <a:p>
                      <a:pPr marL="0" indent="0">
                        <a:buNone/>
                      </a:pPr>
                      <a:r>
                        <a:rPr lang="en-US" sz="1350" dirty="0">
                          <a:solidFill>
                            <a:srgbClr val="1E1B4B"/>
                          </a:solidFill>
                          <a:latin typeface="Calibri" pitchFamily="34" charset="0"/>
                          <a:ea typeface="Calibri" pitchFamily="34" charset="-122"/>
                          <a:cs typeface="Calibri" pitchFamily="34" charset="-120"/>
                        </a:rPr>
                        <a:t>Use </a:t>
                      </a:r>
                      <a:r>
                        <a:rPr lang="en-US" sz="1350" dirty="0">
                          <a:solidFill>
                            <a:srgbClr val="4F46E5"/>
                          </a:solidFill>
                          <a:latin typeface="Courier New" pitchFamily="34" charset="0"/>
                          <a:ea typeface="Courier New" pitchFamily="34" charset="-122"/>
                          <a:cs typeface="Courier New" pitchFamily="34" charset="-120"/>
                        </a:rPr>
                        <a:t>try</a:t>
                      </a:r>
                      <a:r>
                        <a:rPr lang="en-US" sz="1350" dirty="0">
                          <a:solidFill>
                            <a:srgbClr val="1E1B4B"/>
                          </a:solidFill>
                          <a:latin typeface="Calibri" pitchFamily="34" charset="0"/>
                          <a:ea typeface="Calibri" pitchFamily="34" charset="-122"/>
                          <a:cs typeface="Calibri" pitchFamily="34" charset="-120"/>
                        </a:rPr>
                        <a:t> and </a:t>
                      </a:r>
                      <a:r>
                        <a:rPr lang="en-US" sz="1350" dirty="0">
                          <a:solidFill>
                            <a:srgbClr val="4F46E5"/>
                          </a:solidFill>
                          <a:latin typeface="Courier New" pitchFamily="34" charset="0"/>
                          <a:ea typeface="Courier New" pitchFamily="34" charset="-122"/>
                          <a:cs typeface="Courier New" pitchFamily="34" charset="-120"/>
                        </a:rPr>
                        <a:t>except ValueError</a:t>
                      </a:r>
                      <a:r>
                        <a:rPr lang="en-US" sz="1350" dirty="0">
                          <a:solidFill>
                            <a:srgbClr val="1E1B4B"/>
                          </a:solidFill>
                          <a:latin typeface="Calibri" pitchFamily="34" charset="0"/>
                          <a:ea typeface="Calibri" pitchFamily="34" charset="-122"/>
                          <a:cs typeface="Calibri" pitchFamily="34" charset="-120"/>
                        </a:rPr>
                        <a:t> to handle invalid input gracefully.</a:t>
                      </a:r>
                      <a:endParaRPr lang="en-US" sz="1350" dirty="0">
                        <a:latin typeface="Calibri" charset="0"/>
                        <a:ea typeface="Calibri" charset="0"/>
                        <a:cs typeface="Calibri" charset="0"/>
                      </a:endParaRPr>
                    </a:p>
                  </a:txBody>
                  <a:tcPr marL="146304" marR="146304" marT="0" marB="0" anchor="ctr">
                    <a:lnL w="9525" cap="flat" cmpd="sng" algn="ctr">
                      <a:solidFill>
                        <a:srgbClr val="DCDDF5"/>
                      </a:solidFill>
                      <a:prstDash val="solid"/>
                      <a:round/>
                      <a:headEnd type="none" w="med" len="med"/>
                      <a:tailEnd type="none" w="med" len="med"/>
                    </a:lnL>
                    <a:lnR w="9525" cap="flat" cmpd="sng" algn="ctr">
                      <a:solidFill>
                        <a:srgbClr val="DCDDF5"/>
                      </a:solidFill>
                      <a:prstDash val="solid"/>
                      <a:round/>
                      <a:headEnd type="none" w="med" len="med"/>
                      <a:tailEnd type="none" w="med" len="med"/>
                    </a:lnR>
                    <a:lnT w="9525" cap="flat" cmpd="sng" algn="ctr">
                      <a:solidFill>
                        <a:srgbClr val="DCDDF5"/>
                      </a:solidFill>
                      <a:prstDash val="solid"/>
                      <a:round/>
                      <a:headEnd type="none" w="med" len="med"/>
                      <a:tailEnd type="none" w="med" len="med"/>
                    </a:lnT>
                    <a:lnB w="9525" cap="flat" cmpd="sng" algn="ctr">
                      <a:solidFill>
                        <a:srgbClr val="DCDDF5"/>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1005840">
                <a:tc>
                  <a:txBody>
                    <a:bodyPr/>
                    <a:lstStyle/>
                    <a:p>
                      <a:pPr marL="0" indent="0">
                        <a:buNone/>
                      </a:pPr>
                      <a:r>
                        <a:rPr lang="en-US" sz="1350" b="1" dirty="0">
                          <a:solidFill>
                            <a:srgbClr val="1E1B4B"/>
                          </a:solidFill>
                          <a:latin typeface="Calibri" pitchFamily="34" charset="0"/>
                          <a:ea typeface="Calibri" pitchFamily="34" charset="-122"/>
                          <a:cs typeface="Calibri" pitchFamily="34" charset="-120"/>
                        </a:rPr>
                        <a:t>Benefit</a:t>
                      </a:r>
                      <a:endParaRPr lang="en-US" sz="1350" dirty="0">
                        <a:latin typeface="Calibri" charset="0"/>
                        <a:ea typeface="Calibri" charset="0"/>
                        <a:cs typeface="Calibri" charset="0"/>
                      </a:endParaRPr>
                    </a:p>
                  </a:txBody>
                  <a:tcPr marL="146304" marR="146304" marT="0" marB="0" anchor="ctr">
                    <a:lnL w="9525" cap="flat" cmpd="sng" algn="ctr">
                      <a:solidFill>
                        <a:srgbClr val="DCDDF5"/>
                      </a:solidFill>
                      <a:prstDash val="solid"/>
                      <a:round/>
                      <a:headEnd type="none" w="med" len="med"/>
                      <a:tailEnd type="none" w="med" len="med"/>
                    </a:lnL>
                    <a:lnR w="9525" cap="flat" cmpd="sng" algn="ctr">
                      <a:solidFill>
                        <a:srgbClr val="DCDDF5"/>
                      </a:solidFill>
                      <a:prstDash val="solid"/>
                      <a:round/>
                      <a:headEnd type="none" w="med" len="med"/>
                      <a:tailEnd type="none" w="med" len="med"/>
                    </a:lnR>
                    <a:lnT w="9525" cap="flat" cmpd="sng" algn="ctr">
                      <a:solidFill>
                        <a:srgbClr val="DCDDF5"/>
                      </a:solidFill>
                      <a:prstDash val="solid"/>
                      <a:round/>
                      <a:headEnd type="none" w="med" len="med"/>
                      <a:tailEnd type="none" w="med" len="med"/>
                    </a:lnT>
                    <a:lnB w="9525" cap="flat" cmpd="sng" algn="ctr">
                      <a:solidFill>
                        <a:srgbClr val="DCDDF5"/>
                      </a:solidFill>
                      <a:prstDash val="solid"/>
                      <a:round/>
                      <a:headEnd type="none" w="med" len="med"/>
                      <a:tailEnd type="none" w="med" len="med"/>
                    </a:lnB>
                    <a:solidFill>
                      <a:srgbClr val="F6F6FF"/>
                    </a:solidFill>
                  </a:tcPr>
                </a:tc>
                <a:tc>
                  <a:txBody>
                    <a:bodyPr/>
                    <a:lstStyle/>
                    <a:p>
                      <a:pPr marL="0" indent="0">
                        <a:buNone/>
                      </a:pPr>
                      <a:r>
                        <a:rPr lang="en-US" sz="1350" dirty="0">
                          <a:solidFill>
                            <a:srgbClr val="1E1B4B"/>
                          </a:solidFill>
                          <a:latin typeface="Calibri" pitchFamily="34" charset="0"/>
                          <a:ea typeface="Calibri" pitchFamily="34" charset="-122"/>
                          <a:cs typeface="Calibri" pitchFamily="34" charset="-120"/>
                        </a:rPr>
                        <a:t>Prevents program crashes and improves the user experience.</a:t>
                      </a:r>
                      <a:endParaRPr lang="en-US" sz="1350" dirty="0">
                        <a:latin typeface="Calibri" charset="0"/>
                        <a:ea typeface="Calibri" charset="0"/>
                        <a:cs typeface="Calibri" charset="0"/>
                      </a:endParaRPr>
                    </a:p>
                  </a:txBody>
                  <a:tcPr marL="146304" marR="146304" marT="0" marB="0" anchor="ctr">
                    <a:lnL w="9525" cap="flat" cmpd="sng" algn="ctr">
                      <a:solidFill>
                        <a:srgbClr val="DCDDF5"/>
                      </a:solidFill>
                      <a:prstDash val="solid"/>
                      <a:round/>
                      <a:headEnd type="none" w="med" len="med"/>
                      <a:tailEnd type="none" w="med" len="med"/>
                    </a:lnL>
                    <a:lnR w="9525" cap="flat" cmpd="sng" algn="ctr">
                      <a:solidFill>
                        <a:srgbClr val="DCDDF5"/>
                      </a:solidFill>
                      <a:prstDash val="solid"/>
                      <a:round/>
                      <a:headEnd type="none" w="med" len="med"/>
                      <a:tailEnd type="none" w="med" len="med"/>
                    </a:lnR>
                    <a:lnT w="9525" cap="flat" cmpd="sng" algn="ctr">
                      <a:solidFill>
                        <a:srgbClr val="DCDDF5"/>
                      </a:solidFill>
                      <a:prstDash val="solid"/>
                      <a:round/>
                      <a:headEnd type="none" w="med" len="med"/>
                      <a:tailEnd type="none" w="med" len="med"/>
                    </a:lnT>
                    <a:lnB w="9525" cap="flat" cmpd="sng" algn="ctr">
                      <a:solidFill>
                        <a:srgbClr val="DCDDF5"/>
                      </a:solidFill>
                      <a:prstDash val="solid"/>
                      <a:round/>
                      <a:headEnd type="none" w="med" len="med"/>
                      <a:tailEnd type="none" w="med" len="med"/>
                    </a:lnB>
                    <a:solidFill>
                      <a:srgbClr val="F6F6FF"/>
                    </a:solidFill>
                  </a:tcPr>
                </a:tc>
                <a:extLst>
                  <a:ext uri="{0D108BD9-81ED-4DB2-BD59-A6C34878D82A}">
                    <a16:rowId xmlns:a16="http://schemas.microsoft.com/office/drawing/2014/main" val="10004"/>
                  </a:ext>
                </a:extLst>
              </a:tr>
            </a:tbl>
          </a:graphicData>
        </a:graphic>
      </p:graphicFrame>
      <p:sp>
        <p:nvSpPr>
          <p:cNvPr id="7" name="Shape 4"/>
          <p:cNvSpPr/>
          <p:nvPr/>
        </p:nvSpPr>
        <p:spPr>
          <a:xfrm>
            <a:off x="7772400" y="1417320"/>
            <a:ext cx="3916375" cy="4572000"/>
          </a:xfrm>
          <a:prstGeom prst="roundRect">
            <a:avLst>
              <a:gd name="adj" fmla="val 3736"/>
            </a:avLst>
          </a:prstGeom>
          <a:solidFill>
            <a:srgbClr val="1E1B4B"/>
          </a:solidFill>
          <a:ln w="12700">
            <a:solidFill>
              <a:srgbClr val="1E1B4B"/>
            </a:solidFill>
            <a:prstDash val="solid"/>
          </a:ln>
        </p:spPr>
        <p:txBody>
          <a:bodyPr/>
          <a:lstStyle/>
          <a:p>
            <a:endParaRPr lang="en-PH"/>
          </a:p>
        </p:txBody>
      </p:sp>
      <p:sp>
        <p:nvSpPr>
          <p:cNvPr id="8" name="Text 5"/>
          <p:cNvSpPr txBox="1"/>
          <p:nvPr/>
        </p:nvSpPr>
        <p:spPr>
          <a:xfrm>
            <a:off x="8046720" y="1627632"/>
            <a:ext cx="3367735" cy="411480"/>
          </a:xfrm>
          <a:prstGeom prst="rect">
            <a:avLst/>
          </a:prstGeom>
          <a:noFill/>
          <a:ln/>
        </p:spPr>
        <p:txBody>
          <a:bodyPr wrap="square" lIns="0" tIns="0" rIns="0" bIns="0" rtlCol="0" anchor="t"/>
          <a:lstStyle/>
          <a:p>
            <a:pPr marL="0" indent="0">
              <a:buNone/>
            </a:pPr>
            <a:r>
              <a:rPr lang="en-US" sz="1700" b="1" dirty="0">
                <a:solidFill>
                  <a:srgbClr val="FFFFFF"/>
                </a:solidFill>
                <a:latin typeface="Calibri" pitchFamily="34" charset="0"/>
                <a:ea typeface="Calibri" pitchFamily="34" charset="-122"/>
                <a:cs typeface="Calibri" pitchFamily="34" charset="-120"/>
              </a:rPr>
              <a:t>Error handling at a glance</a:t>
            </a:r>
            <a:endParaRPr lang="en-US" sz="1700" dirty="0"/>
          </a:p>
        </p:txBody>
      </p:sp>
      <p:sp>
        <p:nvSpPr>
          <p:cNvPr id="9" name="Shape 6"/>
          <p:cNvSpPr/>
          <p:nvPr/>
        </p:nvSpPr>
        <p:spPr>
          <a:xfrm>
            <a:off x="8046720" y="2240280"/>
            <a:ext cx="347472" cy="347472"/>
          </a:xfrm>
          <a:prstGeom prst="ellipse">
            <a:avLst/>
          </a:prstGeom>
          <a:solidFill>
            <a:srgbClr val="3B3791"/>
          </a:solidFill>
          <a:ln w="12700">
            <a:solidFill>
              <a:srgbClr val="3B3791"/>
            </a:solidFill>
            <a:prstDash val="solid"/>
          </a:ln>
        </p:spPr>
        <p:txBody>
          <a:bodyPr/>
          <a:lstStyle/>
          <a:p>
            <a:endParaRPr lang="en-PH"/>
          </a:p>
        </p:txBody>
      </p:sp>
      <p:sp>
        <p:nvSpPr>
          <p:cNvPr id="10" name="Text 7"/>
          <p:cNvSpPr txBox="1"/>
          <p:nvPr/>
        </p:nvSpPr>
        <p:spPr>
          <a:xfrm>
            <a:off x="8046720" y="2240280"/>
            <a:ext cx="347472" cy="347472"/>
          </a:xfrm>
          <a:prstGeom prst="rect">
            <a:avLst/>
          </a:prstGeom>
          <a:noFill/>
          <a:ln/>
        </p:spPr>
        <p:txBody>
          <a:bodyPr wrap="square" lIns="0" tIns="0" rIns="0" bIns="0"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1</a:t>
            </a:r>
            <a:endParaRPr lang="en-US" sz="1150" dirty="0"/>
          </a:p>
        </p:txBody>
      </p:sp>
      <p:sp>
        <p:nvSpPr>
          <p:cNvPr id="11" name="Text 8"/>
          <p:cNvSpPr txBox="1"/>
          <p:nvPr/>
        </p:nvSpPr>
        <p:spPr>
          <a:xfrm>
            <a:off x="8549640" y="2194560"/>
            <a:ext cx="2910535" cy="822960"/>
          </a:xfrm>
          <a:prstGeom prst="rect">
            <a:avLst/>
          </a:prstGeom>
          <a:noFill/>
          <a:ln/>
        </p:spPr>
        <p:txBody>
          <a:bodyPr wrap="square" lIns="0" tIns="0" rIns="0" bIns="0" rtlCol="0" anchor="t"/>
          <a:lstStyle/>
          <a:p>
            <a:pPr marL="0" indent="0">
              <a:buNone/>
            </a:pPr>
            <a:r>
              <a:rPr lang="en-US" sz="1250" dirty="0">
                <a:solidFill>
                  <a:srgbClr val="FFFFFF"/>
                </a:solidFill>
                <a:latin typeface="Calibri" pitchFamily="34" charset="0"/>
                <a:ea typeface="Calibri" pitchFamily="34" charset="-122"/>
                <a:cs typeface="Calibri" pitchFamily="34" charset="-120"/>
              </a:rPr>
              <a:t>Catch </a:t>
            </a:r>
            <a:r>
              <a:rPr lang="en-US" sz="1250" b="1" dirty="0">
                <a:solidFill>
                  <a:srgbClr val="FFFFFF"/>
                </a:solidFill>
                <a:latin typeface="Calibri" pitchFamily="34" charset="0"/>
                <a:ea typeface="Calibri" pitchFamily="34" charset="-122"/>
                <a:cs typeface="Calibri" pitchFamily="34" charset="-120"/>
              </a:rPr>
              <a:t>specific</a:t>
            </a:r>
            <a:r>
              <a:rPr lang="en-US" sz="1250" dirty="0">
                <a:solidFill>
                  <a:srgbClr val="FFFFFF"/>
                </a:solidFill>
                <a:latin typeface="Calibri" pitchFamily="34" charset="0"/>
                <a:ea typeface="Calibri" pitchFamily="34" charset="-122"/>
                <a:cs typeface="Calibri" pitchFamily="34" charset="-120"/>
              </a:rPr>
              <a:t> exceptions such as </a:t>
            </a:r>
            <a:r>
              <a:rPr lang="en-US" sz="1250" dirty="0">
                <a:solidFill>
                  <a:srgbClr val="C9CCFF"/>
                </a:solidFill>
                <a:latin typeface="Courier New" pitchFamily="34" charset="0"/>
                <a:ea typeface="Courier New" pitchFamily="34" charset="-122"/>
                <a:cs typeface="Courier New" pitchFamily="34" charset="-120"/>
              </a:rPr>
              <a:t>except ValueError:</a:t>
            </a:r>
            <a:r>
              <a:rPr lang="en-US" sz="1250" dirty="0">
                <a:solidFill>
                  <a:srgbClr val="FFFFFF"/>
                </a:solidFill>
                <a:latin typeface="Calibri" pitchFamily="34" charset="0"/>
                <a:ea typeface="Calibri" pitchFamily="34" charset="-122"/>
                <a:cs typeface="Calibri" pitchFamily="34" charset="-120"/>
              </a:rPr>
              <a:t> rather than a bare </a:t>
            </a:r>
            <a:r>
              <a:rPr lang="en-US" sz="1250" dirty="0">
                <a:solidFill>
                  <a:srgbClr val="C9CCFF"/>
                </a:solidFill>
                <a:latin typeface="Courier New" pitchFamily="34" charset="0"/>
                <a:ea typeface="Courier New" pitchFamily="34" charset="-122"/>
                <a:cs typeface="Courier New" pitchFamily="34" charset="-120"/>
              </a:rPr>
              <a:t>except:</a:t>
            </a:r>
            <a:r>
              <a:rPr lang="en-US" sz="1250" dirty="0">
                <a:solidFill>
                  <a:srgbClr val="FFFFFF"/>
                </a:solidFill>
                <a:latin typeface="Calibri" pitchFamily="34" charset="0"/>
                <a:ea typeface="Calibri" pitchFamily="34" charset="-122"/>
                <a:cs typeface="Calibri" pitchFamily="34" charset="-120"/>
              </a:rPr>
              <a:t>.</a:t>
            </a:r>
            <a:endParaRPr lang="en-US" sz="1250" dirty="0"/>
          </a:p>
        </p:txBody>
      </p:sp>
      <p:sp>
        <p:nvSpPr>
          <p:cNvPr id="12" name="Shape 9"/>
          <p:cNvSpPr/>
          <p:nvPr/>
        </p:nvSpPr>
        <p:spPr>
          <a:xfrm>
            <a:off x="8046720" y="3172968"/>
            <a:ext cx="347472" cy="347472"/>
          </a:xfrm>
          <a:prstGeom prst="ellipse">
            <a:avLst/>
          </a:prstGeom>
          <a:solidFill>
            <a:srgbClr val="3B3791"/>
          </a:solidFill>
          <a:ln w="12700">
            <a:solidFill>
              <a:srgbClr val="3B3791"/>
            </a:solidFill>
            <a:prstDash val="solid"/>
          </a:ln>
        </p:spPr>
        <p:txBody>
          <a:bodyPr/>
          <a:lstStyle/>
          <a:p>
            <a:endParaRPr lang="en-PH"/>
          </a:p>
        </p:txBody>
      </p:sp>
      <p:sp>
        <p:nvSpPr>
          <p:cNvPr id="6" name="Text 10"/>
          <p:cNvSpPr txBox="1"/>
          <p:nvPr/>
        </p:nvSpPr>
        <p:spPr>
          <a:xfrm>
            <a:off x="8046720" y="3172968"/>
            <a:ext cx="347472" cy="347472"/>
          </a:xfrm>
          <a:prstGeom prst="rect">
            <a:avLst/>
          </a:prstGeom>
          <a:noFill/>
          <a:ln/>
        </p:spPr>
        <p:txBody>
          <a:bodyPr wrap="square" lIns="0" tIns="0" rIns="0" bIns="0"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2</a:t>
            </a:r>
            <a:endParaRPr lang="en-US" sz="1150" dirty="0"/>
          </a:p>
        </p:txBody>
      </p:sp>
      <p:sp>
        <p:nvSpPr>
          <p:cNvPr id="14" name="Text 11"/>
          <p:cNvSpPr txBox="1"/>
          <p:nvPr/>
        </p:nvSpPr>
        <p:spPr>
          <a:xfrm>
            <a:off x="8549640" y="3127248"/>
            <a:ext cx="2910535" cy="822960"/>
          </a:xfrm>
          <a:prstGeom prst="rect">
            <a:avLst/>
          </a:prstGeom>
          <a:noFill/>
          <a:ln/>
        </p:spPr>
        <p:txBody>
          <a:bodyPr wrap="square" lIns="0" tIns="0" rIns="0" bIns="0" rtlCol="0" anchor="t"/>
          <a:lstStyle/>
          <a:p>
            <a:pPr marL="0" indent="0">
              <a:buNone/>
            </a:pPr>
            <a:r>
              <a:rPr lang="en-US" sz="1250" dirty="0">
                <a:solidFill>
                  <a:srgbClr val="FFFFFF"/>
                </a:solidFill>
                <a:latin typeface="Calibri" pitchFamily="34" charset="0"/>
                <a:ea typeface="Calibri" pitchFamily="34" charset="-122"/>
                <a:cs typeface="Calibri" pitchFamily="34" charset="-120"/>
              </a:rPr>
              <a:t>Keep the </a:t>
            </a:r>
            <a:r>
              <a:rPr lang="en-US" sz="1250" dirty="0">
                <a:solidFill>
                  <a:srgbClr val="C9CCFF"/>
                </a:solidFill>
                <a:latin typeface="Courier New" pitchFamily="34" charset="0"/>
                <a:ea typeface="Courier New" pitchFamily="34" charset="-122"/>
                <a:cs typeface="Courier New" pitchFamily="34" charset="-120"/>
              </a:rPr>
              <a:t>try</a:t>
            </a:r>
            <a:r>
              <a:rPr lang="en-US" sz="1250" dirty="0">
                <a:solidFill>
                  <a:srgbClr val="FFFFFF"/>
                </a:solidFill>
                <a:latin typeface="Calibri" pitchFamily="34" charset="0"/>
                <a:ea typeface="Calibri" pitchFamily="34" charset="-122"/>
                <a:cs typeface="Calibri" pitchFamily="34" charset="-120"/>
              </a:rPr>
              <a:t> block small — only the lines that can actually fail.</a:t>
            </a:r>
            <a:endParaRPr lang="en-US" sz="1250" dirty="0"/>
          </a:p>
        </p:txBody>
      </p:sp>
      <p:sp>
        <p:nvSpPr>
          <p:cNvPr id="15" name="Shape 12"/>
          <p:cNvSpPr/>
          <p:nvPr/>
        </p:nvSpPr>
        <p:spPr>
          <a:xfrm>
            <a:off x="8046720" y="4105656"/>
            <a:ext cx="347472" cy="347472"/>
          </a:xfrm>
          <a:prstGeom prst="ellipse">
            <a:avLst/>
          </a:prstGeom>
          <a:solidFill>
            <a:srgbClr val="3B3791"/>
          </a:solidFill>
          <a:ln w="12700">
            <a:solidFill>
              <a:srgbClr val="3B3791"/>
            </a:solidFill>
            <a:prstDash val="solid"/>
          </a:ln>
        </p:spPr>
        <p:txBody>
          <a:bodyPr/>
          <a:lstStyle/>
          <a:p>
            <a:endParaRPr lang="en-PH"/>
          </a:p>
        </p:txBody>
      </p:sp>
      <p:sp>
        <p:nvSpPr>
          <p:cNvPr id="16" name="Text 13"/>
          <p:cNvSpPr txBox="1"/>
          <p:nvPr/>
        </p:nvSpPr>
        <p:spPr>
          <a:xfrm>
            <a:off x="8046720" y="4105656"/>
            <a:ext cx="347472" cy="347472"/>
          </a:xfrm>
          <a:prstGeom prst="rect">
            <a:avLst/>
          </a:prstGeom>
          <a:noFill/>
          <a:ln/>
        </p:spPr>
        <p:txBody>
          <a:bodyPr wrap="square" lIns="0" tIns="0" rIns="0" bIns="0"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3</a:t>
            </a:r>
            <a:endParaRPr lang="en-US" sz="1150" dirty="0"/>
          </a:p>
        </p:txBody>
      </p:sp>
      <p:sp>
        <p:nvSpPr>
          <p:cNvPr id="17" name="Text 14"/>
          <p:cNvSpPr txBox="1"/>
          <p:nvPr/>
        </p:nvSpPr>
        <p:spPr>
          <a:xfrm>
            <a:off x="8549640" y="4059936"/>
            <a:ext cx="2910535" cy="822960"/>
          </a:xfrm>
          <a:prstGeom prst="rect">
            <a:avLst/>
          </a:prstGeom>
          <a:noFill/>
          <a:ln/>
        </p:spPr>
        <p:txBody>
          <a:bodyPr wrap="square" lIns="0" tIns="0" rIns="0" bIns="0" rtlCol="0" anchor="t"/>
          <a:lstStyle/>
          <a:p>
            <a:pPr marL="0" indent="0">
              <a:buNone/>
            </a:pPr>
            <a:r>
              <a:rPr lang="en-US" sz="1250" dirty="0">
                <a:solidFill>
                  <a:srgbClr val="FFFFFF"/>
                </a:solidFill>
                <a:latin typeface="Calibri" pitchFamily="34" charset="0"/>
                <a:ea typeface="Calibri" pitchFamily="34" charset="-122"/>
                <a:cs typeface="Calibri" pitchFamily="34" charset="-120"/>
              </a:rPr>
              <a:t>Use </a:t>
            </a:r>
            <a:r>
              <a:rPr lang="en-US" sz="1250" dirty="0">
                <a:solidFill>
                  <a:srgbClr val="C9CCFF"/>
                </a:solidFill>
                <a:latin typeface="Courier New" pitchFamily="34" charset="0"/>
                <a:ea typeface="Courier New" pitchFamily="34" charset="-122"/>
                <a:cs typeface="Courier New" pitchFamily="34" charset="-120"/>
              </a:rPr>
              <a:t>finally</a:t>
            </a:r>
            <a:r>
              <a:rPr lang="en-US" sz="1250" dirty="0">
                <a:solidFill>
                  <a:srgbClr val="FFFFFF"/>
                </a:solidFill>
                <a:latin typeface="Calibri" pitchFamily="34" charset="0"/>
                <a:ea typeface="Calibri" pitchFamily="34" charset="-122"/>
                <a:cs typeface="Calibri" pitchFamily="34" charset="-120"/>
              </a:rPr>
              <a:t> for clean-up that must always happen.</a:t>
            </a:r>
            <a:endParaRPr lang="en-US" sz="1250" dirty="0"/>
          </a:p>
        </p:txBody>
      </p:sp>
      <p:sp>
        <p:nvSpPr>
          <p:cNvPr id="18" name="Shape 15"/>
          <p:cNvSpPr/>
          <p:nvPr/>
        </p:nvSpPr>
        <p:spPr>
          <a:xfrm>
            <a:off x="8046720" y="5038344"/>
            <a:ext cx="347472" cy="347472"/>
          </a:xfrm>
          <a:prstGeom prst="ellipse">
            <a:avLst/>
          </a:prstGeom>
          <a:solidFill>
            <a:srgbClr val="3B3791"/>
          </a:solidFill>
          <a:ln w="12700">
            <a:solidFill>
              <a:srgbClr val="3B3791"/>
            </a:solidFill>
            <a:prstDash val="solid"/>
          </a:ln>
        </p:spPr>
        <p:txBody>
          <a:bodyPr/>
          <a:lstStyle/>
          <a:p>
            <a:endParaRPr lang="en-PH"/>
          </a:p>
        </p:txBody>
      </p:sp>
      <p:sp>
        <p:nvSpPr>
          <p:cNvPr id="19" name="Text 16"/>
          <p:cNvSpPr txBox="1"/>
          <p:nvPr/>
        </p:nvSpPr>
        <p:spPr>
          <a:xfrm>
            <a:off x="8046720" y="5038344"/>
            <a:ext cx="347472" cy="347472"/>
          </a:xfrm>
          <a:prstGeom prst="rect">
            <a:avLst/>
          </a:prstGeom>
          <a:noFill/>
          <a:ln/>
        </p:spPr>
        <p:txBody>
          <a:bodyPr wrap="square" lIns="0" tIns="0" rIns="0" bIns="0"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4</a:t>
            </a:r>
            <a:endParaRPr lang="en-US" sz="1150" dirty="0"/>
          </a:p>
        </p:txBody>
      </p:sp>
      <p:sp>
        <p:nvSpPr>
          <p:cNvPr id="20" name="Text 17"/>
          <p:cNvSpPr txBox="1"/>
          <p:nvPr/>
        </p:nvSpPr>
        <p:spPr>
          <a:xfrm>
            <a:off x="8549640" y="4992624"/>
            <a:ext cx="2910535" cy="822960"/>
          </a:xfrm>
          <a:prstGeom prst="rect">
            <a:avLst/>
          </a:prstGeom>
          <a:noFill/>
          <a:ln/>
        </p:spPr>
        <p:txBody>
          <a:bodyPr wrap="square" lIns="0" tIns="0" rIns="0" bIns="0" rtlCol="0" anchor="t"/>
          <a:lstStyle/>
          <a:p>
            <a:pPr marL="0" indent="0">
              <a:buNone/>
            </a:pPr>
            <a:r>
              <a:rPr lang="en-US" sz="1250" dirty="0">
                <a:solidFill>
                  <a:srgbClr val="FFFFFF"/>
                </a:solidFill>
                <a:latin typeface="Calibri" pitchFamily="34" charset="0"/>
                <a:ea typeface="Calibri" pitchFamily="34" charset="-122"/>
                <a:cs typeface="Calibri" pitchFamily="34" charset="-120"/>
              </a:rPr>
              <a:t>Write messages that tell the user what to do next.</a:t>
            </a:r>
            <a:endParaRPr lang="en-US" sz="12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94360" y="1417320"/>
            <a:ext cx="4572000" cy="274320"/>
          </a:xfrm>
          <a:prstGeom prst="rect">
            <a:avLst/>
          </a:prstGeom>
          <a:noFill/>
          <a:ln/>
        </p:spPr>
        <p:txBody>
          <a:bodyPr wrap="square" lIns="0" tIns="0" rIns="0" bIns="0" rtlCol="0" anchor="t"/>
          <a:lstStyle/>
          <a:p>
            <a:pPr marL="0" indent="0">
              <a:buNone/>
            </a:pPr>
            <a:r>
              <a:rPr lang="en-US" sz="1200" b="1" kern="0" spc="300" dirty="0">
                <a:solidFill>
                  <a:srgbClr val="F0A8DD"/>
                </a:solidFill>
                <a:latin typeface="Calibri" pitchFamily="34" charset="0"/>
                <a:ea typeface="Calibri" pitchFamily="34" charset="-122"/>
                <a:cs typeface="Calibri" pitchFamily="34" charset="-120"/>
              </a:rPr>
              <a:t>SECTION 02</a:t>
            </a:r>
            <a:endParaRPr lang="en-US" sz="1200" dirty="0"/>
          </a:p>
        </p:txBody>
      </p:sp>
      <p:sp>
        <p:nvSpPr>
          <p:cNvPr id="3" name="Text 1"/>
          <p:cNvSpPr txBox="1"/>
          <p:nvPr/>
        </p:nvSpPr>
        <p:spPr>
          <a:xfrm>
            <a:off x="594360" y="1737360"/>
            <a:ext cx="5577840" cy="1280160"/>
          </a:xfrm>
          <a:prstGeom prst="rect">
            <a:avLst/>
          </a:prstGeom>
          <a:noFill/>
          <a:ln/>
        </p:spPr>
        <p:txBody>
          <a:bodyPr wrap="square" lIns="0" tIns="0" rIns="0" bIns="0" rtlCol="0" anchor="t"/>
          <a:lstStyle/>
          <a:p>
            <a:pPr marL="0" indent="0">
              <a:buNone/>
            </a:pPr>
            <a:r>
              <a:rPr lang="en-US" sz="4000" b="1" dirty="0">
                <a:solidFill>
                  <a:srgbClr val="FFFFFF"/>
                </a:solidFill>
                <a:latin typeface="Calibri" pitchFamily="34" charset="0"/>
                <a:ea typeface="Calibri" pitchFamily="34" charset="-122"/>
                <a:cs typeface="Calibri" pitchFamily="34" charset="-120"/>
              </a:rPr>
              <a:t>List and Tuples</a:t>
            </a:r>
            <a:endParaRPr lang="en-US" sz="4000" dirty="0"/>
          </a:p>
        </p:txBody>
      </p:sp>
      <p:sp>
        <p:nvSpPr>
          <p:cNvPr id="4" name="Text 2"/>
          <p:cNvSpPr txBox="1"/>
          <p:nvPr/>
        </p:nvSpPr>
        <p:spPr>
          <a:xfrm>
            <a:off x="594360" y="3017520"/>
            <a:ext cx="5303520" cy="731520"/>
          </a:xfrm>
          <a:prstGeom prst="rect">
            <a:avLst/>
          </a:prstGeom>
          <a:noFill/>
          <a:ln/>
        </p:spPr>
        <p:txBody>
          <a:bodyPr wrap="square" lIns="0" tIns="0" rIns="0" bIns="0" rtlCol="0" anchor="t"/>
          <a:lstStyle/>
          <a:p>
            <a:pPr marL="0" indent="0">
              <a:buNone/>
            </a:pPr>
            <a:r>
              <a:rPr lang="en-US" sz="1600" dirty="0">
                <a:solidFill>
                  <a:srgbClr val="C9CCFF"/>
                </a:solidFill>
                <a:latin typeface="Calibri" pitchFamily="34" charset="0"/>
                <a:ea typeface="Calibri" pitchFamily="34" charset="-122"/>
                <a:cs typeface="Calibri" pitchFamily="34" charset="-120"/>
              </a:rPr>
              <a:t>Two ordered collections — one you can change, and one you can't.</a:t>
            </a:r>
            <a:endParaRPr lang="en-US" sz="1600" dirty="0"/>
          </a:p>
        </p:txBody>
      </p:sp>
      <p:sp>
        <p:nvSpPr>
          <p:cNvPr id="5" name="Text 3"/>
          <p:cNvSpPr txBox="1"/>
          <p:nvPr/>
        </p:nvSpPr>
        <p:spPr>
          <a:xfrm>
            <a:off x="594360" y="4069080"/>
            <a:ext cx="4572000" cy="228600"/>
          </a:xfrm>
          <a:prstGeom prst="rect">
            <a:avLst/>
          </a:prstGeom>
          <a:noFill/>
          <a:ln/>
        </p:spPr>
        <p:txBody>
          <a:bodyPr wrap="square" lIns="0" tIns="0" rIns="0" bIns="0" rtlCol="0" anchor="t"/>
          <a:lstStyle/>
          <a:p>
            <a:pPr marL="0" indent="0">
              <a:buNone/>
            </a:pPr>
            <a:r>
              <a:rPr lang="en-US" sz="1000" b="1" kern="0" spc="200" dirty="0">
                <a:solidFill>
                  <a:srgbClr val="F0A8DD"/>
                </a:solidFill>
                <a:latin typeface="Calibri" pitchFamily="34" charset="0"/>
                <a:ea typeface="Calibri" pitchFamily="34" charset="-122"/>
                <a:cs typeface="Calibri" pitchFamily="34" charset="-120"/>
              </a:rPr>
              <a:t>IN THIS SECTION</a:t>
            </a:r>
            <a:endParaRPr lang="en-US" sz="1000" dirty="0"/>
          </a:p>
        </p:txBody>
      </p:sp>
      <p:sp>
        <p:nvSpPr>
          <p:cNvPr id="6" name="Shape 4"/>
          <p:cNvSpPr/>
          <p:nvPr/>
        </p:nvSpPr>
        <p:spPr>
          <a:xfrm>
            <a:off x="594360" y="4389120"/>
            <a:ext cx="292608" cy="292608"/>
          </a:xfrm>
          <a:prstGeom prst="ellipse">
            <a:avLst/>
          </a:prstGeom>
          <a:solidFill>
            <a:srgbClr val="3B3791"/>
          </a:solidFill>
          <a:ln w="12700">
            <a:solidFill>
              <a:srgbClr val="3B3791"/>
            </a:solidFill>
            <a:prstDash val="solid"/>
          </a:ln>
        </p:spPr>
        <p:txBody>
          <a:bodyPr/>
          <a:lstStyle/>
          <a:p>
            <a:endParaRPr lang="en-PH"/>
          </a:p>
        </p:txBody>
      </p:sp>
      <p:sp>
        <p:nvSpPr>
          <p:cNvPr id="7" name="Text 5"/>
          <p:cNvSpPr txBox="1"/>
          <p:nvPr/>
        </p:nvSpPr>
        <p:spPr>
          <a:xfrm>
            <a:off x="594360" y="4389120"/>
            <a:ext cx="292608" cy="292608"/>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1</a:t>
            </a:r>
            <a:endParaRPr lang="en-US" sz="1050" dirty="0"/>
          </a:p>
        </p:txBody>
      </p:sp>
      <p:sp>
        <p:nvSpPr>
          <p:cNvPr id="8" name="Text 6"/>
          <p:cNvSpPr txBox="1"/>
          <p:nvPr/>
        </p:nvSpPr>
        <p:spPr>
          <a:xfrm>
            <a:off x="1005840" y="4389120"/>
            <a:ext cx="4754880" cy="292608"/>
          </a:xfrm>
          <a:prstGeom prst="rect">
            <a:avLst/>
          </a:prstGeom>
          <a:noFill/>
          <a:ln/>
        </p:spPr>
        <p:txBody>
          <a:bodyPr wrap="square" lIns="0" tIns="0" rIns="0" bIns="0" rtlCol="0" anchor="ctr"/>
          <a:lstStyle/>
          <a:p>
            <a:pPr marL="0" indent="0">
              <a:buNone/>
            </a:pPr>
            <a:r>
              <a:rPr lang="en-US" sz="1350" dirty="0">
                <a:solidFill>
                  <a:srgbClr val="FFFFFF"/>
                </a:solidFill>
                <a:latin typeface="Calibri" pitchFamily="34" charset="0"/>
                <a:ea typeface="Calibri" pitchFamily="34" charset="-122"/>
                <a:cs typeface="Calibri" pitchFamily="34" charset="-120"/>
              </a:rPr>
              <a:t>Difference between list and tuple</a:t>
            </a:r>
            <a:endParaRPr lang="en-US" sz="1350" dirty="0"/>
          </a:p>
        </p:txBody>
      </p:sp>
      <p:sp>
        <p:nvSpPr>
          <p:cNvPr id="9" name="Shape 7"/>
          <p:cNvSpPr/>
          <p:nvPr/>
        </p:nvSpPr>
        <p:spPr>
          <a:xfrm>
            <a:off x="594360" y="4791456"/>
            <a:ext cx="292608" cy="292608"/>
          </a:xfrm>
          <a:prstGeom prst="ellipse">
            <a:avLst/>
          </a:prstGeom>
          <a:solidFill>
            <a:srgbClr val="3B3791"/>
          </a:solidFill>
          <a:ln w="12700">
            <a:solidFill>
              <a:srgbClr val="3B3791"/>
            </a:solidFill>
            <a:prstDash val="solid"/>
          </a:ln>
        </p:spPr>
        <p:txBody>
          <a:bodyPr/>
          <a:lstStyle/>
          <a:p>
            <a:endParaRPr lang="en-PH"/>
          </a:p>
        </p:txBody>
      </p:sp>
      <p:sp>
        <p:nvSpPr>
          <p:cNvPr id="10" name="Text 8"/>
          <p:cNvSpPr txBox="1"/>
          <p:nvPr/>
        </p:nvSpPr>
        <p:spPr>
          <a:xfrm>
            <a:off x="594360" y="4791456"/>
            <a:ext cx="292608" cy="292608"/>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2</a:t>
            </a:r>
            <a:endParaRPr lang="en-US" sz="1050" dirty="0"/>
          </a:p>
        </p:txBody>
      </p:sp>
      <p:sp>
        <p:nvSpPr>
          <p:cNvPr id="11" name="Text 9"/>
          <p:cNvSpPr txBox="1"/>
          <p:nvPr/>
        </p:nvSpPr>
        <p:spPr>
          <a:xfrm>
            <a:off x="1005840" y="4791456"/>
            <a:ext cx="4754880" cy="292608"/>
          </a:xfrm>
          <a:prstGeom prst="rect">
            <a:avLst/>
          </a:prstGeom>
          <a:noFill/>
          <a:ln/>
        </p:spPr>
        <p:txBody>
          <a:bodyPr wrap="square" lIns="0" tIns="0" rIns="0" bIns="0" rtlCol="0" anchor="ctr"/>
          <a:lstStyle/>
          <a:p>
            <a:pPr marL="0" indent="0">
              <a:buNone/>
            </a:pPr>
            <a:r>
              <a:rPr lang="en-US" sz="1350" dirty="0">
                <a:solidFill>
                  <a:srgbClr val="FFFFFF"/>
                </a:solidFill>
                <a:latin typeface="Calibri" pitchFamily="34" charset="0"/>
                <a:ea typeface="Calibri" pitchFamily="34" charset="-122"/>
                <a:cs typeface="Calibri" pitchFamily="34" charset="-120"/>
              </a:rPr>
              <a:t>Mutability</a:t>
            </a:r>
            <a:endParaRPr lang="en-US" sz="1350" dirty="0"/>
          </a:p>
        </p:txBody>
      </p:sp>
      <p:sp>
        <p:nvSpPr>
          <p:cNvPr id="12" name="Shape 10"/>
          <p:cNvSpPr/>
          <p:nvPr/>
        </p:nvSpPr>
        <p:spPr>
          <a:xfrm>
            <a:off x="594360" y="5193792"/>
            <a:ext cx="292608" cy="292608"/>
          </a:xfrm>
          <a:prstGeom prst="ellipse">
            <a:avLst/>
          </a:prstGeom>
          <a:solidFill>
            <a:srgbClr val="3B3791"/>
          </a:solidFill>
          <a:ln w="12700">
            <a:solidFill>
              <a:srgbClr val="3B3791"/>
            </a:solidFill>
            <a:prstDash val="solid"/>
          </a:ln>
        </p:spPr>
        <p:txBody>
          <a:bodyPr/>
          <a:lstStyle/>
          <a:p>
            <a:endParaRPr lang="en-PH"/>
          </a:p>
        </p:txBody>
      </p:sp>
      <p:sp>
        <p:nvSpPr>
          <p:cNvPr id="13" name="Text 11"/>
          <p:cNvSpPr txBox="1"/>
          <p:nvPr/>
        </p:nvSpPr>
        <p:spPr>
          <a:xfrm>
            <a:off x="594360" y="5193792"/>
            <a:ext cx="292608" cy="292608"/>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3</a:t>
            </a:r>
            <a:endParaRPr lang="en-US" sz="1050" dirty="0"/>
          </a:p>
        </p:txBody>
      </p:sp>
      <p:sp>
        <p:nvSpPr>
          <p:cNvPr id="14" name="Text 12"/>
          <p:cNvSpPr txBox="1"/>
          <p:nvPr/>
        </p:nvSpPr>
        <p:spPr>
          <a:xfrm>
            <a:off x="1005840" y="5193792"/>
            <a:ext cx="4754880" cy="292608"/>
          </a:xfrm>
          <a:prstGeom prst="rect">
            <a:avLst/>
          </a:prstGeom>
          <a:noFill/>
          <a:ln/>
        </p:spPr>
        <p:txBody>
          <a:bodyPr wrap="square" lIns="0" tIns="0" rIns="0" bIns="0" rtlCol="0" anchor="ctr"/>
          <a:lstStyle/>
          <a:p>
            <a:pPr marL="0" indent="0">
              <a:buNone/>
            </a:pPr>
            <a:r>
              <a:rPr lang="en-US" sz="1350" dirty="0">
                <a:solidFill>
                  <a:srgbClr val="FFFFFF"/>
                </a:solidFill>
                <a:latin typeface="Calibri" pitchFamily="34" charset="0"/>
                <a:ea typeface="Calibri" pitchFamily="34" charset="-122"/>
                <a:cs typeface="Calibri" pitchFamily="34" charset="-120"/>
              </a:rPr>
              <a:t>Slicing and indexing</a:t>
            </a:r>
            <a:endParaRPr lang="en-US" sz="1350" dirty="0"/>
          </a:p>
        </p:txBody>
      </p:sp>
      <p:sp>
        <p:nvSpPr>
          <p:cNvPr id="15" name="Shape 13"/>
          <p:cNvSpPr/>
          <p:nvPr/>
        </p:nvSpPr>
        <p:spPr>
          <a:xfrm>
            <a:off x="594360" y="5596128"/>
            <a:ext cx="292608" cy="292608"/>
          </a:xfrm>
          <a:prstGeom prst="ellipse">
            <a:avLst/>
          </a:prstGeom>
          <a:solidFill>
            <a:srgbClr val="3B3791"/>
          </a:solidFill>
          <a:ln w="12700">
            <a:solidFill>
              <a:srgbClr val="3B3791"/>
            </a:solidFill>
            <a:prstDash val="solid"/>
          </a:ln>
        </p:spPr>
        <p:txBody>
          <a:bodyPr/>
          <a:lstStyle/>
          <a:p>
            <a:endParaRPr lang="en-PH"/>
          </a:p>
        </p:txBody>
      </p:sp>
      <p:sp>
        <p:nvSpPr>
          <p:cNvPr id="16" name="Text 14"/>
          <p:cNvSpPr txBox="1"/>
          <p:nvPr/>
        </p:nvSpPr>
        <p:spPr>
          <a:xfrm>
            <a:off x="594360" y="5596128"/>
            <a:ext cx="292608" cy="292608"/>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4</a:t>
            </a:r>
            <a:endParaRPr lang="en-US" sz="1050" dirty="0"/>
          </a:p>
        </p:txBody>
      </p:sp>
      <p:sp>
        <p:nvSpPr>
          <p:cNvPr id="17" name="Text 15"/>
          <p:cNvSpPr txBox="1"/>
          <p:nvPr/>
        </p:nvSpPr>
        <p:spPr>
          <a:xfrm>
            <a:off x="1005840" y="5596128"/>
            <a:ext cx="4754880" cy="292608"/>
          </a:xfrm>
          <a:prstGeom prst="rect">
            <a:avLst/>
          </a:prstGeom>
          <a:noFill/>
          <a:ln/>
        </p:spPr>
        <p:txBody>
          <a:bodyPr wrap="square" lIns="0" tIns="0" rIns="0" bIns="0" rtlCol="0" anchor="ctr"/>
          <a:lstStyle/>
          <a:p>
            <a:pPr marL="0" indent="0">
              <a:buNone/>
            </a:pPr>
            <a:r>
              <a:rPr lang="en-US" sz="1350" dirty="0">
                <a:solidFill>
                  <a:srgbClr val="FFFFFF"/>
                </a:solidFill>
                <a:latin typeface="Calibri" pitchFamily="34" charset="0"/>
                <a:ea typeface="Calibri" pitchFamily="34" charset="-122"/>
                <a:cs typeface="Calibri" pitchFamily="34" charset="-120"/>
              </a:rPr>
              <a:t>Uses of tuples over lists</a:t>
            </a:r>
            <a:endParaRPr lang="en-US" sz="1350" dirty="0"/>
          </a:p>
        </p:txBody>
      </p:sp>
      <p:sp>
        <p:nvSpPr>
          <p:cNvPr id="18" name="Shape 16"/>
          <p:cNvSpPr/>
          <p:nvPr/>
        </p:nvSpPr>
        <p:spPr>
          <a:xfrm>
            <a:off x="6492240" y="1417320"/>
            <a:ext cx="5212080" cy="2103120"/>
          </a:xfrm>
          <a:prstGeom prst="roundRect">
            <a:avLst>
              <a:gd name="adj" fmla="val 6087"/>
            </a:avLst>
          </a:prstGeom>
          <a:solidFill>
            <a:srgbClr val="2A2766"/>
          </a:solidFill>
          <a:ln w="12700">
            <a:solidFill>
              <a:srgbClr val="4A46A0"/>
            </a:solidFill>
            <a:prstDash val="solid"/>
          </a:ln>
        </p:spPr>
        <p:txBody>
          <a:bodyPr/>
          <a:lstStyle/>
          <a:p>
            <a:endParaRPr lang="en-PH"/>
          </a:p>
        </p:txBody>
      </p:sp>
      <p:sp>
        <p:nvSpPr>
          <p:cNvPr id="19" name="Text 17"/>
          <p:cNvSpPr txBox="1"/>
          <p:nvPr/>
        </p:nvSpPr>
        <p:spPr>
          <a:xfrm>
            <a:off x="6766560" y="1618488"/>
            <a:ext cx="2743200" cy="274320"/>
          </a:xfrm>
          <a:prstGeom prst="rect">
            <a:avLst/>
          </a:prstGeom>
          <a:noFill/>
          <a:ln/>
        </p:spPr>
        <p:txBody>
          <a:bodyPr wrap="square" lIns="0" tIns="0" rIns="0" bIns="0" rtlCol="0" anchor="t"/>
          <a:lstStyle/>
          <a:p>
            <a:pPr marL="0" indent="0">
              <a:buNone/>
            </a:pPr>
            <a:r>
              <a:rPr lang="en-US" sz="1100" b="1" kern="0" spc="300" dirty="0">
                <a:solidFill>
                  <a:srgbClr val="F0A8DD"/>
                </a:solidFill>
                <a:latin typeface="Calibri" pitchFamily="34" charset="0"/>
                <a:ea typeface="Calibri" pitchFamily="34" charset="-122"/>
                <a:cs typeface="Calibri" pitchFamily="34" charset="-120"/>
              </a:rPr>
              <a:t>LIST</a:t>
            </a:r>
            <a:endParaRPr lang="en-US" sz="1100" dirty="0"/>
          </a:p>
        </p:txBody>
      </p:sp>
      <p:sp>
        <p:nvSpPr>
          <p:cNvPr id="20" name="Text 18"/>
          <p:cNvSpPr txBox="1"/>
          <p:nvPr/>
        </p:nvSpPr>
        <p:spPr>
          <a:xfrm>
            <a:off x="6766560" y="1984248"/>
            <a:ext cx="4663440" cy="411480"/>
          </a:xfrm>
          <a:prstGeom prst="rect">
            <a:avLst/>
          </a:prstGeom>
          <a:noFill/>
          <a:ln/>
        </p:spPr>
        <p:txBody>
          <a:bodyPr wrap="square" lIns="0" tIns="0" rIns="0" bIns="0" rtlCol="0" anchor="ctr"/>
          <a:lstStyle/>
          <a:p>
            <a:pPr marL="0" indent="0">
              <a:buNone/>
            </a:pPr>
            <a:r>
              <a:rPr lang="en-US" sz="1500" dirty="0">
                <a:solidFill>
                  <a:srgbClr val="E4E4F0"/>
                </a:solidFill>
                <a:latin typeface="Courier New" pitchFamily="34" charset="0"/>
                <a:ea typeface="Courier New" pitchFamily="34" charset="-122"/>
                <a:cs typeface="Courier New" pitchFamily="34" charset="-120"/>
              </a:rPr>
              <a:t>fruits = [</a:t>
            </a:r>
            <a:r>
              <a:rPr lang="en-US" sz="1500" dirty="0">
                <a:solidFill>
                  <a:srgbClr val="A6E3A1"/>
                </a:solidFill>
                <a:latin typeface="Courier New" pitchFamily="34" charset="0"/>
                <a:ea typeface="Courier New" pitchFamily="34" charset="-122"/>
                <a:cs typeface="Courier New" pitchFamily="34" charset="-120"/>
              </a:rPr>
              <a:t>"Apple"</a:t>
            </a:r>
            <a:r>
              <a:rPr lang="en-US" sz="1500" dirty="0">
                <a:solidFill>
                  <a:srgbClr val="E4E4F0"/>
                </a:solidFill>
                <a:latin typeface="Courier New" pitchFamily="34" charset="0"/>
                <a:ea typeface="Courier New" pitchFamily="34" charset="-122"/>
                <a:cs typeface="Courier New" pitchFamily="34" charset="-120"/>
              </a:rPr>
              <a:t>, </a:t>
            </a:r>
            <a:r>
              <a:rPr lang="en-US" sz="1500" dirty="0">
                <a:solidFill>
                  <a:srgbClr val="A6E3A1"/>
                </a:solidFill>
                <a:latin typeface="Courier New" pitchFamily="34" charset="0"/>
                <a:ea typeface="Courier New" pitchFamily="34" charset="-122"/>
                <a:cs typeface="Courier New" pitchFamily="34" charset="-120"/>
              </a:rPr>
              <a:t>"Banana"</a:t>
            </a:r>
            <a:r>
              <a:rPr lang="en-US" sz="1500" dirty="0">
                <a:solidFill>
                  <a:srgbClr val="E4E4F0"/>
                </a:solidFill>
                <a:latin typeface="Courier New" pitchFamily="34" charset="0"/>
                <a:ea typeface="Courier New" pitchFamily="34" charset="-122"/>
                <a:cs typeface="Courier New" pitchFamily="34" charset="-120"/>
              </a:rPr>
              <a:t>]</a:t>
            </a:r>
            <a:endParaRPr lang="en-US" sz="1500" dirty="0"/>
          </a:p>
        </p:txBody>
      </p:sp>
      <p:sp>
        <p:nvSpPr>
          <p:cNvPr id="21" name="Text 19"/>
          <p:cNvSpPr txBox="1"/>
          <p:nvPr/>
        </p:nvSpPr>
        <p:spPr>
          <a:xfrm>
            <a:off x="6766560" y="2514600"/>
            <a:ext cx="4663440" cy="320040"/>
          </a:xfrm>
          <a:prstGeom prst="rect">
            <a:avLst/>
          </a:prstGeom>
          <a:noFill/>
          <a:ln/>
        </p:spPr>
        <p:txBody>
          <a:bodyPr wrap="square" lIns="0" tIns="0" rIns="0" bIns="0" rtlCol="0" anchor="t"/>
          <a:lstStyle/>
          <a:p>
            <a:pPr marL="0" indent="0">
              <a:buNone/>
            </a:pPr>
            <a:r>
              <a:rPr lang="en-US" sz="1350" b="1" dirty="0">
                <a:solidFill>
                  <a:srgbClr val="FFFFFF"/>
                </a:solidFill>
                <a:latin typeface="Calibri" pitchFamily="34" charset="0"/>
                <a:ea typeface="Calibri" pitchFamily="34" charset="-122"/>
                <a:cs typeface="Calibri" pitchFamily="34" charset="-120"/>
              </a:rPr>
              <a:t>Square brackets  [ ]  ·  mutable</a:t>
            </a:r>
            <a:endParaRPr lang="en-US" sz="1350" dirty="0"/>
          </a:p>
        </p:txBody>
      </p:sp>
      <p:sp>
        <p:nvSpPr>
          <p:cNvPr id="22" name="Text 20"/>
          <p:cNvSpPr txBox="1"/>
          <p:nvPr/>
        </p:nvSpPr>
        <p:spPr>
          <a:xfrm>
            <a:off x="6766560" y="2880360"/>
            <a:ext cx="4663440" cy="365760"/>
          </a:xfrm>
          <a:prstGeom prst="rect">
            <a:avLst/>
          </a:prstGeom>
          <a:noFill/>
          <a:ln/>
        </p:spPr>
        <p:txBody>
          <a:bodyPr wrap="square" lIns="0" tIns="0" rIns="0" bIns="0" rtlCol="0" anchor="t"/>
          <a:lstStyle/>
          <a:p>
            <a:pPr marL="0" indent="0">
              <a:buNone/>
            </a:pPr>
            <a:r>
              <a:rPr lang="en-US" sz="1250" dirty="0">
                <a:solidFill>
                  <a:srgbClr val="C9CCFF"/>
                </a:solidFill>
                <a:latin typeface="Calibri" pitchFamily="34" charset="0"/>
                <a:ea typeface="Calibri" pitchFamily="34" charset="-122"/>
                <a:cs typeface="Calibri" pitchFamily="34" charset="-120"/>
              </a:rPr>
              <a:t>Change, add and remove items freely.</a:t>
            </a:r>
            <a:endParaRPr lang="en-US" sz="1250" dirty="0"/>
          </a:p>
        </p:txBody>
      </p:sp>
      <p:sp>
        <p:nvSpPr>
          <p:cNvPr id="23" name="Shape 21"/>
          <p:cNvSpPr/>
          <p:nvPr/>
        </p:nvSpPr>
        <p:spPr>
          <a:xfrm>
            <a:off x="6492240" y="3749040"/>
            <a:ext cx="5212080" cy="2103120"/>
          </a:xfrm>
          <a:prstGeom prst="roundRect">
            <a:avLst>
              <a:gd name="adj" fmla="val 6087"/>
            </a:avLst>
          </a:prstGeom>
          <a:solidFill>
            <a:srgbClr val="2A2766"/>
          </a:solidFill>
          <a:ln w="12700">
            <a:solidFill>
              <a:srgbClr val="4A46A0"/>
            </a:solidFill>
            <a:prstDash val="solid"/>
          </a:ln>
        </p:spPr>
        <p:txBody>
          <a:bodyPr/>
          <a:lstStyle/>
          <a:p>
            <a:endParaRPr lang="en-PH"/>
          </a:p>
        </p:txBody>
      </p:sp>
      <p:sp>
        <p:nvSpPr>
          <p:cNvPr id="24" name="Text 22"/>
          <p:cNvSpPr txBox="1"/>
          <p:nvPr/>
        </p:nvSpPr>
        <p:spPr>
          <a:xfrm>
            <a:off x="6766560" y="3950208"/>
            <a:ext cx="2743200" cy="274320"/>
          </a:xfrm>
          <a:prstGeom prst="rect">
            <a:avLst/>
          </a:prstGeom>
          <a:noFill/>
          <a:ln/>
        </p:spPr>
        <p:txBody>
          <a:bodyPr wrap="square" lIns="0" tIns="0" rIns="0" bIns="0" rtlCol="0" anchor="t"/>
          <a:lstStyle/>
          <a:p>
            <a:pPr marL="0" indent="0">
              <a:buNone/>
            </a:pPr>
            <a:r>
              <a:rPr lang="en-US" sz="1100" b="1" kern="0" spc="300" dirty="0">
                <a:solidFill>
                  <a:srgbClr val="F0A8DD"/>
                </a:solidFill>
                <a:latin typeface="Calibri" pitchFamily="34" charset="0"/>
                <a:ea typeface="Calibri" pitchFamily="34" charset="-122"/>
                <a:cs typeface="Calibri" pitchFamily="34" charset="-120"/>
              </a:rPr>
              <a:t>TUPLE</a:t>
            </a:r>
            <a:endParaRPr lang="en-US" sz="1100" dirty="0"/>
          </a:p>
        </p:txBody>
      </p:sp>
      <p:sp>
        <p:nvSpPr>
          <p:cNvPr id="25" name="Text 23"/>
          <p:cNvSpPr txBox="1"/>
          <p:nvPr/>
        </p:nvSpPr>
        <p:spPr>
          <a:xfrm>
            <a:off x="6766560" y="4315968"/>
            <a:ext cx="4663440" cy="411480"/>
          </a:xfrm>
          <a:prstGeom prst="rect">
            <a:avLst/>
          </a:prstGeom>
          <a:noFill/>
          <a:ln/>
        </p:spPr>
        <p:txBody>
          <a:bodyPr wrap="square" lIns="0" tIns="0" rIns="0" bIns="0" rtlCol="0" anchor="ctr"/>
          <a:lstStyle/>
          <a:p>
            <a:pPr marL="0" indent="0">
              <a:buNone/>
            </a:pPr>
            <a:r>
              <a:rPr lang="en-US" sz="1500" dirty="0">
                <a:solidFill>
                  <a:srgbClr val="E4E4F0"/>
                </a:solidFill>
                <a:latin typeface="Courier New" pitchFamily="34" charset="0"/>
                <a:ea typeface="Courier New" pitchFamily="34" charset="-122"/>
                <a:cs typeface="Courier New" pitchFamily="34" charset="-120"/>
              </a:rPr>
              <a:t>point = (</a:t>
            </a:r>
            <a:r>
              <a:rPr lang="en-US" sz="1500" dirty="0">
                <a:solidFill>
                  <a:srgbClr val="FAB387"/>
                </a:solidFill>
                <a:latin typeface="Courier New" pitchFamily="34" charset="0"/>
                <a:ea typeface="Courier New" pitchFamily="34" charset="-122"/>
                <a:cs typeface="Courier New" pitchFamily="34" charset="-120"/>
              </a:rPr>
              <a:t>4</a:t>
            </a:r>
            <a:r>
              <a:rPr lang="en-US" sz="1500" dirty="0">
                <a:solidFill>
                  <a:srgbClr val="E4E4F0"/>
                </a:solidFill>
                <a:latin typeface="Courier New" pitchFamily="34" charset="0"/>
                <a:ea typeface="Courier New" pitchFamily="34" charset="-122"/>
                <a:cs typeface="Courier New" pitchFamily="34" charset="-120"/>
              </a:rPr>
              <a:t>, </a:t>
            </a:r>
            <a:r>
              <a:rPr lang="en-US" sz="1500" dirty="0">
                <a:solidFill>
                  <a:srgbClr val="FAB387"/>
                </a:solidFill>
                <a:latin typeface="Courier New" pitchFamily="34" charset="0"/>
                <a:ea typeface="Courier New" pitchFamily="34" charset="-122"/>
                <a:cs typeface="Courier New" pitchFamily="34" charset="-120"/>
              </a:rPr>
              <a:t>5</a:t>
            </a:r>
            <a:r>
              <a:rPr lang="en-US" sz="1500" dirty="0">
                <a:solidFill>
                  <a:srgbClr val="E4E4F0"/>
                </a:solidFill>
                <a:latin typeface="Courier New" pitchFamily="34" charset="0"/>
                <a:ea typeface="Courier New" pitchFamily="34" charset="-122"/>
                <a:cs typeface="Courier New" pitchFamily="34" charset="-120"/>
              </a:rPr>
              <a:t>)</a:t>
            </a:r>
            <a:endParaRPr lang="en-US" sz="1500" dirty="0"/>
          </a:p>
        </p:txBody>
      </p:sp>
      <p:sp>
        <p:nvSpPr>
          <p:cNvPr id="26" name="Text 24"/>
          <p:cNvSpPr txBox="1"/>
          <p:nvPr/>
        </p:nvSpPr>
        <p:spPr>
          <a:xfrm>
            <a:off x="6766560" y="4846320"/>
            <a:ext cx="4663440" cy="320040"/>
          </a:xfrm>
          <a:prstGeom prst="rect">
            <a:avLst/>
          </a:prstGeom>
          <a:noFill/>
          <a:ln/>
        </p:spPr>
        <p:txBody>
          <a:bodyPr wrap="square" lIns="0" tIns="0" rIns="0" bIns="0" rtlCol="0" anchor="t"/>
          <a:lstStyle/>
          <a:p>
            <a:pPr marL="0" indent="0">
              <a:buNone/>
            </a:pPr>
            <a:r>
              <a:rPr lang="en-US" sz="1350" b="1" dirty="0">
                <a:solidFill>
                  <a:srgbClr val="FFFFFF"/>
                </a:solidFill>
                <a:latin typeface="Calibri" pitchFamily="34" charset="0"/>
                <a:ea typeface="Calibri" pitchFamily="34" charset="-122"/>
                <a:cs typeface="Calibri" pitchFamily="34" charset="-120"/>
              </a:rPr>
              <a:t>Parentheses  ( )  ·  immutable</a:t>
            </a:r>
            <a:endParaRPr lang="en-US" sz="1350" dirty="0"/>
          </a:p>
        </p:txBody>
      </p:sp>
      <p:sp>
        <p:nvSpPr>
          <p:cNvPr id="27" name="Text 25"/>
          <p:cNvSpPr txBox="1"/>
          <p:nvPr/>
        </p:nvSpPr>
        <p:spPr>
          <a:xfrm>
            <a:off x="6766560" y="5212080"/>
            <a:ext cx="4663440" cy="365760"/>
          </a:xfrm>
          <a:prstGeom prst="rect">
            <a:avLst/>
          </a:prstGeom>
          <a:noFill/>
          <a:ln/>
        </p:spPr>
        <p:txBody>
          <a:bodyPr wrap="square" lIns="0" tIns="0" rIns="0" bIns="0" rtlCol="0" anchor="t"/>
          <a:lstStyle/>
          <a:p>
            <a:pPr marL="0" indent="0">
              <a:buNone/>
            </a:pPr>
            <a:r>
              <a:rPr lang="en-US" sz="1250" dirty="0">
                <a:solidFill>
                  <a:srgbClr val="C9CCFF"/>
                </a:solidFill>
                <a:latin typeface="Calibri" pitchFamily="34" charset="0"/>
                <a:ea typeface="Calibri" pitchFamily="34" charset="-122"/>
                <a:cs typeface="Calibri" pitchFamily="34" charset="-120"/>
              </a:rPr>
              <a:t>Fixed once created — safe and fast.</a:t>
            </a:r>
            <a:endParaRPr lang="en-US" sz="1250" dirty="0"/>
          </a:p>
        </p:txBody>
      </p:sp>
      <p:sp>
        <p:nvSpPr>
          <p:cNvPr id="28" name="Text 26"/>
          <p:cNvSpPr txBox="1"/>
          <p:nvPr/>
        </p:nvSpPr>
        <p:spPr>
          <a:xfrm>
            <a:off x="11140135" y="6446520"/>
            <a:ext cx="548640" cy="228600"/>
          </a:xfrm>
          <a:prstGeom prst="rect">
            <a:avLst/>
          </a:prstGeom>
          <a:noFill/>
          <a:ln/>
        </p:spPr>
        <p:txBody>
          <a:bodyPr wrap="square" lIns="0" tIns="0" rIns="0" bIns="0" rtlCol="0" anchor="t"/>
          <a:lstStyle/>
          <a:p>
            <a:pPr marL="0" indent="0" algn="r">
              <a:buNone/>
            </a:pPr>
            <a:r>
              <a:rPr lang="en-US" sz="900" dirty="0">
                <a:solidFill>
                  <a:srgbClr val="9EA2E0"/>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02920" y="310896"/>
            <a:ext cx="8229600" cy="237744"/>
          </a:xfrm>
          <a:prstGeom prst="rect">
            <a:avLst/>
          </a:prstGeom>
          <a:noFill/>
          <a:ln/>
        </p:spPr>
        <p:txBody>
          <a:bodyPr wrap="square" lIns="0" tIns="0" rIns="0" bIns="0" rtlCol="0" anchor="t"/>
          <a:lstStyle/>
          <a:p>
            <a:pPr marL="0" indent="0">
              <a:buNone/>
            </a:pPr>
            <a:r>
              <a:rPr lang="en-US" sz="1050" b="1" kern="0" spc="200" dirty="0">
                <a:solidFill>
                  <a:srgbClr val="C8559F"/>
                </a:solidFill>
                <a:latin typeface="Calibri" pitchFamily="34" charset="0"/>
                <a:ea typeface="Calibri" pitchFamily="34" charset="-122"/>
                <a:cs typeface="Calibri" pitchFamily="34" charset="-120"/>
              </a:rPr>
              <a:t>LIST AND TUPLES · OVERVIEW</a:t>
            </a:r>
            <a:endParaRPr lang="en-US" sz="1050" dirty="0"/>
          </a:p>
        </p:txBody>
      </p:sp>
      <p:sp>
        <p:nvSpPr>
          <p:cNvPr id="3" name="Text 1"/>
          <p:cNvSpPr txBox="1"/>
          <p:nvPr/>
        </p:nvSpPr>
        <p:spPr>
          <a:xfrm>
            <a:off x="502920" y="530352"/>
            <a:ext cx="10241280" cy="640080"/>
          </a:xfrm>
          <a:prstGeom prst="rect">
            <a:avLst/>
          </a:prstGeom>
          <a:noFill/>
          <a:ln/>
        </p:spPr>
        <p:txBody>
          <a:bodyPr wrap="square" lIns="0" tIns="0" rIns="0" bIns="0" rtlCol="0" anchor="ctr"/>
          <a:lstStyle/>
          <a:p>
            <a:pPr marL="0" indent="0">
              <a:buNone/>
            </a:pPr>
            <a:r>
              <a:rPr lang="en-US" sz="2800" b="1" dirty="0">
                <a:solidFill>
                  <a:srgbClr val="1E1B4B"/>
                </a:solidFill>
                <a:latin typeface="Calibri" pitchFamily="34" charset="0"/>
                <a:ea typeface="Calibri" pitchFamily="34" charset="-122"/>
                <a:cs typeface="Calibri" pitchFamily="34" charset="-120"/>
              </a:rPr>
              <a:t>Difference Between List and Tuple in Python</a:t>
            </a:r>
            <a:endParaRPr lang="en-US" sz="2800" dirty="0"/>
          </a:p>
        </p:txBody>
      </p:sp>
      <p:sp>
        <p:nvSpPr>
          <p:cNvPr id="4" name="Text 2"/>
          <p:cNvSpPr txBox="1"/>
          <p:nvPr/>
        </p:nvSpPr>
        <p:spPr>
          <a:xfrm>
            <a:off x="502920" y="6446520"/>
            <a:ext cx="5486400" cy="228600"/>
          </a:xfrm>
          <a:prstGeom prst="rect">
            <a:avLst/>
          </a:prstGeom>
          <a:noFill/>
          <a:ln/>
        </p:spPr>
        <p:txBody>
          <a:bodyPr wrap="square" lIns="0" tIns="0" rIns="0" bIns="0" rtlCol="0" anchor="t"/>
          <a:lstStyle/>
          <a:p>
            <a:pPr marL="0" indent="0">
              <a:buNone/>
            </a:pPr>
            <a:r>
              <a:rPr lang="en-US" sz="900" dirty="0">
                <a:solidFill>
                  <a:srgbClr val="5B5F7A"/>
                </a:solidFill>
                <a:latin typeface="Calibri" pitchFamily="34" charset="0"/>
                <a:ea typeface="Calibri" pitchFamily="34" charset="-122"/>
                <a:cs typeface="Calibri" pitchFamily="34" charset="-120"/>
              </a:rPr>
              <a:t>Python  ·  List and Tuples</a:t>
            </a:r>
            <a:endParaRPr lang="en-US" sz="900" dirty="0"/>
          </a:p>
        </p:txBody>
      </p:sp>
      <p:sp>
        <p:nvSpPr>
          <p:cNvPr id="5" name="Text 3"/>
          <p:cNvSpPr txBox="1"/>
          <p:nvPr/>
        </p:nvSpPr>
        <p:spPr>
          <a:xfrm>
            <a:off x="11140135" y="6446520"/>
            <a:ext cx="548640" cy="228600"/>
          </a:xfrm>
          <a:prstGeom prst="rect">
            <a:avLst/>
          </a:prstGeom>
          <a:noFill/>
          <a:ln/>
        </p:spPr>
        <p:txBody>
          <a:bodyPr wrap="square" lIns="0" tIns="0" rIns="0" bIns="0" rtlCol="0" anchor="t"/>
          <a:lstStyle/>
          <a:p>
            <a:pPr marL="0" indent="0" algn="r">
              <a:buNone/>
            </a:pPr>
            <a:r>
              <a:rPr lang="en-US" sz="900" dirty="0">
                <a:solidFill>
                  <a:srgbClr val="5B5F7A"/>
                </a:solidFill>
                <a:latin typeface="Calibri" pitchFamily="34" charset="0"/>
                <a:ea typeface="Calibri" pitchFamily="34" charset="-122"/>
                <a:cs typeface="Calibri" pitchFamily="34" charset="-120"/>
              </a:rPr>
              <a:t>14</a:t>
            </a:r>
            <a:endParaRPr lang="en-US" sz="900" dirty="0"/>
          </a:p>
        </p:txBody>
      </p:sp>
      <p:sp>
        <p:nvSpPr>
          <p:cNvPr id="6" name="Shape 4"/>
          <p:cNvSpPr/>
          <p:nvPr/>
        </p:nvSpPr>
        <p:spPr>
          <a:xfrm>
            <a:off x="502920" y="1417320"/>
            <a:ext cx="5760720" cy="1417320"/>
          </a:xfrm>
          <a:prstGeom prst="roundRect">
            <a:avLst>
              <a:gd name="adj" fmla="val 7742"/>
            </a:avLst>
          </a:prstGeom>
          <a:solidFill>
            <a:srgbClr val="FFFFFF"/>
          </a:solidFill>
          <a:ln w="9525">
            <a:solidFill>
              <a:srgbClr val="DCDDF5"/>
            </a:solidFill>
            <a:prstDash val="solid"/>
          </a:ln>
          <a:effectLst>
            <a:outerShdw blurRad="127000" dist="25400" dir="5400000" algn="bl" rotWithShape="0">
              <a:srgbClr val="4F46E5">
                <a:alpha val="12000"/>
              </a:srgbClr>
            </a:outerShdw>
          </a:effectLst>
        </p:spPr>
        <p:txBody>
          <a:bodyPr/>
          <a:lstStyle/>
          <a:p>
            <a:endParaRPr lang="en-PH"/>
          </a:p>
        </p:txBody>
      </p:sp>
      <p:sp>
        <p:nvSpPr>
          <p:cNvPr id="7" name="Shape 5"/>
          <p:cNvSpPr/>
          <p:nvPr/>
        </p:nvSpPr>
        <p:spPr>
          <a:xfrm>
            <a:off x="704088" y="1645920"/>
            <a:ext cx="420624" cy="420624"/>
          </a:xfrm>
          <a:prstGeom prst="ellipse">
            <a:avLst/>
          </a:prstGeom>
          <a:solidFill>
            <a:srgbClr val="4F46E5"/>
          </a:solidFill>
          <a:ln w="12700">
            <a:solidFill>
              <a:srgbClr val="4F46E5"/>
            </a:solidFill>
            <a:prstDash val="solid"/>
          </a:ln>
        </p:spPr>
        <p:txBody>
          <a:bodyPr/>
          <a:lstStyle/>
          <a:p>
            <a:endParaRPr lang="en-PH"/>
          </a:p>
        </p:txBody>
      </p:sp>
      <p:sp>
        <p:nvSpPr>
          <p:cNvPr id="8" name="Text 6"/>
          <p:cNvSpPr txBox="1"/>
          <p:nvPr/>
        </p:nvSpPr>
        <p:spPr>
          <a:xfrm>
            <a:off x="704088" y="1645920"/>
            <a:ext cx="420624" cy="420624"/>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9" name="Text 7"/>
          <p:cNvSpPr txBox="1"/>
          <p:nvPr/>
        </p:nvSpPr>
        <p:spPr>
          <a:xfrm>
            <a:off x="1325880" y="1554480"/>
            <a:ext cx="4754880" cy="1143000"/>
          </a:xfrm>
          <a:prstGeom prst="rect">
            <a:avLst/>
          </a:prstGeom>
          <a:noFill/>
          <a:ln/>
        </p:spPr>
        <p:txBody>
          <a:bodyPr wrap="square" lIns="0" tIns="0" rIns="0" bIns="0" rtlCol="0" anchor="ctr"/>
          <a:lstStyle/>
          <a:p>
            <a:pPr marL="0" indent="0">
              <a:buNone/>
            </a:pPr>
            <a:r>
              <a:rPr lang="en-US" sz="1450" dirty="0">
                <a:solidFill>
                  <a:srgbClr val="1E1B4B"/>
                </a:solidFill>
                <a:latin typeface="Calibri" pitchFamily="34" charset="0"/>
                <a:ea typeface="Calibri" pitchFamily="34" charset="-122"/>
                <a:cs typeface="Calibri" pitchFamily="34" charset="-120"/>
              </a:rPr>
              <a:t>Lists and tuples both store </a:t>
            </a:r>
            <a:r>
              <a:rPr lang="en-US" sz="1450" b="1" dirty="0">
                <a:solidFill>
                  <a:srgbClr val="1E1B4B"/>
                </a:solidFill>
                <a:latin typeface="Calibri" pitchFamily="34" charset="0"/>
                <a:ea typeface="Calibri" pitchFamily="34" charset="-122"/>
                <a:cs typeface="Calibri" pitchFamily="34" charset="-120"/>
              </a:rPr>
              <a:t>collections of data</a:t>
            </a:r>
            <a:r>
              <a:rPr lang="en-US" sz="1450" dirty="0">
                <a:solidFill>
                  <a:srgbClr val="1E1B4B"/>
                </a:solidFill>
                <a:latin typeface="Calibri" pitchFamily="34" charset="0"/>
                <a:ea typeface="Calibri" pitchFamily="34" charset="-122"/>
                <a:cs typeface="Calibri" pitchFamily="34" charset="-120"/>
              </a:rPr>
              <a:t>, but differ in </a:t>
            </a:r>
            <a:r>
              <a:rPr lang="en-US" sz="1450" b="1" dirty="0">
                <a:solidFill>
                  <a:srgbClr val="1E1B4B"/>
                </a:solidFill>
                <a:latin typeface="Calibri" pitchFamily="34" charset="0"/>
                <a:ea typeface="Calibri" pitchFamily="34" charset="-122"/>
                <a:cs typeface="Calibri" pitchFamily="34" charset="-120"/>
              </a:rPr>
              <a:t>mutability, performance and memory usage</a:t>
            </a:r>
            <a:r>
              <a:rPr lang="en-US" sz="1450" dirty="0">
                <a:solidFill>
                  <a:srgbClr val="1E1B4B"/>
                </a:solidFill>
                <a:latin typeface="Calibri" pitchFamily="34" charset="0"/>
                <a:ea typeface="Calibri" pitchFamily="34" charset="-122"/>
                <a:cs typeface="Calibri" pitchFamily="34" charset="-120"/>
              </a:rPr>
              <a:t>.</a:t>
            </a:r>
            <a:endParaRPr lang="en-US" sz="1450" dirty="0"/>
          </a:p>
        </p:txBody>
      </p:sp>
      <p:sp>
        <p:nvSpPr>
          <p:cNvPr id="10" name="Shape 8"/>
          <p:cNvSpPr/>
          <p:nvPr/>
        </p:nvSpPr>
        <p:spPr>
          <a:xfrm>
            <a:off x="502920" y="2990088"/>
            <a:ext cx="5760720" cy="1417320"/>
          </a:xfrm>
          <a:prstGeom prst="roundRect">
            <a:avLst>
              <a:gd name="adj" fmla="val 7742"/>
            </a:avLst>
          </a:prstGeom>
          <a:solidFill>
            <a:srgbClr val="FFFFFF"/>
          </a:solidFill>
          <a:ln w="9525">
            <a:solidFill>
              <a:srgbClr val="DCDDF5"/>
            </a:solidFill>
            <a:prstDash val="solid"/>
          </a:ln>
          <a:effectLst>
            <a:outerShdw blurRad="127000" dist="25400" dir="5400000" algn="bl" rotWithShape="0">
              <a:srgbClr val="4F46E5">
                <a:alpha val="12000"/>
              </a:srgbClr>
            </a:outerShdw>
          </a:effectLst>
        </p:spPr>
        <p:txBody>
          <a:bodyPr/>
          <a:lstStyle/>
          <a:p>
            <a:endParaRPr lang="en-PH"/>
          </a:p>
        </p:txBody>
      </p:sp>
      <p:sp>
        <p:nvSpPr>
          <p:cNvPr id="11" name="Shape 9"/>
          <p:cNvSpPr/>
          <p:nvPr/>
        </p:nvSpPr>
        <p:spPr>
          <a:xfrm>
            <a:off x="704088" y="3218688"/>
            <a:ext cx="420624" cy="420624"/>
          </a:xfrm>
          <a:prstGeom prst="ellipse">
            <a:avLst/>
          </a:prstGeom>
          <a:solidFill>
            <a:srgbClr val="C8559F"/>
          </a:solidFill>
          <a:ln w="12700">
            <a:solidFill>
              <a:srgbClr val="C8559F"/>
            </a:solidFill>
            <a:prstDash val="solid"/>
          </a:ln>
        </p:spPr>
        <p:txBody>
          <a:bodyPr/>
          <a:lstStyle/>
          <a:p>
            <a:endParaRPr lang="en-PH"/>
          </a:p>
        </p:txBody>
      </p:sp>
      <p:sp>
        <p:nvSpPr>
          <p:cNvPr id="12" name="Text 10"/>
          <p:cNvSpPr txBox="1"/>
          <p:nvPr/>
        </p:nvSpPr>
        <p:spPr>
          <a:xfrm>
            <a:off x="704088" y="3218688"/>
            <a:ext cx="420624" cy="420624"/>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3" name="Text 11"/>
          <p:cNvSpPr txBox="1"/>
          <p:nvPr/>
        </p:nvSpPr>
        <p:spPr>
          <a:xfrm>
            <a:off x="1325880" y="3127248"/>
            <a:ext cx="4754880" cy="1143000"/>
          </a:xfrm>
          <a:prstGeom prst="rect">
            <a:avLst/>
          </a:prstGeom>
          <a:noFill/>
          <a:ln/>
        </p:spPr>
        <p:txBody>
          <a:bodyPr wrap="square" lIns="0" tIns="0" rIns="0" bIns="0" rtlCol="0" anchor="ctr"/>
          <a:lstStyle/>
          <a:p>
            <a:pPr marL="0" indent="0">
              <a:buNone/>
            </a:pPr>
            <a:r>
              <a:rPr lang="en-US" sz="1450" b="1" dirty="0">
                <a:solidFill>
                  <a:srgbClr val="1E1B4B"/>
                </a:solidFill>
                <a:latin typeface="Calibri" pitchFamily="34" charset="0"/>
                <a:ea typeface="Calibri" pitchFamily="34" charset="-122"/>
                <a:cs typeface="Calibri" pitchFamily="34" charset="-120"/>
              </a:rPr>
              <a:t>Lists</a:t>
            </a:r>
            <a:r>
              <a:rPr lang="en-US" sz="1450" dirty="0">
                <a:solidFill>
                  <a:srgbClr val="1E1B4B"/>
                </a:solidFill>
                <a:latin typeface="Calibri" pitchFamily="34" charset="0"/>
                <a:ea typeface="Calibri" pitchFamily="34" charset="-122"/>
                <a:cs typeface="Calibri" pitchFamily="34" charset="-120"/>
              </a:rPr>
              <a:t> are mutable, allowing modifications, while </a:t>
            </a:r>
            <a:r>
              <a:rPr lang="en-US" sz="1450" b="1" dirty="0">
                <a:solidFill>
                  <a:srgbClr val="1E1B4B"/>
                </a:solidFill>
                <a:latin typeface="Calibri" pitchFamily="34" charset="0"/>
                <a:ea typeface="Calibri" pitchFamily="34" charset="-122"/>
                <a:cs typeface="Calibri" pitchFamily="34" charset="-120"/>
              </a:rPr>
              <a:t>tuples</a:t>
            </a:r>
            <a:r>
              <a:rPr lang="en-US" sz="1450" dirty="0">
                <a:solidFill>
                  <a:srgbClr val="1E1B4B"/>
                </a:solidFill>
                <a:latin typeface="Calibri" pitchFamily="34" charset="0"/>
                <a:ea typeface="Calibri" pitchFamily="34" charset="-122"/>
                <a:cs typeface="Calibri" pitchFamily="34" charset="-120"/>
              </a:rPr>
              <a:t> are immutable.</a:t>
            </a:r>
            <a:endParaRPr lang="en-US" sz="1450" dirty="0"/>
          </a:p>
        </p:txBody>
      </p:sp>
      <p:sp>
        <p:nvSpPr>
          <p:cNvPr id="14" name="Shape 12"/>
          <p:cNvSpPr/>
          <p:nvPr/>
        </p:nvSpPr>
        <p:spPr>
          <a:xfrm>
            <a:off x="502920" y="4562856"/>
            <a:ext cx="5760720" cy="1417320"/>
          </a:xfrm>
          <a:prstGeom prst="roundRect">
            <a:avLst>
              <a:gd name="adj" fmla="val 7742"/>
            </a:avLst>
          </a:prstGeom>
          <a:solidFill>
            <a:srgbClr val="FFFFFF"/>
          </a:solidFill>
          <a:ln w="9525">
            <a:solidFill>
              <a:srgbClr val="DCDDF5"/>
            </a:solidFill>
            <a:prstDash val="solid"/>
          </a:ln>
          <a:effectLst>
            <a:outerShdw blurRad="127000" dist="25400" dir="5400000" algn="bl" rotWithShape="0">
              <a:srgbClr val="4F46E5">
                <a:alpha val="12000"/>
              </a:srgbClr>
            </a:outerShdw>
          </a:effectLst>
        </p:spPr>
        <p:txBody>
          <a:bodyPr/>
          <a:lstStyle/>
          <a:p>
            <a:endParaRPr lang="en-PH"/>
          </a:p>
        </p:txBody>
      </p:sp>
      <p:sp>
        <p:nvSpPr>
          <p:cNvPr id="15" name="Shape 13"/>
          <p:cNvSpPr/>
          <p:nvPr/>
        </p:nvSpPr>
        <p:spPr>
          <a:xfrm>
            <a:off x="704088" y="4791456"/>
            <a:ext cx="420624" cy="420624"/>
          </a:xfrm>
          <a:prstGeom prst="ellipse">
            <a:avLst/>
          </a:prstGeom>
          <a:solidFill>
            <a:srgbClr val="4F46E5"/>
          </a:solidFill>
          <a:ln w="12700">
            <a:solidFill>
              <a:srgbClr val="4F46E5"/>
            </a:solidFill>
            <a:prstDash val="solid"/>
          </a:ln>
        </p:spPr>
        <p:txBody>
          <a:bodyPr/>
          <a:lstStyle/>
          <a:p>
            <a:endParaRPr lang="en-PH"/>
          </a:p>
        </p:txBody>
      </p:sp>
      <p:sp>
        <p:nvSpPr>
          <p:cNvPr id="16" name="Text 14"/>
          <p:cNvSpPr txBox="1"/>
          <p:nvPr/>
        </p:nvSpPr>
        <p:spPr>
          <a:xfrm>
            <a:off x="704088" y="4791456"/>
            <a:ext cx="420624" cy="420624"/>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7" name="Text 15"/>
          <p:cNvSpPr txBox="1"/>
          <p:nvPr/>
        </p:nvSpPr>
        <p:spPr>
          <a:xfrm>
            <a:off x="1325880" y="4700016"/>
            <a:ext cx="4754880" cy="1143000"/>
          </a:xfrm>
          <a:prstGeom prst="rect">
            <a:avLst/>
          </a:prstGeom>
          <a:noFill/>
          <a:ln/>
        </p:spPr>
        <p:txBody>
          <a:bodyPr wrap="square" lIns="0" tIns="0" rIns="0" bIns="0" rtlCol="0" anchor="ctr"/>
          <a:lstStyle/>
          <a:p>
            <a:pPr marL="0" indent="0">
              <a:buNone/>
            </a:pPr>
            <a:r>
              <a:rPr lang="en-US" sz="1450" dirty="0">
                <a:solidFill>
                  <a:srgbClr val="1E1B4B"/>
                </a:solidFill>
                <a:latin typeface="Calibri" pitchFamily="34" charset="0"/>
                <a:ea typeface="Calibri" pitchFamily="34" charset="-122"/>
                <a:cs typeface="Calibri" pitchFamily="34" charset="-120"/>
              </a:rPr>
              <a:t>Choosing between them depends on whether you need to </a:t>
            </a:r>
            <a:r>
              <a:rPr lang="en-US" sz="1450" b="1" dirty="0">
                <a:solidFill>
                  <a:srgbClr val="1E1B4B"/>
                </a:solidFill>
                <a:latin typeface="Calibri" pitchFamily="34" charset="0"/>
                <a:ea typeface="Calibri" pitchFamily="34" charset="-122"/>
                <a:cs typeface="Calibri" pitchFamily="34" charset="-120"/>
              </a:rPr>
              <a:t>modify the data</a:t>
            </a:r>
            <a:r>
              <a:rPr lang="en-US" sz="1450" dirty="0">
                <a:solidFill>
                  <a:srgbClr val="1E1B4B"/>
                </a:solidFill>
                <a:latin typeface="Calibri" pitchFamily="34" charset="0"/>
                <a:ea typeface="Calibri" pitchFamily="34" charset="-122"/>
                <a:cs typeface="Calibri" pitchFamily="34" charset="-120"/>
              </a:rPr>
              <a:t> or prioritize </a:t>
            </a:r>
            <a:r>
              <a:rPr lang="en-US" sz="1450" b="1" dirty="0">
                <a:solidFill>
                  <a:srgbClr val="1E1B4B"/>
                </a:solidFill>
                <a:latin typeface="Calibri" pitchFamily="34" charset="0"/>
                <a:ea typeface="Calibri" pitchFamily="34" charset="-122"/>
                <a:cs typeface="Calibri" pitchFamily="34" charset="-120"/>
              </a:rPr>
              <a:t>performance and memory efficiency</a:t>
            </a:r>
            <a:r>
              <a:rPr lang="en-US" sz="1450" dirty="0">
                <a:solidFill>
                  <a:srgbClr val="1E1B4B"/>
                </a:solidFill>
                <a:latin typeface="Calibri" pitchFamily="34" charset="0"/>
                <a:ea typeface="Calibri" pitchFamily="34" charset="-122"/>
                <a:cs typeface="Calibri" pitchFamily="34" charset="-120"/>
              </a:rPr>
              <a:t>.</a:t>
            </a:r>
            <a:endParaRPr lang="en-US" sz="1450" dirty="0"/>
          </a:p>
        </p:txBody>
      </p:sp>
      <p:sp>
        <p:nvSpPr>
          <p:cNvPr id="18" name="Shape 16"/>
          <p:cNvSpPr/>
          <p:nvPr/>
        </p:nvSpPr>
        <p:spPr>
          <a:xfrm>
            <a:off x="6583680" y="1417320"/>
            <a:ext cx="2438248" cy="4572000"/>
          </a:xfrm>
          <a:prstGeom prst="roundRect">
            <a:avLst>
              <a:gd name="adj" fmla="val 4500"/>
            </a:avLst>
          </a:prstGeom>
          <a:solidFill>
            <a:srgbClr val="FFFFFF"/>
          </a:solidFill>
          <a:ln w="9525">
            <a:solidFill>
              <a:srgbClr val="DCDDF5"/>
            </a:solidFill>
            <a:prstDash val="solid"/>
          </a:ln>
          <a:effectLst>
            <a:outerShdw blurRad="127000" dist="25400" dir="5400000" algn="bl" rotWithShape="0">
              <a:srgbClr val="4F46E5">
                <a:alpha val="12000"/>
              </a:srgbClr>
            </a:outerShdw>
          </a:effectLst>
        </p:spPr>
        <p:txBody>
          <a:bodyPr/>
          <a:lstStyle/>
          <a:p>
            <a:endParaRPr lang="en-PH"/>
          </a:p>
        </p:txBody>
      </p:sp>
      <p:sp>
        <p:nvSpPr>
          <p:cNvPr id="19" name="Text 17"/>
          <p:cNvSpPr txBox="1"/>
          <p:nvPr/>
        </p:nvSpPr>
        <p:spPr>
          <a:xfrm>
            <a:off x="6812280" y="1572768"/>
            <a:ext cx="1981048" cy="411480"/>
          </a:xfrm>
          <a:prstGeom prst="rect">
            <a:avLst/>
          </a:prstGeom>
          <a:noFill/>
          <a:ln/>
        </p:spPr>
        <p:txBody>
          <a:bodyPr wrap="square" lIns="0" tIns="0" rIns="0" bIns="0" rtlCol="0" anchor="t"/>
          <a:lstStyle/>
          <a:p>
            <a:pPr marL="0" indent="0">
              <a:buNone/>
            </a:pPr>
            <a:r>
              <a:rPr lang="en-US" sz="2000" b="1" dirty="0">
                <a:solidFill>
                  <a:srgbClr val="4F46E5"/>
                </a:solidFill>
                <a:latin typeface="Calibri" pitchFamily="34" charset="0"/>
                <a:ea typeface="Calibri" pitchFamily="34" charset="-122"/>
                <a:cs typeface="Calibri" pitchFamily="34" charset="-120"/>
              </a:rPr>
              <a:t>List</a:t>
            </a:r>
            <a:endParaRPr lang="en-US" sz="2000" dirty="0"/>
          </a:p>
        </p:txBody>
      </p:sp>
      <p:sp>
        <p:nvSpPr>
          <p:cNvPr id="20" name="Shape 18"/>
          <p:cNvSpPr/>
          <p:nvPr/>
        </p:nvSpPr>
        <p:spPr>
          <a:xfrm>
            <a:off x="6766560" y="2084832"/>
            <a:ext cx="2072488" cy="457200"/>
          </a:xfrm>
          <a:prstGeom prst="roundRect">
            <a:avLst>
              <a:gd name="adj" fmla="val 16000"/>
            </a:avLst>
          </a:prstGeom>
          <a:solidFill>
            <a:srgbClr val="1F1D36"/>
          </a:solidFill>
          <a:ln w="12700">
            <a:solidFill>
              <a:srgbClr val="1F1D36"/>
            </a:solidFill>
            <a:prstDash val="solid"/>
          </a:ln>
        </p:spPr>
        <p:txBody>
          <a:bodyPr/>
          <a:lstStyle/>
          <a:p>
            <a:endParaRPr lang="en-PH"/>
          </a:p>
        </p:txBody>
      </p:sp>
      <p:sp>
        <p:nvSpPr>
          <p:cNvPr id="21" name="Text 19"/>
          <p:cNvSpPr txBox="1"/>
          <p:nvPr/>
        </p:nvSpPr>
        <p:spPr>
          <a:xfrm>
            <a:off x="6876288" y="2084832"/>
            <a:ext cx="1889608" cy="457200"/>
          </a:xfrm>
          <a:prstGeom prst="rect">
            <a:avLst/>
          </a:prstGeom>
          <a:noFill/>
          <a:ln/>
        </p:spPr>
        <p:txBody>
          <a:bodyPr wrap="square" lIns="0" tIns="0" rIns="0" bIns="0" rtlCol="0" anchor="ctr"/>
          <a:lstStyle/>
          <a:p>
            <a:pPr marL="0" indent="0">
              <a:buNone/>
            </a:pPr>
            <a:r>
              <a:rPr lang="en-US" sz="1150" dirty="0">
                <a:solidFill>
                  <a:srgbClr val="E4E4F0"/>
                </a:solidFill>
                <a:latin typeface="Courier New" pitchFamily="34" charset="0"/>
                <a:ea typeface="Courier New" pitchFamily="34" charset="-122"/>
                <a:cs typeface="Courier New" pitchFamily="34" charset="-120"/>
              </a:rPr>
              <a:t>nums = [</a:t>
            </a:r>
            <a:r>
              <a:rPr lang="en-US" sz="1150" dirty="0">
                <a:solidFill>
                  <a:srgbClr val="FAB387"/>
                </a:solidFill>
                <a:latin typeface="Courier New" pitchFamily="34" charset="0"/>
                <a:ea typeface="Courier New" pitchFamily="34" charset="-122"/>
                <a:cs typeface="Courier New" pitchFamily="34" charset="-120"/>
              </a:rPr>
              <a:t>1</a:t>
            </a:r>
            <a:r>
              <a:rPr lang="en-US" sz="1150" dirty="0">
                <a:solidFill>
                  <a:srgbClr val="E4E4F0"/>
                </a:solidFill>
                <a:latin typeface="Courier New" pitchFamily="34" charset="0"/>
                <a:ea typeface="Courier New" pitchFamily="34" charset="-122"/>
                <a:cs typeface="Courier New" pitchFamily="34" charset="-120"/>
              </a:rPr>
              <a:t>, </a:t>
            </a:r>
            <a:r>
              <a:rPr lang="en-US" sz="1150" dirty="0">
                <a:solidFill>
                  <a:srgbClr val="FAB387"/>
                </a:solidFill>
                <a:latin typeface="Courier New" pitchFamily="34" charset="0"/>
                <a:ea typeface="Courier New" pitchFamily="34" charset="-122"/>
                <a:cs typeface="Courier New" pitchFamily="34" charset="-120"/>
              </a:rPr>
              <a:t>2</a:t>
            </a:r>
            <a:r>
              <a:rPr lang="en-US" sz="1150" dirty="0">
                <a:solidFill>
                  <a:srgbClr val="E4E4F0"/>
                </a:solidFill>
                <a:latin typeface="Courier New" pitchFamily="34" charset="0"/>
                <a:ea typeface="Courier New" pitchFamily="34" charset="-122"/>
                <a:cs typeface="Courier New" pitchFamily="34" charset="-120"/>
              </a:rPr>
              <a:t>, </a:t>
            </a:r>
            <a:r>
              <a:rPr lang="en-US" sz="1150" dirty="0">
                <a:solidFill>
                  <a:srgbClr val="FAB387"/>
                </a:solidFill>
                <a:latin typeface="Courier New" pitchFamily="34" charset="0"/>
                <a:ea typeface="Courier New" pitchFamily="34" charset="-122"/>
                <a:cs typeface="Courier New" pitchFamily="34" charset="-120"/>
              </a:rPr>
              <a:t>3</a:t>
            </a:r>
            <a:r>
              <a:rPr lang="en-US" sz="1150" dirty="0">
                <a:solidFill>
                  <a:srgbClr val="E4E4F0"/>
                </a:solidFill>
                <a:latin typeface="Courier New" pitchFamily="34" charset="0"/>
                <a:ea typeface="Courier New" pitchFamily="34" charset="-122"/>
                <a:cs typeface="Courier New" pitchFamily="34" charset="-120"/>
              </a:rPr>
              <a:t>]</a:t>
            </a:r>
            <a:endParaRPr lang="en-US" sz="1150" dirty="0"/>
          </a:p>
        </p:txBody>
      </p:sp>
      <p:sp>
        <p:nvSpPr>
          <p:cNvPr id="22" name="Text 20"/>
          <p:cNvSpPr txBox="1"/>
          <p:nvPr/>
        </p:nvSpPr>
        <p:spPr>
          <a:xfrm>
            <a:off x="6812280" y="2743200"/>
            <a:ext cx="1219124" cy="457200"/>
          </a:xfrm>
          <a:prstGeom prst="rect">
            <a:avLst/>
          </a:prstGeom>
          <a:noFill/>
          <a:ln/>
        </p:spPr>
        <p:txBody>
          <a:bodyPr wrap="square" lIns="0" tIns="0" rIns="0" bIns="0" rtlCol="0" anchor="ctr"/>
          <a:lstStyle/>
          <a:p>
            <a:pPr marL="0" indent="0">
              <a:buNone/>
            </a:pPr>
            <a:r>
              <a:rPr lang="en-US" sz="1250" dirty="0">
                <a:solidFill>
                  <a:srgbClr val="5B5F7A"/>
                </a:solidFill>
                <a:latin typeface="Calibri" pitchFamily="34" charset="0"/>
                <a:ea typeface="Calibri" pitchFamily="34" charset="-122"/>
                <a:cs typeface="Calibri" pitchFamily="34" charset="-120"/>
              </a:rPr>
              <a:t>Brackets</a:t>
            </a:r>
            <a:endParaRPr lang="en-US" sz="1250" dirty="0"/>
          </a:p>
        </p:txBody>
      </p:sp>
      <p:sp>
        <p:nvSpPr>
          <p:cNvPr id="23" name="Text 21"/>
          <p:cNvSpPr txBox="1"/>
          <p:nvPr/>
        </p:nvSpPr>
        <p:spPr>
          <a:xfrm>
            <a:off x="7802804" y="2743200"/>
            <a:ext cx="990524" cy="457200"/>
          </a:xfrm>
          <a:prstGeom prst="rect">
            <a:avLst/>
          </a:prstGeom>
          <a:noFill/>
          <a:ln/>
        </p:spPr>
        <p:txBody>
          <a:bodyPr wrap="square" lIns="0" tIns="0" rIns="0" bIns="0" rtlCol="0" anchor="ctr"/>
          <a:lstStyle/>
          <a:p>
            <a:pPr marL="0" indent="0" algn="r">
              <a:buNone/>
            </a:pPr>
            <a:r>
              <a:rPr lang="en-US" sz="1400" b="1" dirty="0">
                <a:solidFill>
                  <a:srgbClr val="1E1B4B"/>
                </a:solidFill>
                <a:latin typeface="Courier New" pitchFamily="34" charset="0"/>
                <a:ea typeface="Courier New" pitchFamily="34" charset="-122"/>
                <a:cs typeface="Courier New" pitchFamily="34" charset="-120"/>
              </a:rPr>
              <a:t>[ ]</a:t>
            </a:r>
            <a:endParaRPr lang="en-US" sz="1400" dirty="0"/>
          </a:p>
        </p:txBody>
      </p:sp>
      <p:sp>
        <p:nvSpPr>
          <p:cNvPr id="24" name="Shape 22"/>
          <p:cNvSpPr/>
          <p:nvPr/>
        </p:nvSpPr>
        <p:spPr>
          <a:xfrm>
            <a:off x="6812280" y="3291840"/>
            <a:ext cx="1981048" cy="0"/>
          </a:xfrm>
          <a:prstGeom prst="line">
            <a:avLst/>
          </a:prstGeom>
          <a:noFill/>
          <a:ln w="9525">
            <a:solidFill>
              <a:srgbClr val="DCDDF5"/>
            </a:solidFill>
            <a:prstDash val="solid"/>
          </a:ln>
        </p:spPr>
        <p:txBody>
          <a:bodyPr/>
          <a:lstStyle/>
          <a:p>
            <a:endParaRPr lang="en-PH"/>
          </a:p>
        </p:txBody>
      </p:sp>
      <p:sp>
        <p:nvSpPr>
          <p:cNvPr id="25" name="Text 23"/>
          <p:cNvSpPr txBox="1"/>
          <p:nvPr/>
        </p:nvSpPr>
        <p:spPr>
          <a:xfrm>
            <a:off x="6812280" y="3374136"/>
            <a:ext cx="1219124" cy="457200"/>
          </a:xfrm>
          <a:prstGeom prst="rect">
            <a:avLst/>
          </a:prstGeom>
          <a:noFill/>
          <a:ln/>
        </p:spPr>
        <p:txBody>
          <a:bodyPr wrap="square" lIns="0" tIns="0" rIns="0" bIns="0" rtlCol="0" anchor="ctr"/>
          <a:lstStyle/>
          <a:p>
            <a:pPr marL="0" indent="0">
              <a:buNone/>
            </a:pPr>
            <a:r>
              <a:rPr lang="en-US" sz="1250" dirty="0">
                <a:solidFill>
                  <a:srgbClr val="5B5F7A"/>
                </a:solidFill>
                <a:latin typeface="Calibri" pitchFamily="34" charset="0"/>
                <a:ea typeface="Calibri" pitchFamily="34" charset="-122"/>
                <a:cs typeface="Calibri" pitchFamily="34" charset="-120"/>
              </a:rPr>
              <a:t>Mutable</a:t>
            </a:r>
            <a:endParaRPr lang="en-US" sz="1250" dirty="0"/>
          </a:p>
        </p:txBody>
      </p:sp>
      <p:sp>
        <p:nvSpPr>
          <p:cNvPr id="26" name="Text 24"/>
          <p:cNvSpPr txBox="1"/>
          <p:nvPr/>
        </p:nvSpPr>
        <p:spPr>
          <a:xfrm>
            <a:off x="7802804" y="3374136"/>
            <a:ext cx="990524" cy="457200"/>
          </a:xfrm>
          <a:prstGeom prst="rect">
            <a:avLst/>
          </a:prstGeom>
          <a:noFill/>
          <a:ln/>
        </p:spPr>
        <p:txBody>
          <a:bodyPr wrap="square" lIns="0" tIns="0" rIns="0" bIns="0" rtlCol="0" anchor="ctr"/>
          <a:lstStyle/>
          <a:p>
            <a:pPr marL="0" indent="0" algn="r">
              <a:buNone/>
            </a:pPr>
            <a:r>
              <a:rPr lang="en-US" sz="1400" b="1" dirty="0">
                <a:solidFill>
                  <a:srgbClr val="1E1B4B"/>
                </a:solidFill>
                <a:latin typeface="Calibri" pitchFamily="34" charset="0"/>
                <a:ea typeface="Calibri" pitchFamily="34" charset="-122"/>
                <a:cs typeface="Calibri" pitchFamily="34" charset="-120"/>
              </a:rPr>
              <a:t>Yes</a:t>
            </a:r>
            <a:endParaRPr lang="en-US" sz="1400" dirty="0"/>
          </a:p>
        </p:txBody>
      </p:sp>
      <p:sp>
        <p:nvSpPr>
          <p:cNvPr id="27" name="Shape 25"/>
          <p:cNvSpPr/>
          <p:nvPr/>
        </p:nvSpPr>
        <p:spPr>
          <a:xfrm>
            <a:off x="6812280" y="3922776"/>
            <a:ext cx="1981048" cy="0"/>
          </a:xfrm>
          <a:prstGeom prst="line">
            <a:avLst/>
          </a:prstGeom>
          <a:noFill/>
          <a:ln w="9525">
            <a:solidFill>
              <a:srgbClr val="DCDDF5"/>
            </a:solidFill>
            <a:prstDash val="solid"/>
          </a:ln>
        </p:spPr>
        <p:txBody>
          <a:bodyPr/>
          <a:lstStyle/>
          <a:p>
            <a:endParaRPr lang="en-PH"/>
          </a:p>
        </p:txBody>
      </p:sp>
      <p:sp>
        <p:nvSpPr>
          <p:cNvPr id="28" name="Text 26"/>
          <p:cNvSpPr txBox="1"/>
          <p:nvPr/>
        </p:nvSpPr>
        <p:spPr>
          <a:xfrm>
            <a:off x="6812280" y="4005072"/>
            <a:ext cx="1219124" cy="457200"/>
          </a:xfrm>
          <a:prstGeom prst="rect">
            <a:avLst/>
          </a:prstGeom>
          <a:noFill/>
          <a:ln/>
        </p:spPr>
        <p:txBody>
          <a:bodyPr wrap="square" lIns="0" tIns="0" rIns="0" bIns="0" rtlCol="0" anchor="ctr"/>
          <a:lstStyle/>
          <a:p>
            <a:pPr marL="0" indent="0">
              <a:buNone/>
            </a:pPr>
            <a:r>
              <a:rPr lang="en-US" sz="1250" dirty="0">
                <a:solidFill>
                  <a:srgbClr val="5B5F7A"/>
                </a:solidFill>
                <a:latin typeface="Calibri" pitchFamily="34" charset="0"/>
                <a:ea typeface="Calibri" pitchFamily="34" charset="-122"/>
                <a:cs typeface="Calibri" pitchFamily="34" charset="-120"/>
              </a:rPr>
              <a:t>Speed</a:t>
            </a:r>
            <a:endParaRPr lang="en-US" sz="1250" dirty="0"/>
          </a:p>
        </p:txBody>
      </p:sp>
      <p:sp>
        <p:nvSpPr>
          <p:cNvPr id="29" name="Text 27"/>
          <p:cNvSpPr txBox="1"/>
          <p:nvPr/>
        </p:nvSpPr>
        <p:spPr>
          <a:xfrm>
            <a:off x="7802804" y="4005072"/>
            <a:ext cx="990524" cy="457200"/>
          </a:xfrm>
          <a:prstGeom prst="rect">
            <a:avLst/>
          </a:prstGeom>
          <a:noFill/>
          <a:ln/>
        </p:spPr>
        <p:txBody>
          <a:bodyPr wrap="square" lIns="0" tIns="0" rIns="0" bIns="0" rtlCol="0" anchor="ctr"/>
          <a:lstStyle/>
          <a:p>
            <a:pPr marL="0" indent="0" algn="r">
              <a:buNone/>
            </a:pPr>
            <a:r>
              <a:rPr lang="en-US" sz="1400" b="1" dirty="0">
                <a:solidFill>
                  <a:srgbClr val="1E1B4B"/>
                </a:solidFill>
                <a:latin typeface="Calibri" pitchFamily="34" charset="0"/>
                <a:ea typeface="Calibri" pitchFamily="34" charset="-122"/>
                <a:cs typeface="Calibri" pitchFamily="34" charset="-120"/>
              </a:rPr>
              <a:t>Slower</a:t>
            </a:r>
            <a:endParaRPr lang="en-US" sz="1400" dirty="0"/>
          </a:p>
        </p:txBody>
      </p:sp>
      <p:sp>
        <p:nvSpPr>
          <p:cNvPr id="30" name="Shape 28"/>
          <p:cNvSpPr/>
          <p:nvPr/>
        </p:nvSpPr>
        <p:spPr>
          <a:xfrm>
            <a:off x="6812280" y="4553712"/>
            <a:ext cx="1981048" cy="0"/>
          </a:xfrm>
          <a:prstGeom prst="line">
            <a:avLst/>
          </a:prstGeom>
          <a:noFill/>
          <a:ln w="9525">
            <a:solidFill>
              <a:srgbClr val="DCDDF5"/>
            </a:solidFill>
            <a:prstDash val="solid"/>
          </a:ln>
        </p:spPr>
        <p:txBody>
          <a:bodyPr/>
          <a:lstStyle/>
          <a:p>
            <a:endParaRPr lang="en-PH"/>
          </a:p>
        </p:txBody>
      </p:sp>
      <p:sp>
        <p:nvSpPr>
          <p:cNvPr id="31" name="Text 29"/>
          <p:cNvSpPr txBox="1"/>
          <p:nvPr/>
        </p:nvSpPr>
        <p:spPr>
          <a:xfrm>
            <a:off x="6812280" y="4636008"/>
            <a:ext cx="1219124" cy="457200"/>
          </a:xfrm>
          <a:prstGeom prst="rect">
            <a:avLst/>
          </a:prstGeom>
          <a:noFill/>
          <a:ln/>
        </p:spPr>
        <p:txBody>
          <a:bodyPr wrap="square" lIns="0" tIns="0" rIns="0" bIns="0" rtlCol="0" anchor="ctr"/>
          <a:lstStyle/>
          <a:p>
            <a:pPr marL="0" indent="0">
              <a:buNone/>
            </a:pPr>
            <a:r>
              <a:rPr lang="en-US" sz="1250" dirty="0">
                <a:solidFill>
                  <a:srgbClr val="5B5F7A"/>
                </a:solidFill>
                <a:latin typeface="Calibri" pitchFamily="34" charset="0"/>
                <a:ea typeface="Calibri" pitchFamily="34" charset="-122"/>
                <a:cs typeface="Calibri" pitchFamily="34" charset="-120"/>
              </a:rPr>
              <a:t>Memory</a:t>
            </a:r>
            <a:endParaRPr lang="en-US" sz="1250" dirty="0"/>
          </a:p>
        </p:txBody>
      </p:sp>
      <p:sp>
        <p:nvSpPr>
          <p:cNvPr id="32" name="Text 30"/>
          <p:cNvSpPr txBox="1"/>
          <p:nvPr/>
        </p:nvSpPr>
        <p:spPr>
          <a:xfrm>
            <a:off x="7802804" y="4636008"/>
            <a:ext cx="990524" cy="457200"/>
          </a:xfrm>
          <a:prstGeom prst="rect">
            <a:avLst/>
          </a:prstGeom>
          <a:noFill/>
          <a:ln/>
        </p:spPr>
        <p:txBody>
          <a:bodyPr wrap="square" lIns="0" tIns="0" rIns="0" bIns="0" rtlCol="0" anchor="ctr"/>
          <a:lstStyle/>
          <a:p>
            <a:pPr marL="0" indent="0" algn="r">
              <a:buNone/>
            </a:pPr>
            <a:r>
              <a:rPr lang="en-US" sz="1400" b="1" dirty="0">
                <a:solidFill>
                  <a:srgbClr val="1E1B4B"/>
                </a:solidFill>
                <a:latin typeface="Calibri" pitchFamily="34" charset="0"/>
                <a:ea typeface="Calibri" pitchFamily="34" charset="-122"/>
                <a:cs typeface="Calibri" pitchFamily="34" charset="-120"/>
              </a:rPr>
              <a:t>More</a:t>
            </a:r>
            <a:endParaRPr lang="en-US" sz="1400" dirty="0"/>
          </a:p>
        </p:txBody>
      </p:sp>
      <p:sp>
        <p:nvSpPr>
          <p:cNvPr id="33" name="Shape 31"/>
          <p:cNvSpPr/>
          <p:nvPr/>
        </p:nvSpPr>
        <p:spPr>
          <a:xfrm>
            <a:off x="6812280" y="5184648"/>
            <a:ext cx="1981048" cy="0"/>
          </a:xfrm>
          <a:prstGeom prst="line">
            <a:avLst/>
          </a:prstGeom>
          <a:noFill/>
          <a:ln w="9525">
            <a:solidFill>
              <a:srgbClr val="DCDDF5"/>
            </a:solidFill>
            <a:prstDash val="solid"/>
          </a:ln>
        </p:spPr>
        <p:txBody>
          <a:bodyPr/>
          <a:lstStyle/>
          <a:p>
            <a:endParaRPr lang="en-PH"/>
          </a:p>
        </p:txBody>
      </p:sp>
      <p:sp>
        <p:nvSpPr>
          <p:cNvPr id="34" name="Text 32"/>
          <p:cNvSpPr txBox="1"/>
          <p:nvPr/>
        </p:nvSpPr>
        <p:spPr>
          <a:xfrm>
            <a:off x="6812280" y="5266944"/>
            <a:ext cx="1219124" cy="457200"/>
          </a:xfrm>
          <a:prstGeom prst="rect">
            <a:avLst/>
          </a:prstGeom>
          <a:noFill/>
          <a:ln/>
        </p:spPr>
        <p:txBody>
          <a:bodyPr wrap="square" lIns="0" tIns="0" rIns="0" bIns="0" rtlCol="0" anchor="ctr"/>
          <a:lstStyle/>
          <a:p>
            <a:pPr marL="0" indent="0">
              <a:buNone/>
            </a:pPr>
            <a:r>
              <a:rPr lang="en-US" sz="1250" dirty="0">
                <a:solidFill>
                  <a:srgbClr val="5B5F7A"/>
                </a:solidFill>
                <a:latin typeface="Calibri" pitchFamily="34" charset="0"/>
                <a:ea typeface="Calibri" pitchFamily="34" charset="-122"/>
                <a:cs typeface="Calibri" pitchFamily="34" charset="-120"/>
              </a:rPr>
              <a:t>Methods</a:t>
            </a:r>
            <a:endParaRPr lang="en-US" sz="1250" dirty="0"/>
          </a:p>
        </p:txBody>
      </p:sp>
      <p:sp>
        <p:nvSpPr>
          <p:cNvPr id="35" name="Text 33"/>
          <p:cNvSpPr txBox="1"/>
          <p:nvPr/>
        </p:nvSpPr>
        <p:spPr>
          <a:xfrm>
            <a:off x="7802804" y="5266944"/>
            <a:ext cx="990524" cy="457200"/>
          </a:xfrm>
          <a:prstGeom prst="rect">
            <a:avLst/>
          </a:prstGeom>
          <a:noFill/>
          <a:ln/>
        </p:spPr>
        <p:txBody>
          <a:bodyPr wrap="square" lIns="0" tIns="0" rIns="0" bIns="0" rtlCol="0" anchor="ctr"/>
          <a:lstStyle/>
          <a:p>
            <a:pPr marL="0" indent="0" algn="r">
              <a:buNone/>
            </a:pPr>
            <a:r>
              <a:rPr lang="en-US" sz="1400" b="1" dirty="0">
                <a:solidFill>
                  <a:srgbClr val="1E1B4B"/>
                </a:solidFill>
                <a:latin typeface="Calibri" pitchFamily="34" charset="0"/>
                <a:ea typeface="Calibri" pitchFamily="34" charset="-122"/>
                <a:cs typeface="Calibri" pitchFamily="34" charset="-120"/>
              </a:rPr>
              <a:t>Many</a:t>
            </a:r>
            <a:endParaRPr lang="en-US" sz="1400" dirty="0"/>
          </a:p>
        </p:txBody>
      </p:sp>
      <p:sp>
        <p:nvSpPr>
          <p:cNvPr id="36" name="Shape 34"/>
          <p:cNvSpPr/>
          <p:nvPr/>
        </p:nvSpPr>
        <p:spPr>
          <a:xfrm>
            <a:off x="9250528" y="1417320"/>
            <a:ext cx="2438248" cy="4572000"/>
          </a:xfrm>
          <a:prstGeom prst="roundRect">
            <a:avLst>
              <a:gd name="adj" fmla="val 4500"/>
            </a:avLst>
          </a:prstGeom>
          <a:solidFill>
            <a:srgbClr val="FFFFFF"/>
          </a:solidFill>
          <a:ln w="9525">
            <a:solidFill>
              <a:srgbClr val="DCDDF5"/>
            </a:solidFill>
            <a:prstDash val="solid"/>
          </a:ln>
          <a:effectLst>
            <a:outerShdw blurRad="127000" dist="25400" dir="5400000" algn="bl" rotWithShape="0">
              <a:srgbClr val="4F46E5">
                <a:alpha val="12000"/>
              </a:srgbClr>
            </a:outerShdw>
          </a:effectLst>
        </p:spPr>
        <p:txBody>
          <a:bodyPr/>
          <a:lstStyle/>
          <a:p>
            <a:endParaRPr lang="en-PH"/>
          </a:p>
        </p:txBody>
      </p:sp>
      <p:sp>
        <p:nvSpPr>
          <p:cNvPr id="37" name="Text 35"/>
          <p:cNvSpPr txBox="1"/>
          <p:nvPr/>
        </p:nvSpPr>
        <p:spPr>
          <a:xfrm>
            <a:off x="9479128" y="1572768"/>
            <a:ext cx="1981048" cy="411480"/>
          </a:xfrm>
          <a:prstGeom prst="rect">
            <a:avLst/>
          </a:prstGeom>
          <a:noFill/>
          <a:ln/>
        </p:spPr>
        <p:txBody>
          <a:bodyPr wrap="square" lIns="0" tIns="0" rIns="0" bIns="0" rtlCol="0" anchor="t"/>
          <a:lstStyle/>
          <a:p>
            <a:pPr marL="0" indent="0">
              <a:buNone/>
            </a:pPr>
            <a:r>
              <a:rPr lang="en-US" sz="2000" b="1" dirty="0">
                <a:solidFill>
                  <a:srgbClr val="C8559F"/>
                </a:solidFill>
                <a:latin typeface="Calibri" pitchFamily="34" charset="0"/>
                <a:ea typeface="Calibri" pitchFamily="34" charset="-122"/>
                <a:cs typeface="Calibri" pitchFamily="34" charset="-120"/>
              </a:rPr>
              <a:t>Tuple</a:t>
            </a:r>
            <a:endParaRPr lang="en-US" sz="2000" dirty="0"/>
          </a:p>
        </p:txBody>
      </p:sp>
      <p:sp>
        <p:nvSpPr>
          <p:cNvPr id="38" name="Shape 36"/>
          <p:cNvSpPr/>
          <p:nvPr/>
        </p:nvSpPr>
        <p:spPr>
          <a:xfrm>
            <a:off x="9433408" y="2084832"/>
            <a:ext cx="2072488" cy="457200"/>
          </a:xfrm>
          <a:prstGeom prst="roundRect">
            <a:avLst>
              <a:gd name="adj" fmla="val 16000"/>
            </a:avLst>
          </a:prstGeom>
          <a:solidFill>
            <a:srgbClr val="1F1D36"/>
          </a:solidFill>
          <a:ln w="12700">
            <a:solidFill>
              <a:srgbClr val="1F1D36"/>
            </a:solidFill>
            <a:prstDash val="solid"/>
          </a:ln>
        </p:spPr>
        <p:txBody>
          <a:bodyPr/>
          <a:lstStyle/>
          <a:p>
            <a:endParaRPr lang="en-PH"/>
          </a:p>
        </p:txBody>
      </p:sp>
      <p:sp>
        <p:nvSpPr>
          <p:cNvPr id="39" name="Text 37"/>
          <p:cNvSpPr txBox="1"/>
          <p:nvPr/>
        </p:nvSpPr>
        <p:spPr>
          <a:xfrm>
            <a:off x="9543136" y="2084832"/>
            <a:ext cx="1889608" cy="457200"/>
          </a:xfrm>
          <a:prstGeom prst="rect">
            <a:avLst/>
          </a:prstGeom>
          <a:noFill/>
          <a:ln/>
        </p:spPr>
        <p:txBody>
          <a:bodyPr wrap="square" lIns="0" tIns="0" rIns="0" bIns="0" rtlCol="0" anchor="ctr"/>
          <a:lstStyle/>
          <a:p>
            <a:pPr marL="0" indent="0">
              <a:buNone/>
            </a:pPr>
            <a:r>
              <a:rPr lang="en-US" sz="1150" dirty="0">
                <a:solidFill>
                  <a:srgbClr val="E4E4F0"/>
                </a:solidFill>
                <a:latin typeface="Courier New" pitchFamily="34" charset="0"/>
                <a:ea typeface="Courier New" pitchFamily="34" charset="-122"/>
                <a:cs typeface="Courier New" pitchFamily="34" charset="-120"/>
              </a:rPr>
              <a:t>nums = (</a:t>
            </a:r>
            <a:r>
              <a:rPr lang="en-US" sz="1150" dirty="0">
                <a:solidFill>
                  <a:srgbClr val="FAB387"/>
                </a:solidFill>
                <a:latin typeface="Courier New" pitchFamily="34" charset="0"/>
                <a:ea typeface="Courier New" pitchFamily="34" charset="-122"/>
                <a:cs typeface="Courier New" pitchFamily="34" charset="-120"/>
              </a:rPr>
              <a:t>1</a:t>
            </a:r>
            <a:r>
              <a:rPr lang="en-US" sz="1150" dirty="0">
                <a:solidFill>
                  <a:srgbClr val="E4E4F0"/>
                </a:solidFill>
                <a:latin typeface="Courier New" pitchFamily="34" charset="0"/>
                <a:ea typeface="Courier New" pitchFamily="34" charset="-122"/>
                <a:cs typeface="Courier New" pitchFamily="34" charset="-120"/>
              </a:rPr>
              <a:t>, </a:t>
            </a:r>
            <a:r>
              <a:rPr lang="en-US" sz="1150" dirty="0">
                <a:solidFill>
                  <a:srgbClr val="FAB387"/>
                </a:solidFill>
                <a:latin typeface="Courier New" pitchFamily="34" charset="0"/>
                <a:ea typeface="Courier New" pitchFamily="34" charset="-122"/>
                <a:cs typeface="Courier New" pitchFamily="34" charset="-120"/>
              </a:rPr>
              <a:t>2</a:t>
            </a:r>
            <a:r>
              <a:rPr lang="en-US" sz="1150" dirty="0">
                <a:solidFill>
                  <a:srgbClr val="E4E4F0"/>
                </a:solidFill>
                <a:latin typeface="Courier New" pitchFamily="34" charset="0"/>
                <a:ea typeface="Courier New" pitchFamily="34" charset="-122"/>
                <a:cs typeface="Courier New" pitchFamily="34" charset="-120"/>
              </a:rPr>
              <a:t>, </a:t>
            </a:r>
            <a:r>
              <a:rPr lang="en-US" sz="1150" dirty="0">
                <a:solidFill>
                  <a:srgbClr val="FAB387"/>
                </a:solidFill>
                <a:latin typeface="Courier New" pitchFamily="34" charset="0"/>
                <a:ea typeface="Courier New" pitchFamily="34" charset="-122"/>
                <a:cs typeface="Courier New" pitchFamily="34" charset="-120"/>
              </a:rPr>
              <a:t>3</a:t>
            </a:r>
            <a:r>
              <a:rPr lang="en-US" sz="1150" dirty="0">
                <a:solidFill>
                  <a:srgbClr val="E4E4F0"/>
                </a:solidFill>
                <a:latin typeface="Courier New" pitchFamily="34" charset="0"/>
                <a:ea typeface="Courier New" pitchFamily="34" charset="-122"/>
                <a:cs typeface="Courier New" pitchFamily="34" charset="-120"/>
              </a:rPr>
              <a:t>)</a:t>
            </a:r>
            <a:endParaRPr lang="en-US" sz="1150" dirty="0"/>
          </a:p>
        </p:txBody>
      </p:sp>
      <p:sp>
        <p:nvSpPr>
          <p:cNvPr id="40" name="Text 38"/>
          <p:cNvSpPr txBox="1"/>
          <p:nvPr/>
        </p:nvSpPr>
        <p:spPr>
          <a:xfrm>
            <a:off x="9479128" y="2743200"/>
            <a:ext cx="1219124" cy="457200"/>
          </a:xfrm>
          <a:prstGeom prst="rect">
            <a:avLst/>
          </a:prstGeom>
          <a:noFill/>
          <a:ln/>
        </p:spPr>
        <p:txBody>
          <a:bodyPr wrap="square" lIns="0" tIns="0" rIns="0" bIns="0" rtlCol="0" anchor="ctr"/>
          <a:lstStyle/>
          <a:p>
            <a:pPr marL="0" indent="0">
              <a:buNone/>
            </a:pPr>
            <a:r>
              <a:rPr lang="en-US" sz="1250" dirty="0">
                <a:solidFill>
                  <a:srgbClr val="5B5F7A"/>
                </a:solidFill>
                <a:latin typeface="Calibri" pitchFamily="34" charset="0"/>
                <a:ea typeface="Calibri" pitchFamily="34" charset="-122"/>
                <a:cs typeface="Calibri" pitchFamily="34" charset="-120"/>
              </a:rPr>
              <a:t>Brackets</a:t>
            </a:r>
            <a:endParaRPr lang="en-US" sz="1250" dirty="0"/>
          </a:p>
        </p:txBody>
      </p:sp>
      <p:sp>
        <p:nvSpPr>
          <p:cNvPr id="41" name="Text 39"/>
          <p:cNvSpPr txBox="1"/>
          <p:nvPr/>
        </p:nvSpPr>
        <p:spPr>
          <a:xfrm>
            <a:off x="10469651" y="2743200"/>
            <a:ext cx="990524" cy="457200"/>
          </a:xfrm>
          <a:prstGeom prst="rect">
            <a:avLst/>
          </a:prstGeom>
          <a:noFill/>
          <a:ln/>
        </p:spPr>
        <p:txBody>
          <a:bodyPr wrap="square" lIns="0" tIns="0" rIns="0" bIns="0" rtlCol="0" anchor="ctr"/>
          <a:lstStyle/>
          <a:p>
            <a:pPr marL="0" indent="0" algn="r">
              <a:buNone/>
            </a:pPr>
            <a:r>
              <a:rPr lang="en-US" sz="1400" b="1" dirty="0">
                <a:solidFill>
                  <a:srgbClr val="1E1B4B"/>
                </a:solidFill>
                <a:latin typeface="Courier New" pitchFamily="34" charset="0"/>
                <a:ea typeface="Courier New" pitchFamily="34" charset="-122"/>
                <a:cs typeface="Courier New" pitchFamily="34" charset="-120"/>
              </a:rPr>
              <a:t>( )</a:t>
            </a:r>
            <a:endParaRPr lang="en-US" sz="1400" dirty="0"/>
          </a:p>
        </p:txBody>
      </p:sp>
      <p:sp>
        <p:nvSpPr>
          <p:cNvPr id="42" name="Shape 40"/>
          <p:cNvSpPr/>
          <p:nvPr/>
        </p:nvSpPr>
        <p:spPr>
          <a:xfrm>
            <a:off x="9479128" y="3291840"/>
            <a:ext cx="1981048" cy="0"/>
          </a:xfrm>
          <a:prstGeom prst="line">
            <a:avLst/>
          </a:prstGeom>
          <a:noFill/>
          <a:ln w="9525">
            <a:solidFill>
              <a:srgbClr val="DCDDF5"/>
            </a:solidFill>
            <a:prstDash val="solid"/>
          </a:ln>
        </p:spPr>
        <p:txBody>
          <a:bodyPr/>
          <a:lstStyle/>
          <a:p>
            <a:endParaRPr lang="en-PH"/>
          </a:p>
        </p:txBody>
      </p:sp>
      <p:sp>
        <p:nvSpPr>
          <p:cNvPr id="43" name="Text 41"/>
          <p:cNvSpPr txBox="1"/>
          <p:nvPr/>
        </p:nvSpPr>
        <p:spPr>
          <a:xfrm>
            <a:off x="9479128" y="3374136"/>
            <a:ext cx="1219124" cy="457200"/>
          </a:xfrm>
          <a:prstGeom prst="rect">
            <a:avLst/>
          </a:prstGeom>
          <a:noFill/>
          <a:ln/>
        </p:spPr>
        <p:txBody>
          <a:bodyPr wrap="square" lIns="0" tIns="0" rIns="0" bIns="0" rtlCol="0" anchor="ctr"/>
          <a:lstStyle/>
          <a:p>
            <a:pPr marL="0" indent="0">
              <a:buNone/>
            </a:pPr>
            <a:r>
              <a:rPr lang="en-US" sz="1250" dirty="0">
                <a:solidFill>
                  <a:srgbClr val="5B5F7A"/>
                </a:solidFill>
                <a:latin typeface="Calibri" pitchFamily="34" charset="0"/>
                <a:ea typeface="Calibri" pitchFamily="34" charset="-122"/>
                <a:cs typeface="Calibri" pitchFamily="34" charset="-120"/>
              </a:rPr>
              <a:t>Mutable</a:t>
            </a:r>
            <a:endParaRPr lang="en-US" sz="1250" dirty="0"/>
          </a:p>
        </p:txBody>
      </p:sp>
      <p:sp>
        <p:nvSpPr>
          <p:cNvPr id="44" name="Text 42"/>
          <p:cNvSpPr txBox="1"/>
          <p:nvPr/>
        </p:nvSpPr>
        <p:spPr>
          <a:xfrm>
            <a:off x="10469651" y="3374136"/>
            <a:ext cx="990524" cy="457200"/>
          </a:xfrm>
          <a:prstGeom prst="rect">
            <a:avLst/>
          </a:prstGeom>
          <a:noFill/>
          <a:ln/>
        </p:spPr>
        <p:txBody>
          <a:bodyPr wrap="square" lIns="0" tIns="0" rIns="0" bIns="0" rtlCol="0" anchor="ctr"/>
          <a:lstStyle/>
          <a:p>
            <a:pPr marL="0" indent="0" algn="r">
              <a:buNone/>
            </a:pPr>
            <a:r>
              <a:rPr lang="en-US" sz="1400" b="1" dirty="0">
                <a:solidFill>
                  <a:srgbClr val="1E1B4B"/>
                </a:solidFill>
                <a:latin typeface="Calibri" pitchFamily="34" charset="0"/>
                <a:ea typeface="Calibri" pitchFamily="34" charset="-122"/>
                <a:cs typeface="Calibri" pitchFamily="34" charset="-120"/>
              </a:rPr>
              <a:t>No</a:t>
            </a:r>
            <a:endParaRPr lang="en-US" sz="1400" dirty="0"/>
          </a:p>
        </p:txBody>
      </p:sp>
      <p:sp>
        <p:nvSpPr>
          <p:cNvPr id="45" name="Shape 43"/>
          <p:cNvSpPr/>
          <p:nvPr/>
        </p:nvSpPr>
        <p:spPr>
          <a:xfrm>
            <a:off x="9479128" y="3922776"/>
            <a:ext cx="1981048" cy="0"/>
          </a:xfrm>
          <a:prstGeom prst="line">
            <a:avLst/>
          </a:prstGeom>
          <a:noFill/>
          <a:ln w="9525">
            <a:solidFill>
              <a:srgbClr val="DCDDF5"/>
            </a:solidFill>
            <a:prstDash val="solid"/>
          </a:ln>
        </p:spPr>
        <p:txBody>
          <a:bodyPr/>
          <a:lstStyle/>
          <a:p>
            <a:endParaRPr lang="en-PH"/>
          </a:p>
        </p:txBody>
      </p:sp>
      <p:sp>
        <p:nvSpPr>
          <p:cNvPr id="46" name="Text 44"/>
          <p:cNvSpPr txBox="1"/>
          <p:nvPr/>
        </p:nvSpPr>
        <p:spPr>
          <a:xfrm>
            <a:off x="9479128" y="4005072"/>
            <a:ext cx="1219124" cy="457200"/>
          </a:xfrm>
          <a:prstGeom prst="rect">
            <a:avLst/>
          </a:prstGeom>
          <a:noFill/>
          <a:ln/>
        </p:spPr>
        <p:txBody>
          <a:bodyPr wrap="square" lIns="0" tIns="0" rIns="0" bIns="0" rtlCol="0" anchor="ctr"/>
          <a:lstStyle/>
          <a:p>
            <a:pPr marL="0" indent="0">
              <a:buNone/>
            </a:pPr>
            <a:r>
              <a:rPr lang="en-US" sz="1250" dirty="0">
                <a:solidFill>
                  <a:srgbClr val="5B5F7A"/>
                </a:solidFill>
                <a:latin typeface="Calibri" pitchFamily="34" charset="0"/>
                <a:ea typeface="Calibri" pitchFamily="34" charset="-122"/>
                <a:cs typeface="Calibri" pitchFamily="34" charset="-120"/>
              </a:rPr>
              <a:t>Speed</a:t>
            </a:r>
            <a:endParaRPr lang="en-US" sz="1250" dirty="0"/>
          </a:p>
        </p:txBody>
      </p:sp>
      <p:sp>
        <p:nvSpPr>
          <p:cNvPr id="47" name="Text 45"/>
          <p:cNvSpPr txBox="1"/>
          <p:nvPr/>
        </p:nvSpPr>
        <p:spPr>
          <a:xfrm>
            <a:off x="10469651" y="4005072"/>
            <a:ext cx="990524" cy="457200"/>
          </a:xfrm>
          <a:prstGeom prst="rect">
            <a:avLst/>
          </a:prstGeom>
          <a:noFill/>
          <a:ln/>
        </p:spPr>
        <p:txBody>
          <a:bodyPr wrap="square" lIns="0" tIns="0" rIns="0" bIns="0" rtlCol="0" anchor="ctr"/>
          <a:lstStyle/>
          <a:p>
            <a:pPr marL="0" indent="0" algn="r">
              <a:buNone/>
            </a:pPr>
            <a:r>
              <a:rPr lang="en-US" sz="1400" b="1" dirty="0">
                <a:solidFill>
                  <a:srgbClr val="1E1B4B"/>
                </a:solidFill>
                <a:latin typeface="Calibri" pitchFamily="34" charset="0"/>
                <a:ea typeface="Calibri" pitchFamily="34" charset="-122"/>
                <a:cs typeface="Calibri" pitchFamily="34" charset="-120"/>
              </a:rPr>
              <a:t>Faster</a:t>
            </a:r>
            <a:endParaRPr lang="en-US" sz="1400" dirty="0"/>
          </a:p>
        </p:txBody>
      </p:sp>
      <p:sp>
        <p:nvSpPr>
          <p:cNvPr id="48" name="Shape 46"/>
          <p:cNvSpPr/>
          <p:nvPr/>
        </p:nvSpPr>
        <p:spPr>
          <a:xfrm>
            <a:off x="9479128" y="4553712"/>
            <a:ext cx="1981048" cy="0"/>
          </a:xfrm>
          <a:prstGeom prst="line">
            <a:avLst/>
          </a:prstGeom>
          <a:noFill/>
          <a:ln w="9525">
            <a:solidFill>
              <a:srgbClr val="DCDDF5"/>
            </a:solidFill>
            <a:prstDash val="solid"/>
          </a:ln>
        </p:spPr>
        <p:txBody>
          <a:bodyPr/>
          <a:lstStyle/>
          <a:p>
            <a:endParaRPr lang="en-PH"/>
          </a:p>
        </p:txBody>
      </p:sp>
      <p:sp>
        <p:nvSpPr>
          <p:cNvPr id="49" name="Text 47"/>
          <p:cNvSpPr txBox="1"/>
          <p:nvPr/>
        </p:nvSpPr>
        <p:spPr>
          <a:xfrm>
            <a:off x="9479128" y="4636008"/>
            <a:ext cx="1219124" cy="457200"/>
          </a:xfrm>
          <a:prstGeom prst="rect">
            <a:avLst/>
          </a:prstGeom>
          <a:noFill/>
          <a:ln/>
        </p:spPr>
        <p:txBody>
          <a:bodyPr wrap="square" lIns="0" tIns="0" rIns="0" bIns="0" rtlCol="0" anchor="ctr"/>
          <a:lstStyle/>
          <a:p>
            <a:pPr marL="0" indent="0">
              <a:buNone/>
            </a:pPr>
            <a:r>
              <a:rPr lang="en-US" sz="1250" dirty="0">
                <a:solidFill>
                  <a:srgbClr val="5B5F7A"/>
                </a:solidFill>
                <a:latin typeface="Calibri" pitchFamily="34" charset="0"/>
                <a:ea typeface="Calibri" pitchFamily="34" charset="-122"/>
                <a:cs typeface="Calibri" pitchFamily="34" charset="-120"/>
              </a:rPr>
              <a:t>Memory</a:t>
            </a:r>
            <a:endParaRPr lang="en-US" sz="1250" dirty="0"/>
          </a:p>
        </p:txBody>
      </p:sp>
      <p:sp>
        <p:nvSpPr>
          <p:cNvPr id="50" name="Text 48"/>
          <p:cNvSpPr txBox="1"/>
          <p:nvPr/>
        </p:nvSpPr>
        <p:spPr>
          <a:xfrm>
            <a:off x="10469651" y="4636008"/>
            <a:ext cx="990524" cy="457200"/>
          </a:xfrm>
          <a:prstGeom prst="rect">
            <a:avLst/>
          </a:prstGeom>
          <a:noFill/>
          <a:ln/>
        </p:spPr>
        <p:txBody>
          <a:bodyPr wrap="square" lIns="0" tIns="0" rIns="0" bIns="0" rtlCol="0" anchor="ctr"/>
          <a:lstStyle/>
          <a:p>
            <a:pPr marL="0" indent="0" algn="r">
              <a:buNone/>
            </a:pPr>
            <a:r>
              <a:rPr lang="en-US" sz="1400" b="1" dirty="0">
                <a:solidFill>
                  <a:srgbClr val="1E1B4B"/>
                </a:solidFill>
                <a:latin typeface="Calibri" pitchFamily="34" charset="0"/>
                <a:ea typeface="Calibri" pitchFamily="34" charset="-122"/>
                <a:cs typeface="Calibri" pitchFamily="34" charset="-120"/>
              </a:rPr>
              <a:t>Less</a:t>
            </a:r>
            <a:endParaRPr lang="en-US" sz="1400" dirty="0"/>
          </a:p>
        </p:txBody>
      </p:sp>
      <p:sp>
        <p:nvSpPr>
          <p:cNvPr id="51" name="Shape 49"/>
          <p:cNvSpPr/>
          <p:nvPr/>
        </p:nvSpPr>
        <p:spPr>
          <a:xfrm>
            <a:off x="9479128" y="5184648"/>
            <a:ext cx="1981048" cy="0"/>
          </a:xfrm>
          <a:prstGeom prst="line">
            <a:avLst/>
          </a:prstGeom>
          <a:noFill/>
          <a:ln w="9525">
            <a:solidFill>
              <a:srgbClr val="DCDDF5"/>
            </a:solidFill>
            <a:prstDash val="solid"/>
          </a:ln>
        </p:spPr>
        <p:txBody>
          <a:bodyPr/>
          <a:lstStyle/>
          <a:p>
            <a:endParaRPr lang="en-PH"/>
          </a:p>
        </p:txBody>
      </p:sp>
      <p:sp>
        <p:nvSpPr>
          <p:cNvPr id="52" name="Text 50"/>
          <p:cNvSpPr txBox="1"/>
          <p:nvPr/>
        </p:nvSpPr>
        <p:spPr>
          <a:xfrm>
            <a:off x="9479128" y="5266944"/>
            <a:ext cx="1219124" cy="457200"/>
          </a:xfrm>
          <a:prstGeom prst="rect">
            <a:avLst/>
          </a:prstGeom>
          <a:noFill/>
          <a:ln/>
        </p:spPr>
        <p:txBody>
          <a:bodyPr wrap="square" lIns="0" tIns="0" rIns="0" bIns="0" rtlCol="0" anchor="ctr"/>
          <a:lstStyle/>
          <a:p>
            <a:pPr marL="0" indent="0">
              <a:buNone/>
            </a:pPr>
            <a:r>
              <a:rPr lang="en-US" sz="1250" dirty="0">
                <a:solidFill>
                  <a:srgbClr val="5B5F7A"/>
                </a:solidFill>
                <a:latin typeface="Calibri" pitchFamily="34" charset="0"/>
                <a:ea typeface="Calibri" pitchFamily="34" charset="-122"/>
                <a:cs typeface="Calibri" pitchFamily="34" charset="-120"/>
              </a:rPr>
              <a:t>Methods</a:t>
            </a:r>
            <a:endParaRPr lang="en-US" sz="1250" dirty="0"/>
          </a:p>
        </p:txBody>
      </p:sp>
      <p:sp>
        <p:nvSpPr>
          <p:cNvPr id="53" name="Text 51"/>
          <p:cNvSpPr txBox="1"/>
          <p:nvPr/>
        </p:nvSpPr>
        <p:spPr>
          <a:xfrm>
            <a:off x="10469651" y="5266944"/>
            <a:ext cx="990524" cy="457200"/>
          </a:xfrm>
          <a:prstGeom prst="rect">
            <a:avLst/>
          </a:prstGeom>
          <a:noFill/>
          <a:ln/>
        </p:spPr>
        <p:txBody>
          <a:bodyPr wrap="square" lIns="0" tIns="0" rIns="0" bIns="0" rtlCol="0" anchor="ctr"/>
          <a:lstStyle/>
          <a:p>
            <a:pPr marL="0" indent="0" algn="r">
              <a:buNone/>
            </a:pPr>
            <a:r>
              <a:rPr lang="en-US" sz="1400" b="1" dirty="0">
                <a:solidFill>
                  <a:srgbClr val="1E1B4B"/>
                </a:solidFill>
                <a:latin typeface="Calibri" pitchFamily="34" charset="0"/>
                <a:ea typeface="Calibri" pitchFamily="34" charset="-122"/>
                <a:cs typeface="Calibri" pitchFamily="34" charset="-120"/>
              </a:rPr>
              <a:t>Few</a:t>
            </a:r>
            <a:endParaRPr lang="en-US" sz="1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02920" y="310896"/>
            <a:ext cx="8229600" cy="237744"/>
          </a:xfrm>
          <a:prstGeom prst="rect">
            <a:avLst/>
          </a:prstGeom>
          <a:noFill/>
          <a:ln/>
        </p:spPr>
        <p:txBody>
          <a:bodyPr wrap="square" lIns="0" tIns="0" rIns="0" bIns="0" rtlCol="0" anchor="t"/>
          <a:lstStyle/>
          <a:p>
            <a:pPr marL="0" indent="0">
              <a:buNone/>
            </a:pPr>
            <a:r>
              <a:rPr lang="en-US" sz="1050" b="1" kern="0" spc="200" dirty="0">
                <a:solidFill>
                  <a:srgbClr val="C8559F"/>
                </a:solidFill>
                <a:latin typeface="Calibri" pitchFamily="34" charset="0"/>
                <a:ea typeface="Calibri" pitchFamily="34" charset="-122"/>
                <a:cs typeface="Calibri" pitchFamily="34" charset="-120"/>
              </a:rPr>
              <a:t>LIST AND TUPLES · COMPARISON</a:t>
            </a:r>
            <a:endParaRPr lang="en-US" sz="1050" dirty="0"/>
          </a:p>
        </p:txBody>
      </p:sp>
      <p:sp>
        <p:nvSpPr>
          <p:cNvPr id="3" name="Text 1"/>
          <p:cNvSpPr txBox="1"/>
          <p:nvPr/>
        </p:nvSpPr>
        <p:spPr>
          <a:xfrm>
            <a:off x="502920" y="530352"/>
            <a:ext cx="10241280" cy="640080"/>
          </a:xfrm>
          <a:prstGeom prst="rect">
            <a:avLst/>
          </a:prstGeom>
          <a:noFill/>
          <a:ln/>
        </p:spPr>
        <p:txBody>
          <a:bodyPr wrap="square" lIns="0" tIns="0" rIns="0" bIns="0" rtlCol="0" anchor="ctr"/>
          <a:lstStyle/>
          <a:p>
            <a:pPr marL="0" indent="0">
              <a:buNone/>
            </a:pPr>
            <a:r>
              <a:rPr lang="en-US" sz="2800" b="1" dirty="0">
                <a:solidFill>
                  <a:srgbClr val="1E1B4B"/>
                </a:solidFill>
                <a:latin typeface="Calibri" pitchFamily="34" charset="0"/>
                <a:ea typeface="Calibri" pitchFamily="34" charset="-122"/>
                <a:cs typeface="Calibri" pitchFamily="34" charset="-120"/>
              </a:rPr>
              <a:t>Key Differences between List and Tuple</a:t>
            </a:r>
            <a:endParaRPr lang="en-US" sz="2800" dirty="0"/>
          </a:p>
        </p:txBody>
      </p:sp>
      <p:sp>
        <p:nvSpPr>
          <p:cNvPr id="4" name="Text 2"/>
          <p:cNvSpPr txBox="1"/>
          <p:nvPr/>
        </p:nvSpPr>
        <p:spPr>
          <a:xfrm>
            <a:off x="502920" y="6446520"/>
            <a:ext cx="5486400" cy="228600"/>
          </a:xfrm>
          <a:prstGeom prst="rect">
            <a:avLst/>
          </a:prstGeom>
          <a:noFill/>
          <a:ln/>
        </p:spPr>
        <p:txBody>
          <a:bodyPr wrap="square" lIns="0" tIns="0" rIns="0" bIns="0" rtlCol="0" anchor="t"/>
          <a:lstStyle/>
          <a:p>
            <a:pPr marL="0" indent="0">
              <a:buNone/>
            </a:pPr>
            <a:r>
              <a:rPr lang="en-US" sz="900" dirty="0">
                <a:solidFill>
                  <a:srgbClr val="5B5F7A"/>
                </a:solidFill>
                <a:latin typeface="Calibri" pitchFamily="34" charset="0"/>
                <a:ea typeface="Calibri" pitchFamily="34" charset="-122"/>
                <a:cs typeface="Calibri" pitchFamily="34" charset="-120"/>
              </a:rPr>
              <a:t>Python  ·  List and Tuples</a:t>
            </a:r>
            <a:endParaRPr lang="en-US" sz="900" dirty="0"/>
          </a:p>
        </p:txBody>
      </p:sp>
      <p:sp>
        <p:nvSpPr>
          <p:cNvPr id="5" name="Text 3"/>
          <p:cNvSpPr txBox="1"/>
          <p:nvPr/>
        </p:nvSpPr>
        <p:spPr>
          <a:xfrm>
            <a:off x="11140135" y="6446520"/>
            <a:ext cx="548640" cy="228600"/>
          </a:xfrm>
          <a:prstGeom prst="rect">
            <a:avLst/>
          </a:prstGeom>
          <a:noFill/>
          <a:ln/>
        </p:spPr>
        <p:txBody>
          <a:bodyPr wrap="square" lIns="0" tIns="0" rIns="0" bIns="0" rtlCol="0" anchor="t"/>
          <a:lstStyle/>
          <a:p>
            <a:pPr marL="0" indent="0" algn="r">
              <a:buNone/>
            </a:pPr>
            <a:r>
              <a:rPr lang="en-US" sz="900" dirty="0">
                <a:solidFill>
                  <a:srgbClr val="5B5F7A"/>
                </a:solidFill>
                <a:latin typeface="Calibri" pitchFamily="34" charset="0"/>
                <a:ea typeface="Calibri" pitchFamily="34" charset="-122"/>
                <a:cs typeface="Calibri" pitchFamily="34" charset="-120"/>
              </a:rPr>
              <a:t>15</a:t>
            </a:r>
            <a:endParaRPr lang="en-US" sz="9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502920" y="1417320"/>
          <a:ext cx="11183112" cy="4096512"/>
        </p:xfrm>
        <a:graphic>
          <a:graphicData uri="http://schemas.openxmlformats.org/drawingml/2006/table">
            <a:tbl>
              <a:tblPr/>
              <a:tblGrid>
                <a:gridCol w="2194560">
                  <a:extLst>
                    <a:ext uri="{9D8B030D-6E8A-4147-A177-3AD203B41FA5}">
                      <a16:colId xmlns:a16="http://schemas.microsoft.com/office/drawing/2014/main" val="20000"/>
                    </a:ext>
                  </a:extLst>
                </a:gridCol>
                <a:gridCol w="4494276">
                  <a:extLst>
                    <a:ext uri="{9D8B030D-6E8A-4147-A177-3AD203B41FA5}">
                      <a16:colId xmlns:a16="http://schemas.microsoft.com/office/drawing/2014/main" val="20001"/>
                    </a:ext>
                  </a:extLst>
                </a:gridCol>
                <a:gridCol w="4494276">
                  <a:extLst>
                    <a:ext uri="{9D8B030D-6E8A-4147-A177-3AD203B41FA5}">
                      <a16:colId xmlns:a16="http://schemas.microsoft.com/office/drawing/2014/main" val="20002"/>
                    </a:ext>
                  </a:extLst>
                </a:gridCol>
              </a:tblGrid>
              <a:tr h="585216">
                <a:tc>
                  <a:txBody>
                    <a:bodyPr/>
                    <a:lstStyle/>
                    <a:p>
                      <a:pPr marL="0" indent="0" algn="l">
                        <a:buNone/>
                      </a:pPr>
                      <a:r>
                        <a:rPr lang="en-US" sz="1350" b="1" dirty="0">
                          <a:solidFill>
                            <a:srgbClr val="FFFFFF"/>
                          </a:solidFill>
                          <a:latin typeface="Calibri" pitchFamily="34" charset="0"/>
                          <a:ea typeface="Calibri" pitchFamily="34" charset="-122"/>
                          <a:cs typeface="Calibri" pitchFamily="34" charset="-120"/>
                        </a:rPr>
                        <a:t>Parameter</a:t>
                      </a:r>
                      <a:endParaRPr lang="en-US" sz="1350" dirty="0">
                        <a:latin typeface="Calibri" charset="0"/>
                        <a:ea typeface="Calibri" charset="0"/>
                        <a:cs typeface="Calibri" charset="0"/>
                      </a:endParaRPr>
                    </a:p>
                  </a:txBody>
                  <a:tcPr marL="146304" marR="146304" marT="0" marB="0" anchor="ctr">
                    <a:lnL w="9525" cap="flat" cmpd="sng" algn="ctr">
                      <a:solidFill>
                        <a:srgbClr val="DCDDF5"/>
                      </a:solidFill>
                      <a:prstDash val="solid"/>
                      <a:round/>
                      <a:headEnd type="none" w="med" len="med"/>
                      <a:tailEnd type="none" w="med" len="med"/>
                    </a:lnL>
                    <a:lnR w="9525" cap="flat" cmpd="sng" algn="ctr">
                      <a:solidFill>
                        <a:srgbClr val="DCDDF5"/>
                      </a:solidFill>
                      <a:prstDash val="solid"/>
                      <a:round/>
                      <a:headEnd type="none" w="med" len="med"/>
                      <a:tailEnd type="none" w="med" len="med"/>
                    </a:lnR>
                    <a:lnT w="9525" cap="flat" cmpd="sng" algn="ctr">
                      <a:solidFill>
                        <a:srgbClr val="DCDDF5"/>
                      </a:solidFill>
                      <a:prstDash val="solid"/>
                      <a:round/>
                      <a:headEnd type="none" w="med" len="med"/>
                      <a:tailEnd type="none" w="med" len="med"/>
                    </a:lnT>
                    <a:lnB w="9525" cap="flat" cmpd="sng" algn="ctr">
                      <a:solidFill>
                        <a:srgbClr val="DCDDF5"/>
                      </a:solidFill>
                      <a:prstDash val="solid"/>
                      <a:round/>
                      <a:headEnd type="none" w="med" len="med"/>
                      <a:tailEnd type="none" w="med" len="med"/>
                    </a:lnB>
                    <a:solidFill>
                      <a:srgbClr val="1E1B4B"/>
                    </a:solidFill>
                  </a:tcPr>
                </a:tc>
                <a:tc>
                  <a:txBody>
                    <a:bodyPr/>
                    <a:lstStyle/>
                    <a:p>
                      <a:pPr marL="0" indent="0" algn="ctr">
                        <a:buNone/>
                      </a:pPr>
                      <a:r>
                        <a:rPr lang="en-US" sz="1350" b="1" dirty="0">
                          <a:solidFill>
                            <a:srgbClr val="FFFFFF"/>
                          </a:solidFill>
                          <a:latin typeface="Calibri" pitchFamily="34" charset="0"/>
                          <a:ea typeface="Calibri" pitchFamily="34" charset="-122"/>
                          <a:cs typeface="Calibri" pitchFamily="34" charset="-120"/>
                        </a:rPr>
                        <a:t>List</a:t>
                      </a:r>
                      <a:endParaRPr lang="en-US" sz="1350" dirty="0">
                        <a:latin typeface="Calibri" charset="0"/>
                        <a:ea typeface="Calibri" charset="0"/>
                        <a:cs typeface="Calibri" charset="0"/>
                      </a:endParaRPr>
                    </a:p>
                  </a:txBody>
                  <a:tcPr marL="146304" marR="146304" marT="0" marB="0" anchor="ctr">
                    <a:lnL w="9525" cap="flat" cmpd="sng" algn="ctr">
                      <a:solidFill>
                        <a:srgbClr val="DCDDF5"/>
                      </a:solidFill>
                      <a:prstDash val="solid"/>
                      <a:round/>
                      <a:headEnd type="none" w="med" len="med"/>
                      <a:tailEnd type="none" w="med" len="med"/>
                    </a:lnL>
                    <a:lnR w="9525" cap="flat" cmpd="sng" algn="ctr">
                      <a:solidFill>
                        <a:srgbClr val="DCDDF5"/>
                      </a:solidFill>
                      <a:prstDash val="solid"/>
                      <a:round/>
                      <a:headEnd type="none" w="med" len="med"/>
                      <a:tailEnd type="none" w="med" len="med"/>
                    </a:lnR>
                    <a:lnT w="9525" cap="flat" cmpd="sng" algn="ctr">
                      <a:solidFill>
                        <a:srgbClr val="DCDDF5"/>
                      </a:solidFill>
                      <a:prstDash val="solid"/>
                      <a:round/>
                      <a:headEnd type="none" w="med" len="med"/>
                      <a:tailEnd type="none" w="med" len="med"/>
                    </a:lnT>
                    <a:lnB w="9525" cap="flat" cmpd="sng" algn="ctr">
                      <a:solidFill>
                        <a:srgbClr val="DCDDF5"/>
                      </a:solidFill>
                      <a:prstDash val="solid"/>
                      <a:round/>
                      <a:headEnd type="none" w="med" len="med"/>
                      <a:tailEnd type="none" w="med" len="med"/>
                    </a:lnB>
                    <a:solidFill>
                      <a:srgbClr val="4F46E5"/>
                    </a:solidFill>
                  </a:tcPr>
                </a:tc>
                <a:tc>
                  <a:txBody>
                    <a:bodyPr/>
                    <a:lstStyle/>
                    <a:p>
                      <a:pPr marL="0" indent="0" algn="ctr">
                        <a:buNone/>
                      </a:pPr>
                      <a:r>
                        <a:rPr lang="en-US" sz="1350" b="1" dirty="0">
                          <a:solidFill>
                            <a:srgbClr val="FFFFFF"/>
                          </a:solidFill>
                          <a:latin typeface="Calibri" pitchFamily="34" charset="0"/>
                          <a:ea typeface="Calibri" pitchFamily="34" charset="-122"/>
                          <a:cs typeface="Calibri" pitchFamily="34" charset="-120"/>
                        </a:rPr>
                        <a:t>Tuple</a:t>
                      </a:r>
                      <a:endParaRPr lang="en-US" sz="1350" dirty="0">
                        <a:latin typeface="Calibri" charset="0"/>
                        <a:ea typeface="Calibri" charset="0"/>
                        <a:cs typeface="Calibri" charset="0"/>
                      </a:endParaRPr>
                    </a:p>
                  </a:txBody>
                  <a:tcPr marL="146304" marR="146304" marT="0" marB="0" anchor="ctr">
                    <a:lnL w="9525" cap="flat" cmpd="sng" algn="ctr">
                      <a:solidFill>
                        <a:srgbClr val="DCDDF5"/>
                      </a:solidFill>
                      <a:prstDash val="solid"/>
                      <a:round/>
                      <a:headEnd type="none" w="med" len="med"/>
                      <a:tailEnd type="none" w="med" len="med"/>
                    </a:lnL>
                    <a:lnR w="9525" cap="flat" cmpd="sng" algn="ctr">
                      <a:solidFill>
                        <a:srgbClr val="DCDDF5"/>
                      </a:solidFill>
                      <a:prstDash val="solid"/>
                      <a:round/>
                      <a:headEnd type="none" w="med" len="med"/>
                      <a:tailEnd type="none" w="med" len="med"/>
                    </a:lnR>
                    <a:lnT w="9525" cap="flat" cmpd="sng" algn="ctr">
                      <a:solidFill>
                        <a:srgbClr val="DCDDF5"/>
                      </a:solidFill>
                      <a:prstDash val="solid"/>
                      <a:round/>
                      <a:headEnd type="none" w="med" len="med"/>
                      <a:tailEnd type="none" w="med" len="med"/>
                    </a:lnT>
                    <a:lnB w="9525" cap="flat" cmpd="sng" algn="ctr">
                      <a:solidFill>
                        <a:srgbClr val="DCDDF5"/>
                      </a:solidFill>
                      <a:prstDash val="solid"/>
                      <a:round/>
                      <a:headEnd type="none" w="med" len="med"/>
                      <a:tailEnd type="none" w="med" len="med"/>
                    </a:lnB>
                    <a:solidFill>
                      <a:srgbClr val="8E3B78"/>
                    </a:solidFill>
                  </a:tcPr>
                </a:tc>
                <a:extLst>
                  <a:ext uri="{0D108BD9-81ED-4DB2-BD59-A6C34878D82A}">
                    <a16:rowId xmlns:a16="http://schemas.microsoft.com/office/drawing/2014/main" val="10000"/>
                  </a:ext>
                </a:extLst>
              </a:tr>
              <a:tr h="585216">
                <a:tc>
                  <a:txBody>
                    <a:bodyPr/>
                    <a:lstStyle/>
                    <a:p>
                      <a:pPr marL="0" indent="0" algn="l">
                        <a:buNone/>
                      </a:pPr>
                      <a:r>
                        <a:rPr lang="en-US" sz="1300" b="1" dirty="0">
                          <a:solidFill>
                            <a:srgbClr val="1E1B4B"/>
                          </a:solidFill>
                          <a:latin typeface="Calibri" pitchFamily="34" charset="0"/>
                          <a:ea typeface="Calibri" pitchFamily="34" charset="-122"/>
                          <a:cs typeface="Calibri" pitchFamily="34" charset="-120"/>
                        </a:rPr>
                        <a:t>Mutability</a:t>
                      </a:r>
                      <a:endParaRPr lang="en-US" sz="1300" dirty="0">
                        <a:latin typeface="Calibri" charset="0"/>
                        <a:ea typeface="Calibri" charset="0"/>
                        <a:cs typeface="Calibri" charset="0"/>
                      </a:endParaRPr>
                    </a:p>
                  </a:txBody>
                  <a:tcPr marL="146304" marR="146304" marT="0" marB="0" anchor="ctr">
                    <a:lnL w="9525" cap="flat" cmpd="sng" algn="ctr">
                      <a:solidFill>
                        <a:srgbClr val="DCDDF5"/>
                      </a:solidFill>
                      <a:prstDash val="solid"/>
                      <a:round/>
                      <a:headEnd type="none" w="med" len="med"/>
                      <a:tailEnd type="none" w="med" len="med"/>
                    </a:lnL>
                    <a:lnR w="9525" cap="flat" cmpd="sng" algn="ctr">
                      <a:solidFill>
                        <a:srgbClr val="DCDDF5"/>
                      </a:solidFill>
                      <a:prstDash val="solid"/>
                      <a:round/>
                      <a:headEnd type="none" w="med" len="med"/>
                      <a:tailEnd type="none" w="med" len="med"/>
                    </a:lnR>
                    <a:lnT w="9525" cap="flat" cmpd="sng" algn="ctr">
                      <a:solidFill>
                        <a:srgbClr val="DCDDF5"/>
                      </a:solidFill>
                      <a:prstDash val="solid"/>
                      <a:round/>
                      <a:headEnd type="none" w="med" len="med"/>
                      <a:tailEnd type="none" w="med" len="med"/>
                    </a:lnT>
                    <a:lnB w="9525" cap="flat" cmpd="sng" algn="ctr">
                      <a:solidFill>
                        <a:srgbClr val="DCDDF5"/>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E1B4B"/>
                          </a:solidFill>
                          <a:latin typeface="Calibri" pitchFamily="34" charset="0"/>
                          <a:ea typeface="Calibri" pitchFamily="34" charset="-122"/>
                          <a:cs typeface="Calibri" pitchFamily="34" charset="-120"/>
                        </a:rPr>
                        <a:t>Lists are mutable (can be modified).</a:t>
                      </a:r>
                      <a:endParaRPr lang="en-US" sz="1300" dirty="0">
                        <a:latin typeface="Calibri" charset="0"/>
                        <a:ea typeface="Calibri" charset="0"/>
                        <a:cs typeface="Calibri" charset="0"/>
                      </a:endParaRPr>
                    </a:p>
                  </a:txBody>
                  <a:tcPr marL="146304" marR="146304" marT="0" marB="0" anchor="ctr">
                    <a:lnL w="9525" cap="flat" cmpd="sng" algn="ctr">
                      <a:solidFill>
                        <a:srgbClr val="DCDDF5"/>
                      </a:solidFill>
                      <a:prstDash val="solid"/>
                      <a:round/>
                      <a:headEnd type="none" w="med" len="med"/>
                      <a:tailEnd type="none" w="med" len="med"/>
                    </a:lnL>
                    <a:lnR w="9525" cap="flat" cmpd="sng" algn="ctr">
                      <a:solidFill>
                        <a:srgbClr val="DCDDF5"/>
                      </a:solidFill>
                      <a:prstDash val="solid"/>
                      <a:round/>
                      <a:headEnd type="none" w="med" len="med"/>
                      <a:tailEnd type="none" w="med" len="med"/>
                    </a:lnR>
                    <a:lnT w="9525" cap="flat" cmpd="sng" algn="ctr">
                      <a:solidFill>
                        <a:srgbClr val="DCDDF5"/>
                      </a:solidFill>
                      <a:prstDash val="solid"/>
                      <a:round/>
                      <a:headEnd type="none" w="med" len="med"/>
                      <a:tailEnd type="none" w="med" len="med"/>
                    </a:lnT>
                    <a:lnB w="9525" cap="flat" cmpd="sng" algn="ctr">
                      <a:solidFill>
                        <a:srgbClr val="DCDDF5"/>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E1B4B"/>
                          </a:solidFill>
                          <a:latin typeface="Calibri" pitchFamily="34" charset="0"/>
                          <a:ea typeface="Calibri" pitchFamily="34" charset="-122"/>
                          <a:cs typeface="Calibri" pitchFamily="34" charset="-120"/>
                        </a:rPr>
                        <a:t>Tuples are immutable (cannot be modified).</a:t>
                      </a:r>
                      <a:endParaRPr lang="en-US" sz="1300" dirty="0">
                        <a:latin typeface="Calibri" charset="0"/>
                        <a:ea typeface="Calibri" charset="0"/>
                        <a:cs typeface="Calibri" charset="0"/>
                      </a:endParaRPr>
                    </a:p>
                  </a:txBody>
                  <a:tcPr marL="146304" marR="146304" marT="0" marB="0" anchor="ctr">
                    <a:lnL w="9525" cap="flat" cmpd="sng" algn="ctr">
                      <a:solidFill>
                        <a:srgbClr val="DCDDF5"/>
                      </a:solidFill>
                      <a:prstDash val="solid"/>
                      <a:round/>
                      <a:headEnd type="none" w="med" len="med"/>
                      <a:tailEnd type="none" w="med" len="med"/>
                    </a:lnL>
                    <a:lnR w="9525" cap="flat" cmpd="sng" algn="ctr">
                      <a:solidFill>
                        <a:srgbClr val="DCDDF5"/>
                      </a:solidFill>
                      <a:prstDash val="solid"/>
                      <a:round/>
                      <a:headEnd type="none" w="med" len="med"/>
                      <a:tailEnd type="none" w="med" len="med"/>
                    </a:lnR>
                    <a:lnT w="9525" cap="flat" cmpd="sng" algn="ctr">
                      <a:solidFill>
                        <a:srgbClr val="DCDDF5"/>
                      </a:solidFill>
                      <a:prstDash val="solid"/>
                      <a:round/>
                      <a:headEnd type="none" w="med" len="med"/>
                      <a:tailEnd type="none" w="med" len="med"/>
                    </a:lnT>
                    <a:lnB w="9525" cap="flat" cmpd="sng" algn="ctr">
                      <a:solidFill>
                        <a:srgbClr val="DCDDF5"/>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85216">
                <a:tc>
                  <a:txBody>
                    <a:bodyPr/>
                    <a:lstStyle/>
                    <a:p>
                      <a:pPr marL="0" indent="0" algn="l">
                        <a:buNone/>
                      </a:pPr>
                      <a:r>
                        <a:rPr lang="en-US" sz="1300" b="1" dirty="0">
                          <a:solidFill>
                            <a:srgbClr val="1E1B4B"/>
                          </a:solidFill>
                          <a:latin typeface="Calibri" pitchFamily="34" charset="0"/>
                          <a:ea typeface="Calibri" pitchFamily="34" charset="-122"/>
                          <a:cs typeface="Calibri" pitchFamily="34" charset="-120"/>
                        </a:rPr>
                        <a:t>Iteration Speed</a:t>
                      </a:r>
                      <a:endParaRPr lang="en-US" sz="1300" dirty="0">
                        <a:latin typeface="Calibri" charset="0"/>
                        <a:ea typeface="Calibri" charset="0"/>
                        <a:cs typeface="Calibri" charset="0"/>
                      </a:endParaRPr>
                    </a:p>
                  </a:txBody>
                  <a:tcPr marL="146304" marR="146304" marT="0" marB="0" anchor="ctr">
                    <a:lnL w="9525" cap="flat" cmpd="sng" algn="ctr">
                      <a:solidFill>
                        <a:srgbClr val="DCDDF5"/>
                      </a:solidFill>
                      <a:prstDash val="solid"/>
                      <a:round/>
                      <a:headEnd type="none" w="med" len="med"/>
                      <a:tailEnd type="none" w="med" len="med"/>
                    </a:lnL>
                    <a:lnR w="9525" cap="flat" cmpd="sng" algn="ctr">
                      <a:solidFill>
                        <a:srgbClr val="DCDDF5"/>
                      </a:solidFill>
                      <a:prstDash val="solid"/>
                      <a:round/>
                      <a:headEnd type="none" w="med" len="med"/>
                      <a:tailEnd type="none" w="med" len="med"/>
                    </a:lnR>
                    <a:lnT w="9525" cap="flat" cmpd="sng" algn="ctr">
                      <a:solidFill>
                        <a:srgbClr val="DCDDF5"/>
                      </a:solidFill>
                      <a:prstDash val="solid"/>
                      <a:round/>
                      <a:headEnd type="none" w="med" len="med"/>
                      <a:tailEnd type="none" w="med" len="med"/>
                    </a:lnT>
                    <a:lnB w="9525" cap="flat" cmpd="sng" algn="ctr">
                      <a:solidFill>
                        <a:srgbClr val="DCDDF5"/>
                      </a:solidFill>
                      <a:prstDash val="solid"/>
                      <a:round/>
                      <a:headEnd type="none" w="med" len="med"/>
                      <a:tailEnd type="none" w="med" len="med"/>
                    </a:lnB>
                    <a:solidFill>
                      <a:srgbClr val="F6F6FF"/>
                    </a:solidFill>
                  </a:tcPr>
                </a:tc>
                <a:tc>
                  <a:txBody>
                    <a:bodyPr/>
                    <a:lstStyle/>
                    <a:p>
                      <a:pPr marL="0" indent="0" algn="ctr">
                        <a:buNone/>
                      </a:pPr>
                      <a:r>
                        <a:rPr lang="en-US" sz="1300" dirty="0">
                          <a:solidFill>
                            <a:srgbClr val="1E1B4B"/>
                          </a:solidFill>
                          <a:latin typeface="Calibri" pitchFamily="34" charset="0"/>
                          <a:ea typeface="Calibri" pitchFamily="34" charset="-122"/>
                          <a:cs typeface="Calibri" pitchFamily="34" charset="-120"/>
                        </a:rPr>
                        <a:t>Iteration over lists is time-consuming.</a:t>
                      </a:r>
                      <a:endParaRPr lang="en-US" sz="1300" dirty="0">
                        <a:latin typeface="Calibri" charset="0"/>
                        <a:ea typeface="Calibri" charset="0"/>
                        <a:cs typeface="Calibri" charset="0"/>
                      </a:endParaRPr>
                    </a:p>
                  </a:txBody>
                  <a:tcPr marL="146304" marR="146304" marT="0" marB="0" anchor="ctr">
                    <a:lnL w="9525" cap="flat" cmpd="sng" algn="ctr">
                      <a:solidFill>
                        <a:srgbClr val="DCDDF5"/>
                      </a:solidFill>
                      <a:prstDash val="solid"/>
                      <a:round/>
                      <a:headEnd type="none" w="med" len="med"/>
                      <a:tailEnd type="none" w="med" len="med"/>
                    </a:lnL>
                    <a:lnR w="9525" cap="flat" cmpd="sng" algn="ctr">
                      <a:solidFill>
                        <a:srgbClr val="DCDDF5"/>
                      </a:solidFill>
                      <a:prstDash val="solid"/>
                      <a:round/>
                      <a:headEnd type="none" w="med" len="med"/>
                      <a:tailEnd type="none" w="med" len="med"/>
                    </a:lnR>
                    <a:lnT w="9525" cap="flat" cmpd="sng" algn="ctr">
                      <a:solidFill>
                        <a:srgbClr val="DCDDF5"/>
                      </a:solidFill>
                      <a:prstDash val="solid"/>
                      <a:round/>
                      <a:headEnd type="none" w="med" len="med"/>
                      <a:tailEnd type="none" w="med" len="med"/>
                    </a:lnT>
                    <a:lnB w="9525" cap="flat" cmpd="sng" algn="ctr">
                      <a:solidFill>
                        <a:srgbClr val="DCDDF5"/>
                      </a:solidFill>
                      <a:prstDash val="solid"/>
                      <a:round/>
                      <a:headEnd type="none" w="med" len="med"/>
                      <a:tailEnd type="none" w="med" len="med"/>
                    </a:lnB>
                    <a:solidFill>
                      <a:srgbClr val="F6F6FF"/>
                    </a:solidFill>
                  </a:tcPr>
                </a:tc>
                <a:tc>
                  <a:txBody>
                    <a:bodyPr/>
                    <a:lstStyle/>
                    <a:p>
                      <a:pPr marL="0" indent="0" algn="ctr">
                        <a:buNone/>
                      </a:pPr>
                      <a:r>
                        <a:rPr lang="en-US" sz="1300" dirty="0">
                          <a:solidFill>
                            <a:srgbClr val="1E1B4B"/>
                          </a:solidFill>
                          <a:latin typeface="Calibri" pitchFamily="34" charset="0"/>
                          <a:ea typeface="Calibri" pitchFamily="34" charset="-122"/>
                          <a:cs typeface="Calibri" pitchFamily="34" charset="-120"/>
                        </a:rPr>
                        <a:t>Iteration over tuples is faster.</a:t>
                      </a:r>
                      <a:endParaRPr lang="en-US" sz="1300" dirty="0">
                        <a:latin typeface="Calibri" charset="0"/>
                        <a:ea typeface="Calibri" charset="0"/>
                        <a:cs typeface="Calibri" charset="0"/>
                      </a:endParaRPr>
                    </a:p>
                  </a:txBody>
                  <a:tcPr marL="146304" marR="146304" marT="0" marB="0" anchor="ctr">
                    <a:lnL w="9525" cap="flat" cmpd="sng" algn="ctr">
                      <a:solidFill>
                        <a:srgbClr val="DCDDF5"/>
                      </a:solidFill>
                      <a:prstDash val="solid"/>
                      <a:round/>
                      <a:headEnd type="none" w="med" len="med"/>
                      <a:tailEnd type="none" w="med" len="med"/>
                    </a:lnL>
                    <a:lnR w="9525" cap="flat" cmpd="sng" algn="ctr">
                      <a:solidFill>
                        <a:srgbClr val="DCDDF5"/>
                      </a:solidFill>
                      <a:prstDash val="solid"/>
                      <a:round/>
                      <a:headEnd type="none" w="med" len="med"/>
                      <a:tailEnd type="none" w="med" len="med"/>
                    </a:lnR>
                    <a:lnT w="9525" cap="flat" cmpd="sng" algn="ctr">
                      <a:solidFill>
                        <a:srgbClr val="DCDDF5"/>
                      </a:solidFill>
                      <a:prstDash val="solid"/>
                      <a:round/>
                      <a:headEnd type="none" w="med" len="med"/>
                      <a:tailEnd type="none" w="med" len="med"/>
                    </a:lnT>
                    <a:lnB w="9525" cap="flat" cmpd="sng" algn="ctr">
                      <a:solidFill>
                        <a:srgbClr val="DCDDF5"/>
                      </a:solidFill>
                      <a:prstDash val="solid"/>
                      <a:round/>
                      <a:headEnd type="none" w="med" len="med"/>
                      <a:tailEnd type="none" w="med" len="med"/>
                    </a:lnB>
                    <a:solidFill>
                      <a:srgbClr val="F6F6FF"/>
                    </a:solidFill>
                  </a:tcPr>
                </a:tc>
                <a:extLst>
                  <a:ext uri="{0D108BD9-81ED-4DB2-BD59-A6C34878D82A}">
                    <a16:rowId xmlns:a16="http://schemas.microsoft.com/office/drawing/2014/main" val="10002"/>
                  </a:ext>
                </a:extLst>
              </a:tr>
              <a:tr h="585216">
                <a:tc>
                  <a:txBody>
                    <a:bodyPr/>
                    <a:lstStyle/>
                    <a:p>
                      <a:pPr marL="0" indent="0" algn="l">
                        <a:buNone/>
                      </a:pPr>
                      <a:r>
                        <a:rPr lang="en-US" sz="1300" b="1" dirty="0">
                          <a:solidFill>
                            <a:srgbClr val="1E1B4B"/>
                          </a:solidFill>
                          <a:latin typeface="Calibri" pitchFamily="34" charset="0"/>
                          <a:ea typeface="Calibri" pitchFamily="34" charset="-122"/>
                          <a:cs typeface="Calibri" pitchFamily="34" charset="-120"/>
                        </a:rPr>
                        <a:t>Operations</a:t>
                      </a:r>
                      <a:endParaRPr lang="en-US" sz="1300" dirty="0">
                        <a:latin typeface="Calibri" charset="0"/>
                        <a:ea typeface="Calibri" charset="0"/>
                        <a:cs typeface="Calibri" charset="0"/>
                      </a:endParaRPr>
                    </a:p>
                  </a:txBody>
                  <a:tcPr marL="146304" marR="146304" marT="0" marB="0" anchor="ctr">
                    <a:lnL w="9525" cap="flat" cmpd="sng" algn="ctr">
                      <a:solidFill>
                        <a:srgbClr val="DCDDF5"/>
                      </a:solidFill>
                      <a:prstDash val="solid"/>
                      <a:round/>
                      <a:headEnd type="none" w="med" len="med"/>
                      <a:tailEnd type="none" w="med" len="med"/>
                    </a:lnL>
                    <a:lnR w="9525" cap="flat" cmpd="sng" algn="ctr">
                      <a:solidFill>
                        <a:srgbClr val="DCDDF5"/>
                      </a:solidFill>
                      <a:prstDash val="solid"/>
                      <a:round/>
                      <a:headEnd type="none" w="med" len="med"/>
                      <a:tailEnd type="none" w="med" len="med"/>
                    </a:lnR>
                    <a:lnT w="9525" cap="flat" cmpd="sng" algn="ctr">
                      <a:solidFill>
                        <a:srgbClr val="DCDDF5"/>
                      </a:solidFill>
                      <a:prstDash val="solid"/>
                      <a:round/>
                      <a:headEnd type="none" w="med" len="med"/>
                      <a:tailEnd type="none" w="med" len="med"/>
                    </a:lnT>
                    <a:lnB w="9525" cap="flat" cmpd="sng" algn="ctr">
                      <a:solidFill>
                        <a:srgbClr val="DCDDF5"/>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E1B4B"/>
                          </a:solidFill>
                          <a:latin typeface="Calibri" pitchFamily="34" charset="0"/>
                          <a:ea typeface="Calibri" pitchFamily="34" charset="-122"/>
                          <a:cs typeface="Calibri" pitchFamily="34" charset="-120"/>
                        </a:rPr>
                        <a:t>Lists are better for insertion and deletion operations.</a:t>
                      </a:r>
                      <a:endParaRPr lang="en-US" sz="1300" dirty="0">
                        <a:latin typeface="Calibri" charset="0"/>
                        <a:ea typeface="Calibri" charset="0"/>
                        <a:cs typeface="Calibri" charset="0"/>
                      </a:endParaRPr>
                    </a:p>
                  </a:txBody>
                  <a:tcPr marL="146304" marR="146304" marT="0" marB="0" anchor="ctr">
                    <a:lnL w="9525" cap="flat" cmpd="sng" algn="ctr">
                      <a:solidFill>
                        <a:srgbClr val="DCDDF5"/>
                      </a:solidFill>
                      <a:prstDash val="solid"/>
                      <a:round/>
                      <a:headEnd type="none" w="med" len="med"/>
                      <a:tailEnd type="none" w="med" len="med"/>
                    </a:lnL>
                    <a:lnR w="9525" cap="flat" cmpd="sng" algn="ctr">
                      <a:solidFill>
                        <a:srgbClr val="DCDDF5"/>
                      </a:solidFill>
                      <a:prstDash val="solid"/>
                      <a:round/>
                      <a:headEnd type="none" w="med" len="med"/>
                      <a:tailEnd type="none" w="med" len="med"/>
                    </a:lnR>
                    <a:lnT w="9525" cap="flat" cmpd="sng" algn="ctr">
                      <a:solidFill>
                        <a:srgbClr val="DCDDF5"/>
                      </a:solidFill>
                      <a:prstDash val="solid"/>
                      <a:round/>
                      <a:headEnd type="none" w="med" len="med"/>
                      <a:tailEnd type="none" w="med" len="med"/>
                    </a:lnT>
                    <a:lnB w="9525" cap="flat" cmpd="sng" algn="ctr">
                      <a:solidFill>
                        <a:srgbClr val="DCDDF5"/>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E1B4B"/>
                          </a:solidFill>
                          <a:latin typeface="Calibri" pitchFamily="34" charset="0"/>
                          <a:ea typeface="Calibri" pitchFamily="34" charset="-122"/>
                          <a:cs typeface="Calibri" pitchFamily="34" charset="-120"/>
                        </a:rPr>
                        <a:t>Tuples are more suitable for accessing elements efficiently.</a:t>
                      </a:r>
                      <a:endParaRPr lang="en-US" sz="1300" dirty="0">
                        <a:latin typeface="Calibri" charset="0"/>
                        <a:ea typeface="Calibri" charset="0"/>
                        <a:cs typeface="Calibri" charset="0"/>
                      </a:endParaRPr>
                    </a:p>
                  </a:txBody>
                  <a:tcPr marL="146304" marR="146304" marT="0" marB="0" anchor="ctr">
                    <a:lnL w="9525" cap="flat" cmpd="sng" algn="ctr">
                      <a:solidFill>
                        <a:srgbClr val="DCDDF5"/>
                      </a:solidFill>
                      <a:prstDash val="solid"/>
                      <a:round/>
                      <a:headEnd type="none" w="med" len="med"/>
                      <a:tailEnd type="none" w="med" len="med"/>
                    </a:lnL>
                    <a:lnR w="9525" cap="flat" cmpd="sng" algn="ctr">
                      <a:solidFill>
                        <a:srgbClr val="DCDDF5"/>
                      </a:solidFill>
                      <a:prstDash val="solid"/>
                      <a:round/>
                      <a:headEnd type="none" w="med" len="med"/>
                      <a:tailEnd type="none" w="med" len="med"/>
                    </a:lnR>
                    <a:lnT w="9525" cap="flat" cmpd="sng" algn="ctr">
                      <a:solidFill>
                        <a:srgbClr val="DCDDF5"/>
                      </a:solidFill>
                      <a:prstDash val="solid"/>
                      <a:round/>
                      <a:headEnd type="none" w="med" len="med"/>
                      <a:tailEnd type="none" w="med" len="med"/>
                    </a:lnT>
                    <a:lnB w="9525" cap="flat" cmpd="sng" algn="ctr">
                      <a:solidFill>
                        <a:srgbClr val="DCDDF5"/>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85216">
                <a:tc>
                  <a:txBody>
                    <a:bodyPr/>
                    <a:lstStyle/>
                    <a:p>
                      <a:pPr marL="0" indent="0" algn="l">
                        <a:buNone/>
                      </a:pPr>
                      <a:r>
                        <a:rPr lang="en-US" sz="1300" b="1" dirty="0">
                          <a:solidFill>
                            <a:srgbClr val="1E1B4B"/>
                          </a:solidFill>
                          <a:latin typeface="Calibri" pitchFamily="34" charset="0"/>
                          <a:ea typeface="Calibri" pitchFamily="34" charset="-122"/>
                          <a:cs typeface="Calibri" pitchFamily="34" charset="-120"/>
                        </a:rPr>
                        <a:t>Memory Usage</a:t>
                      </a:r>
                      <a:endParaRPr lang="en-US" sz="1300" dirty="0">
                        <a:latin typeface="Calibri" charset="0"/>
                        <a:ea typeface="Calibri" charset="0"/>
                        <a:cs typeface="Calibri" charset="0"/>
                      </a:endParaRPr>
                    </a:p>
                  </a:txBody>
                  <a:tcPr marL="146304" marR="146304" marT="0" marB="0" anchor="ctr">
                    <a:lnL w="9525" cap="flat" cmpd="sng" algn="ctr">
                      <a:solidFill>
                        <a:srgbClr val="DCDDF5"/>
                      </a:solidFill>
                      <a:prstDash val="solid"/>
                      <a:round/>
                      <a:headEnd type="none" w="med" len="med"/>
                      <a:tailEnd type="none" w="med" len="med"/>
                    </a:lnL>
                    <a:lnR w="9525" cap="flat" cmpd="sng" algn="ctr">
                      <a:solidFill>
                        <a:srgbClr val="DCDDF5"/>
                      </a:solidFill>
                      <a:prstDash val="solid"/>
                      <a:round/>
                      <a:headEnd type="none" w="med" len="med"/>
                      <a:tailEnd type="none" w="med" len="med"/>
                    </a:lnR>
                    <a:lnT w="9525" cap="flat" cmpd="sng" algn="ctr">
                      <a:solidFill>
                        <a:srgbClr val="DCDDF5"/>
                      </a:solidFill>
                      <a:prstDash val="solid"/>
                      <a:round/>
                      <a:headEnd type="none" w="med" len="med"/>
                      <a:tailEnd type="none" w="med" len="med"/>
                    </a:lnT>
                    <a:lnB w="9525" cap="flat" cmpd="sng" algn="ctr">
                      <a:solidFill>
                        <a:srgbClr val="DCDDF5"/>
                      </a:solidFill>
                      <a:prstDash val="solid"/>
                      <a:round/>
                      <a:headEnd type="none" w="med" len="med"/>
                      <a:tailEnd type="none" w="med" len="med"/>
                    </a:lnB>
                    <a:solidFill>
                      <a:srgbClr val="F6F6FF"/>
                    </a:solidFill>
                  </a:tcPr>
                </a:tc>
                <a:tc>
                  <a:txBody>
                    <a:bodyPr/>
                    <a:lstStyle/>
                    <a:p>
                      <a:pPr marL="0" indent="0" algn="ctr">
                        <a:buNone/>
                      </a:pPr>
                      <a:r>
                        <a:rPr lang="en-US" sz="1300" dirty="0">
                          <a:solidFill>
                            <a:srgbClr val="1E1B4B"/>
                          </a:solidFill>
                          <a:latin typeface="Calibri" pitchFamily="34" charset="0"/>
                          <a:ea typeface="Calibri" pitchFamily="34" charset="-122"/>
                          <a:cs typeface="Calibri" pitchFamily="34" charset="-120"/>
                        </a:rPr>
                        <a:t>Lists consume more memory.</a:t>
                      </a:r>
                      <a:endParaRPr lang="en-US" sz="1300" dirty="0">
                        <a:latin typeface="Calibri" charset="0"/>
                        <a:ea typeface="Calibri" charset="0"/>
                        <a:cs typeface="Calibri" charset="0"/>
                      </a:endParaRPr>
                    </a:p>
                  </a:txBody>
                  <a:tcPr marL="146304" marR="146304" marT="0" marB="0" anchor="ctr">
                    <a:lnL w="9525" cap="flat" cmpd="sng" algn="ctr">
                      <a:solidFill>
                        <a:srgbClr val="DCDDF5"/>
                      </a:solidFill>
                      <a:prstDash val="solid"/>
                      <a:round/>
                      <a:headEnd type="none" w="med" len="med"/>
                      <a:tailEnd type="none" w="med" len="med"/>
                    </a:lnL>
                    <a:lnR w="9525" cap="flat" cmpd="sng" algn="ctr">
                      <a:solidFill>
                        <a:srgbClr val="DCDDF5"/>
                      </a:solidFill>
                      <a:prstDash val="solid"/>
                      <a:round/>
                      <a:headEnd type="none" w="med" len="med"/>
                      <a:tailEnd type="none" w="med" len="med"/>
                    </a:lnR>
                    <a:lnT w="9525" cap="flat" cmpd="sng" algn="ctr">
                      <a:solidFill>
                        <a:srgbClr val="DCDDF5"/>
                      </a:solidFill>
                      <a:prstDash val="solid"/>
                      <a:round/>
                      <a:headEnd type="none" w="med" len="med"/>
                      <a:tailEnd type="none" w="med" len="med"/>
                    </a:lnT>
                    <a:lnB w="9525" cap="flat" cmpd="sng" algn="ctr">
                      <a:solidFill>
                        <a:srgbClr val="DCDDF5"/>
                      </a:solidFill>
                      <a:prstDash val="solid"/>
                      <a:round/>
                      <a:headEnd type="none" w="med" len="med"/>
                      <a:tailEnd type="none" w="med" len="med"/>
                    </a:lnB>
                    <a:solidFill>
                      <a:srgbClr val="F6F6FF"/>
                    </a:solidFill>
                  </a:tcPr>
                </a:tc>
                <a:tc>
                  <a:txBody>
                    <a:bodyPr/>
                    <a:lstStyle/>
                    <a:p>
                      <a:pPr marL="0" indent="0" algn="ctr">
                        <a:buNone/>
                      </a:pPr>
                      <a:r>
                        <a:rPr lang="en-US" sz="1300" dirty="0">
                          <a:solidFill>
                            <a:srgbClr val="1E1B4B"/>
                          </a:solidFill>
                          <a:latin typeface="Calibri" pitchFamily="34" charset="0"/>
                          <a:ea typeface="Calibri" pitchFamily="34" charset="-122"/>
                          <a:cs typeface="Calibri" pitchFamily="34" charset="-120"/>
                        </a:rPr>
                        <a:t>Tuples consume less memory.</a:t>
                      </a:r>
                      <a:endParaRPr lang="en-US" sz="1300" dirty="0">
                        <a:latin typeface="Calibri" charset="0"/>
                        <a:ea typeface="Calibri" charset="0"/>
                        <a:cs typeface="Calibri" charset="0"/>
                      </a:endParaRPr>
                    </a:p>
                  </a:txBody>
                  <a:tcPr marL="146304" marR="146304" marT="0" marB="0" anchor="ctr">
                    <a:lnL w="9525" cap="flat" cmpd="sng" algn="ctr">
                      <a:solidFill>
                        <a:srgbClr val="DCDDF5"/>
                      </a:solidFill>
                      <a:prstDash val="solid"/>
                      <a:round/>
                      <a:headEnd type="none" w="med" len="med"/>
                      <a:tailEnd type="none" w="med" len="med"/>
                    </a:lnL>
                    <a:lnR w="9525" cap="flat" cmpd="sng" algn="ctr">
                      <a:solidFill>
                        <a:srgbClr val="DCDDF5"/>
                      </a:solidFill>
                      <a:prstDash val="solid"/>
                      <a:round/>
                      <a:headEnd type="none" w="med" len="med"/>
                      <a:tailEnd type="none" w="med" len="med"/>
                    </a:lnR>
                    <a:lnT w="9525" cap="flat" cmpd="sng" algn="ctr">
                      <a:solidFill>
                        <a:srgbClr val="DCDDF5"/>
                      </a:solidFill>
                      <a:prstDash val="solid"/>
                      <a:round/>
                      <a:headEnd type="none" w="med" len="med"/>
                      <a:tailEnd type="none" w="med" len="med"/>
                    </a:lnT>
                    <a:lnB w="9525" cap="flat" cmpd="sng" algn="ctr">
                      <a:solidFill>
                        <a:srgbClr val="DCDDF5"/>
                      </a:solidFill>
                      <a:prstDash val="solid"/>
                      <a:round/>
                      <a:headEnd type="none" w="med" len="med"/>
                      <a:tailEnd type="none" w="med" len="med"/>
                    </a:lnB>
                    <a:solidFill>
                      <a:srgbClr val="F6F6FF"/>
                    </a:solidFill>
                  </a:tcPr>
                </a:tc>
                <a:extLst>
                  <a:ext uri="{0D108BD9-81ED-4DB2-BD59-A6C34878D82A}">
                    <a16:rowId xmlns:a16="http://schemas.microsoft.com/office/drawing/2014/main" val="10004"/>
                  </a:ext>
                </a:extLst>
              </a:tr>
              <a:tr h="585216">
                <a:tc>
                  <a:txBody>
                    <a:bodyPr/>
                    <a:lstStyle/>
                    <a:p>
                      <a:pPr marL="0" indent="0" algn="l">
                        <a:buNone/>
                      </a:pPr>
                      <a:r>
                        <a:rPr lang="en-US" sz="1300" b="1" dirty="0">
                          <a:solidFill>
                            <a:srgbClr val="1E1B4B"/>
                          </a:solidFill>
                          <a:latin typeface="Calibri" pitchFamily="34" charset="0"/>
                          <a:ea typeface="Calibri" pitchFamily="34" charset="-122"/>
                          <a:cs typeface="Calibri" pitchFamily="34" charset="-120"/>
                        </a:rPr>
                        <a:t>Built-in Methods</a:t>
                      </a:r>
                      <a:endParaRPr lang="en-US" sz="1300" dirty="0">
                        <a:latin typeface="Calibri" charset="0"/>
                        <a:ea typeface="Calibri" charset="0"/>
                        <a:cs typeface="Calibri" charset="0"/>
                      </a:endParaRPr>
                    </a:p>
                  </a:txBody>
                  <a:tcPr marL="146304" marR="146304" marT="0" marB="0" anchor="ctr">
                    <a:lnL w="9525" cap="flat" cmpd="sng" algn="ctr">
                      <a:solidFill>
                        <a:srgbClr val="DCDDF5"/>
                      </a:solidFill>
                      <a:prstDash val="solid"/>
                      <a:round/>
                      <a:headEnd type="none" w="med" len="med"/>
                      <a:tailEnd type="none" w="med" len="med"/>
                    </a:lnL>
                    <a:lnR w="9525" cap="flat" cmpd="sng" algn="ctr">
                      <a:solidFill>
                        <a:srgbClr val="DCDDF5"/>
                      </a:solidFill>
                      <a:prstDash val="solid"/>
                      <a:round/>
                      <a:headEnd type="none" w="med" len="med"/>
                      <a:tailEnd type="none" w="med" len="med"/>
                    </a:lnR>
                    <a:lnT w="9525" cap="flat" cmpd="sng" algn="ctr">
                      <a:solidFill>
                        <a:srgbClr val="DCDDF5"/>
                      </a:solidFill>
                      <a:prstDash val="solid"/>
                      <a:round/>
                      <a:headEnd type="none" w="med" len="med"/>
                      <a:tailEnd type="none" w="med" len="med"/>
                    </a:lnT>
                    <a:lnB w="9525" cap="flat" cmpd="sng" algn="ctr">
                      <a:solidFill>
                        <a:srgbClr val="DCDDF5"/>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E1B4B"/>
                          </a:solidFill>
                          <a:latin typeface="Calibri" pitchFamily="34" charset="0"/>
                          <a:ea typeface="Calibri" pitchFamily="34" charset="-122"/>
                          <a:cs typeface="Calibri" pitchFamily="34" charset="-120"/>
                        </a:rPr>
                        <a:t>Lists have several built-in methods.</a:t>
                      </a:r>
                      <a:endParaRPr lang="en-US" sz="1300" dirty="0">
                        <a:latin typeface="Calibri" charset="0"/>
                        <a:ea typeface="Calibri" charset="0"/>
                        <a:cs typeface="Calibri" charset="0"/>
                      </a:endParaRPr>
                    </a:p>
                  </a:txBody>
                  <a:tcPr marL="146304" marR="146304" marT="0" marB="0" anchor="ctr">
                    <a:lnL w="9525" cap="flat" cmpd="sng" algn="ctr">
                      <a:solidFill>
                        <a:srgbClr val="DCDDF5"/>
                      </a:solidFill>
                      <a:prstDash val="solid"/>
                      <a:round/>
                      <a:headEnd type="none" w="med" len="med"/>
                      <a:tailEnd type="none" w="med" len="med"/>
                    </a:lnL>
                    <a:lnR w="9525" cap="flat" cmpd="sng" algn="ctr">
                      <a:solidFill>
                        <a:srgbClr val="DCDDF5"/>
                      </a:solidFill>
                      <a:prstDash val="solid"/>
                      <a:round/>
                      <a:headEnd type="none" w="med" len="med"/>
                      <a:tailEnd type="none" w="med" len="med"/>
                    </a:lnR>
                    <a:lnT w="9525" cap="flat" cmpd="sng" algn="ctr">
                      <a:solidFill>
                        <a:srgbClr val="DCDDF5"/>
                      </a:solidFill>
                      <a:prstDash val="solid"/>
                      <a:round/>
                      <a:headEnd type="none" w="med" len="med"/>
                      <a:tailEnd type="none" w="med" len="med"/>
                    </a:lnT>
                    <a:lnB w="9525" cap="flat" cmpd="sng" algn="ctr">
                      <a:solidFill>
                        <a:srgbClr val="DCDDF5"/>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E1B4B"/>
                          </a:solidFill>
                          <a:latin typeface="Calibri" pitchFamily="34" charset="0"/>
                          <a:ea typeface="Calibri" pitchFamily="34" charset="-122"/>
                          <a:cs typeface="Calibri" pitchFamily="34" charset="-120"/>
                        </a:rPr>
                        <a:t>Tuples have fewer built-in methods.</a:t>
                      </a:r>
                      <a:endParaRPr lang="en-US" sz="1300" dirty="0">
                        <a:latin typeface="Calibri" charset="0"/>
                        <a:ea typeface="Calibri" charset="0"/>
                        <a:cs typeface="Calibri" charset="0"/>
                      </a:endParaRPr>
                    </a:p>
                  </a:txBody>
                  <a:tcPr marL="146304" marR="146304" marT="0" marB="0" anchor="ctr">
                    <a:lnL w="9525" cap="flat" cmpd="sng" algn="ctr">
                      <a:solidFill>
                        <a:srgbClr val="DCDDF5"/>
                      </a:solidFill>
                      <a:prstDash val="solid"/>
                      <a:round/>
                      <a:headEnd type="none" w="med" len="med"/>
                      <a:tailEnd type="none" w="med" len="med"/>
                    </a:lnL>
                    <a:lnR w="9525" cap="flat" cmpd="sng" algn="ctr">
                      <a:solidFill>
                        <a:srgbClr val="DCDDF5"/>
                      </a:solidFill>
                      <a:prstDash val="solid"/>
                      <a:round/>
                      <a:headEnd type="none" w="med" len="med"/>
                      <a:tailEnd type="none" w="med" len="med"/>
                    </a:lnR>
                    <a:lnT w="9525" cap="flat" cmpd="sng" algn="ctr">
                      <a:solidFill>
                        <a:srgbClr val="DCDDF5"/>
                      </a:solidFill>
                      <a:prstDash val="solid"/>
                      <a:round/>
                      <a:headEnd type="none" w="med" len="med"/>
                      <a:tailEnd type="none" w="med" len="med"/>
                    </a:lnT>
                    <a:lnB w="9525" cap="flat" cmpd="sng" algn="ctr">
                      <a:solidFill>
                        <a:srgbClr val="DCDDF5"/>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585216">
                <a:tc>
                  <a:txBody>
                    <a:bodyPr/>
                    <a:lstStyle/>
                    <a:p>
                      <a:pPr marL="0" indent="0" algn="l">
                        <a:buNone/>
                      </a:pPr>
                      <a:r>
                        <a:rPr lang="en-US" sz="1300" b="1" dirty="0">
                          <a:solidFill>
                            <a:srgbClr val="1E1B4B"/>
                          </a:solidFill>
                          <a:latin typeface="Calibri" pitchFamily="34" charset="0"/>
                          <a:ea typeface="Calibri" pitchFamily="34" charset="-122"/>
                          <a:cs typeface="Calibri" pitchFamily="34" charset="-120"/>
                        </a:rPr>
                        <a:t>Error Prone</a:t>
                      </a:r>
                      <a:endParaRPr lang="en-US" sz="1300" dirty="0">
                        <a:latin typeface="Calibri" charset="0"/>
                        <a:ea typeface="Calibri" charset="0"/>
                        <a:cs typeface="Calibri" charset="0"/>
                      </a:endParaRPr>
                    </a:p>
                  </a:txBody>
                  <a:tcPr marL="146304" marR="146304" marT="0" marB="0" anchor="ctr">
                    <a:lnL w="9525" cap="flat" cmpd="sng" algn="ctr">
                      <a:solidFill>
                        <a:srgbClr val="DCDDF5"/>
                      </a:solidFill>
                      <a:prstDash val="solid"/>
                      <a:round/>
                      <a:headEnd type="none" w="med" len="med"/>
                      <a:tailEnd type="none" w="med" len="med"/>
                    </a:lnL>
                    <a:lnR w="9525" cap="flat" cmpd="sng" algn="ctr">
                      <a:solidFill>
                        <a:srgbClr val="DCDDF5"/>
                      </a:solidFill>
                      <a:prstDash val="solid"/>
                      <a:round/>
                      <a:headEnd type="none" w="med" len="med"/>
                      <a:tailEnd type="none" w="med" len="med"/>
                    </a:lnR>
                    <a:lnT w="9525" cap="flat" cmpd="sng" algn="ctr">
                      <a:solidFill>
                        <a:srgbClr val="DCDDF5"/>
                      </a:solidFill>
                      <a:prstDash val="solid"/>
                      <a:round/>
                      <a:headEnd type="none" w="med" len="med"/>
                      <a:tailEnd type="none" w="med" len="med"/>
                    </a:lnT>
                    <a:lnB w="9525" cap="flat" cmpd="sng" algn="ctr">
                      <a:solidFill>
                        <a:srgbClr val="DCDDF5"/>
                      </a:solidFill>
                      <a:prstDash val="solid"/>
                      <a:round/>
                      <a:headEnd type="none" w="med" len="med"/>
                      <a:tailEnd type="none" w="med" len="med"/>
                    </a:lnB>
                    <a:solidFill>
                      <a:srgbClr val="F6F6FF"/>
                    </a:solidFill>
                  </a:tcPr>
                </a:tc>
                <a:tc>
                  <a:txBody>
                    <a:bodyPr/>
                    <a:lstStyle/>
                    <a:p>
                      <a:pPr marL="0" indent="0" algn="ctr">
                        <a:buNone/>
                      </a:pPr>
                      <a:r>
                        <a:rPr lang="en-US" sz="1300" dirty="0">
                          <a:solidFill>
                            <a:srgbClr val="1E1B4B"/>
                          </a:solidFill>
                          <a:latin typeface="Calibri" pitchFamily="34" charset="0"/>
                          <a:ea typeface="Calibri" pitchFamily="34" charset="-122"/>
                          <a:cs typeface="Calibri" pitchFamily="34" charset="-120"/>
                        </a:rPr>
                        <a:t>Lists are more prone to unexpected changes and errors.</a:t>
                      </a:r>
                      <a:endParaRPr lang="en-US" sz="1300" dirty="0">
                        <a:latin typeface="Calibri" charset="0"/>
                        <a:ea typeface="Calibri" charset="0"/>
                        <a:cs typeface="Calibri" charset="0"/>
                      </a:endParaRPr>
                    </a:p>
                  </a:txBody>
                  <a:tcPr marL="146304" marR="146304" marT="0" marB="0" anchor="ctr">
                    <a:lnL w="9525" cap="flat" cmpd="sng" algn="ctr">
                      <a:solidFill>
                        <a:srgbClr val="DCDDF5"/>
                      </a:solidFill>
                      <a:prstDash val="solid"/>
                      <a:round/>
                      <a:headEnd type="none" w="med" len="med"/>
                      <a:tailEnd type="none" w="med" len="med"/>
                    </a:lnL>
                    <a:lnR w="9525" cap="flat" cmpd="sng" algn="ctr">
                      <a:solidFill>
                        <a:srgbClr val="DCDDF5"/>
                      </a:solidFill>
                      <a:prstDash val="solid"/>
                      <a:round/>
                      <a:headEnd type="none" w="med" len="med"/>
                      <a:tailEnd type="none" w="med" len="med"/>
                    </a:lnR>
                    <a:lnT w="9525" cap="flat" cmpd="sng" algn="ctr">
                      <a:solidFill>
                        <a:srgbClr val="DCDDF5"/>
                      </a:solidFill>
                      <a:prstDash val="solid"/>
                      <a:round/>
                      <a:headEnd type="none" w="med" len="med"/>
                      <a:tailEnd type="none" w="med" len="med"/>
                    </a:lnT>
                    <a:lnB w="9525" cap="flat" cmpd="sng" algn="ctr">
                      <a:solidFill>
                        <a:srgbClr val="DCDDF5"/>
                      </a:solidFill>
                      <a:prstDash val="solid"/>
                      <a:round/>
                      <a:headEnd type="none" w="med" len="med"/>
                      <a:tailEnd type="none" w="med" len="med"/>
                    </a:lnB>
                    <a:solidFill>
                      <a:srgbClr val="F6F6FF"/>
                    </a:solidFill>
                  </a:tcPr>
                </a:tc>
                <a:tc>
                  <a:txBody>
                    <a:bodyPr/>
                    <a:lstStyle/>
                    <a:p>
                      <a:pPr marL="0" indent="0" algn="ctr">
                        <a:buNone/>
                      </a:pPr>
                      <a:r>
                        <a:rPr lang="en-US" sz="1300" dirty="0">
                          <a:solidFill>
                            <a:srgbClr val="1E1B4B"/>
                          </a:solidFill>
                          <a:latin typeface="Calibri" pitchFamily="34" charset="0"/>
                          <a:ea typeface="Calibri" pitchFamily="34" charset="-122"/>
                          <a:cs typeface="Calibri" pitchFamily="34" charset="-120"/>
                        </a:rPr>
                        <a:t>Tuples, being immutable, are less error-prone.</a:t>
                      </a:r>
                      <a:endParaRPr lang="en-US" sz="1300" dirty="0">
                        <a:latin typeface="Calibri" charset="0"/>
                        <a:ea typeface="Calibri" charset="0"/>
                        <a:cs typeface="Calibri" charset="0"/>
                      </a:endParaRPr>
                    </a:p>
                  </a:txBody>
                  <a:tcPr marL="146304" marR="146304" marT="0" marB="0" anchor="ctr">
                    <a:lnL w="9525" cap="flat" cmpd="sng" algn="ctr">
                      <a:solidFill>
                        <a:srgbClr val="DCDDF5"/>
                      </a:solidFill>
                      <a:prstDash val="solid"/>
                      <a:round/>
                      <a:headEnd type="none" w="med" len="med"/>
                      <a:tailEnd type="none" w="med" len="med"/>
                    </a:lnL>
                    <a:lnR w="9525" cap="flat" cmpd="sng" algn="ctr">
                      <a:solidFill>
                        <a:srgbClr val="DCDDF5"/>
                      </a:solidFill>
                      <a:prstDash val="solid"/>
                      <a:round/>
                      <a:headEnd type="none" w="med" len="med"/>
                      <a:tailEnd type="none" w="med" len="med"/>
                    </a:lnR>
                    <a:lnT w="9525" cap="flat" cmpd="sng" algn="ctr">
                      <a:solidFill>
                        <a:srgbClr val="DCDDF5"/>
                      </a:solidFill>
                      <a:prstDash val="solid"/>
                      <a:round/>
                      <a:headEnd type="none" w="med" len="med"/>
                      <a:tailEnd type="none" w="med" len="med"/>
                    </a:lnT>
                    <a:lnB w="9525" cap="flat" cmpd="sng" algn="ctr">
                      <a:solidFill>
                        <a:srgbClr val="DCDDF5"/>
                      </a:solidFill>
                      <a:prstDash val="solid"/>
                      <a:round/>
                      <a:headEnd type="none" w="med" len="med"/>
                      <a:tailEnd type="none" w="med" len="med"/>
                    </a:lnB>
                    <a:solidFill>
                      <a:srgbClr val="F6F6FF"/>
                    </a:solidFill>
                  </a:tcPr>
                </a:tc>
                <a:extLst>
                  <a:ext uri="{0D108BD9-81ED-4DB2-BD59-A6C34878D82A}">
                    <a16:rowId xmlns:a16="http://schemas.microsoft.com/office/drawing/2014/main" val="10006"/>
                  </a:ext>
                </a:extLst>
              </a:tr>
            </a:tbl>
          </a:graphicData>
        </a:graphic>
      </p:graphicFrame>
      <p:sp>
        <p:nvSpPr>
          <p:cNvPr id="7" name="Shape 4"/>
          <p:cNvSpPr/>
          <p:nvPr/>
        </p:nvSpPr>
        <p:spPr>
          <a:xfrm>
            <a:off x="502920" y="5669280"/>
            <a:ext cx="11185855" cy="603504"/>
          </a:xfrm>
          <a:prstGeom prst="roundRect">
            <a:avLst>
              <a:gd name="adj" fmla="val 18182"/>
            </a:avLst>
          </a:prstGeom>
          <a:solidFill>
            <a:srgbClr val="F1F1FE"/>
          </a:solidFill>
          <a:ln w="9525">
            <a:solidFill>
              <a:srgbClr val="DCDDF5"/>
            </a:solidFill>
            <a:prstDash val="solid"/>
          </a:ln>
        </p:spPr>
        <p:txBody>
          <a:bodyPr/>
          <a:lstStyle/>
          <a:p>
            <a:endParaRPr lang="en-PH"/>
          </a:p>
        </p:txBody>
      </p:sp>
      <p:sp>
        <p:nvSpPr>
          <p:cNvPr id="8" name="Text 5"/>
          <p:cNvSpPr txBox="1"/>
          <p:nvPr/>
        </p:nvSpPr>
        <p:spPr>
          <a:xfrm>
            <a:off x="777240" y="5669280"/>
            <a:ext cx="10637215" cy="603504"/>
          </a:xfrm>
          <a:prstGeom prst="rect">
            <a:avLst/>
          </a:prstGeom>
          <a:noFill/>
          <a:ln/>
        </p:spPr>
        <p:txBody>
          <a:bodyPr wrap="square" lIns="0" tIns="0" rIns="0" bIns="0" rtlCol="0" anchor="ctr"/>
          <a:lstStyle/>
          <a:p>
            <a:pPr marL="0" indent="0">
              <a:buNone/>
            </a:pPr>
            <a:r>
              <a:rPr lang="en-US" sz="1400" b="1" dirty="0">
                <a:solidFill>
                  <a:srgbClr val="1E1B4B"/>
                </a:solidFill>
                <a:latin typeface="Calibri" pitchFamily="34" charset="0"/>
                <a:ea typeface="Calibri" pitchFamily="34" charset="-122"/>
                <a:cs typeface="Calibri" pitchFamily="34" charset="-120"/>
              </a:rPr>
              <a:t>Rule of thumb:</a:t>
            </a:r>
            <a:r>
              <a:rPr lang="en-US" sz="1400" dirty="0">
                <a:solidFill>
                  <a:srgbClr val="1E1B4B"/>
                </a:solidFill>
                <a:latin typeface="Calibri" pitchFamily="34" charset="0"/>
                <a:ea typeface="Calibri" pitchFamily="34" charset="-122"/>
                <a:cs typeface="Calibri" pitchFamily="34" charset="-120"/>
              </a:rPr>
              <a:t>  need to change the data → use a </a:t>
            </a:r>
            <a:r>
              <a:rPr lang="en-US" sz="1400" b="1" dirty="0">
                <a:solidFill>
                  <a:srgbClr val="1E1B4B"/>
                </a:solidFill>
                <a:latin typeface="Calibri" pitchFamily="34" charset="0"/>
                <a:ea typeface="Calibri" pitchFamily="34" charset="-122"/>
                <a:cs typeface="Calibri" pitchFamily="34" charset="-120"/>
              </a:rPr>
              <a:t>list</a:t>
            </a:r>
            <a:r>
              <a:rPr lang="en-US" sz="1400" dirty="0">
                <a:solidFill>
                  <a:srgbClr val="1E1B4B"/>
                </a:solidFill>
                <a:latin typeface="Calibri" pitchFamily="34" charset="0"/>
                <a:ea typeface="Calibri" pitchFamily="34" charset="-122"/>
                <a:cs typeface="Calibri" pitchFamily="34" charset="-120"/>
              </a:rPr>
              <a:t>.   Data should stay fixed → use a </a:t>
            </a:r>
            <a:r>
              <a:rPr lang="en-US" sz="1400" b="1" dirty="0">
                <a:solidFill>
                  <a:srgbClr val="1E1B4B"/>
                </a:solidFill>
                <a:latin typeface="Calibri" pitchFamily="34" charset="0"/>
                <a:ea typeface="Calibri" pitchFamily="34" charset="-122"/>
                <a:cs typeface="Calibri" pitchFamily="34" charset="-120"/>
              </a:rPr>
              <a:t>tuple</a:t>
            </a:r>
            <a:r>
              <a:rPr lang="en-US" sz="1400" dirty="0">
                <a:solidFill>
                  <a:srgbClr val="1E1B4B"/>
                </a:solidFill>
                <a:latin typeface="Calibri" pitchFamily="34" charset="0"/>
                <a:ea typeface="Calibri" pitchFamily="34" charset="-122"/>
                <a:cs typeface="Calibri" pitchFamily="34" charset="-120"/>
              </a:rPr>
              <a:t>.</a:t>
            </a:r>
            <a:endParaRPr lang="en-US" sz="1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02920" y="310896"/>
            <a:ext cx="8229600" cy="237744"/>
          </a:xfrm>
          <a:prstGeom prst="rect">
            <a:avLst/>
          </a:prstGeom>
          <a:noFill/>
          <a:ln/>
        </p:spPr>
        <p:txBody>
          <a:bodyPr wrap="square" lIns="0" tIns="0" rIns="0" bIns="0" rtlCol="0" anchor="t"/>
          <a:lstStyle/>
          <a:p>
            <a:pPr marL="0" indent="0">
              <a:buNone/>
            </a:pPr>
            <a:r>
              <a:rPr lang="en-US" sz="1050" b="1" kern="0" spc="200" dirty="0">
                <a:solidFill>
                  <a:srgbClr val="C8559F"/>
                </a:solidFill>
                <a:latin typeface="Calibri" pitchFamily="34" charset="0"/>
                <a:ea typeface="Calibri" pitchFamily="34" charset="-122"/>
                <a:cs typeface="Calibri" pitchFamily="34" charset="-120"/>
              </a:rPr>
              <a:t>LIST AND TUPLES · MUTABILITY</a:t>
            </a:r>
            <a:endParaRPr lang="en-US" sz="1050" dirty="0"/>
          </a:p>
        </p:txBody>
      </p:sp>
      <p:sp>
        <p:nvSpPr>
          <p:cNvPr id="3" name="Text 1"/>
          <p:cNvSpPr txBox="1"/>
          <p:nvPr/>
        </p:nvSpPr>
        <p:spPr>
          <a:xfrm>
            <a:off x="502920" y="530352"/>
            <a:ext cx="10241280" cy="640080"/>
          </a:xfrm>
          <a:prstGeom prst="rect">
            <a:avLst/>
          </a:prstGeom>
          <a:noFill/>
          <a:ln/>
        </p:spPr>
        <p:txBody>
          <a:bodyPr wrap="square" lIns="0" tIns="0" rIns="0" bIns="0" rtlCol="0" anchor="ctr"/>
          <a:lstStyle/>
          <a:p>
            <a:pPr marL="0" indent="0">
              <a:buNone/>
            </a:pPr>
            <a:r>
              <a:rPr lang="en-US" sz="2800" b="1" dirty="0">
                <a:solidFill>
                  <a:srgbClr val="1E1B4B"/>
                </a:solidFill>
                <a:latin typeface="Calibri" pitchFamily="34" charset="0"/>
                <a:ea typeface="Calibri" pitchFamily="34" charset="-122"/>
                <a:cs typeface="Calibri" pitchFamily="34" charset="-120"/>
              </a:rPr>
              <a:t>Mutable vs Immutable</a:t>
            </a:r>
            <a:endParaRPr lang="en-US" sz="2800" dirty="0"/>
          </a:p>
        </p:txBody>
      </p:sp>
      <p:sp>
        <p:nvSpPr>
          <p:cNvPr id="4" name="Text 2"/>
          <p:cNvSpPr txBox="1"/>
          <p:nvPr/>
        </p:nvSpPr>
        <p:spPr>
          <a:xfrm>
            <a:off x="502920" y="6446520"/>
            <a:ext cx="5486400" cy="228600"/>
          </a:xfrm>
          <a:prstGeom prst="rect">
            <a:avLst/>
          </a:prstGeom>
          <a:noFill/>
          <a:ln/>
        </p:spPr>
        <p:txBody>
          <a:bodyPr wrap="square" lIns="0" tIns="0" rIns="0" bIns="0" rtlCol="0" anchor="t"/>
          <a:lstStyle/>
          <a:p>
            <a:pPr marL="0" indent="0">
              <a:buNone/>
            </a:pPr>
            <a:r>
              <a:rPr lang="en-US" sz="900" dirty="0">
                <a:solidFill>
                  <a:srgbClr val="5B5F7A"/>
                </a:solidFill>
                <a:latin typeface="Calibri" pitchFamily="34" charset="0"/>
                <a:ea typeface="Calibri" pitchFamily="34" charset="-122"/>
                <a:cs typeface="Calibri" pitchFamily="34" charset="-120"/>
              </a:rPr>
              <a:t>Python  ·  List and Tuples</a:t>
            </a:r>
            <a:endParaRPr lang="en-US" sz="900" dirty="0"/>
          </a:p>
        </p:txBody>
      </p:sp>
      <p:sp>
        <p:nvSpPr>
          <p:cNvPr id="5" name="Text 3"/>
          <p:cNvSpPr txBox="1"/>
          <p:nvPr/>
        </p:nvSpPr>
        <p:spPr>
          <a:xfrm>
            <a:off x="11140135" y="6446520"/>
            <a:ext cx="548640" cy="228600"/>
          </a:xfrm>
          <a:prstGeom prst="rect">
            <a:avLst/>
          </a:prstGeom>
          <a:noFill/>
          <a:ln/>
        </p:spPr>
        <p:txBody>
          <a:bodyPr wrap="square" lIns="0" tIns="0" rIns="0" bIns="0" rtlCol="0" anchor="t"/>
          <a:lstStyle/>
          <a:p>
            <a:pPr marL="0" indent="0" algn="r">
              <a:buNone/>
            </a:pPr>
            <a:r>
              <a:rPr lang="en-US" sz="900" dirty="0">
                <a:solidFill>
                  <a:srgbClr val="5B5F7A"/>
                </a:solidFill>
                <a:latin typeface="Calibri" pitchFamily="34" charset="0"/>
                <a:ea typeface="Calibri" pitchFamily="34" charset="-122"/>
                <a:cs typeface="Calibri" pitchFamily="34" charset="-120"/>
              </a:rPr>
              <a:t>16</a:t>
            </a:r>
            <a:endParaRPr lang="en-US" sz="900" dirty="0"/>
          </a:p>
        </p:txBody>
      </p:sp>
      <p:sp>
        <p:nvSpPr>
          <p:cNvPr id="6" name="Shape 4"/>
          <p:cNvSpPr/>
          <p:nvPr/>
        </p:nvSpPr>
        <p:spPr>
          <a:xfrm>
            <a:off x="502920" y="1417320"/>
            <a:ext cx="5432908" cy="4800600"/>
          </a:xfrm>
          <a:prstGeom prst="roundRect">
            <a:avLst>
              <a:gd name="adj" fmla="val 2286"/>
            </a:avLst>
          </a:prstGeom>
          <a:solidFill>
            <a:srgbClr val="FFFFFF"/>
          </a:solidFill>
          <a:ln w="9525">
            <a:solidFill>
              <a:srgbClr val="DCDDF5"/>
            </a:solidFill>
            <a:prstDash val="solid"/>
          </a:ln>
          <a:effectLst>
            <a:outerShdw blurRad="127000" dist="25400" dir="5400000" algn="bl" rotWithShape="0">
              <a:srgbClr val="4F46E5">
                <a:alpha val="12000"/>
              </a:srgbClr>
            </a:outerShdw>
          </a:effectLst>
        </p:spPr>
        <p:txBody>
          <a:bodyPr/>
          <a:lstStyle/>
          <a:p>
            <a:endParaRPr lang="en-PH"/>
          </a:p>
        </p:txBody>
      </p:sp>
      <p:sp>
        <p:nvSpPr>
          <p:cNvPr id="7" name="Text 5"/>
          <p:cNvSpPr txBox="1"/>
          <p:nvPr/>
        </p:nvSpPr>
        <p:spPr>
          <a:xfrm>
            <a:off x="731520" y="1572768"/>
            <a:ext cx="4975708" cy="384048"/>
          </a:xfrm>
          <a:prstGeom prst="rect">
            <a:avLst/>
          </a:prstGeom>
          <a:noFill/>
          <a:ln/>
        </p:spPr>
        <p:txBody>
          <a:bodyPr wrap="square" lIns="0" tIns="0" rIns="0" bIns="0" rtlCol="0" anchor="t"/>
          <a:lstStyle/>
          <a:p>
            <a:pPr marL="0" indent="0">
              <a:buNone/>
            </a:pPr>
            <a:r>
              <a:rPr lang="en-US" sz="1800" b="1" dirty="0">
                <a:solidFill>
                  <a:srgbClr val="15803D"/>
                </a:solidFill>
                <a:latin typeface="Calibri" pitchFamily="34" charset="0"/>
                <a:ea typeface="Calibri" pitchFamily="34" charset="-122"/>
                <a:cs typeface="Calibri" pitchFamily="34" charset="-120"/>
              </a:rPr>
              <a:t>List are Mutable</a:t>
            </a:r>
            <a:endParaRPr lang="en-US" sz="1800" dirty="0"/>
          </a:p>
        </p:txBody>
      </p:sp>
      <p:sp>
        <p:nvSpPr>
          <p:cNvPr id="8" name="Text 6"/>
          <p:cNvSpPr txBox="1"/>
          <p:nvPr/>
        </p:nvSpPr>
        <p:spPr>
          <a:xfrm>
            <a:off x="731520" y="1993392"/>
            <a:ext cx="4975708" cy="685800"/>
          </a:xfrm>
          <a:prstGeom prst="rect">
            <a:avLst/>
          </a:prstGeom>
          <a:noFill/>
          <a:ln/>
        </p:spPr>
        <p:txBody>
          <a:bodyPr wrap="square" lIns="0" tIns="0" rIns="0" bIns="0" rtlCol="0" anchor="t"/>
          <a:lstStyle/>
          <a:p>
            <a:pPr marL="0" indent="0">
              <a:buNone/>
            </a:pPr>
            <a:r>
              <a:rPr lang="en-US" sz="1300" dirty="0">
                <a:solidFill>
                  <a:srgbClr val="5B5F7A"/>
                </a:solidFill>
                <a:latin typeface="Calibri" pitchFamily="34" charset="0"/>
                <a:ea typeface="Calibri" pitchFamily="34" charset="-122"/>
                <a:cs typeface="Calibri" pitchFamily="34" charset="-120"/>
              </a:rPr>
              <a:t>Lists can be modified, meaning their elements can be changed, added or removed after creation.</a:t>
            </a:r>
            <a:endParaRPr lang="en-US" sz="1300" dirty="0"/>
          </a:p>
        </p:txBody>
      </p:sp>
      <p:sp>
        <p:nvSpPr>
          <p:cNvPr id="9" name="Shape 7"/>
          <p:cNvSpPr/>
          <p:nvPr/>
        </p:nvSpPr>
        <p:spPr>
          <a:xfrm>
            <a:off x="731520" y="2743200"/>
            <a:ext cx="4975708" cy="1412113"/>
          </a:xfrm>
          <a:prstGeom prst="roundRect">
            <a:avLst>
              <a:gd name="adj" fmla="val 6475"/>
            </a:avLst>
          </a:prstGeom>
          <a:solidFill>
            <a:srgbClr val="1F1D36"/>
          </a:solidFill>
          <a:ln w="12700">
            <a:solidFill>
              <a:srgbClr val="1F1D36"/>
            </a:solidFill>
            <a:prstDash val="solid"/>
          </a:ln>
        </p:spPr>
        <p:txBody>
          <a:bodyPr/>
          <a:lstStyle/>
          <a:p>
            <a:endParaRPr lang="en-PH"/>
          </a:p>
        </p:txBody>
      </p:sp>
      <p:sp>
        <p:nvSpPr>
          <p:cNvPr id="10" name="Text 8"/>
          <p:cNvSpPr txBox="1"/>
          <p:nvPr/>
        </p:nvSpPr>
        <p:spPr>
          <a:xfrm>
            <a:off x="896112" y="2825496"/>
            <a:ext cx="4646524" cy="201168"/>
          </a:xfrm>
          <a:prstGeom prst="rect">
            <a:avLst/>
          </a:prstGeom>
          <a:noFill/>
          <a:ln/>
        </p:spPr>
        <p:txBody>
          <a:bodyPr wrap="square" lIns="0" tIns="0" rIns="0" bIns="0" rtlCol="0" anchor="ctr"/>
          <a:lstStyle/>
          <a:p>
            <a:pPr marL="0" indent="0">
              <a:buNone/>
            </a:pPr>
            <a:r>
              <a:rPr lang="en-US" sz="900" b="1" dirty="0">
                <a:solidFill>
                  <a:srgbClr val="8A8FB5"/>
                </a:solidFill>
                <a:latin typeface="Calibri" pitchFamily="34" charset="0"/>
                <a:ea typeface="Calibri" pitchFamily="34" charset="-122"/>
                <a:cs typeface="Calibri" pitchFamily="34" charset="-120"/>
              </a:rPr>
              <a:t>&lt;/&gt;  Python</a:t>
            </a:r>
            <a:endParaRPr lang="en-US" sz="900" dirty="0"/>
          </a:p>
        </p:txBody>
      </p:sp>
      <p:sp>
        <p:nvSpPr>
          <p:cNvPr id="11" name="Text 9"/>
          <p:cNvSpPr txBox="1"/>
          <p:nvPr/>
        </p:nvSpPr>
        <p:spPr>
          <a:xfrm>
            <a:off x="896112" y="3072384"/>
            <a:ext cx="4701388" cy="1028065"/>
          </a:xfrm>
          <a:prstGeom prst="rect">
            <a:avLst/>
          </a:prstGeom>
          <a:noFill/>
          <a:ln/>
        </p:spPr>
        <p:txBody>
          <a:bodyPr wrap="square" lIns="0" tIns="0" rIns="0" bIns="0" rtlCol="0" anchor="t"/>
          <a:lstStyle/>
          <a:p>
            <a:pPr marL="0" indent="0">
              <a:buNone/>
            </a:pPr>
            <a:r>
              <a:rPr lang="en-US" sz="1250" dirty="0">
                <a:solidFill>
                  <a:srgbClr val="E4E4F0"/>
                </a:solidFill>
                <a:latin typeface="Courier New" pitchFamily="34" charset="0"/>
                <a:ea typeface="Courier New" pitchFamily="34" charset="-122"/>
                <a:cs typeface="Courier New" pitchFamily="34" charset="-120"/>
              </a:rPr>
              <a:t>a = [</a:t>
            </a:r>
            <a:r>
              <a:rPr lang="en-US" sz="1250" dirty="0">
                <a:solidFill>
                  <a:srgbClr val="FAB387"/>
                </a:solidFill>
                <a:latin typeface="Courier New" pitchFamily="34" charset="0"/>
                <a:ea typeface="Courier New" pitchFamily="34" charset="-122"/>
                <a:cs typeface="Courier New" pitchFamily="34" charset="-120"/>
              </a:rPr>
              <a:t>1</a:t>
            </a:r>
            <a:r>
              <a:rPr lang="en-US" sz="1250" dirty="0">
                <a:solidFill>
                  <a:srgbClr val="E4E4F0"/>
                </a:solidFill>
                <a:latin typeface="Courier New" pitchFamily="34" charset="0"/>
                <a:ea typeface="Courier New" pitchFamily="34" charset="-122"/>
                <a:cs typeface="Courier New" pitchFamily="34" charset="-120"/>
              </a:rPr>
              <a:t>, </a:t>
            </a:r>
            <a:r>
              <a:rPr lang="en-US" sz="1250" dirty="0">
                <a:solidFill>
                  <a:srgbClr val="FAB387"/>
                </a:solidFill>
                <a:latin typeface="Courier New" pitchFamily="34" charset="0"/>
                <a:ea typeface="Courier New" pitchFamily="34" charset="-122"/>
                <a:cs typeface="Courier New" pitchFamily="34" charset="-120"/>
              </a:rPr>
              <a:t>2</a:t>
            </a:r>
            <a:r>
              <a:rPr lang="en-US" sz="1250" dirty="0">
                <a:solidFill>
                  <a:srgbClr val="E4E4F0"/>
                </a:solidFill>
                <a:latin typeface="Courier New" pitchFamily="34" charset="0"/>
                <a:ea typeface="Courier New" pitchFamily="34" charset="-122"/>
                <a:cs typeface="Courier New" pitchFamily="34" charset="-120"/>
              </a:rPr>
              <a:t>, </a:t>
            </a:r>
            <a:r>
              <a:rPr lang="en-US" sz="1250" dirty="0">
                <a:solidFill>
                  <a:srgbClr val="FAB387"/>
                </a:solidFill>
                <a:latin typeface="Courier New" pitchFamily="34" charset="0"/>
                <a:ea typeface="Courier New" pitchFamily="34" charset="-122"/>
                <a:cs typeface="Courier New" pitchFamily="34" charset="-120"/>
              </a:rPr>
              <a:t>4</a:t>
            </a:r>
            <a:r>
              <a:rPr lang="en-US" sz="1250" dirty="0">
                <a:solidFill>
                  <a:srgbClr val="E4E4F0"/>
                </a:solidFill>
                <a:latin typeface="Courier New" pitchFamily="34" charset="0"/>
                <a:ea typeface="Courier New" pitchFamily="34" charset="-122"/>
                <a:cs typeface="Courier New" pitchFamily="34" charset="-120"/>
              </a:rPr>
              <a:t>, </a:t>
            </a:r>
            <a:r>
              <a:rPr lang="en-US" sz="1250" dirty="0">
                <a:solidFill>
                  <a:srgbClr val="FAB387"/>
                </a:solidFill>
                <a:latin typeface="Courier New" pitchFamily="34" charset="0"/>
                <a:ea typeface="Courier New" pitchFamily="34" charset="-122"/>
                <a:cs typeface="Courier New" pitchFamily="34" charset="-120"/>
              </a:rPr>
              <a:t>4</a:t>
            </a:r>
            <a:r>
              <a:rPr lang="en-US" sz="1250" dirty="0">
                <a:solidFill>
                  <a:srgbClr val="E4E4F0"/>
                </a:solidFill>
                <a:latin typeface="Courier New" pitchFamily="34" charset="0"/>
                <a:ea typeface="Courier New" pitchFamily="34" charset="-122"/>
                <a:cs typeface="Courier New" pitchFamily="34" charset="-120"/>
              </a:rPr>
              <a:t>, </a:t>
            </a:r>
            <a:r>
              <a:rPr lang="en-US" sz="1250" dirty="0">
                <a:solidFill>
                  <a:srgbClr val="FAB387"/>
                </a:solidFill>
                <a:latin typeface="Courier New" pitchFamily="34" charset="0"/>
                <a:ea typeface="Courier New" pitchFamily="34" charset="-122"/>
                <a:cs typeface="Courier New" pitchFamily="34" charset="-120"/>
              </a:rPr>
              <a:t>3</a:t>
            </a:r>
            <a:r>
              <a:rPr lang="en-US" sz="1250" dirty="0">
                <a:solidFill>
                  <a:srgbClr val="E4E4F0"/>
                </a:solidFill>
                <a:latin typeface="Courier New" pitchFamily="34" charset="0"/>
                <a:ea typeface="Courier New" pitchFamily="34" charset="-122"/>
                <a:cs typeface="Courier New" pitchFamily="34" charset="-120"/>
              </a:rPr>
              <a:t>, </a:t>
            </a:r>
            <a:r>
              <a:rPr lang="en-US" sz="1250" dirty="0">
                <a:solidFill>
                  <a:srgbClr val="FAB387"/>
                </a:solidFill>
                <a:latin typeface="Courier New" pitchFamily="34" charset="0"/>
                <a:ea typeface="Courier New" pitchFamily="34" charset="-122"/>
                <a:cs typeface="Courier New" pitchFamily="34" charset="-120"/>
              </a:rPr>
              <a:t>3</a:t>
            </a:r>
            <a:r>
              <a:rPr lang="en-US" sz="1250" dirty="0">
                <a:solidFill>
                  <a:srgbClr val="E4E4F0"/>
                </a:solidFill>
                <a:latin typeface="Courier New" pitchFamily="34" charset="0"/>
                <a:ea typeface="Courier New" pitchFamily="34" charset="-122"/>
                <a:cs typeface="Courier New" pitchFamily="34" charset="-120"/>
              </a:rPr>
              <a:t>, </a:t>
            </a:r>
            <a:r>
              <a:rPr lang="en-US" sz="1250" dirty="0">
                <a:solidFill>
                  <a:srgbClr val="FAB387"/>
                </a:solidFill>
                <a:latin typeface="Courier New" pitchFamily="34" charset="0"/>
                <a:ea typeface="Courier New" pitchFamily="34" charset="-122"/>
                <a:cs typeface="Courier New" pitchFamily="34" charset="-120"/>
              </a:rPr>
              <a:t>3</a:t>
            </a:r>
            <a:r>
              <a:rPr lang="en-US" sz="1250" dirty="0">
                <a:solidFill>
                  <a:srgbClr val="E4E4F0"/>
                </a:solidFill>
                <a:latin typeface="Courier New" pitchFamily="34" charset="0"/>
                <a:ea typeface="Courier New" pitchFamily="34" charset="-122"/>
                <a:cs typeface="Courier New" pitchFamily="34" charset="-120"/>
              </a:rPr>
              <a:t>, </a:t>
            </a:r>
            <a:r>
              <a:rPr lang="en-US" sz="1250" dirty="0">
                <a:solidFill>
                  <a:srgbClr val="FAB387"/>
                </a:solidFill>
                <a:latin typeface="Courier New" pitchFamily="34" charset="0"/>
                <a:ea typeface="Courier New" pitchFamily="34" charset="-122"/>
                <a:cs typeface="Courier New" pitchFamily="34" charset="-120"/>
              </a:rPr>
              <a:t>6</a:t>
            </a:r>
            <a:r>
              <a:rPr lang="en-US" sz="1250" dirty="0">
                <a:solidFill>
                  <a:srgbClr val="E4E4F0"/>
                </a:solidFill>
                <a:latin typeface="Courier New" pitchFamily="34" charset="0"/>
                <a:ea typeface="Courier New" pitchFamily="34" charset="-122"/>
                <a:cs typeface="Courier New" pitchFamily="34" charset="-120"/>
              </a:rPr>
              <a:t>, </a:t>
            </a:r>
            <a:r>
              <a:rPr lang="en-US" sz="1250" dirty="0">
                <a:solidFill>
                  <a:srgbClr val="FAB387"/>
                </a:solidFill>
                <a:latin typeface="Courier New" pitchFamily="34" charset="0"/>
                <a:ea typeface="Courier New" pitchFamily="34" charset="-122"/>
                <a:cs typeface="Courier New" pitchFamily="34" charset="-120"/>
              </a:rPr>
              <a:t>5</a:t>
            </a:r>
            <a:r>
              <a:rPr lang="en-US" sz="1250" dirty="0">
                <a:solidFill>
                  <a:srgbClr val="E4E4F0"/>
                </a:solidFill>
                <a:latin typeface="Courier New" pitchFamily="34" charset="0"/>
                <a:ea typeface="Courier New" pitchFamily="34" charset="-122"/>
                <a:cs typeface="Courier New" pitchFamily="34" charset="-120"/>
              </a:rPr>
              <a:t>]</a:t>
            </a:r>
            <a:endParaRPr lang="en-US" sz="1250" dirty="0"/>
          </a:p>
          <a:p>
            <a:pPr marL="0" indent="0">
              <a:buNone/>
            </a:pPr>
            <a:r>
              <a:rPr lang="en-US" sz="1250" dirty="0">
                <a:solidFill>
                  <a:srgbClr val="E4E4F0"/>
                </a:solidFill>
                <a:latin typeface="Courier New" pitchFamily="34" charset="0"/>
                <a:ea typeface="Courier New" pitchFamily="34" charset="-122"/>
                <a:cs typeface="Courier New" pitchFamily="34" charset="-120"/>
              </a:rPr>
              <a:t> </a:t>
            </a:r>
            <a:endParaRPr lang="en-US" sz="1250" dirty="0"/>
          </a:p>
          <a:p>
            <a:pPr marL="0" indent="0">
              <a:buNone/>
            </a:pPr>
            <a:r>
              <a:rPr lang="en-US" sz="1250" i="1" dirty="0">
                <a:solidFill>
                  <a:srgbClr val="8A8FB5"/>
                </a:solidFill>
                <a:latin typeface="Courier New" pitchFamily="34" charset="0"/>
                <a:ea typeface="Courier New" pitchFamily="34" charset="-122"/>
                <a:cs typeface="Courier New" pitchFamily="34" charset="-120"/>
              </a:rPr>
              <a:t># Modifying an element in the list `a`</a:t>
            </a:r>
            <a:endParaRPr lang="en-US" sz="1250" dirty="0"/>
          </a:p>
          <a:p>
            <a:pPr marL="0" indent="0">
              <a:buNone/>
            </a:pPr>
            <a:r>
              <a:rPr lang="en-US" sz="1250" dirty="0">
                <a:solidFill>
                  <a:srgbClr val="E4E4F0"/>
                </a:solidFill>
                <a:latin typeface="Courier New" pitchFamily="34" charset="0"/>
                <a:ea typeface="Courier New" pitchFamily="34" charset="-122"/>
                <a:cs typeface="Courier New" pitchFamily="34" charset="-120"/>
              </a:rPr>
              <a:t>a[</a:t>
            </a:r>
            <a:r>
              <a:rPr lang="en-US" sz="1250" dirty="0">
                <a:solidFill>
                  <a:srgbClr val="FAB387"/>
                </a:solidFill>
                <a:latin typeface="Courier New" pitchFamily="34" charset="0"/>
                <a:ea typeface="Courier New" pitchFamily="34" charset="-122"/>
                <a:cs typeface="Courier New" pitchFamily="34" charset="-120"/>
              </a:rPr>
              <a:t>3</a:t>
            </a:r>
            <a:r>
              <a:rPr lang="en-US" sz="1250" dirty="0">
                <a:solidFill>
                  <a:srgbClr val="E4E4F0"/>
                </a:solidFill>
                <a:latin typeface="Courier New" pitchFamily="34" charset="0"/>
                <a:ea typeface="Courier New" pitchFamily="34" charset="-122"/>
                <a:cs typeface="Courier New" pitchFamily="34" charset="-120"/>
              </a:rPr>
              <a:t>] = </a:t>
            </a:r>
            <a:r>
              <a:rPr lang="en-US" sz="1250" dirty="0">
                <a:solidFill>
                  <a:srgbClr val="FAB387"/>
                </a:solidFill>
                <a:latin typeface="Courier New" pitchFamily="34" charset="0"/>
                <a:ea typeface="Courier New" pitchFamily="34" charset="-122"/>
                <a:cs typeface="Courier New" pitchFamily="34" charset="-120"/>
              </a:rPr>
              <a:t>77</a:t>
            </a:r>
            <a:endParaRPr lang="en-US" sz="1250" dirty="0"/>
          </a:p>
          <a:p>
            <a:pPr marL="0" indent="0">
              <a:buNone/>
            </a:pPr>
            <a:r>
              <a:rPr lang="en-US" sz="1250" dirty="0">
                <a:solidFill>
                  <a:srgbClr val="82AAFF"/>
                </a:solidFill>
                <a:latin typeface="Courier New" pitchFamily="34" charset="0"/>
                <a:ea typeface="Courier New" pitchFamily="34" charset="-122"/>
                <a:cs typeface="Courier New" pitchFamily="34" charset="-120"/>
              </a:rPr>
              <a:t>print</a:t>
            </a:r>
            <a:r>
              <a:rPr lang="en-US" sz="1250" dirty="0">
                <a:solidFill>
                  <a:srgbClr val="E4E4F0"/>
                </a:solidFill>
                <a:latin typeface="Courier New" pitchFamily="34" charset="0"/>
                <a:ea typeface="Courier New" pitchFamily="34" charset="-122"/>
                <a:cs typeface="Courier New" pitchFamily="34" charset="-120"/>
              </a:rPr>
              <a:t>(a)</a:t>
            </a:r>
            <a:endParaRPr lang="en-US" sz="1250" dirty="0"/>
          </a:p>
        </p:txBody>
      </p:sp>
      <p:sp>
        <p:nvSpPr>
          <p:cNvPr id="12" name="Shape 10"/>
          <p:cNvSpPr/>
          <p:nvPr/>
        </p:nvSpPr>
        <p:spPr>
          <a:xfrm>
            <a:off x="731520" y="4283329"/>
            <a:ext cx="4975708" cy="868680"/>
          </a:xfrm>
          <a:prstGeom prst="roundRect">
            <a:avLst>
              <a:gd name="adj" fmla="val 10526"/>
            </a:avLst>
          </a:prstGeom>
          <a:solidFill>
            <a:srgbClr val="F6F6FF"/>
          </a:solidFill>
          <a:ln w="9525">
            <a:solidFill>
              <a:srgbClr val="DCDDF5"/>
            </a:solidFill>
            <a:prstDash val="solid"/>
          </a:ln>
        </p:spPr>
        <p:txBody>
          <a:bodyPr/>
          <a:lstStyle/>
          <a:p>
            <a:endParaRPr lang="en-PH"/>
          </a:p>
        </p:txBody>
      </p:sp>
      <p:sp>
        <p:nvSpPr>
          <p:cNvPr id="13" name="Text 11"/>
          <p:cNvSpPr txBox="1"/>
          <p:nvPr/>
        </p:nvSpPr>
        <p:spPr>
          <a:xfrm>
            <a:off x="877824" y="4356481"/>
            <a:ext cx="4701388" cy="182880"/>
          </a:xfrm>
          <a:prstGeom prst="rect">
            <a:avLst/>
          </a:prstGeom>
          <a:noFill/>
          <a:ln/>
        </p:spPr>
        <p:txBody>
          <a:bodyPr wrap="square" lIns="0" tIns="0" rIns="0" bIns="0" rtlCol="0" anchor="ctr"/>
          <a:lstStyle/>
          <a:p>
            <a:pPr marL="0" indent="0">
              <a:buNone/>
            </a:pPr>
            <a:r>
              <a:rPr lang="en-US" sz="850" b="1" kern="0" spc="150" dirty="0">
                <a:solidFill>
                  <a:srgbClr val="4F46E5"/>
                </a:solidFill>
                <a:latin typeface="Calibri" pitchFamily="34" charset="0"/>
                <a:ea typeface="Calibri" pitchFamily="34" charset="-122"/>
                <a:cs typeface="Calibri" pitchFamily="34" charset="-120"/>
              </a:rPr>
              <a:t>OUTPUT</a:t>
            </a:r>
            <a:endParaRPr lang="en-US" sz="850" dirty="0"/>
          </a:p>
        </p:txBody>
      </p:sp>
      <p:sp>
        <p:nvSpPr>
          <p:cNvPr id="14" name="Text 12"/>
          <p:cNvSpPr txBox="1"/>
          <p:nvPr/>
        </p:nvSpPr>
        <p:spPr>
          <a:xfrm>
            <a:off x="877824" y="4575937"/>
            <a:ext cx="4737964" cy="539496"/>
          </a:xfrm>
          <a:prstGeom prst="rect">
            <a:avLst/>
          </a:prstGeom>
          <a:noFill/>
          <a:ln/>
        </p:spPr>
        <p:txBody>
          <a:bodyPr wrap="square" lIns="0" tIns="0" rIns="0" bIns="0" rtlCol="0" anchor="t"/>
          <a:lstStyle/>
          <a:p>
            <a:pPr marL="0" indent="0">
              <a:buNone/>
            </a:pPr>
            <a:r>
              <a:rPr lang="en-US" sz="1200" dirty="0">
                <a:solidFill>
                  <a:srgbClr val="1E1B4B"/>
                </a:solidFill>
                <a:latin typeface="Courier New" pitchFamily="34" charset="0"/>
                <a:ea typeface="Courier New" pitchFamily="34" charset="-122"/>
                <a:cs typeface="Courier New" pitchFamily="34" charset="-120"/>
              </a:rPr>
              <a:t>[1, 2, 4, 77, 3, 3, 3, 6, 5]</a:t>
            </a:r>
            <a:endParaRPr lang="en-US" sz="1200" dirty="0"/>
          </a:p>
        </p:txBody>
      </p:sp>
      <p:sp>
        <p:nvSpPr>
          <p:cNvPr id="15" name="Text 13"/>
          <p:cNvSpPr txBox="1"/>
          <p:nvPr/>
        </p:nvSpPr>
        <p:spPr>
          <a:xfrm>
            <a:off x="731520" y="5334889"/>
            <a:ext cx="4975708" cy="745871"/>
          </a:xfrm>
          <a:prstGeom prst="rect">
            <a:avLst/>
          </a:prstGeom>
          <a:noFill/>
          <a:ln/>
        </p:spPr>
        <p:txBody>
          <a:bodyPr wrap="square" lIns="0" tIns="0" rIns="0" bIns="0" rtlCol="0" anchor="t"/>
          <a:lstStyle/>
          <a:p>
            <a:pPr marL="0" indent="0">
              <a:buNone/>
            </a:pPr>
            <a:r>
              <a:rPr lang="en-US" sz="1350" dirty="0">
                <a:solidFill>
                  <a:srgbClr val="1E1B4B"/>
                </a:solidFill>
                <a:latin typeface="Calibri" pitchFamily="34" charset="0"/>
                <a:ea typeface="Calibri" pitchFamily="34" charset="-122"/>
                <a:cs typeface="Calibri" pitchFamily="34" charset="-120"/>
              </a:rPr>
              <a:t>The value at index 3 changed from </a:t>
            </a:r>
            <a:r>
              <a:rPr lang="en-US" sz="1350" dirty="0">
                <a:solidFill>
                  <a:srgbClr val="4F46E5"/>
                </a:solidFill>
                <a:latin typeface="Courier New" pitchFamily="34" charset="0"/>
                <a:ea typeface="Courier New" pitchFamily="34" charset="-122"/>
                <a:cs typeface="Courier New" pitchFamily="34" charset="-120"/>
              </a:rPr>
              <a:t>4</a:t>
            </a:r>
            <a:r>
              <a:rPr lang="en-US" sz="1350" dirty="0">
                <a:solidFill>
                  <a:srgbClr val="1E1B4B"/>
                </a:solidFill>
                <a:latin typeface="Calibri" pitchFamily="34" charset="0"/>
                <a:ea typeface="Calibri" pitchFamily="34" charset="-122"/>
                <a:cs typeface="Calibri" pitchFamily="34" charset="-120"/>
              </a:rPr>
              <a:t> to </a:t>
            </a:r>
            <a:r>
              <a:rPr lang="en-US" sz="1350" dirty="0">
                <a:solidFill>
                  <a:srgbClr val="4F46E5"/>
                </a:solidFill>
                <a:latin typeface="Courier New" pitchFamily="34" charset="0"/>
                <a:ea typeface="Courier New" pitchFamily="34" charset="-122"/>
                <a:cs typeface="Courier New" pitchFamily="34" charset="-120"/>
              </a:rPr>
              <a:t>77</a:t>
            </a:r>
            <a:r>
              <a:rPr lang="en-US" sz="1350" dirty="0">
                <a:solidFill>
                  <a:srgbClr val="1E1B4B"/>
                </a:solidFill>
                <a:latin typeface="Calibri" pitchFamily="34" charset="0"/>
                <a:ea typeface="Calibri" pitchFamily="34" charset="-122"/>
                <a:cs typeface="Calibri" pitchFamily="34" charset="-120"/>
              </a:rPr>
              <a:t>. The same list is updated in place — no new list is created.</a:t>
            </a:r>
            <a:endParaRPr lang="en-US" sz="1350" dirty="0"/>
          </a:p>
        </p:txBody>
      </p:sp>
      <p:sp>
        <p:nvSpPr>
          <p:cNvPr id="16" name="Shape 14"/>
          <p:cNvSpPr/>
          <p:nvPr/>
        </p:nvSpPr>
        <p:spPr>
          <a:xfrm>
            <a:off x="6255868" y="1417320"/>
            <a:ext cx="5432908" cy="4800600"/>
          </a:xfrm>
          <a:prstGeom prst="roundRect">
            <a:avLst>
              <a:gd name="adj" fmla="val 2286"/>
            </a:avLst>
          </a:prstGeom>
          <a:solidFill>
            <a:srgbClr val="FFFFFF"/>
          </a:solidFill>
          <a:ln w="9525">
            <a:solidFill>
              <a:srgbClr val="DCDDF5"/>
            </a:solidFill>
            <a:prstDash val="solid"/>
          </a:ln>
          <a:effectLst>
            <a:outerShdw blurRad="127000" dist="25400" dir="5400000" algn="bl" rotWithShape="0">
              <a:srgbClr val="4F46E5">
                <a:alpha val="12000"/>
              </a:srgbClr>
            </a:outerShdw>
          </a:effectLst>
        </p:spPr>
        <p:txBody>
          <a:bodyPr/>
          <a:lstStyle/>
          <a:p>
            <a:endParaRPr lang="en-PH"/>
          </a:p>
        </p:txBody>
      </p:sp>
      <p:sp>
        <p:nvSpPr>
          <p:cNvPr id="17" name="Text 15"/>
          <p:cNvSpPr txBox="1"/>
          <p:nvPr/>
        </p:nvSpPr>
        <p:spPr>
          <a:xfrm>
            <a:off x="6484468" y="1572768"/>
            <a:ext cx="4975708" cy="384048"/>
          </a:xfrm>
          <a:prstGeom prst="rect">
            <a:avLst/>
          </a:prstGeom>
          <a:noFill/>
          <a:ln/>
        </p:spPr>
        <p:txBody>
          <a:bodyPr wrap="square" lIns="0" tIns="0" rIns="0" bIns="0" rtlCol="0" anchor="t"/>
          <a:lstStyle/>
          <a:p>
            <a:pPr marL="0" indent="0">
              <a:buNone/>
            </a:pPr>
            <a:r>
              <a:rPr lang="en-US" sz="1800" b="1" dirty="0">
                <a:solidFill>
                  <a:srgbClr val="C0392B"/>
                </a:solidFill>
                <a:latin typeface="Calibri" pitchFamily="34" charset="0"/>
                <a:ea typeface="Calibri" pitchFamily="34" charset="-122"/>
                <a:cs typeface="Calibri" pitchFamily="34" charset="-120"/>
              </a:rPr>
              <a:t>Tuples are Immutable</a:t>
            </a:r>
            <a:endParaRPr lang="en-US" sz="1800" dirty="0"/>
          </a:p>
        </p:txBody>
      </p:sp>
      <p:sp>
        <p:nvSpPr>
          <p:cNvPr id="18" name="Text 16"/>
          <p:cNvSpPr txBox="1"/>
          <p:nvPr/>
        </p:nvSpPr>
        <p:spPr>
          <a:xfrm>
            <a:off x="6484468" y="1993392"/>
            <a:ext cx="4975708" cy="685800"/>
          </a:xfrm>
          <a:prstGeom prst="rect">
            <a:avLst/>
          </a:prstGeom>
          <a:noFill/>
          <a:ln/>
        </p:spPr>
        <p:txBody>
          <a:bodyPr wrap="square" lIns="0" tIns="0" rIns="0" bIns="0" rtlCol="0" anchor="t"/>
          <a:lstStyle/>
          <a:p>
            <a:pPr marL="0" indent="0">
              <a:buNone/>
            </a:pPr>
            <a:r>
              <a:rPr lang="en-US" sz="1300" dirty="0">
                <a:solidFill>
                  <a:srgbClr val="5B5F7A"/>
                </a:solidFill>
                <a:latin typeface="Calibri" pitchFamily="34" charset="0"/>
                <a:ea typeface="Calibri" pitchFamily="34" charset="-122"/>
                <a:cs typeface="Calibri" pitchFamily="34" charset="-120"/>
              </a:rPr>
              <a:t>Tuples cannot be modified after creation. Any attempt to change an element will result in an error.</a:t>
            </a:r>
            <a:endParaRPr lang="en-US" sz="1300" dirty="0"/>
          </a:p>
        </p:txBody>
      </p:sp>
      <p:sp>
        <p:nvSpPr>
          <p:cNvPr id="19" name="Shape 17"/>
          <p:cNvSpPr/>
          <p:nvPr/>
        </p:nvSpPr>
        <p:spPr>
          <a:xfrm>
            <a:off x="6484468" y="2743200"/>
            <a:ext cx="4975708" cy="1412113"/>
          </a:xfrm>
          <a:prstGeom prst="roundRect">
            <a:avLst>
              <a:gd name="adj" fmla="val 6475"/>
            </a:avLst>
          </a:prstGeom>
          <a:solidFill>
            <a:srgbClr val="1F1D36"/>
          </a:solidFill>
          <a:ln w="12700">
            <a:solidFill>
              <a:srgbClr val="1F1D36"/>
            </a:solidFill>
            <a:prstDash val="solid"/>
          </a:ln>
        </p:spPr>
        <p:txBody>
          <a:bodyPr/>
          <a:lstStyle/>
          <a:p>
            <a:endParaRPr lang="en-PH"/>
          </a:p>
        </p:txBody>
      </p:sp>
      <p:sp>
        <p:nvSpPr>
          <p:cNvPr id="20" name="Text 18"/>
          <p:cNvSpPr txBox="1"/>
          <p:nvPr/>
        </p:nvSpPr>
        <p:spPr>
          <a:xfrm>
            <a:off x="6649060" y="2825496"/>
            <a:ext cx="4646524" cy="201168"/>
          </a:xfrm>
          <a:prstGeom prst="rect">
            <a:avLst/>
          </a:prstGeom>
          <a:noFill/>
          <a:ln/>
        </p:spPr>
        <p:txBody>
          <a:bodyPr wrap="square" lIns="0" tIns="0" rIns="0" bIns="0" rtlCol="0" anchor="ctr"/>
          <a:lstStyle/>
          <a:p>
            <a:pPr marL="0" indent="0">
              <a:buNone/>
            </a:pPr>
            <a:r>
              <a:rPr lang="en-US" sz="900" b="1" dirty="0">
                <a:solidFill>
                  <a:srgbClr val="8A8FB5"/>
                </a:solidFill>
                <a:latin typeface="Calibri" pitchFamily="34" charset="0"/>
                <a:ea typeface="Calibri" pitchFamily="34" charset="-122"/>
                <a:cs typeface="Calibri" pitchFamily="34" charset="-120"/>
              </a:rPr>
              <a:t>&lt;/&gt;  Python</a:t>
            </a:r>
            <a:endParaRPr lang="en-US" sz="900" dirty="0"/>
          </a:p>
        </p:txBody>
      </p:sp>
      <p:sp>
        <p:nvSpPr>
          <p:cNvPr id="21" name="Text 19"/>
          <p:cNvSpPr txBox="1"/>
          <p:nvPr/>
        </p:nvSpPr>
        <p:spPr>
          <a:xfrm>
            <a:off x="6649060" y="3072384"/>
            <a:ext cx="4701388" cy="1028065"/>
          </a:xfrm>
          <a:prstGeom prst="rect">
            <a:avLst/>
          </a:prstGeom>
          <a:noFill/>
          <a:ln/>
        </p:spPr>
        <p:txBody>
          <a:bodyPr wrap="square" lIns="0" tIns="0" rIns="0" bIns="0" rtlCol="0" anchor="t"/>
          <a:lstStyle/>
          <a:p>
            <a:pPr marL="0" indent="0">
              <a:buNone/>
            </a:pPr>
            <a:r>
              <a:rPr lang="en-US" sz="1250" dirty="0">
                <a:solidFill>
                  <a:srgbClr val="E4E4F0"/>
                </a:solidFill>
                <a:latin typeface="Courier New" pitchFamily="34" charset="0"/>
                <a:ea typeface="Courier New" pitchFamily="34" charset="-122"/>
                <a:cs typeface="Courier New" pitchFamily="34" charset="-120"/>
              </a:rPr>
              <a:t>b = (</a:t>
            </a:r>
            <a:r>
              <a:rPr lang="en-US" sz="1250" dirty="0">
                <a:solidFill>
                  <a:srgbClr val="FAB387"/>
                </a:solidFill>
                <a:latin typeface="Courier New" pitchFamily="34" charset="0"/>
                <a:ea typeface="Courier New" pitchFamily="34" charset="-122"/>
                <a:cs typeface="Courier New" pitchFamily="34" charset="-120"/>
              </a:rPr>
              <a:t>0</a:t>
            </a:r>
            <a:r>
              <a:rPr lang="en-US" sz="1250" dirty="0">
                <a:solidFill>
                  <a:srgbClr val="E4E4F0"/>
                </a:solidFill>
                <a:latin typeface="Courier New" pitchFamily="34" charset="0"/>
                <a:ea typeface="Courier New" pitchFamily="34" charset="-122"/>
                <a:cs typeface="Courier New" pitchFamily="34" charset="-120"/>
              </a:rPr>
              <a:t>, </a:t>
            </a:r>
            <a:r>
              <a:rPr lang="en-US" sz="1250" dirty="0">
                <a:solidFill>
                  <a:srgbClr val="FAB387"/>
                </a:solidFill>
                <a:latin typeface="Courier New" pitchFamily="34" charset="0"/>
                <a:ea typeface="Courier New" pitchFamily="34" charset="-122"/>
                <a:cs typeface="Courier New" pitchFamily="34" charset="-120"/>
              </a:rPr>
              <a:t>1</a:t>
            </a:r>
            <a:r>
              <a:rPr lang="en-US" sz="1250" dirty="0">
                <a:solidFill>
                  <a:srgbClr val="E4E4F0"/>
                </a:solidFill>
                <a:latin typeface="Courier New" pitchFamily="34" charset="0"/>
                <a:ea typeface="Courier New" pitchFamily="34" charset="-122"/>
                <a:cs typeface="Courier New" pitchFamily="34" charset="-120"/>
              </a:rPr>
              <a:t>, </a:t>
            </a:r>
            <a:r>
              <a:rPr lang="en-US" sz="1250" dirty="0">
                <a:solidFill>
                  <a:srgbClr val="FAB387"/>
                </a:solidFill>
                <a:latin typeface="Courier New" pitchFamily="34" charset="0"/>
                <a:ea typeface="Courier New" pitchFamily="34" charset="-122"/>
                <a:cs typeface="Courier New" pitchFamily="34" charset="-120"/>
              </a:rPr>
              <a:t>2</a:t>
            </a:r>
            <a:r>
              <a:rPr lang="en-US" sz="1250" dirty="0">
                <a:solidFill>
                  <a:srgbClr val="E4E4F0"/>
                </a:solidFill>
                <a:latin typeface="Courier New" pitchFamily="34" charset="0"/>
                <a:ea typeface="Courier New" pitchFamily="34" charset="-122"/>
                <a:cs typeface="Courier New" pitchFamily="34" charset="-120"/>
              </a:rPr>
              <a:t>, </a:t>
            </a:r>
            <a:r>
              <a:rPr lang="en-US" sz="1250" dirty="0">
                <a:solidFill>
                  <a:srgbClr val="FAB387"/>
                </a:solidFill>
                <a:latin typeface="Courier New" pitchFamily="34" charset="0"/>
                <a:ea typeface="Courier New" pitchFamily="34" charset="-122"/>
                <a:cs typeface="Courier New" pitchFamily="34" charset="-120"/>
              </a:rPr>
              <a:t>3</a:t>
            </a:r>
            <a:r>
              <a:rPr lang="en-US" sz="1250" dirty="0">
                <a:solidFill>
                  <a:srgbClr val="E4E4F0"/>
                </a:solidFill>
                <a:latin typeface="Courier New" pitchFamily="34" charset="0"/>
                <a:ea typeface="Courier New" pitchFamily="34" charset="-122"/>
                <a:cs typeface="Courier New" pitchFamily="34" charset="-120"/>
              </a:rPr>
              <a:t>)</a:t>
            </a:r>
            <a:endParaRPr lang="en-US" sz="1250" dirty="0"/>
          </a:p>
          <a:p>
            <a:pPr marL="0" indent="0">
              <a:buNone/>
            </a:pPr>
            <a:r>
              <a:rPr lang="en-US" sz="1250" dirty="0">
                <a:solidFill>
                  <a:srgbClr val="E4E4F0"/>
                </a:solidFill>
                <a:latin typeface="Courier New" pitchFamily="34" charset="0"/>
                <a:ea typeface="Courier New" pitchFamily="34" charset="-122"/>
                <a:cs typeface="Courier New" pitchFamily="34" charset="-120"/>
              </a:rPr>
              <a:t> </a:t>
            </a:r>
            <a:endParaRPr lang="en-US" sz="1250" dirty="0"/>
          </a:p>
          <a:p>
            <a:pPr marL="0" indent="0">
              <a:buNone/>
            </a:pPr>
            <a:r>
              <a:rPr lang="en-US" sz="1250" i="1" dirty="0">
                <a:solidFill>
                  <a:srgbClr val="8A8FB5"/>
                </a:solidFill>
                <a:latin typeface="Courier New" pitchFamily="34" charset="0"/>
                <a:ea typeface="Courier New" pitchFamily="34" charset="-122"/>
                <a:cs typeface="Courier New" pitchFamily="34" charset="-120"/>
              </a:rPr>
              <a:t># Attempting to modify a tuple</a:t>
            </a:r>
            <a:endParaRPr lang="en-US" sz="1250" dirty="0"/>
          </a:p>
          <a:p>
            <a:pPr marL="0" indent="0">
              <a:buNone/>
            </a:pPr>
            <a:r>
              <a:rPr lang="en-US" sz="1250" dirty="0">
                <a:solidFill>
                  <a:srgbClr val="E4E4F0"/>
                </a:solidFill>
                <a:latin typeface="Courier New" pitchFamily="34" charset="0"/>
                <a:ea typeface="Courier New" pitchFamily="34" charset="-122"/>
                <a:cs typeface="Courier New" pitchFamily="34" charset="-120"/>
              </a:rPr>
              <a:t>b[</a:t>
            </a:r>
            <a:r>
              <a:rPr lang="en-US" sz="1250" dirty="0">
                <a:solidFill>
                  <a:srgbClr val="FAB387"/>
                </a:solidFill>
                <a:latin typeface="Courier New" pitchFamily="34" charset="0"/>
                <a:ea typeface="Courier New" pitchFamily="34" charset="-122"/>
                <a:cs typeface="Courier New" pitchFamily="34" charset="-120"/>
              </a:rPr>
              <a:t>0</a:t>
            </a:r>
            <a:r>
              <a:rPr lang="en-US" sz="1250" dirty="0">
                <a:solidFill>
                  <a:srgbClr val="E4E4F0"/>
                </a:solidFill>
                <a:latin typeface="Courier New" pitchFamily="34" charset="0"/>
                <a:ea typeface="Courier New" pitchFamily="34" charset="-122"/>
                <a:cs typeface="Courier New" pitchFamily="34" charset="-120"/>
              </a:rPr>
              <a:t>] = </a:t>
            </a:r>
            <a:r>
              <a:rPr lang="en-US" sz="1250" dirty="0">
                <a:solidFill>
                  <a:srgbClr val="FAB387"/>
                </a:solidFill>
                <a:latin typeface="Courier New" pitchFamily="34" charset="0"/>
                <a:ea typeface="Courier New" pitchFamily="34" charset="-122"/>
                <a:cs typeface="Courier New" pitchFamily="34" charset="-120"/>
              </a:rPr>
              <a:t>4</a:t>
            </a:r>
            <a:endParaRPr lang="en-US" sz="1250" dirty="0"/>
          </a:p>
          <a:p>
            <a:pPr marL="0" indent="0">
              <a:buNone/>
            </a:pPr>
            <a:r>
              <a:rPr lang="en-US" sz="1250" dirty="0">
                <a:solidFill>
                  <a:srgbClr val="82AAFF"/>
                </a:solidFill>
                <a:latin typeface="Courier New" pitchFamily="34" charset="0"/>
                <a:ea typeface="Courier New" pitchFamily="34" charset="-122"/>
                <a:cs typeface="Courier New" pitchFamily="34" charset="-120"/>
              </a:rPr>
              <a:t>print</a:t>
            </a:r>
            <a:r>
              <a:rPr lang="en-US" sz="1250" dirty="0">
                <a:solidFill>
                  <a:srgbClr val="E4E4F0"/>
                </a:solidFill>
                <a:latin typeface="Courier New" pitchFamily="34" charset="0"/>
                <a:ea typeface="Courier New" pitchFamily="34" charset="-122"/>
                <a:cs typeface="Courier New" pitchFamily="34" charset="-120"/>
              </a:rPr>
              <a:t>(b)</a:t>
            </a:r>
            <a:endParaRPr lang="en-US" sz="1250" dirty="0"/>
          </a:p>
        </p:txBody>
      </p:sp>
      <p:sp>
        <p:nvSpPr>
          <p:cNvPr id="22" name="Shape 20"/>
          <p:cNvSpPr/>
          <p:nvPr/>
        </p:nvSpPr>
        <p:spPr>
          <a:xfrm>
            <a:off x="6484468" y="4283329"/>
            <a:ext cx="4975708" cy="868680"/>
          </a:xfrm>
          <a:prstGeom prst="roundRect">
            <a:avLst>
              <a:gd name="adj" fmla="val 10526"/>
            </a:avLst>
          </a:prstGeom>
          <a:solidFill>
            <a:srgbClr val="F6F6FF"/>
          </a:solidFill>
          <a:ln w="9525">
            <a:solidFill>
              <a:srgbClr val="DCDDF5"/>
            </a:solidFill>
            <a:prstDash val="solid"/>
          </a:ln>
        </p:spPr>
        <p:txBody>
          <a:bodyPr/>
          <a:lstStyle/>
          <a:p>
            <a:endParaRPr lang="en-PH"/>
          </a:p>
        </p:txBody>
      </p:sp>
      <p:sp>
        <p:nvSpPr>
          <p:cNvPr id="23" name="Text 21"/>
          <p:cNvSpPr txBox="1"/>
          <p:nvPr/>
        </p:nvSpPr>
        <p:spPr>
          <a:xfrm>
            <a:off x="6630772" y="4356481"/>
            <a:ext cx="4701388" cy="182880"/>
          </a:xfrm>
          <a:prstGeom prst="rect">
            <a:avLst/>
          </a:prstGeom>
          <a:noFill/>
          <a:ln/>
        </p:spPr>
        <p:txBody>
          <a:bodyPr wrap="square" lIns="0" tIns="0" rIns="0" bIns="0" rtlCol="0" anchor="ctr"/>
          <a:lstStyle/>
          <a:p>
            <a:pPr marL="0" indent="0">
              <a:buNone/>
            </a:pPr>
            <a:r>
              <a:rPr lang="en-US" sz="850" b="1" kern="0" spc="150" dirty="0">
                <a:solidFill>
                  <a:srgbClr val="4F46E5"/>
                </a:solidFill>
                <a:latin typeface="Calibri" pitchFamily="34" charset="0"/>
                <a:ea typeface="Calibri" pitchFamily="34" charset="-122"/>
                <a:cs typeface="Calibri" pitchFamily="34" charset="-120"/>
              </a:rPr>
              <a:t>OUTPUT</a:t>
            </a:r>
            <a:endParaRPr lang="en-US" sz="850" dirty="0"/>
          </a:p>
        </p:txBody>
      </p:sp>
      <p:sp>
        <p:nvSpPr>
          <p:cNvPr id="24" name="Text 22"/>
          <p:cNvSpPr txBox="1"/>
          <p:nvPr/>
        </p:nvSpPr>
        <p:spPr>
          <a:xfrm>
            <a:off x="6630772" y="4575937"/>
            <a:ext cx="4737964" cy="539496"/>
          </a:xfrm>
          <a:prstGeom prst="rect">
            <a:avLst/>
          </a:prstGeom>
          <a:noFill/>
          <a:ln/>
        </p:spPr>
        <p:txBody>
          <a:bodyPr wrap="square" lIns="0" tIns="0" rIns="0" bIns="0" rtlCol="0" anchor="t"/>
          <a:lstStyle/>
          <a:p>
            <a:pPr marL="0" indent="0">
              <a:buNone/>
            </a:pPr>
            <a:r>
              <a:rPr lang="en-US" sz="1200" dirty="0">
                <a:solidFill>
                  <a:srgbClr val="C0392B"/>
                </a:solidFill>
                <a:latin typeface="Courier New" pitchFamily="34" charset="0"/>
                <a:ea typeface="Courier New" pitchFamily="34" charset="-122"/>
                <a:cs typeface="Courier New" pitchFamily="34" charset="-120"/>
              </a:rPr>
              <a:t>TypeError: 'tuple' object does not</a:t>
            </a:r>
            <a:endParaRPr lang="en-US" sz="1200" dirty="0"/>
          </a:p>
          <a:p>
            <a:pPr marL="0" indent="0">
              <a:buNone/>
            </a:pPr>
            <a:r>
              <a:rPr lang="en-US" sz="1200" dirty="0">
                <a:solidFill>
                  <a:srgbClr val="1E1B4B"/>
                </a:solidFill>
                <a:latin typeface="Courier New" pitchFamily="34" charset="0"/>
                <a:ea typeface="Courier New" pitchFamily="34" charset="-122"/>
                <a:cs typeface="Courier New" pitchFamily="34" charset="-120"/>
              </a:rPr>
              <a:t>support item assignment</a:t>
            </a:r>
            <a:endParaRPr lang="en-US" sz="1200" dirty="0"/>
          </a:p>
        </p:txBody>
      </p:sp>
      <p:sp>
        <p:nvSpPr>
          <p:cNvPr id="25" name="Text 23"/>
          <p:cNvSpPr txBox="1"/>
          <p:nvPr/>
        </p:nvSpPr>
        <p:spPr>
          <a:xfrm>
            <a:off x="6484468" y="5334889"/>
            <a:ext cx="4975708" cy="745871"/>
          </a:xfrm>
          <a:prstGeom prst="rect">
            <a:avLst/>
          </a:prstGeom>
          <a:noFill/>
          <a:ln/>
        </p:spPr>
        <p:txBody>
          <a:bodyPr wrap="square" lIns="0" tIns="0" rIns="0" bIns="0" rtlCol="0" anchor="t"/>
          <a:lstStyle/>
          <a:p>
            <a:pPr marL="0" indent="0">
              <a:buNone/>
            </a:pPr>
            <a:r>
              <a:rPr lang="en-US" sz="1350" dirty="0">
                <a:solidFill>
                  <a:srgbClr val="1E1B4B"/>
                </a:solidFill>
                <a:latin typeface="Calibri" pitchFamily="34" charset="0"/>
                <a:ea typeface="Calibri" pitchFamily="34" charset="-122"/>
                <a:cs typeface="Calibri" pitchFamily="34" charset="-120"/>
              </a:rPr>
              <a:t>To get a “changed” tuple, build a new one instead: </a:t>
            </a:r>
            <a:r>
              <a:rPr lang="en-US" sz="1350" dirty="0">
                <a:solidFill>
                  <a:srgbClr val="4F46E5"/>
                </a:solidFill>
                <a:latin typeface="Courier New" pitchFamily="34" charset="0"/>
                <a:ea typeface="Courier New" pitchFamily="34" charset="-122"/>
                <a:cs typeface="Courier New" pitchFamily="34" charset="-120"/>
              </a:rPr>
              <a:t>b = (4,) + b[1:]</a:t>
            </a:r>
            <a:r>
              <a:rPr lang="en-US" sz="1350" dirty="0">
                <a:solidFill>
                  <a:srgbClr val="1E1B4B"/>
                </a:solidFill>
                <a:latin typeface="Calibri" pitchFamily="34" charset="0"/>
                <a:ea typeface="Calibri" pitchFamily="34" charset="-122"/>
                <a:cs typeface="Calibri" pitchFamily="34" charset="-120"/>
              </a:rPr>
              <a:t> gives </a:t>
            </a:r>
            <a:r>
              <a:rPr lang="en-US" sz="1350" dirty="0">
                <a:solidFill>
                  <a:srgbClr val="4F46E5"/>
                </a:solidFill>
                <a:latin typeface="Courier New" pitchFamily="34" charset="0"/>
                <a:ea typeface="Courier New" pitchFamily="34" charset="-122"/>
                <a:cs typeface="Courier New" pitchFamily="34" charset="-120"/>
              </a:rPr>
              <a:t>(4, 1, 2, 3)</a:t>
            </a:r>
            <a:r>
              <a:rPr lang="en-US" sz="1350" dirty="0">
                <a:solidFill>
                  <a:srgbClr val="1E1B4B"/>
                </a:solidFill>
                <a:latin typeface="Calibri" pitchFamily="34" charset="0"/>
                <a:ea typeface="Calibri" pitchFamily="34" charset="-122"/>
                <a:cs typeface="Calibri" pitchFamily="34" charset="-120"/>
              </a:rPr>
              <a:t>.</a:t>
            </a:r>
            <a:endParaRPr lang="en-US" sz="13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02920" y="310896"/>
            <a:ext cx="8229600" cy="237744"/>
          </a:xfrm>
          <a:prstGeom prst="rect">
            <a:avLst/>
          </a:prstGeom>
          <a:noFill/>
          <a:ln/>
        </p:spPr>
        <p:txBody>
          <a:bodyPr wrap="square" lIns="0" tIns="0" rIns="0" bIns="0" rtlCol="0" anchor="t"/>
          <a:lstStyle/>
          <a:p>
            <a:pPr marL="0" indent="0">
              <a:buNone/>
            </a:pPr>
            <a:r>
              <a:rPr lang="en-US" sz="1050" b="1" kern="0" spc="200" dirty="0">
                <a:solidFill>
                  <a:srgbClr val="C8559F"/>
                </a:solidFill>
                <a:latin typeface="Calibri" pitchFamily="34" charset="0"/>
                <a:ea typeface="Calibri" pitchFamily="34" charset="-122"/>
                <a:cs typeface="Calibri" pitchFamily="34" charset="-120"/>
              </a:rPr>
              <a:t>LIST AND TUPLES · ACCESSING ELEMENTS</a:t>
            </a:r>
            <a:endParaRPr lang="en-US" sz="1050" dirty="0"/>
          </a:p>
        </p:txBody>
      </p:sp>
      <p:sp>
        <p:nvSpPr>
          <p:cNvPr id="3" name="Text 1"/>
          <p:cNvSpPr txBox="1"/>
          <p:nvPr/>
        </p:nvSpPr>
        <p:spPr>
          <a:xfrm>
            <a:off x="502920" y="530352"/>
            <a:ext cx="10241280" cy="640080"/>
          </a:xfrm>
          <a:prstGeom prst="rect">
            <a:avLst/>
          </a:prstGeom>
          <a:noFill/>
          <a:ln/>
        </p:spPr>
        <p:txBody>
          <a:bodyPr wrap="square" lIns="0" tIns="0" rIns="0" bIns="0" rtlCol="0" anchor="ctr"/>
          <a:lstStyle/>
          <a:p>
            <a:pPr marL="0" indent="0">
              <a:buNone/>
            </a:pPr>
            <a:r>
              <a:rPr lang="en-US" sz="2800" b="1" dirty="0">
                <a:solidFill>
                  <a:srgbClr val="1E1B4B"/>
                </a:solidFill>
                <a:latin typeface="Calibri" pitchFamily="34" charset="0"/>
                <a:ea typeface="Calibri" pitchFamily="34" charset="-122"/>
                <a:cs typeface="Calibri" pitchFamily="34" charset="-120"/>
              </a:rPr>
              <a:t>Slicing and Indexing</a:t>
            </a:r>
            <a:endParaRPr lang="en-US" sz="2800" dirty="0"/>
          </a:p>
        </p:txBody>
      </p:sp>
      <p:sp>
        <p:nvSpPr>
          <p:cNvPr id="4" name="Text 2"/>
          <p:cNvSpPr txBox="1"/>
          <p:nvPr/>
        </p:nvSpPr>
        <p:spPr>
          <a:xfrm>
            <a:off x="502920" y="6446520"/>
            <a:ext cx="5486400" cy="228600"/>
          </a:xfrm>
          <a:prstGeom prst="rect">
            <a:avLst/>
          </a:prstGeom>
          <a:noFill/>
          <a:ln/>
        </p:spPr>
        <p:txBody>
          <a:bodyPr wrap="square" lIns="0" tIns="0" rIns="0" bIns="0" rtlCol="0" anchor="t"/>
          <a:lstStyle/>
          <a:p>
            <a:pPr marL="0" indent="0">
              <a:buNone/>
            </a:pPr>
            <a:r>
              <a:rPr lang="en-US" sz="900" dirty="0">
                <a:solidFill>
                  <a:srgbClr val="5B5F7A"/>
                </a:solidFill>
                <a:latin typeface="Calibri" pitchFamily="34" charset="0"/>
                <a:ea typeface="Calibri" pitchFamily="34" charset="-122"/>
                <a:cs typeface="Calibri" pitchFamily="34" charset="-120"/>
              </a:rPr>
              <a:t>Python  ·  List and Tuples</a:t>
            </a:r>
            <a:endParaRPr lang="en-US" sz="900" dirty="0"/>
          </a:p>
        </p:txBody>
      </p:sp>
      <p:sp>
        <p:nvSpPr>
          <p:cNvPr id="5" name="Text 3"/>
          <p:cNvSpPr txBox="1"/>
          <p:nvPr/>
        </p:nvSpPr>
        <p:spPr>
          <a:xfrm>
            <a:off x="11140135" y="6446520"/>
            <a:ext cx="548640" cy="228600"/>
          </a:xfrm>
          <a:prstGeom prst="rect">
            <a:avLst/>
          </a:prstGeom>
          <a:noFill/>
          <a:ln/>
        </p:spPr>
        <p:txBody>
          <a:bodyPr wrap="square" lIns="0" tIns="0" rIns="0" bIns="0" rtlCol="0" anchor="t"/>
          <a:lstStyle/>
          <a:p>
            <a:pPr marL="0" indent="0" algn="r">
              <a:buNone/>
            </a:pPr>
            <a:r>
              <a:rPr lang="en-US" sz="900" dirty="0">
                <a:solidFill>
                  <a:srgbClr val="5B5F7A"/>
                </a:solidFill>
                <a:latin typeface="Calibri" pitchFamily="34" charset="0"/>
                <a:ea typeface="Calibri" pitchFamily="34" charset="-122"/>
                <a:cs typeface="Calibri" pitchFamily="34" charset="-120"/>
              </a:rPr>
              <a:t>17</a:t>
            </a:r>
            <a:endParaRPr lang="en-US" sz="900" dirty="0"/>
          </a:p>
        </p:txBody>
      </p:sp>
      <p:sp>
        <p:nvSpPr>
          <p:cNvPr id="6" name="Shape 4"/>
          <p:cNvSpPr/>
          <p:nvPr/>
        </p:nvSpPr>
        <p:spPr>
          <a:xfrm>
            <a:off x="502920" y="1417320"/>
            <a:ext cx="5432908" cy="3291840"/>
          </a:xfrm>
          <a:prstGeom prst="roundRect">
            <a:avLst>
              <a:gd name="adj" fmla="val 3333"/>
            </a:avLst>
          </a:prstGeom>
          <a:solidFill>
            <a:srgbClr val="FFFFFF"/>
          </a:solidFill>
          <a:ln w="9525">
            <a:solidFill>
              <a:srgbClr val="DCDDF5"/>
            </a:solidFill>
            <a:prstDash val="solid"/>
          </a:ln>
          <a:effectLst>
            <a:outerShdw blurRad="127000" dist="25400" dir="5400000" algn="bl" rotWithShape="0">
              <a:srgbClr val="4F46E5">
                <a:alpha val="12000"/>
              </a:srgbClr>
            </a:outerShdw>
          </a:effectLst>
        </p:spPr>
        <p:txBody>
          <a:bodyPr/>
          <a:lstStyle/>
          <a:p>
            <a:endParaRPr lang="en-PH"/>
          </a:p>
        </p:txBody>
      </p:sp>
      <p:sp>
        <p:nvSpPr>
          <p:cNvPr id="7" name="Text 5"/>
          <p:cNvSpPr txBox="1"/>
          <p:nvPr/>
        </p:nvSpPr>
        <p:spPr>
          <a:xfrm>
            <a:off x="731520" y="1536192"/>
            <a:ext cx="4975708" cy="347472"/>
          </a:xfrm>
          <a:prstGeom prst="rect">
            <a:avLst/>
          </a:prstGeom>
          <a:noFill/>
          <a:ln/>
        </p:spPr>
        <p:txBody>
          <a:bodyPr wrap="square" lIns="0" tIns="0" rIns="0" bIns="0" rtlCol="0" anchor="t"/>
          <a:lstStyle/>
          <a:p>
            <a:pPr marL="0" indent="0">
              <a:buNone/>
            </a:pPr>
            <a:r>
              <a:rPr lang="en-US" sz="1700" b="1" dirty="0">
                <a:solidFill>
                  <a:srgbClr val="1E1B4B"/>
                </a:solidFill>
                <a:latin typeface="Calibri" pitchFamily="34" charset="0"/>
                <a:ea typeface="Calibri" pitchFamily="34" charset="-122"/>
                <a:cs typeface="Calibri" pitchFamily="34" charset="-120"/>
              </a:rPr>
              <a:t>Indexing</a:t>
            </a:r>
            <a:endParaRPr lang="en-US" sz="1700" dirty="0"/>
          </a:p>
        </p:txBody>
      </p:sp>
      <p:sp>
        <p:nvSpPr>
          <p:cNvPr id="8" name="Text 6"/>
          <p:cNvSpPr txBox="1"/>
          <p:nvPr/>
        </p:nvSpPr>
        <p:spPr>
          <a:xfrm>
            <a:off x="731520" y="1883664"/>
            <a:ext cx="4975708" cy="502920"/>
          </a:xfrm>
          <a:prstGeom prst="rect">
            <a:avLst/>
          </a:prstGeom>
          <a:noFill/>
          <a:ln/>
        </p:spPr>
        <p:txBody>
          <a:bodyPr wrap="square" lIns="0" tIns="0" rIns="0" bIns="0" rtlCol="0" anchor="t"/>
          <a:lstStyle/>
          <a:p>
            <a:pPr marL="0" indent="0">
              <a:buNone/>
            </a:pPr>
            <a:r>
              <a:rPr lang="en-US" sz="1250" dirty="0">
                <a:solidFill>
                  <a:srgbClr val="5B5F7A"/>
                </a:solidFill>
                <a:latin typeface="Calibri" pitchFamily="34" charset="0"/>
                <a:ea typeface="Calibri" pitchFamily="34" charset="-122"/>
                <a:cs typeface="Calibri" pitchFamily="34" charset="-120"/>
              </a:rPr>
              <a:t>Both lists and tuples allow you to access individual elements using their index, starting from 0.</a:t>
            </a:r>
            <a:endParaRPr lang="en-US" sz="1250" dirty="0"/>
          </a:p>
        </p:txBody>
      </p:sp>
      <p:sp>
        <p:nvSpPr>
          <p:cNvPr id="9" name="Shape 7"/>
          <p:cNvSpPr/>
          <p:nvPr/>
        </p:nvSpPr>
        <p:spPr>
          <a:xfrm>
            <a:off x="731520" y="2468880"/>
            <a:ext cx="2999900" cy="2057400"/>
          </a:xfrm>
          <a:prstGeom prst="roundRect">
            <a:avLst>
              <a:gd name="adj" fmla="val 4444"/>
            </a:avLst>
          </a:prstGeom>
          <a:solidFill>
            <a:srgbClr val="1F1D36"/>
          </a:solidFill>
          <a:ln w="12700">
            <a:solidFill>
              <a:srgbClr val="1F1D36"/>
            </a:solidFill>
            <a:prstDash val="solid"/>
          </a:ln>
        </p:spPr>
        <p:txBody>
          <a:bodyPr/>
          <a:lstStyle/>
          <a:p>
            <a:endParaRPr lang="en-PH"/>
          </a:p>
        </p:txBody>
      </p:sp>
      <p:sp>
        <p:nvSpPr>
          <p:cNvPr id="10" name="Text 8"/>
          <p:cNvSpPr txBox="1"/>
          <p:nvPr/>
        </p:nvSpPr>
        <p:spPr>
          <a:xfrm>
            <a:off x="896112" y="2551176"/>
            <a:ext cx="2670716" cy="201168"/>
          </a:xfrm>
          <a:prstGeom prst="rect">
            <a:avLst/>
          </a:prstGeom>
          <a:noFill/>
          <a:ln/>
        </p:spPr>
        <p:txBody>
          <a:bodyPr wrap="square" lIns="0" tIns="0" rIns="0" bIns="0" rtlCol="0" anchor="ctr"/>
          <a:lstStyle/>
          <a:p>
            <a:pPr marL="0" indent="0">
              <a:buNone/>
            </a:pPr>
            <a:r>
              <a:rPr lang="en-US" sz="900" b="1" dirty="0">
                <a:solidFill>
                  <a:srgbClr val="8A8FB5"/>
                </a:solidFill>
                <a:latin typeface="Calibri" pitchFamily="34" charset="0"/>
                <a:ea typeface="Calibri" pitchFamily="34" charset="-122"/>
                <a:cs typeface="Calibri" pitchFamily="34" charset="-120"/>
              </a:rPr>
              <a:t>&lt;/&gt;  Python</a:t>
            </a:r>
            <a:endParaRPr lang="en-US" sz="900" dirty="0"/>
          </a:p>
        </p:txBody>
      </p:sp>
      <p:sp>
        <p:nvSpPr>
          <p:cNvPr id="11" name="Text 9"/>
          <p:cNvSpPr txBox="1"/>
          <p:nvPr/>
        </p:nvSpPr>
        <p:spPr>
          <a:xfrm>
            <a:off x="896112" y="2798064"/>
            <a:ext cx="2725580" cy="1673352"/>
          </a:xfrm>
          <a:prstGeom prst="rect">
            <a:avLst/>
          </a:prstGeom>
          <a:noFill/>
          <a:ln/>
        </p:spPr>
        <p:txBody>
          <a:bodyPr wrap="square" lIns="0" tIns="0" rIns="0" bIns="0" rtlCol="0" anchor="t"/>
          <a:lstStyle/>
          <a:p>
            <a:pPr marL="0" indent="0">
              <a:buNone/>
            </a:pPr>
            <a:r>
              <a:rPr lang="en-US" sz="1150" dirty="0">
                <a:solidFill>
                  <a:srgbClr val="E4E4F0"/>
                </a:solidFill>
                <a:latin typeface="Courier New" pitchFamily="34" charset="0"/>
                <a:ea typeface="Courier New" pitchFamily="34" charset="-122"/>
                <a:cs typeface="Courier New" pitchFamily="34" charset="-120"/>
              </a:rPr>
              <a:t>a = [</a:t>
            </a:r>
            <a:r>
              <a:rPr lang="en-US" sz="1150" dirty="0">
                <a:solidFill>
                  <a:srgbClr val="FAB387"/>
                </a:solidFill>
                <a:latin typeface="Courier New" pitchFamily="34" charset="0"/>
                <a:ea typeface="Courier New" pitchFamily="34" charset="-122"/>
                <a:cs typeface="Courier New" pitchFamily="34" charset="-120"/>
              </a:rPr>
              <a:t>1</a:t>
            </a:r>
            <a:r>
              <a:rPr lang="en-US" sz="1150" dirty="0">
                <a:solidFill>
                  <a:srgbClr val="E4E4F0"/>
                </a:solidFill>
                <a:latin typeface="Courier New" pitchFamily="34" charset="0"/>
                <a:ea typeface="Courier New" pitchFamily="34" charset="-122"/>
                <a:cs typeface="Courier New" pitchFamily="34" charset="-120"/>
              </a:rPr>
              <a:t>, </a:t>
            </a:r>
            <a:r>
              <a:rPr lang="en-US" sz="1150" dirty="0">
                <a:solidFill>
                  <a:srgbClr val="FAB387"/>
                </a:solidFill>
                <a:latin typeface="Courier New" pitchFamily="34" charset="0"/>
                <a:ea typeface="Courier New" pitchFamily="34" charset="-122"/>
                <a:cs typeface="Courier New" pitchFamily="34" charset="-120"/>
              </a:rPr>
              <a:t>2</a:t>
            </a:r>
            <a:r>
              <a:rPr lang="en-US" sz="1150" dirty="0">
                <a:solidFill>
                  <a:srgbClr val="E4E4F0"/>
                </a:solidFill>
                <a:latin typeface="Courier New" pitchFamily="34" charset="0"/>
                <a:ea typeface="Courier New" pitchFamily="34" charset="-122"/>
                <a:cs typeface="Courier New" pitchFamily="34" charset="-120"/>
              </a:rPr>
              <a:t>, </a:t>
            </a:r>
            <a:r>
              <a:rPr lang="en-US" sz="1150" dirty="0">
                <a:solidFill>
                  <a:srgbClr val="FAB387"/>
                </a:solidFill>
                <a:latin typeface="Courier New" pitchFamily="34" charset="0"/>
                <a:ea typeface="Courier New" pitchFamily="34" charset="-122"/>
                <a:cs typeface="Courier New" pitchFamily="34" charset="-120"/>
              </a:rPr>
              <a:t>3</a:t>
            </a:r>
            <a:r>
              <a:rPr lang="en-US" sz="1150" dirty="0">
                <a:solidFill>
                  <a:srgbClr val="E4E4F0"/>
                </a:solidFill>
                <a:latin typeface="Courier New" pitchFamily="34" charset="0"/>
                <a:ea typeface="Courier New" pitchFamily="34" charset="-122"/>
                <a:cs typeface="Courier New" pitchFamily="34" charset="-120"/>
              </a:rPr>
              <a:t>] </a:t>
            </a:r>
            <a:r>
              <a:rPr lang="en-US" sz="1150" i="1" dirty="0">
                <a:solidFill>
                  <a:srgbClr val="8A8FB5"/>
                </a:solidFill>
                <a:latin typeface="Courier New" pitchFamily="34" charset="0"/>
                <a:ea typeface="Courier New" pitchFamily="34" charset="-122"/>
                <a:cs typeface="Courier New" pitchFamily="34" charset="-120"/>
              </a:rPr>
              <a:t># list</a:t>
            </a:r>
            <a:endParaRPr lang="en-US" sz="1150" dirty="0"/>
          </a:p>
          <a:p>
            <a:pPr marL="0" indent="0">
              <a:buNone/>
            </a:pPr>
            <a:r>
              <a:rPr lang="en-US" sz="1150" dirty="0">
                <a:solidFill>
                  <a:srgbClr val="E4E4F0"/>
                </a:solidFill>
                <a:latin typeface="Courier New" pitchFamily="34" charset="0"/>
                <a:ea typeface="Courier New" pitchFamily="34" charset="-122"/>
                <a:cs typeface="Courier New" pitchFamily="34" charset="-120"/>
              </a:rPr>
              <a:t>b = (</a:t>
            </a:r>
            <a:r>
              <a:rPr lang="en-US" sz="1150" dirty="0">
                <a:solidFill>
                  <a:srgbClr val="FAB387"/>
                </a:solidFill>
                <a:latin typeface="Courier New" pitchFamily="34" charset="0"/>
                <a:ea typeface="Courier New" pitchFamily="34" charset="-122"/>
                <a:cs typeface="Courier New" pitchFamily="34" charset="-120"/>
              </a:rPr>
              <a:t>4</a:t>
            </a:r>
            <a:r>
              <a:rPr lang="en-US" sz="1150" dirty="0">
                <a:solidFill>
                  <a:srgbClr val="E4E4F0"/>
                </a:solidFill>
                <a:latin typeface="Courier New" pitchFamily="34" charset="0"/>
                <a:ea typeface="Courier New" pitchFamily="34" charset="-122"/>
                <a:cs typeface="Courier New" pitchFamily="34" charset="-120"/>
              </a:rPr>
              <a:t>, </a:t>
            </a:r>
            <a:r>
              <a:rPr lang="en-US" sz="1150" dirty="0">
                <a:solidFill>
                  <a:srgbClr val="FAB387"/>
                </a:solidFill>
                <a:latin typeface="Courier New" pitchFamily="34" charset="0"/>
                <a:ea typeface="Courier New" pitchFamily="34" charset="-122"/>
                <a:cs typeface="Courier New" pitchFamily="34" charset="-120"/>
              </a:rPr>
              <a:t>5</a:t>
            </a:r>
            <a:r>
              <a:rPr lang="en-US" sz="1150" dirty="0">
                <a:solidFill>
                  <a:srgbClr val="E4E4F0"/>
                </a:solidFill>
                <a:latin typeface="Courier New" pitchFamily="34" charset="0"/>
                <a:ea typeface="Courier New" pitchFamily="34" charset="-122"/>
                <a:cs typeface="Courier New" pitchFamily="34" charset="-120"/>
              </a:rPr>
              <a:t>, </a:t>
            </a:r>
            <a:r>
              <a:rPr lang="en-US" sz="1150" dirty="0">
                <a:solidFill>
                  <a:srgbClr val="FAB387"/>
                </a:solidFill>
                <a:latin typeface="Courier New" pitchFamily="34" charset="0"/>
                <a:ea typeface="Courier New" pitchFamily="34" charset="-122"/>
                <a:cs typeface="Courier New" pitchFamily="34" charset="-120"/>
              </a:rPr>
              <a:t>6</a:t>
            </a:r>
            <a:r>
              <a:rPr lang="en-US" sz="1150" dirty="0">
                <a:solidFill>
                  <a:srgbClr val="E4E4F0"/>
                </a:solidFill>
                <a:latin typeface="Courier New" pitchFamily="34" charset="0"/>
                <a:ea typeface="Courier New" pitchFamily="34" charset="-122"/>
                <a:cs typeface="Courier New" pitchFamily="34" charset="-120"/>
              </a:rPr>
              <a:t>) </a:t>
            </a:r>
            <a:r>
              <a:rPr lang="en-US" sz="1150" i="1" dirty="0">
                <a:solidFill>
                  <a:srgbClr val="8A8FB5"/>
                </a:solidFill>
                <a:latin typeface="Courier New" pitchFamily="34" charset="0"/>
                <a:ea typeface="Courier New" pitchFamily="34" charset="-122"/>
                <a:cs typeface="Courier New" pitchFamily="34" charset="-120"/>
              </a:rPr>
              <a:t># tuple</a:t>
            </a:r>
            <a:endParaRPr lang="en-US" sz="1150" dirty="0"/>
          </a:p>
          <a:p>
            <a:pPr marL="0" indent="0">
              <a:buNone/>
            </a:pPr>
            <a:r>
              <a:rPr lang="en-US" sz="1150" dirty="0">
                <a:solidFill>
                  <a:srgbClr val="E4E4F0"/>
                </a:solidFill>
                <a:latin typeface="Courier New" pitchFamily="34" charset="0"/>
                <a:ea typeface="Courier New" pitchFamily="34" charset="-122"/>
                <a:cs typeface="Courier New" pitchFamily="34" charset="-120"/>
              </a:rPr>
              <a:t> </a:t>
            </a:r>
            <a:endParaRPr lang="en-US" sz="1150" dirty="0"/>
          </a:p>
          <a:p>
            <a:pPr marL="0" indent="0">
              <a:buNone/>
            </a:pPr>
            <a:r>
              <a:rPr lang="en-US" sz="1150" dirty="0">
                <a:solidFill>
                  <a:srgbClr val="82AAFF"/>
                </a:solidFill>
                <a:latin typeface="Courier New" pitchFamily="34" charset="0"/>
                <a:ea typeface="Courier New" pitchFamily="34" charset="-122"/>
                <a:cs typeface="Courier New" pitchFamily="34" charset="-120"/>
              </a:rPr>
              <a:t>print</a:t>
            </a:r>
            <a:r>
              <a:rPr lang="en-US" sz="1150" dirty="0">
                <a:solidFill>
                  <a:srgbClr val="E4E4F0"/>
                </a:solidFill>
                <a:latin typeface="Courier New" pitchFamily="34" charset="0"/>
                <a:ea typeface="Courier New" pitchFamily="34" charset="-122"/>
                <a:cs typeface="Courier New" pitchFamily="34" charset="-120"/>
              </a:rPr>
              <a:t>(a[</a:t>
            </a:r>
            <a:r>
              <a:rPr lang="en-US" sz="1150" dirty="0">
                <a:solidFill>
                  <a:srgbClr val="FAB387"/>
                </a:solidFill>
                <a:latin typeface="Courier New" pitchFamily="34" charset="0"/>
                <a:ea typeface="Courier New" pitchFamily="34" charset="-122"/>
                <a:cs typeface="Courier New" pitchFamily="34" charset="-120"/>
              </a:rPr>
              <a:t>0</a:t>
            </a:r>
            <a:r>
              <a:rPr lang="en-US" sz="1150" dirty="0">
                <a:solidFill>
                  <a:srgbClr val="E4E4F0"/>
                </a:solidFill>
                <a:latin typeface="Courier New" pitchFamily="34" charset="0"/>
                <a:ea typeface="Courier New" pitchFamily="34" charset="-122"/>
                <a:cs typeface="Courier New" pitchFamily="34" charset="-120"/>
              </a:rPr>
              <a:t>])</a:t>
            </a:r>
            <a:endParaRPr lang="en-US" sz="1150" dirty="0"/>
          </a:p>
          <a:p>
            <a:pPr marL="0" indent="0">
              <a:buNone/>
            </a:pPr>
            <a:r>
              <a:rPr lang="en-US" sz="1150" dirty="0">
                <a:solidFill>
                  <a:srgbClr val="82AAFF"/>
                </a:solidFill>
                <a:latin typeface="Courier New" pitchFamily="34" charset="0"/>
                <a:ea typeface="Courier New" pitchFamily="34" charset="-122"/>
                <a:cs typeface="Courier New" pitchFamily="34" charset="-120"/>
              </a:rPr>
              <a:t>print</a:t>
            </a:r>
            <a:r>
              <a:rPr lang="en-US" sz="1150" dirty="0">
                <a:solidFill>
                  <a:srgbClr val="E4E4F0"/>
                </a:solidFill>
                <a:latin typeface="Courier New" pitchFamily="34" charset="0"/>
                <a:ea typeface="Courier New" pitchFamily="34" charset="-122"/>
                <a:cs typeface="Courier New" pitchFamily="34" charset="-120"/>
              </a:rPr>
              <a:t>(b[</a:t>
            </a:r>
            <a:r>
              <a:rPr lang="en-US" sz="1150" dirty="0">
                <a:solidFill>
                  <a:srgbClr val="FAB387"/>
                </a:solidFill>
                <a:latin typeface="Courier New" pitchFamily="34" charset="0"/>
                <a:ea typeface="Courier New" pitchFamily="34" charset="-122"/>
                <a:cs typeface="Courier New" pitchFamily="34" charset="-120"/>
              </a:rPr>
              <a:t>1</a:t>
            </a:r>
            <a:r>
              <a:rPr lang="en-US" sz="1150" dirty="0">
                <a:solidFill>
                  <a:srgbClr val="E4E4F0"/>
                </a:solidFill>
                <a:latin typeface="Courier New" pitchFamily="34" charset="0"/>
                <a:ea typeface="Courier New" pitchFamily="34" charset="-122"/>
                <a:cs typeface="Courier New" pitchFamily="34" charset="-120"/>
              </a:rPr>
              <a:t>])</a:t>
            </a:r>
            <a:endParaRPr lang="en-US" sz="1150" dirty="0"/>
          </a:p>
        </p:txBody>
      </p:sp>
      <p:sp>
        <p:nvSpPr>
          <p:cNvPr id="12" name="Shape 10"/>
          <p:cNvSpPr/>
          <p:nvPr/>
        </p:nvSpPr>
        <p:spPr>
          <a:xfrm>
            <a:off x="3868580" y="2468880"/>
            <a:ext cx="1838648" cy="2057400"/>
          </a:xfrm>
          <a:prstGeom prst="roundRect">
            <a:avLst>
              <a:gd name="adj" fmla="val 4973"/>
            </a:avLst>
          </a:prstGeom>
          <a:solidFill>
            <a:srgbClr val="F6F6FF"/>
          </a:solidFill>
          <a:ln w="9525">
            <a:solidFill>
              <a:srgbClr val="DCDDF5"/>
            </a:solidFill>
            <a:prstDash val="solid"/>
          </a:ln>
        </p:spPr>
        <p:txBody>
          <a:bodyPr/>
          <a:lstStyle/>
          <a:p>
            <a:endParaRPr lang="en-PH"/>
          </a:p>
        </p:txBody>
      </p:sp>
      <p:sp>
        <p:nvSpPr>
          <p:cNvPr id="13" name="Text 11"/>
          <p:cNvSpPr txBox="1"/>
          <p:nvPr/>
        </p:nvSpPr>
        <p:spPr>
          <a:xfrm>
            <a:off x="4014884" y="2542032"/>
            <a:ext cx="1564328" cy="182880"/>
          </a:xfrm>
          <a:prstGeom prst="rect">
            <a:avLst/>
          </a:prstGeom>
          <a:noFill/>
          <a:ln/>
        </p:spPr>
        <p:txBody>
          <a:bodyPr wrap="square" lIns="0" tIns="0" rIns="0" bIns="0" rtlCol="0" anchor="ctr"/>
          <a:lstStyle/>
          <a:p>
            <a:pPr marL="0" indent="0">
              <a:buNone/>
            </a:pPr>
            <a:r>
              <a:rPr lang="en-US" sz="850" b="1" kern="0" spc="150" dirty="0">
                <a:solidFill>
                  <a:srgbClr val="4F46E5"/>
                </a:solidFill>
                <a:latin typeface="Calibri" pitchFamily="34" charset="0"/>
                <a:ea typeface="Calibri" pitchFamily="34" charset="-122"/>
                <a:cs typeface="Calibri" pitchFamily="34" charset="-120"/>
              </a:rPr>
              <a:t>OUTPUT</a:t>
            </a:r>
            <a:endParaRPr lang="en-US" sz="850" dirty="0"/>
          </a:p>
        </p:txBody>
      </p:sp>
      <p:sp>
        <p:nvSpPr>
          <p:cNvPr id="14" name="Text 12"/>
          <p:cNvSpPr txBox="1"/>
          <p:nvPr/>
        </p:nvSpPr>
        <p:spPr>
          <a:xfrm>
            <a:off x="4014884" y="2761488"/>
            <a:ext cx="1600904" cy="1728216"/>
          </a:xfrm>
          <a:prstGeom prst="rect">
            <a:avLst/>
          </a:prstGeom>
          <a:noFill/>
          <a:ln/>
        </p:spPr>
        <p:txBody>
          <a:bodyPr wrap="square" lIns="0" tIns="0" rIns="0" bIns="0" rtlCol="0" anchor="t"/>
          <a:lstStyle/>
          <a:p>
            <a:pPr marL="0" indent="0">
              <a:buNone/>
            </a:pPr>
            <a:r>
              <a:rPr lang="en-US" sz="1200" dirty="0">
                <a:solidFill>
                  <a:srgbClr val="1E1B4B"/>
                </a:solidFill>
                <a:latin typeface="Courier New" pitchFamily="34" charset="0"/>
                <a:ea typeface="Courier New" pitchFamily="34" charset="-122"/>
                <a:cs typeface="Courier New" pitchFamily="34" charset="-120"/>
              </a:rPr>
              <a:t>1</a:t>
            </a:r>
            <a:endParaRPr lang="en-US" sz="1200" dirty="0"/>
          </a:p>
          <a:p>
            <a:pPr marL="0" indent="0">
              <a:buNone/>
            </a:pPr>
            <a:r>
              <a:rPr lang="en-US" sz="1200" dirty="0">
                <a:solidFill>
                  <a:srgbClr val="1E1B4B"/>
                </a:solidFill>
                <a:latin typeface="Courier New" pitchFamily="34" charset="0"/>
                <a:ea typeface="Courier New" pitchFamily="34" charset="-122"/>
                <a:cs typeface="Courier New" pitchFamily="34" charset="-120"/>
              </a:rPr>
              <a:t>5</a:t>
            </a:r>
            <a:endParaRPr lang="en-US" sz="1200" dirty="0"/>
          </a:p>
        </p:txBody>
      </p:sp>
      <p:sp>
        <p:nvSpPr>
          <p:cNvPr id="15" name="Shape 13"/>
          <p:cNvSpPr/>
          <p:nvPr/>
        </p:nvSpPr>
        <p:spPr>
          <a:xfrm>
            <a:off x="6255868" y="1417320"/>
            <a:ext cx="5432908" cy="3291840"/>
          </a:xfrm>
          <a:prstGeom prst="roundRect">
            <a:avLst>
              <a:gd name="adj" fmla="val 3333"/>
            </a:avLst>
          </a:prstGeom>
          <a:solidFill>
            <a:srgbClr val="FFFFFF"/>
          </a:solidFill>
          <a:ln w="9525">
            <a:solidFill>
              <a:srgbClr val="DCDDF5"/>
            </a:solidFill>
            <a:prstDash val="solid"/>
          </a:ln>
          <a:effectLst>
            <a:outerShdw blurRad="127000" dist="25400" dir="5400000" algn="bl" rotWithShape="0">
              <a:srgbClr val="4F46E5">
                <a:alpha val="12000"/>
              </a:srgbClr>
            </a:outerShdw>
          </a:effectLst>
        </p:spPr>
        <p:txBody>
          <a:bodyPr/>
          <a:lstStyle/>
          <a:p>
            <a:endParaRPr lang="en-PH"/>
          </a:p>
        </p:txBody>
      </p:sp>
      <p:sp>
        <p:nvSpPr>
          <p:cNvPr id="16" name="Text 14"/>
          <p:cNvSpPr txBox="1"/>
          <p:nvPr/>
        </p:nvSpPr>
        <p:spPr>
          <a:xfrm>
            <a:off x="6484468" y="1536192"/>
            <a:ext cx="4975708" cy="347472"/>
          </a:xfrm>
          <a:prstGeom prst="rect">
            <a:avLst/>
          </a:prstGeom>
          <a:noFill/>
          <a:ln/>
        </p:spPr>
        <p:txBody>
          <a:bodyPr wrap="square" lIns="0" tIns="0" rIns="0" bIns="0" rtlCol="0" anchor="t"/>
          <a:lstStyle/>
          <a:p>
            <a:pPr marL="0" indent="0">
              <a:buNone/>
            </a:pPr>
            <a:r>
              <a:rPr lang="en-US" sz="1700" b="1" dirty="0">
                <a:solidFill>
                  <a:srgbClr val="1E1B4B"/>
                </a:solidFill>
                <a:latin typeface="Calibri" pitchFamily="34" charset="0"/>
                <a:ea typeface="Calibri" pitchFamily="34" charset="-122"/>
                <a:cs typeface="Calibri" pitchFamily="34" charset="-120"/>
              </a:rPr>
              <a:t>Slicing</a:t>
            </a:r>
            <a:endParaRPr lang="en-US" sz="1700" dirty="0"/>
          </a:p>
        </p:txBody>
      </p:sp>
      <p:sp>
        <p:nvSpPr>
          <p:cNvPr id="17" name="Text 15"/>
          <p:cNvSpPr txBox="1"/>
          <p:nvPr/>
        </p:nvSpPr>
        <p:spPr>
          <a:xfrm>
            <a:off x="6484468" y="1883664"/>
            <a:ext cx="4975708" cy="502920"/>
          </a:xfrm>
          <a:prstGeom prst="rect">
            <a:avLst/>
          </a:prstGeom>
          <a:noFill/>
          <a:ln/>
        </p:spPr>
        <p:txBody>
          <a:bodyPr wrap="square" lIns="0" tIns="0" rIns="0" bIns="0" rtlCol="0" anchor="t"/>
          <a:lstStyle/>
          <a:p>
            <a:pPr marL="0" indent="0">
              <a:buNone/>
            </a:pPr>
            <a:r>
              <a:rPr lang="en-US" sz="1250" dirty="0">
                <a:solidFill>
                  <a:srgbClr val="5B5F7A"/>
                </a:solidFill>
                <a:latin typeface="Calibri" pitchFamily="34" charset="0"/>
                <a:ea typeface="Calibri" pitchFamily="34" charset="-122"/>
                <a:cs typeface="Calibri" pitchFamily="34" charset="-120"/>
              </a:rPr>
              <a:t>Both lists and tuples allow you to extract a subset of elements using slicing.</a:t>
            </a:r>
            <a:endParaRPr lang="en-US" sz="1250" dirty="0"/>
          </a:p>
        </p:txBody>
      </p:sp>
      <p:sp>
        <p:nvSpPr>
          <p:cNvPr id="18" name="Shape 16"/>
          <p:cNvSpPr/>
          <p:nvPr/>
        </p:nvSpPr>
        <p:spPr>
          <a:xfrm>
            <a:off x="6484468" y="2468880"/>
            <a:ext cx="2999900" cy="2057400"/>
          </a:xfrm>
          <a:prstGeom prst="roundRect">
            <a:avLst>
              <a:gd name="adj" fmla="val 4444"/>
            </a:avLst>
          </a:prstGeom>
          <a:solidFill>
            <a:srgbClr val="1F1D36"/>
          </a:solidFill>
          <a:ln w="12700">
            <a:solidFill>
              <a:srgbClr val="1F1D36"/>
            </a:solidFill>
            <a:prstDash val="solid"/>
          </a:ln>
        </p:spPr>
        <p:txBody>
          <a:bodyPr/>
          <a:lstStyle/>
          <a:p>
            <a:endParaRPr lang="en-PH"/>
          </a:p>
        </p:txBody>
      </p:sp>
      <p:sp>
        <p:nvSpPr>
          <p:cNvPr id="19" name="Text 17"/>
          <p:cNvSpPr txBox="1"/>
          <p:nvPr/>
        </p:nvSpPr>
        <p:spPr>
          <a:xfrm>
            <a:off x="6649060" y="2551176"/>
            <a:ext cx="2670716" cy="201168"/>
          </a:xfrm>
          <a:prstGeom prst="rect">
            <a:avLst/>
          </a:prstGeom>
          <a:noFill/>
          <a:ln/>
        </p:spPr>
        <p:txBody>
          <a:bodyPr wrap="square" lIns="0" tIns="0" rIns="0" bIns="0" rtlCol="0" anchor="ctr"/>
          <a:lstStyle/>
          <a:p>
            <a:pPr marL="0" indent="0">
              <a:buNone/>
            </a:pPr>
            <a:r>
              <a:rPr lang="en-US" sz="900" b="1" dirty="0">
                <a:solidFill>
                  <a:srgbClr val="8A8FB5"/>
                </a:solidFill>
                <a:latin typeface="Calibri" pitchFamily="34" charset="0"/>
                <a:ea typeface="Calibri" pitchFamily="34" charset="-122"/>
                <a:cs typeface="Calibri" pitchFamily="34" charset="-120"/>
              </a:rPr>
              <a:t>&lt;/&gt;  Python</a:t>
            </a:r>
            <a:endParaRPr lang="en-US" sz="900" dirty="0"/>
          </a:p>
        </p:txBody>
      </p:sp>
      <p:sp>
        <p:nvSpPr>
          <p:cNvPr id="20" name="Text 18"/>
          <p:cNvSpPr txBox="1"/>
          <p:nvPr/>
        </p:nvSpPr>
        <p:spPr>
          <a:xfrm>
            <a:off x="6649060" y="2798064"/>
            <a:ext cx="2725580" cy="1673352"/>
          </a:xfrm>
          <a:prstGeom prst="rect">
            <a:avLst/>
          </a:prstGeom>
          <a:noFill/>
          <a:ln/>
        </p:spPr>
        <p:txBody>
          <a:bodyPr wrap="square" lIns="0" tIns="0" rIns="0" bIns="0" rtlCol="0" anchor="t"/>
          <a:lstStyle/>
          <a:p>
            <a:pPr marL="0" indent="0">
              <a:buNone/>
            </a:pPr>
            <a:r>
              <a:rPr lang="en-US" sz="1150" dirty="0">
                <a:solidFill>
                  <a:srgbClr val="E4E4F0"/>
                </a:solidFill>
                <a:latin typeface="Courier New" pitchFamily="34" charset="0"/>
                <a:ea typeface="Courier New" pitchFamily="34" charset="-122"/>
                <a:cs typeface="Courier New" pitchFamily="34" charset="-120"/>
              </a:rPr>
              <a:t>a = [</a:t>
            </a:r>
            <a:r>
              <a:rPr lang="en-US" sz="1150" dirty="0">
                <a:solidFill>
                  <a:srgbClr val="FAB387"/>
                </a:solidFill>
                <a:latin typeface="Courier New" pitchFamily="34" charset="0"/>
                <a:ea typeface="Courier New" pitchFamily="34" charset="-122"/>
                <a:cs typeface="Courier New" pitchFamily="34" charset="-120"/>
              </a:rPr>
              <a:t>1</a:t>
            </a:r>
            <a:r>
              <a:rPr lang="en-US" sz="1150" dirty="0">
                <a:solidFill>
                  <a:srgbClr val="E4E4F0"/>
                </a:solidFill>
                <a:latin typeface="Courier New" pitchFamily="34" charset="0"/>
                <a:ea typeface="Courier New" pitchFamily="34" charset="-122"/>
                <a:cs typeface="Courier New" pitchFamily="34" charset="-120"/>
              </a:rPr>
              <a:t>, </a:t>
            </a:r>
            <a:r>
              <a:rPr lang="en-US" sz="1150" dirty="0">
                <a:solidFill>
                  <a:srgbClr val="FAB387"/>
                </a:solidFill>
                <a:latin typeface="Courier New" pitchFamily="34" charset="0"/>
                <a:ea typeface="Courier New" pitchFamily="34" charset="-122"/>
                <a:cs typeface="Courier New" pitchFamily="34" charset="-120"/>
              </a:rPr>
              <a:t>2</a:t>
            </a:r>
            <a:r>
              <a:rPr lang="en-US" sz="1150" dirty="0">
                <a:solidFill>
                  <a:srgbClr val="E4E4F0"/>
                </a:solidFill>
                <a:latin typeface="Courier New" pitchFamily="34" charset="0"/>
                <a:ea typeface="Courier New" pitchFamily="34" charset="-122"/>
                <a:cs typeface="Courier New" pitchFamily="34" charset="-120"/>
              </a:rPr>
              <a:t>, </a:t>
            </a:r>
            <a:r>
              <a:rPr lang="en-US" sz="1150" dirty="0">
                <a:solidFill>
                  <a:srgbClr val="FAB387"/>
                </a:solidFill>
                <a:latin typeface="Courier New" pitchFamily="34" charset="0"/>
                <a:ea typeface="Courier New" pitchFamily="34" charset="-122"/>
                <a:cs typeface="Courier New" pitchFamily="34" charset="-120"/>
              </a:rPr>
              <a:t>3</a:t>
            </a:r>
            <a:r>
              <a:rPr lang="en-US" sz="1150" dirty="0">
                <a:solidFill>
                  <a:srgbClr val="E4E4F0"/>
                </a:solidFill>
                <a:latin typeface="Courier New" pitchFamily="34" charset="0"/>
                <a:ea typeface="Courier New" pitchFamily="34" charset="-122"/>
                <a:cs typeface="Courier New" pitchFamily="34" charset="-120"/>
              </a:rPr>
              <a:t>, </a:t>
            </a:r>
            <a:r>
              <a:rPr lang="en-US" sz="1150" dirty="0">
                <a:solidFill>
                  <a:srgbClr val="FAB387"/>
                </a:solidFill>
                <a:latin typeface="Courier New" pitchFamily="34" charset="0"/>
                <a:ea typeface="Courier New" pitchFamily="34" charset="-122"/>
                <a:cs typeface="Courier New" pitchFamily="34" charset="-120"/>
              </a:rPr>
              <a:t>4</a:t>
            </a:r>
            <a:r>
              <a:rPr lang="en-US" sz="1150" dirty="0">
                <a:solidFill>
                  <a:srgbClr val="E4E4F0"/>
                </a:solidFill>
                <a:latin typeface="Courier New" pitchFamily="34" charset="0"/>
                <a:ea typeface="Courier New" pitchFamily="34" charset="-122"/>
                <a:cs typeface="Courier New" pitchFamily="34" charset="-120"/>
              </a:rPr>
              <a:t>, </a:t>
            </a:r>
            <a:r>
              <a:rPr lang="en-US" sz="1150" dirty="0">
                <a:solidFill>
                  <a:srgbClr val="FAB387"/>
                </a:solidFill>
                <a:latin typeface="Courier New" pitchFamily="34" charset="0"/>
                <a:ea typeface="Courier New" pitchFamily="34" charset="-122"/>
                <a:cs typeface="Courier New" pitchFamily="34" charset="-120"/>
              </a:rPr>
              <a:t>5</a:t>
            </a:r>
            <a:r>
              <a:rPr lang="en-US" sz="1150" dirty="0">
                <a:solidFill>
                  <a:srgbClr val="E4E4F0"/>
                </a:solidFill>
                <a:latin typeface="Courier New" pitchFamily="34" charset="0"/>
                <a:ea typeface="Courier New" pitchFamily="34" charset="-122"/>
                <a:cs typeface="Courier New" pitchFamily="34" charset="-120"/>
              </a:rPr>
              <a:t>]</a:t>
            </a:r>
            <a:endParaRPr lang="en-US" sz="1150" dirty="0"/>
          </a:p>
          <a:p>
            <a:pPr marL="0" indent="0">
              <a:buNone/>
            </a:pPr>
            <a:r>
              <a:rPr lang="en-US" sz="1150" dirty="0">
                <a:solidFill>
                  <a:srgbClr val="E4E4F0"/>
                </a:solidFill>
                <a:latin typeface="Courier New" pitchFamily="34" charset="0"/>
                <a:ea typeface="Courier New" pitchFamily="34" charset="-122"/>
                <a:cs typeface="Courier New" pitchFamily="34" charset="-120"/>
              </a:rPr>
              <a:t>b = (</a:t>
            </a:r>
            <a:r>
              <a:rPr lang="en-US" sz="1150" dirty="0">
                <a:solidFill>
                  <a:srgbClr val="FAB387"/>
                </a:solidFill>
                <a:latin typeface="Courier New" pitchFamily="34" charset="0"/>
                <a:ea typeface="Courier New" pitchFamily="34" charset="-122"/>
                <a:cs typeface="Courier New" pitchFamily="34" charset="-120"/>
              </a:rPr>
              <a:t>6</a:t>
            </a:r>
            <a:r>
              <a:rPr lang="en-US" sz="1150" dirty="0">
                <a:solidFill>
                  <a:srgbClr val="E4E4F0"/>
                </a:solidFill>
                <a:latin typeface="Courier New" pitchFamily="34" charset="0"/>
                <a:ea typeface="Courier New" pitchFamily="34" charset="-122"/>
                <a:cs typeface="Courier New" pitchFamily="34" charset="-120"/>
              </a:rPr>
              <a:t>, </a:t>
            </a:r>
            <a:r>
              <a:rPr lang="en-US" sz="1150" dirty="0">
                <a:solidFill>
                  <a:srgbClr val="FAB387"/>
                </a:solidFill>
                <a:latin typeface="Courier New" pitchFamily="34" charset="0"/>
                <a:ea typeface="Courier New" pitchFamily="34" charset="-122"/>
                <a:cs typeface="Courier New" pitchFamily="34" charset="-120"/>
              </a:rPr>
              <a:t>7</a:t>
            </a:r>
            <a:r>
              <a:rPr lang="en-US" sz="1150" dirty="0">
                <a:solidFill>
                  <a:srgbClr val="E4E4F0"/>
                </a:solidFill>
                <a:latin typeface="Courier New" pitchFamily="34" charset="0"/>
                <a:ea typeface="Courier New" pitchFamily="34" charset="-122"/>
                <a:cs typeface="Courier New" pitchFamily="34" charset="-120"/>
              </a:rPr>
              <a:t>, </a:t>
            </a:r>
            <a:r>
              <a:rPr lang="en-US" sz="1150" dirty="0">
                <a:solidFill>
                  <a:srgbClr val="FAB387"/>
                </a:solidFill>
                <a:latin typeface="Courier New" pitchFamily="34" charset="0"/>
                <a:ea typeface="Courier New" pitchFamily="34" charset="-122"/>
                <a:cs typeface="Courier New" pitchFamily="34" charset="-120"/>
              </a:rPr>
              <a:t>8</a:t>
            </a:r>
            <a:r>
              <a:rPr lang="en-US" sz="1150" dirty="0">
                <a:solidFill>
                  <a:srgbClr val="E4E4F0"/>
                </a:solidFill>
                <a:latin typeface="Courier New" pitchFamily="34" charset="0"/>
                <a:ea typeface="Courier New" pitchFamily="34" charset="-122"/>
                <a:cs typeface="Courier New" pitchFamily="34" charset="-120"/>
              </a:rPr>
              <a:t>, </a:t>
            </a:r>
            <a:r>
              <a:rPr lang="en-US" sz="1150" dirty="0">
                <a:solidFill>
                  <a:srgbClr val="FAB387"/>
                </a:solidFill>
                <a:latin typeface="Courier New" pitchFamily="34" charset="0"/>
                <a:ea typeface="Courier New" pitchFamily="34" charset="-122"/>
                <a:cs typeface="Courier New" pitchFamily="34" charset="-120"/>
              </a:rPr>
              <a:t>9</a:t>
            </a:r>
            <a:r>
              <a:rPr lang="en-US" sz="1150" dirty="0">
                <a:solidFill>
                  <a:srgbClr val="E4E4F0"/>
                </a:solidFill>
                <a:latin typeface="Courier New" pitchFamily="34" charset="0"/>
                <a:ea typeface="Courier New" pitchFamily="34" charset="-122"/>
                <a:cs typeface="Courier New" pitchFamily="34" charset="-120"/>
              </a:rPr>
              <a:t>, </a:t>
            </a:r>
            <a:r>
              <a:rPr lang="en-US" sz="1150" dirty="0">
                <a:solidFill>
                  <a:srgbClr val="FAB387"/>
                </a:solidFill>
                <a:latin typeface="Courier New" pitchFamily="34" charset="0"/>
                <a:ea typeface="Courier New" pitchFamily="34" charset="-122"/>
                <a:cs typeface="Courier New" pitchFamily="34" charset="-120"/>
              </a:rPr>
              <a:t>10</a:t>
            </a:r>
            <a:r>
              <a:rPr lang="en-US" sz="1150" dirty="0">
                <a:solidFill>
                  <a:srgbClr val="E4E4F0"/>
                </a:solidFill>
                <a:latin typeface="Courier New" pitchFamily="34" charset="0"/>
                <a:ea typeface="Courier New" pitchFamily="34" charset="-122"/>
                <a:cs typeface="Courier New" pitchFamily="34" charset="-120"/>
              </a:rPr>
              <a:t>)</a:t>
            </a:r>
            <a:endParaRPr lang="en-US" sz="1150" dirty="0"/>
          </a:p>
          <a:p>
            <a:pPr marL="0" indent="0">
              <a:buNone/>
            </a:pPr>
            <a:r>
              <a:rPr lang="en-US" sz="1150" dirty="0">
                <a:solidFill>
                  <a:srgbClr val="E4E4F0"/>
                </a:solidFill>
                <a:latin typeface="Courier New" pitchFamily="34" charset="0"/>
                <a:ea typeface="Courier New" pitchFamily="34" charset="-122"/>
                <a:cs typeface="Courier New" pitchFamily="34" charset="-120"/>
              </a:rPr>
              <a:t> </a:t>
            </a:r>
            <a:endParaRPr lang="en-US" sz="1150" dirty="0"/>
          </a:p>
          <a:p>
            <a:pPr marL="0" indent="0">
              <a:buNone/>
            </a:pPr>
            <a:r>
              <a:rPr lang="en-US" sz="1150" dirty="0">
                <a:solidFill>
                  <a:srgbClr val="82AAFF"/>
                </a:solidFill>
                <a:latin typeface="Courier New" pitchFamily="34" charset="0"/>
                <a:ea typeface="Courier New" pitchFamily="34" charset="-122"/>
                <a:cs typeface="Courier New" pitchFamily="34" charset="-120"/>
              </a:rPr>
              <a:t>print</a:t>
            </a:r>
            <a:r>
              <a:rPr lang="en-US" sz="1150" dirty="0">
                <a:solidFill>
                  <a:srgbClr val="E4E4F0"/>
                </a:solidFill>
                <a:latin typeface="Courier New" pitchFamily="34" charset="0"/>
                <a:ea typeface="Courier New" pitchFamily="34" charset="-122"/>
                <a:cs typeface="Courier New" pitchFamily="34" charset="-120"/>
              </a:rPr>
              <a:t>(a[</a:t>
            </a:r>
            <a:r>
              <a:rPr lang="en-US" sz="1150" dirty="0">
                <a:solidFill>
                  <a:srgbClr val="FAB387"/>
                </a:solidFill>
                <a:latin typeface="Courier New" pitchFamily="34" charset="0"/>
                <a:ea typeface="Courier New" pitchFamily="34" charset="-122"/>
                <a:cs typeface="Courier New" pitchFamily="34" charset="-120"/>
              </a:rPr>
              <a:t>1</a:t>
            </a:r>
            <a:r>
              <a:rPr lang="en-US" sz="1150" dirty="0">
                <a:solidFill>
                  <a:srgbClr val="E4E4F0"/>
                </a:solidFill>
                <a:latin typeface="Courier New" pitchFamily="34" charset="0"/>
                <a:ea typeface="Courier New" pitchFamily="34" charset="-122"/>
                <a:cs typeface="Courier New" pitchFamily="34" charset="-120"/>
              </a:rPr>
              <a:t>:</a:t>
            </a:r>
            <a:r>
              <a:rPr lang="en-US" sz="1150" dirty="0">
                <a:solidFill>
                  <a:srgbClr val="FAB387"/>
                </a:solidFill>
                <a:latin typeface="Courier New" pitchFamily="34" charset="0"/>
                <a:ea typeface="Courier New" pitchFamily="34" charset="-122"/>
                <a:cs typeface="Courier New" pitchFamily="34" charset="-120"/>
              </a:rPr>
              <a:t>3</a:t>
            </a:r>
            <a:r>
              <a:rPr lang="en-US" sz="1150" dirty="0">
                <a:solidFill>
                  <a:srgbClr val="E4E4F0"/>
                </a:solidFill>
                <a:latin typeface="Courier New" pitchFamily="34" charset="0"/>
                <a:ea typeface="Courier New" pitchFamily="34" charset="-122"/>
                <a:cs typeface="Courier New" pitchFamily="34" charset="-120"/>
              </a:rPr>
              <a:t>])</a:t>
            </a:r>
            <a:endParaRPr lang="en-US" sz="1150" dirty="0"/>
          </a:p>
          <a:p>
            <a:pPr marL="0" indent="0">
              <a:buNone/>
            </a:pPr>
            <a:r>
              <a:rPr lang="en-US" sz="1150" dirty="0">
                <a:solidFill>
                  <a:srgbClr val="82AAFF"/>
                </a:solidFill>
                <a:latin typeface="Courier New" pitchFamily="34" charset="0"/>
                <a:ea typeface="Courier New" pitchFamily="34" charset="-122"/>
                <a:cs typeface="Courier New" pitchFamily="34" charset="-120"/>
              </a:rPr>
              <a:t>print</a:t>
            </a:r>
            <a:r>
              <a:rPr lang="en-US" sz="1150" dirty="0">
                <a:solidFill>
                  <a:srgbClr val="E4E4F0"/>
                </a:solidFill>
                <a:latin typeface="Courier New" pitchFamily="34" charset="0"/>
                <a:ea typeface="Courier New" pitchFamily="34" charset="-122"/>
                <a:cs typeface="Courier New" pitchFamily="34" charset="-120"/>
              </a:rPr>
              <a:t>(b[:</a:t>
            </a:r>
            <a:r>
              <a:rPr lang="en-US" sz="1150" dirty="0">
                <a:solidFill>
                  <a:srgbClr val="FAB387"/>
                </a:solidFill>
                <a:latin typeface="Courier New" pitchFamily="34" charset="0"/>
                <a:ea typeface="Courier New" pitchFamily="34" charset="-122"/>
                <a:cs typeface="Courier New" pitchFamily="34" charset="-120"/>
              </a:rPr>
              <a:t>3</a:t>
            </a:r>
            <a:r>
              <a:rPr lang="en-US" sz="1150" dirty="0">
                <a:solidFill>
                  <a:srgbClr val="E4E4F0"/>
                </a:solidFill>
                <a:latin typeface="Courier New" pitchFamily="34" charset="0"/>
                <a:ea typeface="Courier New" pitchFamily="34" charset="-122"/>
                <a:cs typeface="Courier New" pitchFamily="34" charset="-120"/>
              </a:rPr>
              <a:t>])</a:t>
            </a:r>
            <a:endParaRPr lang="en-US" sz="1150" dirty="0"/>
          </a:p>
        </p:txBody>
      </p:sp>
      <p:sp>
        <p:nvSpPr>
          <p:cNvPr id="21" name="Shape 19"/>
          <p:cNvSpPr/>
          <p:nvPr/>
        </p:nvSpPr>
        <p:spPr>
          <a:xfrm>
            <a:off x="9621527" y="2468880"/>
            <a:ext cx="1838648" cy="2057400"/>
          </a:xfrm>
          <a:prstGeom prst="roundRect">
            <a:avLst>
              <a:gd name="adj" fmla="val 4973"/>
            </a:avLst>
          </a:prstGeom>
          <a:solidFill>
            <a:srgbClr val="F6F6FF"/>
          </a:solidFill>
          <a:ln w="9525">
            <a:solidFill>
              <a:srgbClr val="DCDDF5"/>
            </a:solidFill>
            <a:prstDash val="solid"/>
          </a:ln>
        </p:spPr>
        <p:txBody>
          <a:bodyPr/>
          <a:lstStyle/>
          <a:p>
            <a:endParaRPr lang="en-PH"/>
          </a:p>
        </p:txBody>
      </p:sp>
      <p:sp>
        <p:nvSpPr>
          <p:cNvPr id="22" name="Text 20"/>
          <p:cNvSpPr txBox="1"/>
          <p:nvPr/>
        </p:nvSpPr>
        <p:spPr>
          <a:xfrm>
            <a:off x="9767831" y="2542032"/>
            <a:ext cx="1564328" cy="182880"/>
          </a:xfrm>
          <a:prstGeom prst="rect">
            <a:avLst/>
          </a:prstGeom>
          <a:noFill/>
          <a:ln/>
        </p:spPr>
        <p:txBody>
          <a:bodyPr wrap="square" lIns="0" tIns="0" rIns="0" bIns="0" rtlCol="0" anchor="ctr"/>
          <a:lstStyle/>
          <a:p>
            <a:pPr marL="0" indent="0">
              <a:buNone/>
            </a:pPr>
            <a:r>
              <a:rPr lang="en-US" sz="850" b="1" kern="0" spc="150" dirty="0">
                <a:solidFill>
                  <a:srgbClr val="4F46E5"/>
                </a:solidFill>
                <a:latin typeface="Calibri" pitchFamily="34" charset="0"/>
                <a:ea typeface="Calibri" pitchFamily="34" charset="-122"/>
                <a:cs typeface="Calibri" pitchFamily="34" charset="-120"/>
              </a:rPr>
              <a:t>OUTPUT</a:t>
            </a:r>
            <a:endParaRPr lang="en-US" sz="850" dirty="0"/>
          </a:p>
        </p:txBody>
      </p:sp>
      <p:sp>
        <p:nvSpPr>
          <p:cNvPr id="23" name="Text 21"/>
          <p:cNvSpPr txBox="1"/>
          <p:nvPr/>
        </p:nvSpPr>
        <p:spPr>
          <a:xfrm>
            <a:off x="9767831" y="2761488"/>
            <a:ext cx="1600904" cy="1728216"/>
          </a:xfrm>
          <a:prstGeom prst="rect">
            <a:avLst/>
          </a:prstGeom>
          <a:noFill/>
          <a:ln/>
        </p:spPr>
        <p:txBody>
          <a:bodyPr wrap="square" lIns="0" tIns="0" rIns="0" bIns="0" rtlCol="0" anchor="t"/>
          <a:lstStyle/>
          <a:p>
            <a:pPr marL="0" indent="0">
              <a:buNone/>
            </a:pPr>
            <a:r>
              <a:rPr lang="en-US" sz="1200" dirty="0">
                <a:solidFill>
                  <a:srgbClr val="1E1B4B"/>
                </a:solidFill>
                <a:latin typeface="Courier New" pitchFamily="34" charset="0"/>
                <a:ea typeface="Courier New" pitchFamily="34" charset="-122"/>
                <a:cs typeface="Courier New" pitchFamily="34" charset="-120"/>
              </a:rPr>
              <a:t>[2, 3]</a:t>
            </a:r>
            <a:endParaRPr lang="en-US" sz="1200" dirty="0"/>
          </a:p>
          <a:p>
            <a:pPr marL="0" indent="0">
              <a:buNone/>
            </a:pPr>
            <a:r>
              <a:rPr lang="en-US" sz="1200" dirty="0">
                <a:solidFill>
                  <a:srgbClr val="1E1B4B"/>
                </a:solidFill>
                <a:latin typeface="Courier New" pitchFamily="34" charset="0"/>
                <a:ea typeface="Courier New" pitchFamily="34" charset="-122"/>
                <a:cs typeface="Courier New" pitchFamily="34" charset="-120"/>
              </a:rPr>
              <a:t>(6, 7, 8)</a:t>
            </a:r>
            <a:endParaRPr lang="en-US" sz="1200" dirty="0"/>
          </a:p>
        </p:txBody>
      </p:sp>
      <p:sp>
        <p:nvSpPr>
          <p:cNvPr id="24" name="Shape 22"/>
          <p:cNvSpPr/>
          <p:nvPr/>
        </p:nvSpPr>
        <p:spPr>
          <a:xfrm>
            <a:off x="502920" y="4892040"/>
            <a:ext cx="11185855" cy="1371600"/>
          </a:xfrm>
          <a:prstGeom prst="roundRect">
            <a:avLst>
              <a:gd name="adj" fmla="val 8000"/>
            </a:avLst>
          </a:prstGeom>
          <a:solidFill>
            <a:srgbClr val="F1F1FE"/>
          </a:solidFill>
          <a:ln w="9525">
            <a:solidFill>
              <a:srgbClr val="DCDDF5"/>
            </a:solidFill>
            <a:prstDash val="solid"/>
          </a:ln>
        </p:spPr>
        <p:txBody>
          <a:bodyPr/>
          <a:lstStyle/>
          <a:p>
            <a:endParaRPr lang="en-PH"/>
          </a:p>
        </p:txBody>
      </p:sp>
      <p:sp>
        <p:nvSpPr>
          <p:cNvPr id="25" name="Text 23"/>
          <p:cNvSpPr txBox="1"/>
          <p:nvPr/>
        </p:nvSpPr>
        <p:spPr>
          <a:xfrm>
            <a:off x="777240" y="5029200"/>
            <a:ext cx="2926080" cy="320040"/>
          </a:xfrm>
          <a:prstGeom prst="rect">
            <a:avLst/>
          </a:prstGeom>
          <a:noFill/>
          <a:ln/>
        </p:spPr>
        <p:txBody>
          <a:bodyPr wrap="square" lIns="0" tIns="0" rIns="0" bIns="0" rtlCol="0" anchor="t"/>
          <a:lstStyle/>
          <a:p>
            <a:pPr marL="0" indent="0">
              <a:buNone/>
            </a:pPr>
            <a:r>
              <a:rPr lang="en-US" sz="1400" b="1" dirty="0">
                <a:solidFill>
                  <a:srgbClr val="1E1B4B"/>
                </a:solidFill>
                <a:latin typeface="Calibri" pitchFamily="34" charset="0"/>
                <a:ea typeface="Calibri" pitchFamily="34" charset="-122"/>
                <a:cs typeface="Calibri" pitchFamily="34" charset="-120"/>
              </a:rPr>
              <a:t>How </a:t>
            </a:r>
            <a:r>
              <a:rPr lang="en-US" sz="1400" b="1" dirty="0">
                <a:solidFill>
                  <a:srgbClr val="4F46E5"/>
                </a:solidFill>
                <a:latin typeface="Courier New" pitchFamily="34" charset="0"/>
                <a:ea typeface="Courier New" pitchFamily="34" charset="-122"/>
                <a:cs typeface="Courier New" pitchFamily="34" charset="-120"/>
              </a:rPr>
              <a:t>a[1:3]</a:t>
            </a:r>
            <a:r>
              <a:rPr lang="en-US" sz="1400" b="1" dirty="0">
                <a:solidFill>
                  <a:srgbClr val="1E1B4B"/>
                </a:solidFill>
                <a:latin typeface="Calibri" pitchFamily="34" charset="0"/>
                <a:ea typeface="Calibri" pitchFamily="34" charset="-122"/>
                <a:cs typeface="Calibri" pitchFamily="34" charset="-120"/>
              </a:rPr>
              <a:t> works</a:t>
            </a:r>
            <a:endParaRPr lang="en-US" sz="1400" dirty="0"/>
          </a:p>
        </p:txBody>
      </p:sp>
      <p:sp>
        <p:nvSpPr>
          <p:cNvPr id="26" name="Text 24"/>
          <p:cNvSpPr txBox="1"/>
          <p:nvPr/>
        </p:nvSpPr>
        <p:spPr>
          <a:xfrm>
            <a:off x="777240" y="5376672"/>
            <a:ext cx="3291840" cy="822960"/>
          </a:xfrm>
          <a:prstGeom prst="rect">
            <a:avLst/>
          </a:prstGeom>
          <a:noFill/>
          <a:ln/>
        </p:spPr>
        <p:txBody>
          <a:bodyPr wrap="square" lIns="0" tIns="0" rIns="0" bIns="0" rtlCol="0" anchor="t"/>
          <a:lstStyle/>
          <a:p>
            <a:pPr marL="0" indent="0">
              <a:buNone/>
            </a:pPr>
            <a:r>
              <a:rPr lang="en-US" sz="1150" dirty="0">
                <a:solidFill>
                  <a:srgbClr val="4F46E5"/>
                </a:solidFill>
                <a:latin typeface="Courier New" pitchFamily="34" charset="0"/>
                <a:ea typeface="Courier New" pitchFamily="34" charset="-122"/>
                <a:cs typeface="Courier New" pitchFamily="34" charset="-120"/>
              </a:rPr>
              <a:t>[start:stop]</a:t>
            </a:r>
            <a:r>
              <a:rPr lang="en-US" sz="1150" dirty="0">
                <a:solidFill>
                  <a:srgbClr val="5B5F7A"/>
                </a:solidFill>
                <a:latin typeface="Calibri" pitchFamily="34" charset="0"/>
                <a:ea typeface="Calibri" pitchFamily="34" charset="-122"/>
                <a:cs typeface="Calibri" pitchFamily="34" charset="-120"/>
              </a:rPr>
              <a:t> begins at index </a:t>
            </a:r>
            <a:r>
              <a:rPr lang="en-US" sz="1150" b="1" dirty="0">
                <a:solidFill>
                  <a:srgbClr val="5B5F7A"/>
                </a:solidFill>
                <a:latin typeface="Calibri" pitchFamily="34" charset="0"/>
                <a:ea typeface="Calibri" pitchFamily="34" charset="-122"/>
                <a:cs typeface="Calibri" pitchFamily="34" charset="-120"/>
              </a:rPr>
              <a:t>start</a:t>
            </a:r>
            <a:r>
              <a:rPr lang="en-US" sz="1150" dirty="0">
                <a:solidFill>
                  <a:srgbClr val="5B5F7A"/>
                </a:solidFill>
                <a:latin typeface="Calibri" pitchFamily="34" charset="0"/>
                <a:ea typeface="Calibri" pitchFamily="34" charset="-122"/>
                <a:cs typeface="Calibri" pitchFamily="34" charset="-120"/>
              </a:rPr>
              <a:t> and stops </a:t>
            </a:r>
            <a:r>
              <a:rPr lang="en-US" sz="1150" b="1" dirty="0">
                <a:solidFill>
                  <a:srgbClr val="5B5F7A"/>
                </a:solidFill>
                <a:latin typeface="Calibri" pitchFamily="34" charset="0"/>
                <a:ea typeface="Calibri" pitchFamily="34" charset="-122"/>
                <a:cs typeface="Calibri" pitchFamily="34" charset="-120"/>
              </a:rPr>
              <a:t>before</a:t>
            </a:r>
            <a:r>
              <a:rPr lang="en-US" sz="1150" dirty="0">
                <a:solidFill>
                  <a:srgbClr val="5B5F7A"/>
                </a:solidFill>
                <a:latin typeface="Calibri" pitchFamily="34" charset="0"/>
                <a:ea typeface="Calibri" pitchFamily="34" charset="-122"/>
                <a:cs typeface="Calibri" pitchFamily="34" charset="-120"/>
              </a:rPr>
              <a:t> index </a:t>
            </a:r>
            <a:r>
              <a:rPr lang="en-US" sz="1150" b="1" dirty="0">
                <a:solidFill>
                  <a:srgbClr val="5B5F7A"/>
                </a:solidFill>
                <a:latin typeface="Calibri" pitchFamily="34" charset="0"/>
                <a:ea typeface="Calibri" pitchFamily="34" charset="-122"/>
                <a:cs typeface="Calibri" pitchFamily="34" charset="-120"/>
              </a:rPr>
              <a:t>stop</a:t>
            </a:r>
            <a:r>
              <a:rPr lang="en-US" sz="1150" dirty="0">
                <a:solidFill>
                  <a:srgbClr val="5B5F7A"/>
                </a:solidFill>
                <a:latin typeface="Calibri" pitchFamily="34" charset="0"/>
                <a:ea typeface="Calibri" pitchFamily="34" charset="-122"/>
                <a:cs typeface="Calibri" pitchFamily="34" charset="-120"/>
              </a:rPr>
              <a:t>. Leaving out start (</a:t>
            </a:r>
            <a:r>
              <a:rPr lang="en-US" sz="1150" dirty="0">
                <a:solidFill>
                  <a:srgbClr val="4F46E5"/>
                </a:solidFill>
                <a:latin typeface="Courier New" pitchFamily="34" charset="0"/>
                <a:ea typeface="Courier New" pitchFamily="34" charset="-122"/>
                <a:cs typeface="Courier New" pitchFamily="34" charset="-120"/>
              </a:rPr>
              <a:t>b[:3]</a:t>
            </a:r>
            <a:r>
              <a:rPr lang="en-US" sz="1150" dirty="0">
                <a:solidFill>
                  <a:srgbClr val="5B5F7A"/>
                </a:solidFill>
                <a:latin typeface="Calibri" pitchFamily="34" charset="0"/>
                <a:ea typeface="Calibri" pitchFamily="34" charset="-122"/>
                <a:cs typeface="Calibri" pitchFamily="34" charset="-120"/>
              </a:rPr>
              <a:t>) means “from the beginning”.</a:t>
            </a:r>
            <a:endParaRPr lang="en-US" sz="1150" dirty="0"/>
          </a:p>
        </p:txBody>
      </p:sp>
      <p:sp>
        <p:nvSpPr>
          <p:cNvPr id="27" name="Text 25"/>
          <p:cNvSpPr txBox="1"/>
          <p:nvPr/>
        </p:nvSpPr>
        <p:spPr>
          <a:xfrm>
            <a:off x="3886200" y="5138928"/>
            <a:ext cx="457200" cy="502920"/>
          </a:xfrm>
          <a:prstGeom prst="rect">
            <a:avLst/>
          </a:prstGeom>
          <a:noFill/>
          <a:ln/>
        </p:spPr>
        <p:txBody>
          <a:bodyPr wrap="square" lIns="0" tIns="0" rIns="0" bIns="0" rtlCol="0" anchor="ctr"/>
          <a:lstStyle/>
          <a:p>
            <a:pPr marL="0" indent="0">
              <a:buNone/>
            </a:pPr>
            <a:r>
              <a:rPr lang="en-US" sz="1400" b="1" dirty="0">
                <a:solidFill>
                  <a:srgbClr val="1E1B4B"/>
                </a:solidFill>
                <a:latin typeface="Courier New" pitchFamily="34" charset="0"/>
                <a:ea typeface="Courier New" pitchFamily="34" charset="-122"/>
                <a:cs typeface="Courier New" pitchFamily="34" charset="-120"/>
              </a:rPr>
              <a:t>a =</a:t>
            </a:r>
            <a:endParaRPr lang="en-US" sz="1400" dirty="0"/>
          </a:p>
        </p:txBody>
      </p:sp>
      <p:sp>
        <p:nvSpPr>
          <p:cNvPr id="28" name="Shape 26"/>
          <p:cNvSpPr/>
          <p:nvPr/>
        </p:nvSpPr>
        <p:spPr>
          <a:xfrm>
            <a:off x="4434840" y="5138928"/>
            <a:ext cx="868680" cy="502920"/>
          </a:xfrm>
          <a:prstGeom prst="roundRect">
            <a:avLst>
              <a:gd name="adj" fmla="val 10909"/>
            </a:avLst>
          </a:prstGeom>
          <a:solidFill>
            <a:srgbClr val="FFFFFF"/>
          </a:solidFill>
          <a:ln w="12700">
            <a:solidFill>
              <a:srgbClr val="DCDDF5"/>
            </a:solidFill>
            <a:prstDash val="solid"/>
          </a:ln>
        </p:spPr>
        <p:txBody>
          <a:bodyPr/>
          <a:lstStyle/>
          <a:p>
            <a:endParaRPr lang="en-PH"/>
          </a:p>
        </p:txBody>
      </p:sp>
      <p:sp>
        <p:nvSpPr>
          <p:cNvPr id="29" name="Text 27"/>
          <p:cNvSpPr txBox="1"/>
          <p:nvPr/>
        </p:nvSpPr>
        <p:spPr>
          <a:xfrm>
            <a:off x="4434840" y="5138928"/>
            <a:ext cx="868680" cy="502920"/>
          </a:xfrm>
          <a:prstGeom prst="rect">
            <a:avLst/>
          </a:prstGeom>
          <a:noFill/>
          <a:ln/>
        </p:spPr>
        <p:txBody>
          <a:bodyPr wrap="square" lIns="0" tIns="0" rIns="0" bIns="0" rtlCol="0" anchor="ctr"/>
          <a:lstStyle/>
          <a:p>
            <a:pPr marL="0" indent="0" algn="ctr">
              <a:buNone/>
            </a:pPr>
            <a:r>
              <a:rPr lang="en-US" sz="1500" b="1" dirty="0">
                <a:solidFill>
                  <a:srgbClr val="1E1B4B"/>
                </a:solidFill>
                <a:latin typeface="Courier New" pitchFamily="34" charset="0"/>
                <a:ea typeface="Courier New" pitchFamily="34" charset="-122"/>
                <a:cs typeface="Courier New" pitchFamily="34" charset="-120"/>
              </a:rPr>
              <a:t>1</a:t>
            </a:r>
            <a:endParaRPr lang="en-US" sz="1500" dirty="0"/>
          </a:p>
        </p:txBody>
      </p:sp>
      <p:sp>
        <p:nvSpPr>
          <p:cNvPr id="30" name="Text 28"/>
          <p:cNvSpPr txBox="1"/>
          <p:nvPr/>
        </p:nvSpPr>
        <p:spPr>
          <a:xfrm>
            <a:off x="4389120" y="5705856"/>
            <a:ext cx="960120" cy="228600"/>
          </a:xfrm>
          <a:prstGeom prst="rect">
            <a:avLst/>
          </a:prstGeom>
          <a:noFill/>
          <a:ln/>
        </p:spPr>
        <p:txBody>
          <a:bodyPr wrap="square" lIns="0" tIns="0" rIns="0" bIns="0" rtlCol="0" anchor="t"/>
          <a:lstStyle/>
          <a:p>
            <a:pPr marL="0" indent="0" algn="ctr">
              <a:buNone/>
            </a:pPr>
            <a:r>
              <a:rPr lang="en-US" sz="950" dirty="0">
                <a:solidFill>
                  <a:srgbClr val="5B5F7A"/>
                </a:solidFill>
                <a:latin typeface="Calibri" pitchFamily="34" charset="0"/>
                <a:ea typeface="Calibri" pitchFamily="34" charset="-122"/>
                <a:cs typeface="Calibri" pitchFamily="34" charset="-120"/>
              </a:rPr>
              <a:t>index 0  ·  -5</a:t>
            </a:r>
            <a:endParaRPr lang="en-US" sz="950" dirty="0"/>
          </a:p>
        </p:txBody>
      </p:sp>
      <p:sp>
        <p:nvSpPr>
          <p:cNvPr id="31" name="Shape 29"/>
          <p:cNvSpPr/>
          <p:nvPr/>
        </p:nvSpPr>
        <p:spPr>
          <a:xfrm>
            <a:off x="5394960" y="5138928"/>
            <a:ext cx="868680" cy="502920"/>
          </a:xfrm>
          <a:prstGeom prst="roundRect">
            <a:avLst>
              <a:gd name="adj" fmla="val 10909"/>
            </a:avLst>
          </a:prstGeom>
          <a:solidFill>
            <a:srgbClr val="4F46E5"/>
          </a:solidFill>
          <a:ln w="12700">
            <a:solidFill>
              <a:srgbClr val="4F46E5"/>
            </a:solidFill>
            <a:prstDash val="solid"/>
          </a:ln>
        </p:spPr>
        <p:txBody>
          <a:bodyPr/>
          <a:lstStyle/>
          <a:p>
            <a:endParaRPr lang="en-PH"/>
          </a:p>
        </p:txBody>
      </p:sp>
      <p:sp>
        <p:nvSpPr>
          <p:cNvPr id="32" name="Text 30"/>
          <p:cNvSpPr txBox="1"/>
          <p:nvPr/>
        </p:nvSpPr>
        <p:spPr>
          <a:xfrm>
            <a:off x="5394960" y="5138928"/>
            <a:ext cx="868680" cy="502920"/>
          </a:xfrm>
          <a:prstGeom prst="rect">
            <a:avLst/>
          </a:prstGeom>
          <a:noFill/>
          <a:ln/>
        </p:spPr>
        <p:txBody>
          <a:bodyPr wrap="square" lIns="0" tIns="0" rIns="0" bIns="0" rtlCol="0" anchor="ctr"/>
          <a:lstStyle/>
          <a:p>
            <a:pPr marL="0" indent="0" algn="ctr">
              <a:buNone/>
            </a:pPr>
            <a:r>
              <a:rPr lang="en-US" sz="1500" b="1" dirty="0">
                <a:solidFill>
                  <a:srgbClr val="FFFFFF"/>
                </a:solidFill>
                <a:latin typeface="Courier New" pitchFamily="34" charset="0"/>
                <a:ea typeface="Courier New" pitchFamily="34" charset="-122"/>
                <a:cs typeface="Courier New" pitchFamily="34" charset="-120"/>
              </a:rPr>
              <a:t>2</a:t>
            </a:r>
            <a:endParaRPr lang="en-US" sz="1500" dirty="0"/>
          </a:p>
        </p:txBody>
      </p:sp>
      <p:sp>
        <p:nvSpPr>
          <p:cNvPr id="33" name="Text 31"/>
          <p:cNvSpPr txBox="1"/>
          <p:nvPr/>
        </p:nvSpPr>
        <p:spPr>
          <a:xfrm>
            <a:off x="5349240" y="5705856"/>
            <a:ext cx="960120" cy="228600"/>
          </a:xfrm>
          <a:prstGeom prst="rect">
            <a:avLst/>
          </a:prstGeom>
          <a:noFill/>
          <a:ln/>
        </p:spPr>
        <p:txBody>
          <a:bodyPr wrap="square" lIns="0" tIns="0" rIns="0" bIns="0" rtlCol="0" anchor="t"/>
          <a:lstStyle/>
          <a:p>
            <a:pPr marL="0" indent="0" algn="ctr">
              <a:buNone/>
            </a:pPr>
            <a:r>
              <a:rPr lang="en-US" sz="950" dirty="0">
                <a:solidFill>
                  <a:srgbClr val="5B5F7A"/>
                </a:solidFill>
                <a:latin typeface="Calibri" pitchFamily="34" charset="0"/>
                <a:ea typeface="Calibri" pitchFamily="34" charset="-122"/>
                <a:cs typeface="Calibri" pitchFamily="34" charset="-120"/>
              </a:rPr>
              <a:t>index 1  ·  -4</a:t>
            </a:r>
            <a:endParaRPr lang="en-US" sz="950" dirty="0"/>
          </a:p>
        </p:txBody>
      </p:sp>
      <p:sp>
        <p:nvSpPr>
          <p:cNvPr id="34" name="Shape 32"/>
          <p:cNvSpPr/>
          <p:nvPr/>
        </p:nvSpPr>
        <p:spPr>
          <a:xfrm>
            <a:off x="6355080" y="5138928"/>
            <a:ext cx="868680" cy="502920"/>
          </a:xfrm>
          <a:prstGeom prst="roundRect">
            <a:avLst>
              <a:gd name="adj" fmla="val 10909"/>
            </a:avLst>
          </a:prstGeom>
          <a:solidFill>
            <a:srgbClr val="4F46E5"/>
          </a:solidFill>
          <a:ln w="12700">
            <a:solidFill>
              <a:srgbClr val="4F46E5"/>
            </a:solidFill>
            <a:prstDash val="solid"/>
          </a:ln>
        </p:spPr>
        <p:txBody>
          <a:bodyPr/>
          <a:lstStyle/>
          <a:p>
            <a:endParaRPr lang="en-PH"/>
          </a:p>
        </p:txBody>
      </p:sp>
      <p:sp>
        <p:nvSpPr>
          <p:cNvPr id="35" name="Text 33"/>
          <p:cNvSpPr txBox="1"/>
          <p:nvPr/>
        </p:nvSpPr>
        <p:spPr>
          <a:xfrm>
            <a:off x="6355080" y="5138928"/>
            <a:ext cx="868680" cy="502920"/>
          </a:xfrm>
          <a:prstGeom prst="rect">
            <a:avLst/>
          </a:prstGeom>
          <a:noFill/>
          <a:ln/>
        </p:spPr>
        <p:txBody>
          <a:bodyPr wrap="square" lIns="0" tIns="0" rIns="0" bIns="0" rtlCol="0" anchor="ctr"/>
          <a:lstStyle/>
          <a:p>
            <a:pPr marL="0" indent="0" algn="ctr">
              <a:buNone/>
            </a:pPr>
            <a:r>
              <a:rPr lang="en-US" sz="1500" b="1" dirty="0">
                <a:solidFill>
                  <a:srgbClr val="FFFFFF"/>
                </a:solidFill>
                <a:latin typeface="Courier New" pitchFamily="34" charset="0"/>
                <a:ea typeface="Courier New" pitchFamily="34" charset="-122"/>
                <a:cs typeface="Courier New" pitchFamily="34" charset="-120"/>
              </a:rPr>
              <a:t>3</a:t>
            </a:r>
            <a:endParaRPr lang="en-US" sz="1500" dirty="0"/>
          </a:p>
        </p:txBody>
      </p:sp>
      <p:sp>
        <p:nvSpPr>
          <p:cNvPr id="36" name="Text 34"/>
          <p:cNvSpPr txBox="1"/>
          <p:nvPr/>
        </p:nvSpPr>
        <p:spPr>
          <a:xfrm>
            <a:off x="6309360" y="5705856"/>
            <a:ext cx="960120" cy="228600"/>
          </a:xfrm>
          <a:prstGeom prst="rect">
            <a:avLst/>
          </a:prstGeom>
          <a:noFill/>
          <a:ln/>
        </p:spPr>
        <p:txBody>
          <a:bodyPr wrap="square" lIns="0" tIns="0" rIns="0" bIns="0" rtlCol="0" anchor="t"/>
          <a:lstStyle/>
          <a:p>
            <a:pPr marL="0" indent="0" algn="ctr">
              <a:buNone/>
            </a:pPr>
            <a:r>
              <a:rPr lang="en-US" sz="950" dirty="0">
                <a:solidFill>
                  <a:srgbClr val="5B5F7A"/>
                </a:solidFill>
                <a:latin typeface="Calibri" pitchFamily="34" charset="0"/>
                <a:ea typeface="Calibri" pitchFamily="34" charset="-122"/>
                <a:cs typeface="Calibri" pitchFamily="34" charset="-120"/>
              </a:rPr>
              <a:t>index 2  ·  -3</a:t>
            </a:r>
            <a:endParaRPr lang="en-US" sz="950" dirty="0"/>
          </a:p>
        </p:txBody>
      </p:sp>
      <p:sp>
        <p:nvSpPr>
          <p:cNvPr id="37" name="Shape 35"/>
          <p:cNvSpPr/>
          <p:nvPr/>
        </p:nvSpPr>
        <p:spPr>
          <a:xfrm>
            <a:off x="7315200" y="5138928"/>
            <a:ext cx="868680" cy="502920"/>
          </a:xfrm>
          <a:prstGeom prst="roundRect">
            <a:avLst>
              <a:gd name="adj" fmla="val 10909"/>
            </a:avLst>
          </a:prstGeom>
          <a:solidFill>
            <a:srgbClr val="FFFFFF"/>
          </a:solidFill>
          <a:ln w="12700">
            <a:solidFill>
              <a:srgbClr val="DCDDF5"/>
            </a:solidFill>
            <a:prstDash val="solid"/>
          </a:ln>
        </p:spPr>
        <p:txBody>
          <a:bodyPr/>
          <a:lstStyle/>
          <a:p>
            <a:endParaRPr lang="en-PH"/>
          </a:p>
        </p:txBody>
      </p:sp>
      <p:sp>
        <p:nvSpPr>
          <p:cNvPr id="38" name="Text 36"/>
          <p:cNvSpPr txBox="1"/>
          <p:nvPr/>
        </p:nvSpPr>
        <p:spPr>
          <a:xfrm>
            <a:off x="7315200" y="5138928"/>
            <a:ext cx="868680" cy="502920"/>
          </a:xfrm>
          <a:prstGeom prst="rect">
            <a:avLst/>
          </a:prstGeom>
          <a:noFill/>
          <a:ln/>
        </p:spPr>
        <p:txBody>
          <a:bodyPr wrap="square" lIns="0" tIns="0" rIns="0" bIns="0" rtlCol="0" anchor="ctr"/>
          <a:lstStyle/>
          <a:p>
            <a:pPr marL="0" indent="0" algn="ctr">
              <a:buNone/>
            </a:pPr>
            <a:r>
              <a:rPr lang="en-US" sz="1500" b="1" dirty="0">
                <a:solidFill>
                  <a:srgbClr val="1E1B4B"/>
                </a:solidFill>
                <a:latin typeface="Courier New" pitchFamily="34" charset="0"/>
                <a:ea typeface="Courier New" pitchFamily="34" charset="-122"/>
                <a:cs typeface="Courier New" pitchFamily="34" charset="-120"/>
              </a:rPr>
              <a:t>4</a:t>
            </a:r>
            <a:endParaRPr lang="en-US" sz="1500" dirty="0"/>
          </a:p>
        </p:txBody>
      </p:sp>
      <p:sp>
        <p:nvSpPr>
          <p:cNvPr id="39" name="Text 37"/>
          <p:cNvSpPr txBox="1"/>
          <p:nvPr/>
        </p:nvSpPr>
        <p:spPr>
          <a:xfrm>
            <a:off x="7269480" y="5705856"/>
            <a:ext cx="960120" cy="228600"/>
          </a:xfrm>
          <a:prstGeom prst="rect">
            <a:avLst/>
          </a:prstGeom>
          <a:noFill/>
          <a:ln/>
        </p:spPr>
        <p:txBody>
          <a:bodyPr wrap="square" lIns="0" tIns="0" rIns="0" bIns="0" rtlCol="0" anchor="t"/>
          <a:lstStyle/>
          <a:p>
            <a:pPr marL="0" indent="0" algn="ctr">
              <a:buNone/>
            </a:pPr>
            <a:r>
              <a:rPr lang="en-US" sz="950" dirty="0">
                <a:solidFill>
                  <a:srgbClr val="5B5F7A"/>
                </a:solidFill>
                <a:latin typeface="Calibri" pitchFamily="34" charset="0"/>
                <a:ea typeface="Calibri" pitchFamily="34" charset="-122"/>
                <a:cs typeface="Calibri" pitchFamily="34" charset="-120"/>
              </a:rPr>
              <a:t>index 3  ·  -2</a:t>
            </a:r>
            <a:endParaRPr lang="en-US" sz="950" dirty="0"/>
          </a:p>
        </p:txBody>
      </p:sp>
      <p:sp>
        <p:nvSpPr>
          <p:cNvPr id="40" name="Shape 38"/>
          <p:cNvSpPr/>
          <p:nvPr/>
        </p:nvSpPr>
        <p:spPr>
          <a:xfrm>
            <a:off x="8275320" y="5138928"/>
            <a:ext cx="868680" cy="502920"/>
          </a:xfrm>
          <a:prstGeom prst="roundRect">
            <a:avLst>
              <a:gd name="adj" fmla="val 10909"/>
            </a:avLst>
          </a:prstGeom>
          <a:solidFill>
            <a:srgbClr val="FFFFFF"/>
          </a:solidFill>
          <a:ln w="12700">
            <a:solidFill>
              <a:srgbClr val="DCDDF5"/>
            </a:solidFill>
            <a:prstDash val="solid"/>
          </a:ln>
        </p:spPr>
        <p:txBody>
          <a:bodyPr/>
          <a:lstStyle/>
          <a:p>
            <a:endParaRPr lang="en-PH"/>
          </a:p>
        </p:txBody>
      </p:sp>
      <p:sp>
        <p:nvSpPr>
          <p:cNvPr id="41" name="Text 39"/>
          <p:cNvSpPr txBox="1"/>
          <p:nvPr/>
        </p:nvSpPr>
        <p:spPr>
          <a:xfrm>
            <a:off x="8275320" y="5138928"/>
            <a:ext cx="868680" cy="502920"/>
          </a:xfrm>
          <a:prstGeom prst="rect">
            <a:avLst/>
          </a:prstGeom>
          <a:noFill/>
          <a:ln/>
        </p:spPr>
        <p:txBody>
          <a:bodyPr wrap="square" lIns="0" tIns="0" rIns="0" bIns="0" rtlCol="0" anchor="ctr"/>
          <a:lstStyle/>
          <a:p>
            <a:pPr marL="0" indent="0" algn="ctr">
              <a:buNone/>
            </a:pPr>
            <a:r>
              <a:rPr lang="en-US" sz="1500" b="1" dirty="0">
                <a:solidFill>
                  <a:srgbClr val="1E1B4B"/>
                </a:solidFill>
                <a:latin typeface="Courier New" pitchFamily="34" charset="0"/>
                <a:ea typeface="Courier New" pitchFamily="34" charset="-122"/>
                <a:cs typeface="Courier New" pitchFamily="34" charset="-120"/>
              </a:rPr>
              <a:t>5</a:t>
            </a:r>
            <a:endParaRPr lang="en-US" sz="1500" dirty="0"/>
          </a:p>
        </p:txBody>
      </p:sp>
      <p:sp>
        <p:nvSpPr>
          <p:cNvPr id="42" name="Text 40"/>
          <p:cNvSpPr txBox="1"/>
          <p:nvPr/>
        </p:nvSpPr>
        <p:spPr>
          <a:xfrm>
            <a:off x="8229600" y="5705856"/>
            <a:ext cx="960120" cy="228600"/>
          </a:xfrm>
          <a:prstGeom prst="rect">
            <a:avLst/>
          </a:prstGeom>
          <a:noFill/>
          <a:ln/>
        </p:spPr>
        <p:txBody>
          <a:bodyPr wrap="square" lIns="0" tIns="0" rIns="0" bIns="0" rtlCol="0" anchor="t"/>
          <a:lstStyle/>
          <a:p>
            <a:pPr marL="0" indent="0" algn="ctr">
              <a:buNone/>
            </a:pPr>
            <a:r>
              <a:rPr lang="en-US" sz="950" dirty="0">
                <a:solidFill>
                  <a:srgbClr val="5B5F7A"/>
                </a:solidFill>
                <a:latin typeface="Calibri" pitchFamily="34" charset="0"/>
                <a:ea typeface="Calibri" pitchFamily="34" charset="-122"/>
                <a:cs typeface="Calibri" pitchFamily="34" charset="-120"/>
              </a:rPr>
              <a:t>index 4  ·  -1</a:t>
            </a:r>
            <a:endParaRPr lang="en-US" sz="950" dirty="0"/>
          </a:p>
        </p:txBody>
      </p:sp>
      <p:sp>
        <p:nvSpPr>
          <p:cNvPr id="43" name="Text 41"/>
          <p:cNvSpPr txBox="1"/>
          <p:nvPr/>
        </p:nvSpPr>
        <p:spPr>
          <a:xfrm>
            <a:off x="9372600" y="5138928"/>
            <a:ext cx="2194560" cy="502920"/>
          </a:xfrm>
          <a:prstGeom prst="rect">
            <a:avLst/>
          </a:prstGeom>
          <a:noFill/>
          <a:ln/>
        </p:spPr>
        <p:txBody>
          <a:bodyPr wrap="square" lIns="0" tIns="0" rIns="0" bIns="0" rtlCol="0" anchor="ctr"/>
          <a:lstStyle/>
          <a:p>
            <a:pPr marL="0" indent="0">
              <a:buNone/>
            </a:pPr>
            <a:r>
              <a:rPr lang="en-US" sz="1300" b="1" dirty="0">
                <a:solidFill>
                  <a:srgbClr val="4F46E5"/>
                </a:solidFill>
                <a:latin typeface="Courier New" pitchFamily="34" charset="0"/>
                <a:ea typeface="Courier New" pitchFamily="34" charset="-122"/>
                <a:cs typeface="Courier New" pitchFamily="34" charset="-120"/>
              </a:rPr>
              <a:t>→  a[1:3]  =  [2, 3]</a:t>
            </a:r>
            <a:endParaRPr lang="en-US" sz="1300" dirty="0"/>
          </a:p>
        </p:txBody>
      </p:sp>
      <p:sp>
        <p:nvSpPr>
          <p:cNvPr id="44" name="Text 42"/>
          <p:cNvSpPr txBox="1"/>
          <p:nvPr/>
        </p:nvSpPr>
        <p:spPr>
          <a:xfrm>
            <a:off x="9372600" y="5705856"/>
            <a:ext cx="2194560" cy="228600"/>
          </a:xfrm>
          <a:prstGeom prst="rect">
            <a:avLst/>
          </a:prstGeom>
          <a:noFill/>
          <a:ln/>
        </p:spPr>
        <p:txBody>
          <a:bodyPr wrap="square" lIns="0" tIns="0" rIns="0" bIns="0" rtlCol="0" anchor="t"/>
          <a:lstStyle/>
          <a:p>
            <a:pPr marL="0" indent="0">
              <a:buNone/>
            </a:pPr>
            <a:r>
              <a:rPr lang="en-US" sz="950" dirty="0">
                <a:solidFill>
                  <a:srgbClr val="5B5F7A"/>
                </a:solidFill>
                <a:latin typeface="Calibri" pitchFamily="34" charset="0"/>
                <a:ea typeface="Calibri" pitchFamily="34" charset="-122"/>
                <a:cs typeface="Calibri" pitchFamily="34" charset="-120"/>
              </a:rPr>
              <a:t>positive index · negative index</a:t>
            </a:r>
            <a:endParaRPr lang="en-US" sz="9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02920" y="310896"/>
            <a:ext cx="8229600" cy="237744"/>
          </a:xfrm>
          <a:prstGeom prst="rect">
            <a:avLst/>
          </a:prstGeom>
          <a:noFill/>
          <a:ln/>
        </p:spPr>
        <p:txBody>
          <a:bodyPr wrap="square" lIns="0" tIns="0" rIns="0" bIns="0" rtlCol="0" anchor="t"/>
          <a:lstStyle/>
          <a:p>
            <a:pPr marL="0" indent="0">
              <a:buNone/>
            </a:pPr>
            <a:r>
              <a:rPr lang="en-US" sz="1050" b="1" kern="0" spc="200" dirty="0">
                <a:solidFill>
                  <a:srgbClr val="C8559F"/>
                </a:solidFill>
                <a:latin typeface="Calibri" pitchFamily="34" charset="0"/>
                <a:ea typeface="Calibri" pitchFamily="34" charset="-122"/>
                <a:cs typeface="Calibri" pitchFamily="34" charset="-120"/>
              </a:rPr>
              <a:t>LIST AND TUPLES · WHEN TO USE TUPLES</a:t>
            </a:r>
            <a:endParaRPr lang="en-US" sz="1050" dirty="0"/>
          </a:p>
        </p:txBody>
      </p:sp>
      <p:sp>
        <p:nvSpPr>
          <p:cNvPr id="3" name="Text 1"/>
          <p:cNvSpPr txBox="1"/>
          <p:nvPr/>
        </p:nvSpPr>
        <p:spPr>
          <a:xfrm>
            <a:off x="502920" y="530352"/>
            <a:ext cx="10241280" cy="640080"/>
          </a:xfrm>
          <a:prstGeom prst="rect">
            <a:avLst/>
          </a:prstGeom>
          <a:noFill/>
          <a:ln/>
        </p:spPr>
        <p:txBody>
          <a:bodyPr wrap="square" lIns="0" tIns="0" rIns="0" bIns="0" rtlCol="0" anchor="ctr"/>
          <a:lstStyle/>
          <a:p>
            <a:pPr marL="0" indent="0">
              <a:buNone/>
            </a:pPr>
            <a:r>
              <a:rPr lang="en-US" sz="2800" b="1" dirty="0">
                <a:solidFill>
                  <a:srgbClr val="1E1B4B"/>
                </a:solidFill>
                <a:latin typeface="Calibri" pitchFamily="34" charset="0"/>
                <a:ea typeface="Calibri" pitchFamily="34" charset="-122"/>
                <a:cs typeface="Calibri" pitchFamily="34" charset="-120"/>
              </a:rPr>
              <a:t>Uses of Tuples Over Lists</a:t>
            </a:r>
            <a:endParaRPr lang="en-US" sz="2800" dirty="0"/>
          </a:p>
        </p:txBody>
      </p:sp>
      <p:sp>
        <p:nvSpPr>
          <p:cNvPr id="4" name="Text 2"/>
          <p:cNvSpPr txBox="1"/>
          <p:nvPr/>
        </p:nvSpPr>
        <p:spPr>
          <a:xfrm>
            <a:off x="502920" y="6446520"/>
            <a:ext cx="5486400" cy="228600"/>
          </a:xfrm>
          <a:prstGeom prst="rect">
            <a:avLst/>
          </a:prstGeom>
          <a:noFill/>
          <a:ln/>
        </p:spPr>
        <p:txBody>
          <a:bodyPr wrap="square" lIns="0" tIns="0" rIns="0" bIns="0" rtlCol="0" anchor="t"/>
          <a:lstStyle/>
          <a:p>
            <a:pPr marL="0" indent="0">
              <a:buNone/>
            </a:pPr>
            <a:r>
              <a:rPr lang="en-US" sz="900" dirty="0">
                <a:solidFill>
                  <a:srgbClr val="5B5F7A"/>
                </a:solidFill>
                <a:latin typeface="Calibri" pitchFamily="34" charset="0"/>
                <a:ea typeface="Calibri" pitchFamily="34" charset="-122"/>
                <a:cs typeface="Calibri" pitchFamily="34" charset="-120"/>
              </a:rPr>
              <a:t>Python  ·  List and Tuples</a:t>
            </a:r>
            <a:endParaRPr lang="en-US" sz="900" dirty="0"/>
          </a:p>
        </p:txBody>
      </p:sp>
      <p:sp>
        <p:nvSpPr>
          <p:cNvPr id="5" name="Text 3"/>
          <p:cNvSpPr txBox="1"/>
          <p:nvPr/>
        </p:nvSpPr>
        <p:spPr>
          <a:xfrm>
            <a:off x="11140135" y="6446520"/>
            <a:ext cx="548640" cy="228600"/>
          </a:xfrm>
          <a:prstGeom prst="rect">
            <a:avLst/>
          </a:prstGeom>
          <a:noFill/>
          <a:ln/>
        </p:spPr>
        <p:txBody>
          <a:bodyPr wrap="square" lIns="0" tIns="0" rIns="0" bIns="0" rtlCol="0" anchor="t"/>
          <a:lstStyle/>
          <a:p>
            <a:pPr marL="0" indent="0" algn="r">
              <a:buNone/>
            </a:pPr>
            <a:r>
              <a:rPr lang="en-US" sz="900" dirty="0">
                <a:solidFill>
                  <a:srgbClr val="5B5F7A"/>
                </a:solidFill>
                <a:latin typeface="Calibri" pitchFamily="34" charset="0"/>
                <a:ea typeface="Calibri" pitchFamily="34" charset="-122"/>
                <a:cs typeface="Calibri" pitchFamily="34" charset="-120"/>
              </a:rPr>
              <a:t>18</a:t>
            </a:r>
            <a:endParaRPr lang="en-US" sz="900" dirty="0"/>
          </a:p>
        </p:txBody>
      </p:sp>
      <p:sp>
        <p:nvSpPr>
          <p:cNvPr id="6" name="Shape 4"/>
          <p:cNvSpPr/>
          <p:nvPr/>
        </p:nvSpPr>
        <p:spPr>
          <a:xfrm>
            <a:off x="502920" y="1417320"/>
            <a:ext cx="11185855" cy="822960"/>
          </a:xfrm>
          <a:prstGeom prst="roundRect">
            <a:avLst>
              <a:gd name="adj" fmla="val 13333"/>
            </a:avLst>
          </a:prstGeom>
          <a:solidFill>
            <a:srgbClr val="F1F1FE"/>
          </a:solidFill>
          <a:ln w="9525">
            <a:solidFill>
              <a:srgbClr val="DCDDF5"/>
            </a:solidFill>
            <a:prstDash val="solid"/>
          </a:ln>
        </p:spPr>
        <p:txBody>
          <a:bodyPr/>
          <a:lstStyle/>
          <a:p>
            <a:endParaRPr lang="en-PH"/>
          </a:p>
        </p:txBody>
      </p:sp>
      <p:sp>
        <p:nvSpPr>
          <p:cNvPr id="7" name="Text 5"/>
          <p:cNvSpPr txBox="1"/>
          <p:nvPr/>
        </p:nvSpPr>
        <p:spPr>
          <a:xfrm>
            <a:off x="777240" y="1463040"/>
            <a:ext cx="10637215" cy="731520"/>
          </a:xfrm>
          <a:prstGeom prst="rect">
            <a:avLst/>
          </a:prstGeom>
          <a:noFill/>
          <a:ln/>
        </p:spPr>
        <p:txBody>
          <a:bodyPr wrap="square" lIns="0" tIns="0" rIns="0" bIns="0" rtlCol="0" anchor="ctr"/>
          <a:lstStyle/>
          <a:p>
            <a:pPr marL="0" indent="0">
              <a:buNone/>
            </a:pPr>
            <a:r>
              <a:rPr lang="en-US" sz="1400" dirty="0">
                <a:solidFill>
                  <a:srgbClr val="1E1B4B"/>
                </a:solidFill>
                <a:latin typeface="Calibri" pitchFamily="34" charset="0"/>
                <a:ea typeface="Calibri" pitchFamily="34" charset="-122"/>
                <a:cs typeface="Calibri" pitchFamily="34" charset="-120"/>
              </a:rPr>
              <a:t>In Python, tuples and lists are both used to store collections of data, but they have some important differences. Here are some situations where you might want to use tuples instead of lists:</a:t>
            </a:r>
            <a:endParaRPr lang="en-US" sz="1400" dirty="0"/>
          </a:p>
        </p:txBody>
      </p:sp>
      <p:sp>
        <p:nvSpPr>
          <p:cNvPr id="8" name="Shape 6"/>
          <p:cNvSpPr/>
          <p:nvPr/>
        </p:nvSpPr>
        <p:spPr>
          <a:xfrm>
            <a:off x="502920" y="2423160"/>
            <a:ext cx="3545738" cy="3840480"/>
          </a:xfrm>
          <a:prstGeom prst="roundRect">
            <a:avLst>
              <a:gd name="adj" fmla="val 3095"/>
            </a:avLst>
          </a:prstGeom>
          <a:solidFill>
            <a:srgbClr val="FFFFFF"/>
          </a:solidFill>
          <a:ln w="9525">
            <a:solidFill>
              <a:srgbClr val="DCDDF5"/>
            </a:solidFill>
            <a:prstDash val="solid"/>
          </a:ln>
          <a:effectLst>
            <a:outerShdw blurRad="127000" dist="25400" dir="5400000" algn="bl" rotWithShape="0">
              <a:srgbClr val="4F46E5">
                <a:alpha val="12000"/>
              </a:srgbClr>
            </a:outerShdw>
          </a:effectLst>
        </p:spPr>
        <p:txBody>
          <a:bodyPr/>
          <a:lstStyle/>
          <a:p>
            <a:endParaRPr lang="en-PH"/>
          </a:p>
        </p:txBody>
      </p:sp>
      <p:sp>
        <p:nvSpPr>
          <p:cNvPr id="9" name="Shape 7"/>
          <p:cNvSpPr/>
          <p:nvPr/>
        </p:nvSpPr>
        <p:spPr>
          <a:xfrm>
            <a:off x="704088" y="2624328"/>
            <a:ext cx="384048" cy="384048"/>
          </a:xfrm>
          <a:prstGeom prst="ellipse">
            <a:avLst/>
          </a:prstGeom>
          <a:solidFill>
            <a:srgbClr val="4F46E5"/>
          </a:solidFill>
          <a:ln w="12700">
            <a:solidFill>
              <a:srgbClr val="4F46E5"/>
            </a:solidFill>
            <a:prstDash val="solid"/>
          </a:ln>
        </p:spPr>
        <p:txBody>
          <a:bodyPr/>
          <a:lstStyle/>
          <a:p>
            <a:endParaRPr lang="en-PH"/>
          </a:p>
        </p:txBody>
      </p:sp>
      <p:sp>
        <p:nvSpPr>
          <p:cNvPr id="10" name="Text 8"/>
          <p:cNvSpPr txBox="1"/>
          <p:nvPr/>
        </p:nvSpPr>
        <p:spPr>
          <a:xfrm>
            <a:off x="704088" y="2624328"/>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1" name="Text 9"/>
          <p:cNvSpPr txBox="1"/>
          <p:nvPr/>
        </p:nvSpPr>
        <p:spPr>
          <a:xfrm>
            <a:off x="1216152" y="2624328"/>
            <a:ext cx="2631338" cy="384048"/>
          </a:xfrm>
          <a:prstGeom prst="rect">
            <a:avLst/>
          </a:prstGeom>
          <a:noFill/>
          <a:ln/>
        </p:spPr>
        <p:txBody>
          <a:bodyPr wrap="square" lIns="0" tIns="0" rIns="0" bIns="0" rtlCol="0" anchor="ctr"/>
          <a:lstStyle/>
          <a:p>
            <a:pPr marL="0" indent="0">
              <a:buNone/>
            </a:pPr>
            <a:r>
              <a:rPr lang="en-US" sz="1600" b="1" dirty="0">
                <a:solidFill>
                  <a:srgbClr val="1E1B4B"/>
                </a:solidFill>
                <a:latin typeface="Calibri" pitchFamily="34" charset="0"/>
                <a:ea typeface="Calibri" pitchFamily="34" charset="-122"/>
                <a:cs typeface="Calibri" pitchFamily="34" charset="-120"/>
              </a:rPr>
              <a:t>Immutability</a:t>
            </a:r>
            <a:endParaRPr lang="en-US" sz="1600" dirty="0"/>
          </a:p>
        </p:txBody>
      </p:sp>
      <p:sp>
        <p:nvSpPr>
          <p:cNvPr id="12" name="Text 10"/>
          <p:cNvSpPr txBox="1"/>
          <p:nvPr/>
        </p:nvSpPr>
        <p:spPr>
          <a:xfrm>
            <a:off x="704088" y="3136392"/>
            <a:ext cx="3143402" cy="1234440"/>
          </a:xfrm>
          <a:prstGeom prst="rect">
            <a:avLst/>
          </a:prstGeom>
          <a:noFill/>
          <a:ln/>
        </p:spPr>
        <p:txBody>
          <a:bodyPr wrap="square" lIns="0" tIns="0" rIns="0" bIns="0" rtlCol="0" anchor="t"/>
          <a:lstStyle/>
          <a:p>
            <a:pPr marL="0" indent="0">
              <a:buNone/>
            </a:pPr>
            <a:r>
              <a:rPr lang="en-US" sz="1300" dirty="0">
                <a:solidFill>
                  <a:srgbClr val="5B5F7A"/>
                </a:solidFill>
                <a:latin typeface="Calibri" pitchFamily="34" charset="0"/>
                <a:ea typeface="Calibri" pitchFamily="34" charset="-122"/>
                <a:cs typeface="Calibri" pitchFamily="34" charset="-120"/>
              </a:rPr>
              <a:t>Tuples are immutable, ensuring data integrity by preventing modifications. Ideal for constants, configurations, and fixed data.</a:t>
            </a:r>
            <a:endParaRPr lang="en-US" sz="1300" dirty="0"/>
          </a:p>
        </p:txBody>
      </p:sp>
      <p:sp>
        <p:nvSpPr>
          <p:cNvPr id="13" name="Shape 11"/>
          <p:cNvSpPr/>
          <p:nvPr/>
        </p:nvSpPr>
        <p:spPr>
          <a:xfrm>
            <a:off x="704088" y="4389120"/>
            <a:ext cx="3143402" cy="960120"/>
          </a:xfrm>
          <a:prstGeom prst="roundRect">
            <a:avLst>
              <a:gd name="adj" fmla="val 9524"/>
            </a:avLst>
          </a:prstGeom>
          <a:solidFill>
            <a:srgbClr val="1F1D36"/>
          </a:solidFill>
          <a:ln w="12700">
            <a:solidFill>
              <a:srgbClr val="1F1D36"/>
            </a:solidFill>
            <a:prstDash val="solid"/>
          </a:ln>
        </p:spPr>
        <p:txBody>
          <a:bodyPr/>
          <a:lstStyle/>
          <a:p>
            <a:endParaRPr lang="en-PH"/>
          </a:p>
        </p:txBody>
      </p:sp>
      <p:sp>
        <p:nvSpPr>
          <p:cNvPr id="14" name="Text 12"/>
          <p:cNvSpPr txBox="1"/>
          <p:nvPr/>
        </p:nvSpPr>
        <p:spPr>
          <a:xfrm>
            <a:off x="868680" y="4471416"/>
            <a:ext cx="2814218" cy="201168"/>
          </a:xfrm>
          <a:prstGeom prst="rect">
            <a:avLst/>
          </a:prstGeom>
          <a:noFill/>
          <a:ln/>
        </p:spPr>
        <p:txBody>
          <a:bodyPr wrap="square" lIns="0" tIns="0" rIns="0" bIns="0" rtlCol="0" anchor="ctr"/>
          <a:lstStyle/>
          <a:p>
            <a:pPr marL="0" indent="0">
              <a:buNone/>
            </a:pPr>
            <a:r>
              <a:rPr lang="en-US" sz="900" b="1" dirty="0">
                <a:solidFill>
                  <a:srgbClr val="8A8FB5"/>
                </a:solidFill>
                <a:latin typeface="Calibri" pitchFamily="34" charset="0"/>
                <a:ea typeface="Calibri" pitchFamily="34" charset="-122"/>
                <a:cs typeface="Calibri" pitchFamily="34" charset="-120"/>
              </a:rPr>
              <a:t>&lt;/&gt;  Python</a:t>
            </a:r>
            <a:endParaRPr lang="en-US" sz="900" dirty="0"/>
          </a:p>
        </p:txBody>
      </p:sp>
      <p:sp>
        <p:nvSpPr>
          <p:cNvPr id="15" name="Text 13"/>
          <p:cNvSpPr txBox="1"/>
          <p:nvPr/>
        </p:nvSpPr>
        <p:spPr>
          <a:xfrm>
            <a:off x="868680" y="4718304"/>
            <a:ext cx="2869082" cy="576072"/>
          </a:xfrm>
          <a:prstGeom prst="rect">
            <a:avLst/>
          </a:prstGeom>
          <a:noFill/>
          <a:ln/>
        </p:spPr>
        <p:txBody>
          <a:bodyPr wrap="square" lIns="0" tIns="0" rIns="0" bIns="0" rtlCol="0" anchor="t"/>
          <a:lstStyle/>
          <a:p>
            <a:pPr marL="0" indent="0">
              <a:buNone/>
            </a:pPr>
            <a:r>
              <a:rPr lang="en-US" sz="1050" dirty="0">
                <a:solidFill>
                  <a:srgbClr val="E4E4F0"/>
                </a:solidFill>
                <a:latin typeface="Courier New" pitchFamily="34" charset="0"/>
                <a:ea typeface="Courier New" pitchFamily="34" charset="-122"/>
                <a:cs typeface="Courier New" pitchFamily="34" charset="-120"/>
              </a:rPr>
              <a:t>RED = (</a:t>
            </a:r>
            <a:r>
              <a:rPr lang="en-US" sz="1050" dirty="0">
                <a:solidFill>
                  <a:srgbClr val="FAB387"/>
                </a:solidFill>
                <a:latin typeface="Courier New" pitchFamily="34" charset="0"/>
                <a:ea typeface="Courier New" pitchFamily="34" charset="-122"/>
                <a:cs typeface="Courier New" pitchFamily="34" charset="-120"/>
              </a:rPr>
              <a:t>255</a:t>
            </a:r>
            <a:r>
              <a:rPr lang="en-US" sz="1050" dirty="0">
                <a:solidFill>
                  <a:srgbClr val="E4E4F0"/>
                </a:solidFill>
                <a:latin typeface="Courier New" pitchFamily="34" charset="0"/>
                <a:ea typeface="Courier New" pitchFamily="34" charset="-122"/>
                <a:cs typeface="Courier New" pitchFamily="34" charset="-120"/>
              </a:rPr>
              <a:t>, </a:t>
            </a:r>
            <a:r>
              <a:rPr lang="en-US" sz="1050" dirty="0">
                <a:solidFill>
                  <a:srgbClr val="FAB387"/>
                </a:solidFill>
                <a:latin typeface="Courier New" pitchFamily="34" charset="0"/>
                <a:ea typeface="Courier New" pitchFamily="34" charset="-122"/>
                <a:cs typeface="Courier New" pitchFamily="34" charset="-120"/>
              </a:rPr>
              <a:t>0</a:t>
            </a:r>
            <a:r>
              <a:rPr lang="en-US" sz="1050" dirty="0">
                <a:solidFill>
                  <a:srgbClr val="E4E4F0"/>
                </a:solidFill>
                <a:latin typeface="Courier New" pitchFamily="34" charset="0"/>
                <a:ea typeface="Courier New" pitchFamily="34" charset="-122"/>
                <a:cs typeface="Courier New" pitchFamily="34" charset="-120"/>
              </a:rPr>
              <a:t>, </a:t>
            </a:r>
            <a:r>
              <a:rPr lang="en-US" sz="1050" dirty="0">
                <a:solidFill>
                  <a:srgbClr val="FAB387"/>
                </a:solidFill>
                <a:latin typeface="Courier New" pitchFamily="34" charset="0"/>
                <a:ea typeface="Courier New" pitchFamily="34" charset="-122"/>
                <a:cs typeface="Courier New" pitchFamily="34" charset="-120"/>
              </a:rPr>
              <a:t>0</a:t>
            </a:r>
            <a:r>
              <a:rPr lang="en-US" sz="1050" dirty="0">
                <a:solidFill>
                  <a:srgbClr val="E4E4F0"/>
                </a:solidFill>
                <a:latin typeface="Courier New" pitchFamily="34" charset="0"/>
                <a:ea typeface="Courier New" pitchFamily="34" charset="-122"/>
                <a:cs typeface="Courier New" pitchFamily="34" charset="-120"/>
              </a:rPr>
              <a:t>)</a:t>
            </a:r>
            <a:endParaRPr lang="en-US" sz="1050" dirty="0"/>
          </a:p>
          <a:p>
            <a:pPr marL="0" indent="0">
              <a:buNone/>
            </a:pPr>
            <a:r>
              <a:rPr lang="en-US" sz="1050" dirty="0">
                <a:solidFill>
                  <a:srgbClr val="E4E4F0"/>
                </a:solidFill>
                <a:latin typeface="Courier New" pitchFamily="34" charset="0"/>
                <a:ea typeface="Courier New" pitchFamily="34" charset="-122"/>
                <a:cs typeface="Courier New" pitchFamily="34" charset="-120"/>
              </a:rPr>
              <a:t>DAYS = (</a:t>
            </a:r>
            <a:r>
              <a:rPr lang="en-US" sz="1050" dirty="0">
                <a:solidFill>
                  <a:srgbClr val="A6E3A1"/>
                </a:solidFill>
                <a:latin typeface="Courier New" pitchFamily="34" charset="0"/>
                <a:ea typeface="Courier New" pitchFamily="34" charset="-122"/>
                <a:cs typeface="Courier New" pitchFamily="34" charset="-120"/>
              </a:rPr>
              <a:t>"Mon"</a:t>
            </a:r>
            <a:r>
              <a:rPr lang="en-US" sz="1050" dirty="0">
                <a:solidFill>
                  <a:srgbClr val="E4E4F0"/>
                </a:solidFill>
                <a:latin typeface="Courier New" pitchFamily="34" charset="0"/>
                <a:ea typeface="Courier New" pitchFamily="34" charset="-122"/>
                <a:cs typeface="Courier New" pitchFamily="34" charset="-120"/>
              </a:rPr>
              <a:t>, </a:t>
            </a:r>
            <a:r>
              <a:rPr lang="en-US" sz="1050" dirty="0">
                <a:solidFill>
                  <a:srgbClr val="A6E3A1"/>
                </a:solidFill>
                <a:latin typeface="Courier New" pitchFamily="34" charset="0"/>
                <a:ea typeface="Courier New" pitchFamily="34" charset="-122"/>
                <a:cs typeface="Courier New" pitchFamily="34" charset="-120"/>
              </a:rPr>
              <a:t>"Tue"</a:t>
            </a:r>
            <a:r>
              <a:rPr lang="en-US" sz="1050" dirty="0">
                <a:solidFill>
                  <a:srgbClr val="E4E4F0"/>
                </a:solidFill>
                <a:latin typeface="Courier New" pitchFamily="34" charset="0"/>
                <a:ea typeface="Courier New" pitchFamily="34" charset="-122"/>
                <a:cs typeface="Courier New" pitchFamily="34" charset="-120"/>
              </a:rPr>
              <a:t>, </a:t>
            </a:r>
            <a:r>
              <a:rPr lang="en-US" sz="1050" dirty="0">
                <a:solidFill>
                  <a:srgbClr val="A6E3A1"/>
                </a:solidFill>
                <a:latin typeface="Courier New" pitchFamily="34" charset="0"/>
                <a:ea typeface="Courier New" pitchFamily="34" charset="-122"/>
                <a:cs typeface="Courier New" pitchFamily="34" charset="-120"/>
              </a:rPr>
              <a:t>"Wed"</a:t>
            </a:r>
            <a:r>
              <a:rPr lang="en-US" sz="1050" dirty="0">
                <a:solidFill>
                  <a:srgbClr val="E4E4F0"/>
                </a:solidFill>
                <a:latin typeface="Courier New" pitchFamily="34" charset="0"/>
                <a:ea typeface="Courier New" pitchFamily="34" charset="-122"/>
                <a:cs typeface="Courier New" pitchFamily="34" charset="-120"/>
              </a:rPr>
              <a:t>)</a:t>
            </a:r>
            <a:endParaRPr lang="en-US" sz="1050" dirty="0"/>
          </a:p>
        </p:txBody>
      </p:sp>
      <p:sp>
        <p:nvSpPr>
          <p:cNvPr id="16" name="Shape 14"/>
          <p:cNvSpPr/>
          <p:nvPr/>
        </p:nvSpPr>
        <p:spPr>
          <a:xfrm>
            <a:off x="704088" y="5440680"/>
            <a:ext cx="3143402" cy="685800"/>
          </a:xfrm>
          <a:prstGeom prst="roundRect">
            <a:avLst>
              <a:gd name="adj" fmla="val 13333"/>
            </a:avLst>
          </a:prstGeom>
          <a:solidFill>
            <a:srgbClr val="F6F6FF"/>
          </a:solidFill>
          <a:ln w="9525">
            <a:solidFill>
              <a:srgbClr val="DCDDF5"/>
            </a:solidFill>
            <a:prstDash val="solid"/>
          </a:ln>
        </p:spPr>
        <p:txBody>
          <a:bodyPr/>
          <a:lstStyle/>
          <a:p>
            <a:endParaRPr lang="en-PH"/>
          </a:p>
        </p:txBody>
      </p:sp>
      <p:sp>
        <p:nvSpPr>
          <p:cNvPr id="17" name="Text 15"/>
          <p:cNvSpPr txBox="1"/>
          <p:nvPr/>
        </p:nvSpPr>
        <p:spPr>
          <a:xfrm>
            <a:off x="850392" y="5513832"/>
            <a:ext cx="2869082" cy="182880"/>
          </a:xfrm>
          <a:prstGeom prst="rect">
            <a:avLst/>
          </a:prstGeom>
          <a:noFill/>
          <a:ln/>
        </p:spPr>
        <p:txBody>
          <a:bodyPr wrap="square" lIns="0" tIns="0" rIns="0" bIns="0" rtlCol="0" anchor="ctr"/>
          <a:lstStyle/>
          <a:p>
            <a:pPr marL="0" indent="0">
              <a:buNone/>
            </a:pPr>
            <a:r>
              <a:rPr lang="en-US" sz="850" b="1" kern="0" spc="150" dirty="0">
                <a:solidFill>
                  <a:srgbClr val="4F46E5"/>
                </a:solidFill>
                <a:latin typeface="Calibri" pitchFamily="34" charset="0"/>
                <a:ea typeface="Calibri" pitchFamily="34" charset="-122"/>
                <a:cs typeface="Calibri" pitchFamily="34" charset="-120"/>
              </a:rPr>
              <a:t>OUTPUT</a:t>
            </a:r>
            <a:endParaRPr lang="en-US" sz="850" dirty="0"/>
          </a:p>
        </p:txBody>
      </p:sp>
      <p:sp>
        <p:nvSpPr>
          <p:cNvPr id="18" name="Text 16"/>
          <p:cNvSpPr txBox="1"/>
          <p:nvPr/>
        </p:nvSpPr>
        <p:spPr>
          <a:xfrm>
            <a:off x="850392" y="5733288"/>
            <a:ext cx="2905658" cy="356616"/>
          </a:xfrm>
          <a:prstGeom prst="rect">
            <a:avLst/>
          </a:prstGeom>
          <a:noFill/>
          <a:ln/>
        </p:spPr>
        <p:txBody>
          <a:bodyPr wrap="square" lIns="0" tIns="0" rIns="0" bIns="0" rtlCol="0" anchor="t"/>
          <a:lstStyle/>
          <a:p>
            <a:pPr marL="0" indent="0">
              <a:buNone/>
            </a:pPr>
            <a:r>
              <a:rPr lang="en-US" sz="1000" dirty="0">
                <a:solidFill>
                  <a:srgbClr val="1E1B4B"/>
                </a:solidFill>
                <a:latin typeface="Courier New" pitchFamily="34" charset="0"/>
                <a:ea typeface="Courier New" pitchFamily="34" charset="-122"/>
                <a:cs typeface="Courier New" pitchFamily="34" charset="-120"/>
              </a:rPr>
              <a:t>Values stay the same everywhere they are used.</a:t>
            </a:r>
            <a:endParaRPr lang="en-US" sz="1000" dirty="0"/>
          </a:p>
        </p:txBody>
      </p:sp>
      <p:sp>
        <p:nvSpPr>
          <p:cNvPr id="19" name="Shape 17"/>
          <p:cNvSpPr/>
          <p:nvPr/>
        </p:nvSpPr>
        <p:spPr>
          <a:xfrm>
            <a:off x="4322978" y="2423160"/>
            <a:ext cx="3545738" cy="3840480"/>
          </a:xfrm>
          <a:prstGeom prst="roundRect">
            <a:avLst>
              <a:gd name="adj" fmla="val 3095"/>
            </a:avLst>
          </a:prstGeom>
          <a:solidFill>
            <a:srgbClr val="FFFFFF"/>
          </a:solidFill>
          <a:ln w="9525">
            <a:solidFill>
              <a:srgbClr val="DCDDF5"/>
            </a:solidFill>
            <a:prstDash val="solid"/>
          </a:ln>
          <a:effectLst>
            <a:outerShdw blurRad="127000" dist="25400" dir="5400000" algn="bl" rotWithShape="0">
              <a:srgbClr val="4F46E5">
                <a:alpha val="12000"/>
              </a:srgbClr>
            </a:outerShdw>
          </a:effectLst>
        </p:spPr>
        <p:txBody>
          <a:bodyPr/>
          <a:lstStyle/>
          <a:p>
            <a:endParaRPr lang="en-PH"/>
          </a:p>
        </p:txBody>
      </p:sp>
      <p:sp>
        <p:nvSpPr>
          <p:cNvPr id="20" name="Shape 18"/>
          <p:cNvSpPr/>
          <p:nvPr/>
        </p:nvSpPr>
        <p:spPr>
          <a:xfrm>
            <a:off x="4524146" y="2624328"/>
            <a:ext cx="384048" cy="384048"/>
          </a:xfrm>
          <a:prstGeom prst="ellipse">
            <a:avLst/>
          </a:prstGeom>
          <a:solidFill>
            <a:srgbClr val="C8559F"/>
          </a:solidFill>
          <a:ln w="12700">
            <a:solidFill>
              <a:srgbClr val="C8559F"/>
            </a:solidFill>
            <a:prstDash val="solid"/>
          </a:ln>
        </p:spPr>
        <p:txBody>
          <a:bodyPr/>
          <a:lstStyle/>
          <a:p>
            <a:endParaRPr lang="en-PH"/>
          </a:p>
        </p:txBody>
      </p:sp>
      <p:sp>
        <p:nvSpPr>
          <p:cNvPr id="21" name="Text 19"/>
          <p:cNvSpPr txBox="1"/>
          <p:nvPr/>
        </p:nvSpPr>
        <p:spPr>
          <a:xfrm>
            <a:off x="4524146" y="2624328"/>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22" name="Text 20"/>
          <p:cNvSpPr txBox="1"/>
          <p:nvPr/>
        </p:nvSpPr>
        <p:spPr>
          <a:xfrm>
            <a:off x="5036210" y="2624328"/>
            <a:ext cx="2631338" cy="384048"/>
          </a:xfrm>
          <a:prstGeom prst="rect">
            <a:avLst/>
          </a:prstGeom>
          <a:noFill/>
          <a:ln/>
        </p:spPr>
        <p:txBody>
          <a:bodyPr wrap="square" lIns="0" tIns="0" rIns="0" bIns="0" rtlCol="0" anchor="ctr"/>
          <a:lstStyle/>
          <a:p>
            <a:pPr marL="0" indent="0">
              <a:buNone/>
            </a:pPr>
            <a:r>
              <a:rPr lang="en-US" sz="1600" b="1" dirty="0">
                <a:solidFill>
                  <a:srgbClr val="1E1B4B"/>
                </a:solidFill>
                <a:latin typeface="Calibri" pitchFamily="34" charset="0"/>
                <a:ea typeface="Calibri" pitchFamily="34" charset="-122"/>
                <a:cs typeface="Calibri" pitchFamily="34" charset="-120"/>
              </a:rPr>
              <a:t>Performance</a:t>
            </a:r>
            <a:endParaRPr lang="en-US" sz="1600" dirty="0"/>
          </a:p>
        </p:txBody>
      </p:sp>
      <p:sp>
        <p:nvSpPr>
          <p:cNvPr id="23" name="Text 21"/>
          <p:cNvSpPr txBox="1"/>
          <p:nvPr/>
        </p:nvSpPr>
        <p:spPr>
          <a:xfrm>
            <a:off x="4524146" y="3136392"/>
            <a:ext cx="3143402" cy="1234440"/>
          </a:xfrm>
          <a:prstGeom prst="rect">
            <a:avLst/>
          </a:prstGeom>
          <a:noFill/>
          <a:ln/>
        </p:spPr>
        <p:txBody>
          <a:bodyPr wrap="square" lIns="0" tIns="0" rIns="0" bIns="0" rtlCol="0" anchor="t"/>
          <a:lstStyle/>
          <a:p>
            <a:pPr marL="0" indent="0">
              <a:buNone/>
            </a:pPr>
            <a:r>
              <a:rPr lang="en-US" sz="1300" dirty="0">
                <a:solidFill>
                  <a:srgbClr val="5B5F7A"/>
                </a:solidFill>
                <a:latin typeface="Calibri" pitchFamily="34" charset="0"/>
                <a:ea typeface="Calibri" pitchFamily="34" charset="-122"/>
                <a:cs typeface="Calibri" pitchFamily="34" charset="-120"/>
              </a:rPr>
              <a:t>Tuples are faster and more memory-efficient than lists as they are stored in a single block and don’t require extra space for modifications.</a:t>
            </a:r>
            <a:endParaRPr lang="en-US" sz="1300" dirty="0"/>
          </a:p>
        </p:txBody>
      </p:sp>
      <p:sp>
        <p:nvSpPr>
          <p:cNvPr id="24" name="Shape 22"/>
          <p:cNvSpPr/>
          <p:nvPr/>
        </p:nvSpPr>
        <p:spPr>
          <a:xfrm>
            <a:off x="4524146" y="4389120"/>
            <a:ext cx="3143402" cy="960120"/>
          </a:xfrm>
          <a:prstGeom prst="roundRect">
            <a:avLst>
              <a:gd name="adj" fmla="val 9524"/>
            </a:avLst>
          </a:prstGeom>
          <a:solidFill>
            <a:srgbClr val="1F1D36"/>
          </a:solidFill>
          <a:ln w="12700">
            <a:solidFill>
              <a:srgbClr val="1F1D36"/>
            </a:solidFill>
            <a:prstDash val="solid"/>
          </a:ln>
        </p:spPr>
        <p:txBody>
          <a:bodyPr/>
          <a:lstStyle/>
          <a:p>
            <a:endParaRPr lang="en-PH"/>
          </a:p>
        </p:txBody>
      </p:sp>
      <p:sp>
        <p:nvSpPr>
          <p:cNvPr id="25" name="Text 23"/>
          <p:cNvSpPr txBox="1"/>
          <p:nvPr/>
        </p:nvSpPr>
        <p:spPr>
          <a:xfrm>
            <a:off x="4688738" y="4471416"/>
            <a:ext cx="2814218" cy="201168"/>
          </a:xfrm>
          <a:prstGeom prst="rect">
            <a:avLst/>
          </a:prstGeom>
          <a:noFill/>
          <a:ln/>
        </p:spPr>
        <p:txBody>
          <a:bodyPr wrap="square" lIns="0" tIns="0" rIns="0" bIns="0" rtlCol="0" anchor="ctr"/>
          <a:lstStyle/>
          <a:p>
            <a:pPr marL="0" indent="0">
              <a:buNone/>
            </a:pPr>
            <a:r>
              <a:rPr lang="en-US" sz="900" b="1" dirty="0">
                <a:solidFill>
                  <a:srgbClr val="8A8FB5"/>
                </a:solidFill>
                <a:latin typeface="Calibri" pitchFamily="34" charset="0"/>
                <a:ea typeface="Calibri" pitchFamily="34" charset="-122"/>
                <a:cs typeface="Calibri" pitchFamily="34" charset="-120"/>
              </a:rPr>
              <a:t>&lt;/&gt;  Python</a:t>
            </a:r>
            <a:endParaRPr lang="en-US" sz="900" dirty="0"/>
          </a:p>
        </p:txBody>
      </p:sp>
      <p:sp>
        <p:nvSpPr>
          <p:cNvPr id="26" name="Text 24"/>
          <p:cNvSpPr txBox="1"/>
          <p:nvPr/>
        </p:nvSpPr>
        <p:spPr>
          <a:xfrm>
            <a:off x="4688738" y="4718304"/>
            <a:ext cx="2869082" cy="576072"/>
          </a:xfrm>
          <a:prstGeom prst="rect">
            <a:avLst/>
          </a:prstGeom>
          <a:noFill/>
          <a:ln/>
        </p:spPr>
        <p:txBody>
          <a:bodyPr wrap="square" lIns="0" tIns="0" rIns="0" bIns="0" rtlCol="0" anchor="t"/>
          <a:lstStyle/>
          <a:p>
            <a:pPr marL="0" indent="0">
              <a:buNone/>
            </a:pPr>
            <a:r>
              <a:rPr lang="en-US" sz="1050" dirty="0">
                <a:solidFill>
                  <a:srgbClr val="E4E4F0"/>
                </a:solidFill>
                <a:latin typeface="Courier New" pitchFamily="34" charset="0"/>
                <a:ea typeface="Courier New" pitchFamily="34" charset="-122"/>
                <a:cs typeface="Courier New" pitchFamily="34" charset="-120"/>
              </a:rPr>
              <a:t>point = (</a:t>
            </a:r>
            <a:r>
              <a:rPr lang="en-US" sz="1050" dirty="0">
                <a:solidFill>
                  <a:srgbClr val="FAB387"/>
                </a:solidFill>
                <a:latin typeface="Courier New" pitchFamily="34" charset="0"/>
                <a:ea typeface="Courier New" pitchFamily="34" charset="-122"/>
                <a:cs typeface="Courier New" pitchFamily="34" charset="-120"/>
              </a:rPr>
              <a:t>10</a:t>
            </a:r>
            <a:r>
              <a:rPr lang="en-US" sz="1050" dirty="0">
                <a:solidFill>
                  <a:srgbClr val="E4E4F0"/>
                </a:solidFill>
                <a:latin typeface="Courier New" pitchFamily="34" charset="0"/>
                <a:ea typeface="Courier New" pitchFamily="34" charset="-122"/>
                <a:cs typeface="Courier New" pitchFamily="34" charset="-120"/>
              </a:rPr>
              <a:t>, </a:t>
            </a:r>
            <a:r>
              <a:rPr lang="en-US" sz="1050" dirty="0">
                <a:solidFill>
                  <a:srgbClr val="FAB387"/>
                </a:solidFill>
                <a:latin typeface="Courier New" pitchFamily="34" charset="0"/>
                <a:ea typeface="Courier New" pitchFamily="34" charset="-122"/>
                <a:cs typeface="Courier New" pitchFamily="34" charset="-120"/>
              </a:rPr>
              <a:t>20</a:t>
            </a:r>
            <a:r>
              <a:rPr lang="en-US" sz="1050" dirty="0">
                <a:solidFill>
                  <a:srgbClr val="E4E4F0"/>
                </a:solidFill>
                <a:latin typeface="Courier New" pitchFamily="34" charset="0"/>
                <a:ea typeface="Courier New" pitchFamily="34" charset="-122"/>
                <a:cs typeface="Courier New" pitchFamily="34" charset="-120"/>
              </a:rPr>
              <a:t>)</a:t>
            </a:r>
            <a:endParaRPr lang="en-US" sz="1050" dirty="0"/>
          </a:p>
          <a:p>
            <a:pPr marL="0" indent="0">
              <a:buNone/>
            </a:pPr>
            <a:r>
              <a:rPr lang="en-US" sz="1050" dirty="0">
                <a:solidFill>
                  <a:srgbClr val="E4E4F0"/>
                </a:solidFill>
                <a:latin typeface="Courier New" pitchFamily="34" charset="0"/>
                <a:ea typeface="Courier New" pitchFamily="34" charset="-122"/>
                <a:cs typeface="Courier New" pitchFamily="34" charset="-120"/>
              </a:rPr>
              <a:t>x, y = point  </a:t>
            </a:r>
            <a:r>
              <a:rPr lang="en-US" sz="1050" i="1" dirty="0">
                <a:solidFill>
                  <a:srgbClr val="8A8FB5"/>
                </a:solidFill>
                <a:latin typeface="Courier New" pitchFamily="34" charset="0"/>
                <a:ea typeface="Courier New" pitchFamily="34" charset="-122"/>
                <a:cs typeface="Courier New" pitchFamily="34" charset="-120"/>
              </a:rPr>
              <a:t># quick unpacking</a:t>
            </a:r>
            <a:endParaRPr lang="en-US" sz="1050" dirty="0"/>
          </a:p>
          <a:p>
            <a:pPr marL="0" indent="0">
              <a:buNone/>
            </a:pPr>
            <a:r>
              <a:rPr lang="en-US" sz="1050" dirty="0">
                <a:solidFill>
                  <a:srgbClr val="82AAFF"/>
                </a:solidFill>
                <a:latin typeface="Courier New" pitchFamily="34" charset="0"/>
                <a:ea typeface="Courier New" pitchFamily="34" charset="-122"/>
                <a:cs typeface="Courier New" pitchFamily="34" charset="-120"/>
              </a:rPr>
              <a:t>print</a:t>
            </a:r>
            <a:r>
              <a:rPr lang="en-US" sz="1050" dirty="0">
                <a:solidFill>
                  <a:srgbClr val="E4E4F0"/>
                </a:solidFill>
                <a:latin typeface="Courier New" pitchFamily="34" charset="0"/>
                <a:ea typeface="Courier New" pitchFamily="34" charset="-122"/>
                <a:cs typeface="Courier New" pitchFamily="34" charset="-120"/>
              </a:rPr>
              <a:t>(x, y)</a:t>
            </a:r>
            <a:endParaRPr lang="en-US" sz="1050" dirty="0"/>
          </a:p>
        </p:txBody>
      </p:sp>
      <p:sp>
        <p:nvSpPr>
          <p:cNvPr id="27" name="Shape 25"/>
          <p:cNvSpPr/>
          <p:nvPr/>
        </p:nvSpPr>
        <p:spPr>
          <a:xfrm>
            <a:off x="4524146" y="5440680"/>
            <a:ext cx="3143402" cy="685800"/>
          </a:xfrm>
          <a:prstGeom prst="roundRect">
            <a:avLst>
              <a:gd name="adj" fmla="val 13333"/>
            </a:avLst>
          </a:prstGeom>
          <a:solidFill>
            <a:srgbClr val="F6F6FF"/>
          </a:solidFill>
          <a:ln w="9525">
            <a:solidFill>
              <a:srgbClr val="DCDDF5"/>
            </a:solidFill>
            <a:prstDash val="solid"/>
          </a:ln>
        </p:spPr>
        <p:txBody>
          <a:bodyPr/>
          <a:lstStyle/>
          <a:p>
            <a:endParaRPr lang="en-PH"/>
          </a:p>
        </p:txBody>
      </p:sp>
      <p:sp>
        <p:nvSpPr>
          <p:cNvPr id="28" name="Text 26"/>
          <p:cNvSpPr txBox="1"/>
          <p:nvPr/>
        </p:nvSpPr>
        <p:spPr>
          <a:xfrm>
            <a:off x="4670450" y="5513832"/>
            <a:ext cx="2869082" cy="182880"/>
          </a:xfrm>
          <a:prstGeom prst="rect">
            <a:avLst/>
          </a:prstGeom>
          <a:noFill/>
          <a:ln/>
        </p:spPr>
        <p:txBody>
          <a:bodyPr wrap="square" lIns="0" tIns="0" rIns="0" bIns="0" rtlCol="0" anchor="ctr"/>
          <a:lstStyle/>
          <a:p>
            <a:pPr marL="0" indent="0">
              <a:buNone/>
            </a:pPr>
            <a:r>
              <a:rPr lang="en-US" sz="850" b="1" kern="0" spc="150" dirty="0">
                <a:solidFill>
                  <a:srgbClr val="4F46E5"/>
                </a:solidFill>
                <a:latin typeface="Calibri" pitchFamily="34" charset="0"/>
                <a:ea typeface="Calibri" pitchFamily="34" charset="-122"/>
                <a:cs typeface="Calibri" pitchFamily="34" charset="-120"/>
              </a:rPr>
              <a:t>OUTPUT</a:t>
            </a:r>
            <a:endParaRPr lang="en-US" sz="850" dirty="0"/>
          </a:p>
        </p:txBody>
      </p:sp>
      <p:sp>
        <p:nvSpPr>
          <p:cNvPr id="29" name="Text 27"/>
          <p:cNvSpPr txBox="1"/>
          <p:nvPr/>
        </p:nvSpPr>
        <p:spPr>
          <a:xfrm>
            <a:off x="4670450" y="5733288"/>
            <a:ext cx="2905658" cy="356616"/>
          </a:xfrm>
          <a:prstGeom prst="rect">
            <a:avLst/>
          </a:prstGeom>
          <a:noFill/>
          <a:ln/>
        </p:spPr>
        <p:txBody>
          <a:bodyPr wrap="square" lIns="0" tIns="0" rIns="0" bIns="0" rtlCol="0" anchor="t"/>
          <a:lstStyle/>
          <a:p>
            <a:pPr marL="0" indent="0">
              <a:buNone/>
            </a:pPr>
            <a:r>
              <a:rPr lang="en-US" sz="1000" dirty="0">
                <a:solidFill>
                  <a:srgbClr val="1E1B4B"/>
                </a:solidFill>
                <a:latin typeface="Courier New" pitchFamily="34" charset="0"/>
                <a:ea typeface="Courier New" pitchFamily="34" charset="-122"/>
                <a:cs typeface="Courier New" pitchFamily="34" charset="-120"/>
              </a:rPr>
              <a:t>10 20</a:t>
            </a:r>
            <a:endParaRPr lang="en-US" sz="1000" dirty="0"/>
          </a:p>
        </p:txBody>
      </p:sp>
      <p:sp>
        <p:nvSpPr>
          <p:cNvPr id="30" name="Shape 28"/>
          <p:cNvSpPr/>
          <p:nvPr/>
        </p:nvSpPr>
        <p:spPr>
          <a:xfrm>
            <a:off x="8143037" y="2423160"/>
            <a:ext cx="3545738" cy="3840480"/>
          </a:xfrm>
          <a:prstGeom prst="roundRect">
            <a:avLst>
              <a:gd name="adj" fmla="val 3095"/>
            </a:avLst>
          </a:prstGeom>
          <a:solidFill>
            <a:srgbClr val="FFFFFF"/>
          </a:solidFill>
          <a:ln w="9525">
            <a:solidFill>
              <a:srgbClr val="DCDDF5"/>
            </a:solidFill>
            <a:prstDash val="solid"/>
          </a:ln>
          <a:effectLst>
            <a:outerShdw blurRad="127000" dist="25400" dir="5400000" algn="bl" rotWithShape="0">
              <a:srgbClr val="4F46E5">
                <a:alpha val="12000"/>
              </a:srgbClr>
            </a:outerShdw>
          </a:effectLst>
        </p:spPr>
        <p:txBody>
          <a:bodyPr/>
          <a:lstStyle/>
          <a:p>
            <a:endParaRPr lang="en-PH"/>
          </a:p>
        </p:txBody>
      </p:sp>
      <p:sp>
        <p:nvSpPr>
          <p:cNvPr id="31" name="Shape 29"/>
          <p:cNvSpPr/>
          <p:nvPr/>
        </p:nvSpPr>
        <p:spPr>
          <a:xfrm>
            <a:off x="8344205" y="2624328"/>
            <a:ext cx="384048" cy="384048"/>
          </a:xfrm>
          <a:prstGeom prst="ellipse">
            <a:avLst/>
          </a:prstGeom>
          <a:solidFill>
            <a:srgbClr val="4F46E5"/>
          </a:solidFill>
          <a:ln w="12700">
            <a:solidFill>
              <a:srgbClr val="4F46E5"/>
            </a:solidFill>
            <a:prstDash val="solid"/>
          </a:ln>
        </p:spPr>
        <p:txBody>
          <a:bodyPr/>
          <a:lstStyle/>
          <a:p>
            <a:endParaRPr lang="en-PH"/>
          </a:p>
        </p:txBody>
      </p:sp>
      <p:sp>
        <p:nvSpPr>
          <p:cNvPr id="32" name="Text 30"/>
          <p:cNvSpPr txBox="1"/>
          <p:nvPr/>
        </p:nvSpPr>
        <p:spPr>
          <a:xfrm>
            <a:off x="8344205" y="2624328"/>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33" name="Text 31"/>
          <p:cNvSpPr txBox="1"/>
          <p:nvPr/>
        </p:nvSpPr>
        <p:spPr>
          <a:xfrm>
            <a:off x="8856269" y="2624328"/>
            <a:ext cx="2631338" cy="384048"/>
          </a:xfrm>
          <a:prstGeom prst="rect">
            <a:avLst/>
          </a:prstGeom>
          <a:noFill/>
          <a:ln/>
        </p:spPr>
        <p:txBody>
          <a:bodyPr wrap="square" lIns="0" tIns="0" rIns="0" bIns="0" rtlCol="0" anchor="ctr"/>
          <a:lstStyle/>
          <a:p>
            <a:pPr marL="0" indent="0">
              <a:buNone/>
            </a:pPr>
            <a:r>
              <a:rPr lang="en-US" sz="1600" b="1" dirty="0">
                <a:solidFill>
                  <a:srgbClr val="1E1B4B"/>
                </a:solidFill>
                <a:latin typeface="Calibri" pitchFamily="34" charset="0"/>
                <a:ea typeface="Calibri" pitchFamily="34" charset="-122"/>
                <a:cs typeface="Calibri" pitchFamily="34" charset="-120"/>
              </a:rPr>
              <a:t>Memory Efficiency</a:t>
            </a:r>
            <a:endParaRPr lang="en-US" sz="1600" dirty="0"/>
          </a:p>
        </p:txBody>
      </p:sp>
      <p:sp>
        <p:nvSpPr>
          <p:cNvPr id="34" name="Text 32"/>
          <p:cNvSpPr txBox="1"/>
          <p:nvPr/>
        </p:nvSpPr>
        <p:spPr>
          <a:xfrm>
            <a:off x="8344205" y="3136392"/>
            <a:ext cx="3143402" cy="1234440"/>
          </a:xfrm>
          <a:prstGeom prst="rect">
            <a:avLst/>
          </a:prstGeom>
          <a:noFill/>
          <a:ln/>
        </p:spPr>
        <p:txBody>
          <a:bodyPr wrap="square" lIns="0" tIns="0" rIns="0" bIns="0" rtlCol="0" anchor="t"/>
          <a:lstStyle/>
          <a:p>
            <a:pPr marL="0" indent="0">
              <a:buNone/>
            </a:pPr>
            <a:r>
              <a:rPr lang="en-US" sz="1300" dirty="0">
                <a:solidFill>
                  <a:srgbClr val="5B5F7A"/>
                </a:solidFill>
                <a:latin typeface="Calibri" pitchFamily="34" charset="0"/>
                <a:ea typeface="Calibri" pitchFamily="34" charset="-122"/>
                <a:cs typeface="Calibri" pitchFamily="34" charset="-120"/>
              </a:rPr>
              <a:t>Tuples use contiguous memory, while lists need extra space for dynamic resizing, making tuples a better choice for large, unchanging datasets.</a:t>
            </a:r>
            <a:endParaRPr lang="en-US" sz="1300" dirty="0"/>
          </a:p>
        </p:txBody>
      </p:sp>
      <p:sp>
        <p:nvSpPr>
          <p:cNvPr id="35" name="Shape 33"/>
          <p:cNvSpPr/>
          <p:nvPr/>
        </p:nvSpPr>
        <p:spPr>
          <a:xfrm>
            <a:off x="8344205" y="4389120"/>
            <a:ext cx="3143402" cy="960120"/>
          </a:xfrm>
          <a:prstGeom prst="roundRect">
            <a:avLst>
              <a:gd name="adj" fmla="val 9524"/>
            </a:avLst>
          </a:prstGeom>
          <a:solidFill>
            <a:srgbClr val="1F1D36"/>
          </a:solidFill>
          <a:ln w="12700">
            <a:solidFill>
              <a:srgbClr val="1F1D36"/>
            </a:solidFill>
            <a:prstDash val="solid"/>
          </a:ln>
        </p:spPr>
        <p:txBody>
          <a:bodyPr/>
          <a:lstStyle/>
          <a:p>
            <a:endParaRPr lang="en-PH"/>
          </a:p>
        </p:txBody>
      </p:sp>
      <p:sp>
        <p:nvSpPr>
          <p:cNvPr id="36" name="Text 34"/>
          <p:cNvSpPr txBox="1"/>
          <p:nvPr/>
        </p:nvSpPr>
        <p:spPr>
          <a:xfrm>
            <a:off x="8508797" y="4471416"/>
            <a:ext cx="2814218" cy="201168"/>
          </a:xfrm>
          <a:prstGeom prst="rect">
            <a:avLst/>
          </a:prstGeom>
          <a:noFill/>
          <a:ln/>
        </p:spPr>
        <p:txBody>
          <a:bodyPr wrap="square" lIns="0" tIns="0" rIns="0" bIns="0" rtlCol="0" anchor="ctr"/>
          <a:lstStyle/>
          <a:p>
            <a:pPr marL="0" indent="0">
              <a:buNone/>
            </a:pPr>
            <a:r>
              <a:rPr lang="en-US" sz="900" b="1" dirty="0">
                <a:solidFill>
                  <a:srgbClr val="8A8FB5"/>
                </a:solidFill>
                <a:latin typeface="Calibri" pitchFamily="34" charset="0"/>
                <a:ea typeface="Calibri" pitchFamily="34" charset="-122"/>
                <a:cs typeface="Calibri" pitchFamily="34" charset="-120"/>
              </a:rPr>
              <a:t>&lt;/&gt;  Python</a:t>
            </a:r>
            <a:endParaRPr lang="en-US" sz="900" dirty="0"/>
          </a:p>
        </p:txBody>
      </p:sp>
      <p:sp>
        <p:nvSpPr>
          <p:cNvPr id="37" name="Text 35"/>
          <p:cNvSpPr txBox="1"/>
          <p:nvPr/>
        </p:nvSpPr>
        <p:spPr>
          <a:xfrm>
            <a:off x="8508797" y="4718304"/>
            <a:ext cx="2869082" cy="576072"/>
          </a:xfrm>
          <a:prstGeom prst="rect">
            <a:avLst/>
          </a:prstGeom>
          <a:noFill/>
          <a:ln/>
        </p:spPr>
        <p:txBody>
          <a:bodyPr wrap="square" lIns="0" tIns="0" rIns="0" bIns="0" rtlCol="0" anchor="t"/>
          <a:lstStyle/>
          <a:p>
            <a:pPr marL="0" indent="0">
              <a:buNone/>
            </a:pPr>
            <a:r>
              <a:rPr lang="en-US" sz="1050" dirty="0">
                <a:solidFill>
                  <a:srgbClr val="D3A6FF"/>
                </a:solidFill>
                <a:latin typeface="Courier New" pitchFamily="34" charset="0"/>
                <a:ea typeface="Courier New" pitchFamily="34" charset="-122"/>
                <a:cs typeface="Courier New" pitchFamily="34" charset="-120"/>
              </a:rPr>
              <a:t>import</a:t>
            </a:r>
            <a:r>
              <a:rPr lang="en-US" sz="1050" dirty="0">
                <a:solidFill>
                  <a:srgbClr val="E4E4F0"/>
                </a:solidFill>
                <a:latin typeface="Courier New" pitchFamily="34" charset="0"/>
                <a:ea typeface="Courier New" pitchFamily="34" charset="-122"/>
                <a:cs typeface="Courier New" pitchFamily="34" charset="-120"/>
              </a:rPr>
              <a:t> sys</a:t>
            </a:r>
            <a:endParaRPr lang="en-US" sz="1050" dirty="0"/>
          </a:p>
          <a:p>
            <a:pPr marL="0" indent="0">
              <a:buNone/>
            </a:pPr>
            <a:r>
              <a:rPr lang="en-US" sz="1050" dirty="0">
                <a:solidFill>
                  <a:srgbClr val="82AAFF"/>
                </a:solidFill>
                <a:latin typeface="Courier New" pitchFamily="34" charset="0"/>
                <a:ea typeface="Courier New" pitchFamily="34" charset="-122"/>
                <a:cs typeface="Courier New" pitchFamily="34" charset="-120"/>
              </a:rPr>
              <a:t>print</a:t>
            </a:r>
            <a:r>
              <a:rPr lang="en-US" sz="1050" dirty="0">
                <a:solidFill>
                  <a:srgbClr val="E4E4F0"/>
                </a:solidFill>
                <a:latin typeface="Courier New" pitchFamily="34" charset="0"/>
                <a:ea typeface="Courier New" pitchFamily="34" charset="-122"/>
                <a:cs typeface="Courier New" pitchFamily="34" charset="-120"/>
              </a:rPr>
              <a:t>(sys.</a:t>
            </a:r>
            <a:r>
              <a:rPr lang="en-US" sz="1050" dirty="0">
                <a:solidFill>
                  <a:srgbClr val="89DCEB"/>
                </a:solidFill>
                <a:latin typeface="Courier New" pitchFamily="34" charset="0"/>
                <a:ea typeface="Courier New" pitchFamily="34" charset="-122"/>
                <a:cs typeface="Courier New" pitchFamily="34" charset="-120"/>
              </a:rPr>
              <a:t>getsizeof</a:t>
            </a:r>
            <a:r>
              <a:rPr lang="en-US" sz="1050" dirty="0">
                <a:solidFill>
                  <a:srgbClr val="E4E4F0"/>
                </a:solidFill>
                <a:latin typeface="Courier New" pitchFamily="34" charset="0"/>
                <a:ea typeface="Courier New" pitchFamily="34" charset="-122"/>
                <a:cs typeface="Courier New" pitchFamily="34" charset="-120"/>
              </a:rPr>
              <a:t>([</a:t>
            </a:r>
            <a:r>
              <a:rPr lang="en-US" sz="1050" dirty="0">
                <a:solidFill>
                  <a:srgbClr val="FAB387"/>
                </a:solidFill>
                <a:latin typeface="Courier New" pitchFamily="34" charset="0"/>
                <a:ea typeface="Courier New" pitchFamily="34" charset="-122"/>
                <a:cs typeface="Courier New" pitchFamily="34" charset="-120"/>
              </a:rPr>
              <a:t>1</a:t>
            </a:r>
            <a:r>
              <a:rPr lang="en-US" sz="1050" dirty="0">
                <a:solidFill>
                  <a:srgbClr val="E4E4F0"/>
                </a:solidFill>
                <a:latin typeface="Courier New" pitchFamily="34" charset="0"/>
                <a:ea typeface="Courier New" pitchFamily="34" charset="-122"/>
                <a:cs typeface="Courier New" pitchFamily="34" charset="-120"/>
              </a:rPr>
              <a:t>, </a:t>
            </a:r>
            <a:r>
              <a:rPr lang="en-US" sz="1050" dirty="0">
                <a:solidFill>
                  <a:srgbClr val="FAB387"/>
                </a:solidFill>
                <a:latin typeface="Courier New" pitchFamily="34" charset="0"/>
                <a:ea typeface="Courier New" pitchFamily="34" charset="-122"/>
                <a:cs typeface="Courier New" pitchFamily="34" charset="-120"/>
              </a:rPr>
              <a:t>2</a:t>
            </a:r>
            <a:r>
              <a:rPr lang="en-US" sz="1050" dirty="0">
                <a:solidFill>
                  <a:srgbClr val="E4E4F0"/>
                </a:solidFill>
                <a:latin typeface="Courier New" pitchFamily="34" charset="0"/>
                <a:ea typeface="Courier New" pitchFamily="34" charset="-122"/>
                <a:cs typeface="Courier New" pitchFamily="34" charset="-120"/>
              </a:rPr>
              <a:t>, </a:t>
            </a:r>
            <a:r>
              <a:rPr lang="en-US" sz="1050" dirty="0">
                <a:solidFill>
                  <a:srgbClr val="FAB387"/>
                </a:solidFill>
                <a:latin typeface="Courier New" pitchFamily="34" charset="0"/>
                <a:ea typeface="Courier New" pitchFamily="34" charset="-122"/>
                <a:cs typeface="Courier New" pitchFamily="34" charset="-120"/>
              </a:rPr>
              <a:t>3</a:t>
            </a:r>
            <a:r>
              <a:rPr lang="en-US" sz="1050" dirty="0">
                <a:solidFill>
                  <a:srgbClr val="E4E4F0"/>
                </a:solidFill>
                <a:latin typeface="Courier New" pitchFamily="34" charset="0"/>
                <a:ea typeface="Courier New" pitchFamily="34" charset="-122"/>
                <a:cs typeface="Courier New" pitchFamily="34" charset="-120"/>
              </a:rPr>
              <a:t>]))</a:t>
            </a:r>
            <a:endParaRPr lang="en-US" sz="1050" dirty="0"/>
          </a:p>
          <a:p>
            <a:pPr marL="0" indent="0">
              <a:buNone/>
            </a:pPr>
            <a:r>
              <a:rPr lang="en-US" sz="1050" dirty="0">
                <a:solidFill>
                  <a:srgbClr val="82AAFF"/>
                </a:solidFill>
                <a:latin typeface="Courier New" pitchFamily="34" charset="0"/>
                <a:ea typeface="Courier New" pitchFamily="34" charset="-122"/>
                <a:cs typeface="Courier New" pitchFamily="34" charset="-120"/>
              </a:rPr>
              <a:t>print</a:t>
            </a:r>
            <a:r>
              <a:rPr lang="en-US" sz="1050" dirty="0">
                <a:solidFill>
                  <a:srgbClr val="E4E4F0"/>
                </a:solidFill>
                <a:latin typeface="Courier New" pitchFamily="34" charset="0"/>
                <a:ea typeface="Courier New" pitchFamily="34" charset="-122"/>
                <a:cs typeface="Courier New" pitchFamily="34" charset="-120"/>
              </a:rPr>
              <a:t>(sys.</a:t>
            </a:r>
            <a:r>
              <a:rPr lang="en-US" sz="1050" dirty="0">
                <a:solidFill>
                  <a:srgbClr val="89DCEB"/>
                </a:solidFill>
                <a:latin typeface="Courier New" pitchFamily="34" charset="0"/>
                <a:ea typeface="Courier New" pitchFamily="34" charset="-122"/>
                <a:cs typeface="Courier New" pitchFamily="34" charset="-120"/>
              </a:rPr>
              <a:t>getsizeof</a:t>
            </a:r>
            <a:r>
              <a:rPr lang="en-US" sz="1050" dirty="0">
                <a:solidFill>
                  <a:srgbClr val="E4E4F0"/>
                </a:solidFill>
                <a:latin typeface="Courier New" pitchFamily="34" charset="0"/>
                <a:ea typeface="Courier New" pitchFamily="34" charset="-122"/>
                <a:cs typeface="Courier New" pitchFamily="34" charset="-120"/>
              </a:rPr>
              <a:t>((</a:t>
            </a:r>
            <a:r>
              <a:rPr lang="en-US" sz="1050" dirty="0">
                <a:solidFill>
                  <a:srgbClr val="FAB387"/>
                </a:solidFill>
                <a:latin typeface="Courier New" pitchFamily="34" charset="0"/>
                <a:ea typeface="Courier New" pitchFamily="34" charset="-122"/>
                <a:cs typeface="Courier New" pitchFamily="34" charset="-120"/>
              </a:rPr>
              <a:t>1</a:t>
            </a:r>
            <a:r>
              <a:rPr lang="en-US" sz="1050" dirty="0">
                <a:solidFill>
                  <a:srgbClr val="E4E4F0"/>
                </a:solidFill>
                <a:latin typeface="Courier New" pitchFamily="34" charset="0"/>
                <a:ea typeface="Courier New" pitchFamily="34" charset="-122"/>
                <a:cs typeface="Courier New" pitchFamily="34" charset="-120"/>
              </a:rPr>
              <a:t>, </a:t>
            </a:r>
            <a:r>
              <a:rPr lang="en-US" sz="1050" dirty="0">
                <a:solidFill>
                  <a:srgbClr val="FAB387"/>
                </a:solidFill>
                <a:latin typeface="Courier New" pitchFamily="34" charset="0"/>
                <a:ea typeface="Courier New" pitchFamily="34" charset="-122"/>
                <a:cs typeface="Courier New" pitchFamily="34" charset="-120"/>
              </a:rPr>
              <a:t>2</a:t>
            </a:r>
            <a:r>
              <a:rPr lang="en-US" sz="1050" dirty="0">
                <a:solidFill>
                  <a:srgbClr val="E4E4F0"/>
                </a:solidFill>
                <a:latin typeface="Courier New" pitchFamily="34" charset="0"/>
                <a:ea typeface="Courier New" pitchFamily="34" charset="-122"/>
                <a:cs typeface="Courier New" pitchFamily="34" charset="-120"/>
              </a:rPr>
              <a:t>, </a:t>
            </a:r>
            <a:r>
              <a:rPr lang="en-US" sz="1050" dirty="0">
                <a:solidFill>
                  <a:srgbClr val="FAB387"/>
                </a:solidFill>
                <a:latin typeface="Courier New" pitchFamily="34" charset="0"/>
                <a:ea typeface="Courier New" pitchFamily="34" charset="-122"/>
                <a:cs typeface="Courier New" pitchFamily="34" charset="-120"/>
              </a:rPr>
              <a:t>3</a:t>
            </a:r>
            <a:r>
              <a:rPr lang="en-US" sz="1050" dirty="0">
                <a:solidFill>
                  <a:srgbClr val="E4E4F0"/>
                </a:solidFill>
                <a:latin typeface="Courier New" pitchFamily="34" charset="0"/>
                <a:ea typeface="Courier New" pitchFamily="34" charset="-122"/>
                <a:cs typeface="Courier New" pitchFamily="34" charset="-120"/>
              </a:rPr>
              <a:t>)))</a:t>
            </a:r>
            <a:endParaRPr lang="en-US" sz="1050" dirty="0"/>
          </a:p>
        </p:txBody>
      </p:sp>
      <p:sp>
        <p:nvSpPr>
          <p:cNvPr id="38" name="Shape 36"/>
          <p:cNvSpPr/>
          <p:nvPr/>
        </p:nvSpPr>
        <p:spPr>
          <a:xfrm>
            <a:off x="8344205" y="5440680"/>
            <a:ext cx="3143402" cy="685800"/>
          </a:xfrm>
          <a:prstGeom prst="roundRect">
            <a:avLst>
              <a:gd name="adj" fmla="val 13333"/>
            </a:avLst>
          </a:prstGeom>
          <a:solidFill>
            <a:srgbClr val="F6F6FF"/>
          </a:solidFill>
          <a:ln w="9525">
            <a:solidFill>
              <a:srgbClr val="DCDDF5"/>
            </a:solidFill>
            <a:prstDash val="solid"/>
          </a:ln>
        </p:spPr>
        <p:txBody>
          <a:bodyPr/>
          <a:lstStyle/>
          <a:p>
            <a:endParaRPr lang="en-PH"/>
          </a:p>
        </p:txBody>
      </p:sp>
      <p:sp>
        <p:nvSpPr>
          <p:cNvPr id="39" name="Text 37"/>
          <p:cNvSpPr txBox="1"/>
          <p:nvPr/>
        </p:nvSpPr>
        <p:spPr>
          <a:xfrm>
            <a:off x="8490509" y="5513832"/>
            <a:ext cx="2869082" cy="182880"/>
          </a:xfrm>
          <a:prstGeom prst="rect">
            <a:avLst/>
          </a:prstGeom>
          <a:noFill/>
          <a:ln/>
        </p:spPr>
        <p:txBody>
          <a:bodyPr wrap="square" lIns="0" tIns="0" rIns="0" bIns="0" rtlCol="0" anchor="ctr"/>
          <a:lstStyle/>
          <a:p>
            <a:pPr marL="0" indent="0">
              <a:buNone/>
            </a:pPr>
            <a:r>
              <a:rPr lang="en-US" sz="850" b="1" kern="0" spc="150" dirty="0">
                <a:solidFill>
                  <a:srgbClr val="4F46E5"/>
                </a:solidFill>
                <a:latin typeface="Calibri" pitchFamily="34" charset="0"/>
                <a:ea typeface="Calibri" pitchFamily="34" charset="-122"/>
                <a:cs typeface="Calibri" pitchFamily="34" charset="-120"/>
              </a:rPr>
              <a:t>OUTPUT</a:t>
            </a:r>
            <a:endParaRPr lang="en-US" sz="850" dirty="0"/>
          </a:p>
        </p:txBody>
      </p:sp>
      <p:sp>
        <p:nvSpPr>
          <p:cNvPr id="40" name="Text 38"/>
          <p:cNvSpPr txBox="1"/>
          <p:nvPr/>
        </p:nvSpPr>
        <p:spPr>
          <a:xfrm>
            <a:off x="8490509" y="5733288"/>
            <a:ext cx="2905658" cy="356616"/>
          </a:xfrm>
          <a:prstGeom prst="rect">
            <a:avLst/>
          </a:prstGeom>
          <a:noFill/>
          <a:ln/>
        </p:spPr>
        <p:txBody>
          <a:bodyPr wrap="square" lIns="0" tIns="0" rIns="0" bIns="0" rtlCol="0" anchor="t"/>
          <a:lstStyle/>
          <a:p>
            <a:pPr marL="0" indent="0">
              <a:buNone/>
            </a:pPr>
            <a:r>
              <a:rPr lang="en-US" sz="1000" dirty="0">
                <a:solidFill>
                  <a:srgbClr val="1E1B4B"/>
                </a:solidFill>
                <a:latin typeface="Courier New" pitchFamily="34" charset="0"/>
                <a:ea typeface="Courier New" pitchFamily="34" charset="-122"/>
                <a:cs typeface="Courier New" pitchFamily="34" charset="-120"/>
              </a:rPr>
              <a:t>88   ← list (bytes)</a:t>
            </a:r>
            <a:endParaRPr lang="en-US" sz="1000" dirty="0"/>
          </a:p>
          <a:p>
            <a:pPr marL="0" indent="0">
              <a:buNone/>
            </a:pPr>
            <a:r>
              <a:rPr lang="en-US" sz="1000" dirty="0">
                <a:solidFill>
                  <a:srgbClr val="1E1B4B"/>
                </a:solidFill>
                <a:latin typeface="Courier New" pitchFamily="34" charset="0"/>
                <a:ea typeface="Courier New" pitchFamily="34" charset="-122"/>
                <a:cs typeface="Courier New" pitchFamily="34" charset="-120"/>
              </a:rPr>
              <a:t>64   ← tuple (bytes)</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94360" y="1417320"/>
            <a:ext cx="4572000" cy="274320"/>
          </a:xfrm>
          <a:prstGeom prst="rect">
            <a:avLst/>
          </a:prstGeom>
          <a:noFill/>
          <a:ln/>
        </p:spPr>
        <p:txBody>
          <a:bodyPr wrap="square" lIns="0" tIns="0" rIns="0" bIns="0" rtlCol="0" anchor="t"/>
          <a:lstStyle/>
          <a:p>
            <a:pPr marL="0" indent="0">
              <a:buNone/>
            </a:pPr>
            <a:r>
              <a:rPr lang="en-US" sz="1200" b="1" kern="0" spc="300" dirty="0">
                <a:solidFill>
                  <a:srgbClr val="F0A8DD"/>
                </a:solidFill>
                <a:latin typeface="Calibri" pitchFamily="34" charset="0"/>
                <a:ea typeface="Calibri" pitchFamily="34" charset="-122"/>
                <a:cs typeface="Calibri" pitchFamily="34" charset="-120"/>
              </a:rPr>
              <a:t>SECTION 03</a:t>
            </a:r>
            <a:endParaRPr lang="en-US" sz="1200" dirty="0"/>
          </a:p>
        </p:txBody>
      </p:sp>
      <p:sp>
        <p:nvSpPr>
          <p:cNvPr id="3" name="Text 1"/>
          <p:cNvSpPr txBox="1"/>
          <p:nvPr/>
        </p:nvSpPr>
        <p:spPr>
          <a:xfrm>
            <a:off x="594360" y="1737360"/>
            <a:ext cx="5577840" cy="1280160"/>
          </a:xfrm>
          <a:prstGeom prst="rect">
            <a:avLst/>
          </a:prstGeom>
          <a:noFill/>
          <a:ln/>
        </p:spPr>
        <p:txBody>
          <a:bodyPr wrap="square" lIns="0" tIns="0" rIns="0" bIns="0" rtlCol="0" anchor="t"/>
          <a:lstStyle/>
          <a:p>
            <a:pPr marL="0" indent="0">
              <a:buNone/>
            </a:pPr>
            <a:r>
              <a:rPr lang="en-US" sz="4000" b="1" dirty="0">
                <a:solidFill>
                  <a:srgbClr val="FFFFFF"/>
                </a:solidFill>
                <a:latin typeface="Calibri" pitchFamily="34" charset="0"/>
                <a:ea typeface="Calibri" pitchFamily="34" charset="-122"/>
                <a:cs typeface="Calibri" pitchFamily="34" charset="-120"/>
              </a:rPr>
              <a:t>Dictionary</a:t>
            </a:r>
            <a:endParaRPr lang="en-US" sz="4000" dirty="0"/>
          </a:p>
        </p:txBody>
      </p:sp>
      <p:sp>
        <p:nvSpPr>
          <p:cNvPr id="4" name="Text 2"/>
          <p:cNvSpPr txBox="1"/>
          <p:nvPr/>
        </p:nvSpPr>
        <p:spPr>
          <a:xfrm>
            <a:off x="594360" y="3017520"/>
            <a:ext cx="5303520" cy="731520"/>
          </a:xfrm>
          <a:prstGeom prst="rect">
            <a:avLst/>
          </a:prstGeom>
          <a:noFill/>
          <a:ln/>
        </p:spPr>
        <p:txBody>
          <a:bodyPr wrap="square" lIns="0" tIns="0" rIns="0" bIns="0" rtlCol="0" anchor="t"/>
          <a:lstStyle/>
          <a:p>
            <a:pPr marL="0" indent="0">
              <a:buNone/>
            </a:pPr>
            <a:r>
              <a:rPr lang="en-US" sz="1600" dirty="0">
                <a:solidFill>
                  <a:srgbClr val="C9CCFF"/>
                </a:solidFill>
                <a:latin typeface="Calibri" pitchFamily="34" charset="0"/>
                <a:ea typeface="Calibri" pitchFamily="34" charset="-122"/>
                <a:cs typeface="Calibri" pitchFamily="34" charset="-120"/>
              </a:rPr>
              <a:t>Store information as key-value pairs and look it up by name.</a:t>
            </a:r>
            <a:endParaRPr lang="en-US" sz="1600" dirty="0"/>
          </a:p>
        </p:txBody>
      </p:sp>
      <p:sp>
        <p:nvSpPr>
          <p:cNvPr id="5" name="Text 3"/>
          <p:cNvSpPr txBox="1"/>
          <p:nvPr/>
        </p:nvSpPr>
        <p:spPr>
          <a:xfrm>
            <a:off x="594360" y="4069080"/>
            <a:ext cx="4572000" cy="228600"/>
          </a:xfrm>
          <a:prstGeom prst="rect">
            <a:avLst/>
          </a:prstGeom>
          <a:noFill/>
          <a:ln/>
        </p:spPr>
        <p:txBody>
          <a:bodyPr wrap="square" lIns="0" tIns="0" rIns="0" bIns="0" rtlCol="0" anchor="t"/>
          <a:lstStyle/>
          <a:p>
            <a:pPr marL="0" indent="0">
              <a:buNone/>
            </a:pPr>
            <a:r>
              <a:rPr lang="en-US" sz="1000" b="1" kern="0" spc="200" dirty="0">
                <a:solidFill>
                  <a:srgbClr val="F0A8DD"/>
                </a:solidFill>
                <a:latin typeface="Calibri" pitchFamily="34" charset="0"/>
                <a:ea typeface="Calibri" pitchFamily="34" charset="-122"/>
                <a:cs typeface="Calibri" pitchFamily="34" charset="-120"/>
              </a:rPr>
              <a:t>IN THIS SECTION</a:t>
            </a:r>
            <a:endParaRPr lang="en-US" sz="1000" dirty="0"/>
          </a:p>
        </p:txBody>
      </p:sp>
      <p:sp>
        <p:nvSpPr>
          <p:cNvPr id="6" name="Shape 4"/>
          <p:cNvSpPr/>
          <p:nvPr/>
        </p:nvSpPr>
        <p:spPr>
          <a:xfrm>
            <a:off x="594360" y="4389120"/>
            <a:ext cx="292608" cy="292608"/>
          </a:xfrm>
          <a:prstGeom prst="ellipse">
            <a:avLst/>
          </a:prstGeom>
          <a:solidFill>
            <a:srgbClr val="3B3791"/>
          </a:solidFill>
          <a:ln w="12700">
            <a:solidFill>
              <a:srgbClr val="3B3791"/>
            </a:solidFill>
            <a:prstDash val="solid"/>
          </a:ln>
        </p:spPr>
        <p:txBody>
          <a:bodyPr/>
          <a:lstStyle/>
          <a:p>
            <a:endParaRPr lang="en-PH"/>
          </a:p>
        </p:txBody>
      </p:sp>
      <p:sp>
        <p:nvSpPr>
          <p:cNvPr id="7" name="Text 5"/>
          <p:cNvSpPr txBox="1"/>
          <p:nvPr/>
        </p:nvSpPr>
        <p:spPr>
          <a:xfrm>
            <a:off x="594360" y="4389120"/>
            <a:ext cx="292608" cy="292608"/>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1</a:t>
            </a:r>
            <a:endParaRPr lang="en-US" sz="1050" dirty="0"/>
          </a:p>
        </p:txBody>
      </p:sp>
      <p:sp>
        <p:nvSpPr>
          <p:cNvPr id="8" name="Text 6"/>
          <p:cNvSpPr txBox="1"/>
          <p:nvPr/>
        </p:nvSpPr>
        <p:spPr>
          <a:xfrm>
            <a:off x="1005840" y="4389120"/>
            <a:ext cx="4754880" cy="292608"/>
          </a:xfrm>
          <a:prstGeom prst="rect">
            <a:avLst/>
          </a:prstGeom>
          <a:noFill/>
          <a:ln/>
        </p:spPr>
        <p:txBody>
          <a:bodyPr wrap="square" lIns="0" tIns="0" rIns="0" bIns="0" rtlCol="0" anchor="ctr"/>
          <a:lstStyle/>
          <a:p>
            <a:pPr marL="0" indent="0">
              <a:buNone/>
            </a:pPr>
            <a:r>
              <a:rPr lang="en-US" sz="1350" dirty="0">
                <a:solidFill>
                  <a:srgbClr val="FFFFFF"/>
                </a:solidFill>
                <a:latin typeface="Calibri" pitchFamily="34" charset="0"/>
                <a:ea typeface="Calibri" pitchFamily="34" charset="-122"/>
                <a:cs typeface="Calibri" pitchFamily="34" charset="-120"/>
              </a:rPr>
              <a:t>Python dictionary</a:t>
            </a:r>
            <a:endParaRPr lang="en-US" sz="1350" dirty="0"/>
          </a:p>
        </p:txBody>
      </p:sp>
      <p:sp>
        <p:nvSpPr>
          <p:cNvPr id="9" name="Shape 7"/>
          <p:cNvSpPr/>
          <p:nvPr/>
        </p:nvSpPr>
        <p:spPr>
          <a:xfrm>
            <a:off x="594360" y="4791456"/>
            <a:ext cx="292608" cy="292608"/>
          </a:xfrm>
          <a:prstGeom prst="ellipse">
            <a:avLst/>
          </a:prstGeom>
          <a:solidFill>
            <a:srgbClr val="3B3791"/>
          </a:solidFill>
          <a:ln w="12700">
            <a:solidFill>
              <a:srgbClr val="3B3791"/>
            </a:solidFill>
            <a:prstDash val="solid"/>
          </a:ln>
        </p:spPr>
        <p:txBody>
          <a:bodyPr/>
          <a:lstStyle/>
          <a:p>
            <a:endParaRPr lang="en-PH"/>
          </a:p>
        </p:txBody>
      </p:sp>
      <p:sp>
        <p:nvSpPr>
          <p:cNvPr id="10" name="Text 8"/>
          <p:cNvSpPr txBox="1"/>
          <p:nvPr/>
        </p:nvSpPr>
        <p:spPr>
          <a:xfrm>
            <a:off x="594360" y="4791456"/>
            <a:ext cx="292608" cy="292608"/>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2</a:t>
            </a:r>
            <a:endParaRPr lang="en-US" sz="1050" dirty="0"/>
          </a:p>
        </p:txBody>
      </p:sp>
      <p:sp>
        <p:nvSpPr>
          <p:cNvPr id="11" name="Text 9"/>
          <p:cNvSpPr txBox="1"/>
          <p:nvPr/>
        </p:nvSpPr>
        <p:spPr>
          <a:xfrm>
            <a:off x="1005840" y="4791456"/>
            <a:ext cx="4754880" cy="292608"/>
          </a:xfrm>
          <a:prstGeom prst="rect">
            <a:avLst/>
          </a:prstGeom>
          <a:noFill/>
          <a:ln/>
        </p:spPr>
        <p:txBody>
          <a:bodyPr wrap="square" lIns="0" tIns="0" rIns="0" bIns="0" rtlCol="0" anchor="ctr"/>
          <a:lstStyle/>
          <a:p>
            <a:pPr marL="0" indent="0">
              <a:buNone/>
            </a:pPr>
            <a:r>
              <a:rPr lang="en-US" sz="1350" dirty="0">
                <a:solidFill>
                  <a:srgbClr val="FFFFFF"/>
                </a:solidFill>
                <a:latin typeface="Calibri" pitchFamily="34" charset="0"/>
                <a:ea typeface="Calibri" pitchFamily="34" charset="-122"/>
                <a:cs typeface="Calibri" pitchFamily="34" charset="-120"/>
              </a:rPr>
              <a:t>Creating a dictionary</a:t>
            </a:r>
            <a:endParaRPr lang="en-US" sz="1350" dirty="0"/>
          </a:p>
        </p:txBody>
      </p:sp>
      <p:sp>
        <p:nvSpPr>
          <p:cNvPr id="12" name="Shape 10"/>
          <p:cNvSpPr/>
          <p:nvPr/>
        </p:nvSpPr>
        <p:spPr>
          <a:xfrm>
            <a:off x="594360" y="5193792"/>
            <a:ext cx="292608" cy="292608"/>
          </a:xfrm>
          <a:prstGeom prst="ellipse">
            <a:avLst/>
          </a:prstGeom>
          <a:solidFill>
            <a:srgbClr val="3B3791"/>
          </a:solidFill>
          <a:ln w="12700">
            <a:solidFill>
              <a:srgbClr val="3B3791"/>
            </a:solidFill>
            <a:prstDash val="solid"/>
          </a:ln>
        </p:spPr>
        <p:txBody>
          <a:bodyPr/>
          <a:lstStyle/>
          <a:p>
            <a:endParaRPr lang="en-PH"/>
          </a:p>
        </p:txBody>
      </p:sp>
      <p:sp>
        <p:nvSpPr>
          <p:cNvPr id="13" name="Text 11"/>
          <p:cNvSpPr txBox="1"/>
          <p:nvPr/>
        </p:nvSpPr>
        <p:spPr>
          <a:xfrm>
            <a:off x="594360" y="5193792"/>
            <a:ext cx="292608" cy="292608"/>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3</a:t>
            </a:r>
            <a:endParaRPr lang="en-US" sz="1050" dirty="0"/>
          </a:p>
        </p:txBody>
      </p:sp>
      <p:sp>
        <p:nvSpPr>
          <p:cNvPr id="14" name="Text 12"/>
          <p:cNvSpPr txBox="1"/>
          <p:nvPr/>
        </p:nvSpPr>
        <p:spPr>
          <a:xfrm>
            <a:off x="1005840" y="5193792"/>
            <a:ext cx="4754880" cy="292608"/>
          </a:xfrm>
          <a:prstGeom prst="rect">
            <a:avLst/>
          </a:prstGeom>
          <a:noFill/>
          <a:ln/>
        </p:spPr>
        <p:txBody>
          <a:bodyPr wrap="square" lIns="0" tIns="0" rIns="0" bIns="0" rtlCol="0" anchor="ctr"/>
          <a:lstStyle/>
          <a:p>
            <a:pPr marL="0" indent="0">
              <a:buNone/>
            </a:pPr>
            <a:r>
              <a:rPr lang="en-US" sz="1350" dirty="0">
                <a:solidFill>
                  <a:srgbClr val="FFFFFF"/>
                </a:solidFill>
                <a:latin typeface="Calibri" pitchFamily="34" charset="0"/>
                <a:ea typeface="Calibri" pitchFamily="34" charset="-122"/>
                <a:cs typeface="Calibri" pitchFamily="34" charset="-120"/>
              </a:rPr>
              <a:t>Accessing dictionary items</a:t>
            </a:r>
            <a:endParaRPr lang="en-US" sz="1350" dirty="0"/>
          </a:p>
        </p:txBody>
      </p:sp>
      <p:sp>
        <p:nvSpPr>
          <p:cNvPr id="15" name="Shape 13"/>
          <p:cNvSpPr/>
          <p:nvPr/>
        </p:nvSpPr>
        <p:spPr>
          <a:xfrm>
            <a:off x="594360" y="5596128"/>
            <a:ext cx="292608" cy="292608"/>
          </a:xfrm>
          <a:prstGeom prst="ellipse">
            <a:avLst/>
          </a:prstGeom>
          <a:solidFill>
            <a:srgbClr val="3B3791"/>
          </a:solidFill>
          <a:ln w="12700">
            <a:solidFill>
              <a:srgbClr val="3B3791"/>
            </a:solidFill>
            <a:prstDash val="solid"/>
          </a:ln>
        </p:spPr>
        <p:txBody>
          <a:bodyPr/>
          <a:lstStyle/>
          <a:p>
            <a:endParaRPr lang="en-PH"/>
          </a:p>
        </p:txBody>
      </p:sp>
      <p:sp>
        <p:nvSpPr>
          <p:cNvPr id="16" name="Text 14"/>
          <p:cNvSpPr txBox="1"/>
          <p:nvPr/>
        </p:nvSpPr>
        <p:spPr>
          <a:xfrm>
            <a:off x="594360" y="5596128"/>
            <a:ext cx="292608" cy="292608"/>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4</a:t>
            </a:r>
            <a:endParaRPr lang="en-US" sz="1050" dirty="0"/>
          </a:p>
        </p:txBody>
      </p:sp>
      <p:sp>
        <p:nvSpPr>
          <p:cNvPr id="17" name="Text 15"/>
          <p:cNvSpPr txBox="1"/>
          <p:nvPr/>
        </p:nvSpPr>
        <p:spPr>
          <a:xfrm>
            <a:off x="1005840" y="5596128"/>
            <a:ext cx="4754880" cy="292608"/>
          </a:xfrm>
          <a:prstGeom prst="rect">
            <a:avLst/>
          </a:prstGeom>
          <a:noFill/>
          <a:ln/>
        </p:spPr>
        <p:txBody>
          <a:bodyPr wrap="square" lIns="0" tIns="0" rIns="0" bIns="0" rtlCol="0" anchor="ctr"/>
          <a:lstStyle/>
          <a:p>
            <a:pPr marL="0" indent="0">
              <a:buNone/>
            </a:pPr>
            <a:r>
              <a:rPr lang="en-US" sz="1350" dirty="0">
                <a:solidFill>
                  <a:srgbClr val="FFFFFF"/>
                </a:solidFill>
                <a:latin typeface="Calibri" pitchFamily="34" charset="0"/>
                <a:ea typeface="Calibri" pitchFamily="34" charset="-122"/>
                <a:cs typeface="Calibri" pitchFamily="34" charset="-120"/>
              </a:rPr>
              <a:t>Adding, updating and removing items</a:t>
            </a:r>
            <a:endParaRPr lang="en-US" sz="1350" dirty="0"/>
          </a:p>
        </p:txBody>
      </p:sp>
      <p:sp>
        <p:nvSpPr>
          <p:cNvPr id="18" name="Shape 16"/>
          <p:cNvSpPr/>
          <p:nvPr/>
        </p:nvSpPr>
        <p:spPr>
          <a:xfrm>
            <a:off x="6492240" y="1417320"/>
            <a:ext cx="5212080" cy="4526280"/>
          </a:xfrm>
          <a:prstGeom prst="roundRect">
            <a:avLst>
              <a:gd name="adj" fmla="val 2828"/>
            </a:avLst>
          </a:prstGeom>
          <a:solidFill>
            <a:srgbClr val="2A2766"/>
          </a:solidFill>
          <a:ln w="12700">
            <a:solidFill>
              <a:srgbClr val="4A46A0"/>
            </a:solidFill>
            <a:prstDash val="solid"/>
          </a:ln>
        </p:spPr>
        <p:txBody>
          <a:bodyPr/>
          <a:lstStyle/>
          <a:p>
            <a:endParaRPr lang="en-PH"/>
          </a:p>
        </p:txBody>
      </p:sp>
      <p:sp>
        <p:nvSpPr>
          <p:cNvPr id="19" name="Text 17"/>
          <p:cNvSpPr txBox="1"/>
          <p:nvPr/>
        </p:nvSpPr>
        <p:spPr>
          <a:xfrm>
            <a:off x="6766560" y="1645920"/>
            <a:ext cx="3657600" cy="274320"/>
          </a:xfrm>
          <a:prstGeom prst="rect">
            <a:avLst/>
          </a:prstGeom>
          <a:noFill/>
          <a:ln/>
        </p:spPr>
        <p:txBody>
          <a:bodyPr wrap="square" lIns="0" tIns="0" rIns="0" bIns="0" rtlCol="0" anchor="t"/>
          <a:lstStyle/>
          <a:p>
            <a:pPr marL="0" indent="0">
              <a:buNone/>
            </a:pPr>
            <a:r>
              <a:rPr lang="en-US" sz="1100" b="1" kern="0" spc="300" dirty="0">
                <a:solidFill>
                  <a:srgbClr val="F0A8DD"/>
                </a:solidFill>
                <a:latin typeface="Calibri" pitchFamily="34" charset="0"/>
                <a:ea typeface="Calibri" pitchFamily="34" charset="-122"/>
                <a:cs typeface="Calibri" pitchFamily="34" charset="-120"/>
              </a:rPr>
              <a:t>KEY  →  VALUE</a:t>
            </a:r>
            <a:endParaRPr lang="en-US" sz="1100" dirty="0"/>
          </a:p>
        </p:txBody>
      </p:sp>
      <p:sp>
        <p:nvSpPr>
          <p:cNvPr id="20" name="Shape 18"/>
          <p:cNvSpPr/>
          <p:nvPr/>
        </p:nvSpPr>
        <p:spPr>
          <a:xfrm>
            <a:off x="6766560" y="2103120"/>
            <a:ext cx="1828800" cy="566928"/>
          </a:xfrm>
          <a:prstGeom prst="roundRect">
            <a:avLst>
              <a:gd name="adj" fmla="val 12903"/>
            </a:avLst>
          </a:prstGeom>
          <a:solidFill>
            <a:srgbClr val="3B3791"/>
          </a:solidFill>
          <a:ln w="12700">
            <a:solidFill>
              <a:srgbClr val="5A55C0"/>
            </a:solidFill>
            <a:prstDash val="solid"/>
          </a:ln>
        </p:spPr>
        <p:txBody>
          <a:bodyPr/>
          <a:lstStyle/>
          <a:p>
            <a:endParaRPr lang="en-PH"/>
          </a:p>
        </p:txBody>
      </p:sp>
      <p:sp>
        <p:nvSpPr>
          <p:cNvPr id="21" name="Text 19"/>
          <p:cNvSpPr txBox="1"/>
          <p:nvPr/>
        </p:nvSpPr>
        <p:spPr>
          <a:xfrm>
            <a:off x="6766560" y="2103120"/>
            <a:ext cx="1828800" cy="566928"/>
          </a:xfrm>
          <a:prstGeom prst="rect">
            <a:avLst/>
          </a:prstGeom>
          <a:noFill/>
          <a:ln/>
        </p:spPr>
        <p:txBody>
          <a:bodyPr wrap="square" lIns="0" tIns="0" rIns="0" bIns="0" rtlCol="0" anchor="ctr"/>
          <a:lstStyle/>
          <a:p>
            <a:pPr marL="0" indent="0" algn="ctr">
              <a:buNone/>
            </a:pPr>
            <a:r>
              <a:rPr lang="en-US" sz="1400" b="1" dirty="0">
                <a:solidFill>
                  <a:srgbClr val="FFFFFF"/>
                </a:solidFill>
                <a:latin typeface="Courier New" pitchFamily="34" charset="0"/>
                <a:ea typeface="Courier New" pitchFamily="34" charset="-122"/>
                <a:cs typeface="Courier New" pitchFamily="34" charset="-120"/>
              </a:rPr>
              <a:t>"name"</a:t>
            </a:r>
            <a:endParaRPr lang="en-US" sz="1400" dirty="0"/>
          </a:p>
        </p:txBody>
      </p:sp>
      <p:sp>
        <p:nvSpPr>
          <p:cNvPr id="22" name="Text 20"/>
          <p:cNvSpPr txBox="1"/>
          <p:nvPr/>
        </p:nvSpPr>
        <p:spPr>
          <a:xfrm>
            <a:off x="8641080" y="2103120"/>
            <a:ext cx="640080" cy="566928"/>
          </a:xfrm>
          <a:prstGeom prst="rect">
            <a:avLst/>
          </a:prstGeom>
          <a:noFill/>
          <a:ln/>
        </p:spPr>
        <p:txBody>
          <a:bodyPr wrap="square" lIns="0" tIns="0" rIns="0" bIns="0" rtlCol="0" anchor="ctr"/>
          <a:lstStyle/>
          <a:p>
            <a:pPr marL="0" indent="0" algn="ctr">
              <a:buNone/>
            </a:pPr>
            <a:r>
              <a:rPr lang="en-US" sz="2000" b="1" dirty="0">
                <a:solidFill>
                  <a:srgbClr val="F0A8DD"/>
                </a:solidFill>
                <a:latin typeface="Calibri" pitchFamily="34" charset="0"/>
                <a:ea typeface="Calibri" pitchFamily="34" charset="-122"/>
                <a:cs typeface="Calibri" pitchFamily="34" charset="-120"/>
              </a:rPr>
              <a:t>→</a:t>
            </a:r>
            <a:endParaRPr lang="en-US" sz="2000" dirty="0"/>
          </a:p>
        </p:txBody>
      </p:sp>
      <p:sp>
        <p:nvSpPr>
          <p:cNvPr id="23" name="Shape 21"/>
          <p:cNvSpPr/>
          <p:nvPr/>
        </p:nvSpPr>
        <p:spPr>
          <a:xfrm>
            <a:off x="9326880" y="2103120"/>
            <a:ext cx="2103120" cy="566928"/>
          </a:xfrm>
          <a:prstGeom prst="roundRect">
            <a:avLst>
              <a:gd name="adj" fmla="val 12903"/>
            </a:avLst>
          </a:prstGeom>
          <a:solidFill>
            <a:srgbClr val="13112F"/>
          </a:solidFill>
          <a:ln w="12700">
            <a:solidFill>
              <a:srgbClr val="5A55C0"/>
            </a:solidFill>
            <a:prstDash val="solid"/>
          </a:ln>
        </p:spPr>
        <p:txBody>
          <a:bodyPr/>
          <a:lstStyle/>
          <a:p>
            <a:endParaRPr lang="en-PH"/>
          </a:p>
        </p:txBody>
      </p:sp>
      <p:sp>
        <p:nvSpPr>
          <p:cNvPr id="24" name="Text 22"/>
          <p:cNvSpPr txBox="1"/>
          <p:nvPr/>
        </p:nvSpPr>
        <p:spPr>
          <a:xfrm>
            <a:off x="9326880" y="2103120"/>
            <a:ext cx="2103120" cy="566928"/>
          </a:xfrm>
          <a:prstGeom prst="rect">
            <a:avLst/>
          </a:prstGeom>
          <a:noFill/>
          <a:ln/>
        </p:spPr>
        <p:txBody>
          <a:bodyPr wrap="square" lIns="0" tIns="0" rIns="0" bIns="0" rtlCol="0" anchor="ctr"/>
          <a:lstStyle/>
          <a:p>
            <a:pPr marL="0" indent="0" algn="ctr">
              <a:buNone/>
            </a:pPr>
            <a:r>
              <a:rPr lang="en-US" sz="1400" dirty="0">
                <a:solidFill>
                  <a:srgbClr val="A6E3A1"/>
                </a:solidFill>
                <a:latin typeface="Courier New" pitchFamily="34" charset="0"/>
                <a:ea typeface="Courier New" pitchFamily="34" charset="-122"/>
                <a:cs typeface="Courier New" pitchFamily="34" charset="-120"/>
              </a:rPr>
              <a:t>"Jake"</a:t>
            </a:r>
            <a:endParaRPr lang="en-US" sz="1400" dirty="0"/>
          </a:p>
        </p:txBody>
      </p:sp>
      <p:sp>
        <p:nvSpPr>
          <p:cNvPr id="25" name="Shape 23"/>
          <p:cNvSpPr/>
          <p:nvPr/>
        </p:nvSpPr>
        <p:spPr>
          <a:xfrm>
            <a:off x="6766560" y="2971800"/>
            <a:ext cx="1828800" cy="566928"/>
          </a:xfrm>
          <a:prstGeom prst="roundRect">
            <a:avLst>
              <a:gd name="adj" fmla="val 12903"/>
            </a:avLst>
          </a:prstGeom>
          <a:solidFill>
            <a:srgbClr val="3B3791"/>
          </a:solidFill>
          <a:ln w="12700">
            <a:solidFill>
              <a:srgbClr val="5A55C0"/>
            </a:solidFill>
            <a:prstDash val="solid"/>
          </a:ln>
        </p:spPr>
        <p:txBody>
          <a:bodyPr/>
          <a:lstStyle/>
          <a:p>
            <a:endParaRPr lang="en-PH"/>
          </a:p>
        </p:txBody>
      </p:sp>
      <p:sp>
        <p:nvSpPr>
          <p:cNvPr id="26" name="Text 24"/>
          <p:cNvSpPr txBox="1"/>
          <p:nvPr/>
        </p:nvSpPr>
        <p:spPr>
          <a:xfrm>
            <a:off x="6766560" y="2971800"/>
            <a:ext cx="1828800" cy="566928"/>
          </a:xfrm>
          <a:prstGeom prst="rect">
            <a:avLst/>
          </a:prstGeom>
          <a:noFill/>
          <a:ln/>
        </p:spPr>
        <p:txBody>
          <a:bodyPr wrap="square" lIns="0" tIns="0" rIns="0" bIns="0" rtlCol="0" anchor="ctr"/>
          <a:lstStyle/>
          <a:p>
            <a:pPr marL="0" indent="0" algn="ctr">
              <a:buNone/>
            </a:pPr>
            <a:r>
              <a:rPr lang="en-US" sz="1400" b="1" dirty="0">
                <a:solidFill>
                  <a:srgbClr val="FFFFFF"/>
                </a:solidFill>
                <a:latin typeface="Courier New" pitchFamily="34" charset="0"/>
                <a:ea typeface="Courier New" pitchFamily="34" charset="-122"/>
                <a:cs typeface="Courier New" pitchFamily="34" charset="-120"/>
              </a:rPr>
              <a:t>"age"</a:t>
            </a:r>
            <a:endParaRPr lang="en-US" sz="1400" dirty="0"/>
          </a:p>
        </p:txBody>
      </p:sp>
      <p:sp>
        <p:nvSpPr>
          <p:cNvPr id="27" name="Text 25"/>
          <p:cNvSpPr txBox="1"/>
          <p:nvPr/>
        </p:nvSpPr>
        <p:spPr>
          <a:xfrm>
            <a:off x="8641080" y="2971800"/>
            <a:ext cx="640080" cy="566928"/>
          </a:xfrm>
          <a:prstGeom prst="rect">
            <a:avLst/>
          </a:prstGeom>
          <a:noFill/>
          <a:ln/>
        </p:spPr>
        <p:txBody>
          <a:bodyPr wrap="square" lIns="0" tIns="0" rIns="0" bIns="0" rtlCol="0" anchor="ctr"/>
          <a:lstStyle/>
          <a:p>
            <a:pPr marL="0" indent="0" algn="ctr">
              <a:buNone/>
            </a:pPr>
            <a:r>
              <a:rPr lang="en-US" sz="2000" b="1" dirty="0">
                <a:solidFill>
                  <a:srgbClr val="F0A8DD"/>
                </a:solidFill>
                <a:latin typeface="Calibri" pitchFamily="34" charset="0"/>
                <a:ea typeface="Calibri" pitchFamily="34" charset="-122"/>
                <a:cs typeface="Calibri" pitchFamily="34" charset="-120"/>
              </a:rPr>
              <a:t>→</a:t>
            </a:r>
            <a:endParaRPr lang="en-US" sz="2000" dirty="0"/>
          </a:p>
        </p:txBody>
      </p:sp>
      <p:sp>
        <p:nvSpPr>
          <p:cNvPr id="28" name="Shape 26"/>
          <p:cNvSpPr/>
          <p:nvPr/>
        </p:nvSpPr>
        <p:spPr>
          <a:xfrm>
            <a:off x="9326880" y="2971800"/>
            <a:ext cx="2103120" cy="566928"/>
          </a:xfrm>
          <a:prstGeom prst="roundRect">
            <a:avLst>
              <a:gd name="adj" fmla="val 12903"/>
            </a:avLst>
          </a:prstGeom>
          <a:solidFill>
            <a:srgbClr val="13112F"/>
          </a:solidFill>
          <a:ln w="12700">
            <a:solidFill>
              <a:srgbClr val="5A55C0"/>
            </a:solidFill>
            <a:prstDash val="solid"/>
          </a:ln>
        </p:spPr>
        <p:txBody>
          <a:bodyPr/>
          <a:lstStyle/>
          <a:p>
            <a:endParaRPr lang="en-PH"/>
          </a:p>
        </p:txBody>
      </p:sp>
      <p:sp>
        <p:nvSpPr>
          <p:cNvPr id="29" name="Text 27"/>
          <p:cNvSpPr txBox="1"/>
          <p:nvPr/>
        </p:nvSpPr>
        <p:spPr>
          <a:xfrm>
            <a:off x="9326880" y="2971800"/>
            <a:ext cx="2103120" cy="566928"/>
          </a:xfrm>
          <a:prstGeom prst="rect">
            <a:avLst/>
          </a:prstGeom>
          <a:noFill/>
          <a:ln/>
        </p:spPr>
        <p:txBody>
          <a:bodyPr wrap="square" lIns="0" tIns="0" rIns="0" bIns="0" rtlCol="0" anchor="ctr"/>
          <a:lstStyle/>
          <a:p>
            <a:pPr marL="0" indent="0" algn="ctr">
              <a:buNone/>
            </a:pPr>
            <a:r>
              <a:rPr lang="en-US" sz="1400" dirty="0">
                <a:solidFill>
                  <a:srgbClr val="A6E3A1"/>
                </a:solidFill>
                <a:latin typeface="Courier New" pitchFamily="34" charset="0"/>
                <a:ea typeface="Courier New" pitchFamily="34" charset="-122"/>
                <a:cs typeface="Courier New" pitchFamily="34" charset="-120"/>
              </a:rPr>
              <a:t>22</a:t>
            </a:r>
            <a:endParaRPr lang="en-US" sz="1400" dirty="0"/>
          </a:p>
        </p:txBody>
      </p:sp>
      <p:sp>
        <p:nvSpPr>
          <p:cNvPr id="30" name="Shape 28"/>
          <p:cNvSpPr/>
          <p:nvPr/>
        </p:nvSpPr>
        <p:spPr>
          <a:xfrm>
            <a:off x="6766560" y="3840480"/>
            <a:ext cx="1828800" cy="566928"/>
          </a:xfrm>
          <a:prstGeom prst="roundRect">
            <a:avLst>
              <a:gd name="adj" fmla="val 12903"/>
            </a:avLst>
          </a:prstGeom>
          <a:solidFill>
            <a:srgbClr val="3B3791"/>
          </a:solidFill>
          <a:ln w="12700">
            <a:solidFill>
              <a:srgbClr val="5A55C0"/>
            </a:solidFill>
            <a:prstDash val="solid"/>
          </a:ln>
        </p:spPr>
        <p:txBody>
          <a:bodyPr/>
          <a:lstStyle/>
          <a:p>
            <a:endParaRPr lang="en-PH"/>
          </a:p>
        </p:txBody>
      </p:sp>
      <p:sp>
        <p:nvSpPr>
          <p:cNvPr id="31" name="Text 29"/>
          <p:cNvSpPr txBox="1"/>
          <p:nvPr/>
        </p:nvSpPr>
        <p:spPr>
          <a:xfrm>
            <a:off x="6766560" y="3840480"/>
            <a:ext cx="1828800" cy="566928"/>
          </a:xfrm>
          <a:prstGeom prst="rect">
            <a:avLst/>
          </a:prstGeom>
          <a:noFill/>
          <a:ln/>
        </p:spPr>
        <p:txBody>
          <a:bodyPr wrap="square" lIns="0" tIns="0" rIns="0" bIns="0" rtlCol="0" anchor="ctr"/>
          <a:lstStyle/>
          <a:p>
            <a:pPr marL="0" indent="0" algn="ctr">
              <a:buNone/>
            </a:pPr>
            <a:r>
              <a:rPr lang="en-US" sz="1400" b="1" dirty="0">
                <a:solidFill>
                  <a:srgbClr val="FFFFFF"/>
                </a:solidFill>
                <a:latin typeface="Courier New" pitchFamily="34" charset="0"/>
                <a:ea typeface="Courier New" pitchFamily="34" charset="-122"/>
                <a:cs typeface="Courier New" pitchFamily="34" charset="-120"/>
              </a:rPr>
              <a:t>"city"</a:t>
            </a:r>
            <a:endParaRPr lang="en-US" sz="1400" dirty="0"/>
          </a:p>
        </p:txBody>
      </p:sp>
      <p:sp>
        <p:nvSpPr>
          <p:cNvPr id="32" name="Text 30"/>
          <p:cNvSpPr txBox="1"/>
          <p:nvPr/>
        </p:nvSpPr>
        <p:spPr>
          <a:xfrm>
            <a:off x="8641080" y="3840480"/>
            <a:ext cx="640080" cy="566928"/>
          </a:xfrm>
          <a:prstGeom prst="rect">
            <a:avLst/>
          </a:prstGeom>
          <a:noFill/>
          <a:ln/>
        </p:spPr>
        <p:txBody>
          <a:bodyPr wrap="square" lIns="0" tIns="0" rIns="0" bIns="0" rtlCol="0" anchor="ctr"/>
          <a:lstStyle/>
          <a:p>
            <a:pPr marL="0" indent="0" algn="ctr">
              <a:buNone/>
            </a:pPr>
            <a:r>
              <a:rPr lang="en-US" sz="2000" b="1" dirty="0">
                <a:solidFill>
                  <a:srgbClr val="F0A8DD"/>
                </a:solidFill>
                <a:latin typeface="Calibri" pitchFamily="34" charset="0"/>
                <a:ea typeface="Calibri" pitchFamily="34" charset="-122"/>
                <a:cs typeface="Calibri" pitchFamily="34" charset="-120"/>
              </a:rPr>
              <a:t>→</a:t>
            </a:r>
            <a:endParaRPr lang="en-US" sz="2000" dirty="0"/>
          </a:p>
        </p:txBody>
      </p:sp>
      <p:sp>
        <p:nvSpPr>
          <p:cNvPr id="33" name="Shape 31"/>
          <p:cNvSpPr/>
          <p:nvPr/>
        </p:nvSpPr>
        <p:spPr>
          <a:xfrm>
            <a:off x="9326880" y="3840480"/>
            <a:ext cx="2103120" cy="566928"/>
          </a:xfrm>
          <a:prstGeom prst="roundRect">
            <a:avLst>
              <a:gd name="adj" fmla="val 12903"/>
            </a:avLst>
          </a:prstGeom>
          <a:solidFill>
            <a:srgbClr val="13112F"/>
          </a:solidFill>
          <a:ln w="12700">
            <a:solidFill>
              <a:srgbClr val="5A55C0"/>
            </a:solidFill>
            <a:prstDash val="solid"/>
          </a:ln>
        </p:spPr>
        <p:txBody>
          <a:bodyPr/>
          <a:lstStyle/>
          <a:p>
            <a:endParaRPr lang="en-PH"/>
          </a:p>
        </p:txBody>
      </p:sp>
      <p:sp>
        <p:nvSpPr>
          <p:cNvPr id="34" name="Text 32"/>
          <p:cNvSpPr txBox="1"/>
          <p:nvPr/>
        </p:nvSpPr>
        <p:spPr>
          <a:xfrm>
            <a:off x="9326880" y="3840480"/>
            <a:ext cx="2103120" cy="566928"/>
          </a:xfrm>
          <a:prstGeom prst="rect">
            <a:avLst/>
          </a:prstGeom>
          <a:noFill/>
          <a:ln/>
        </p:spPr>
        <p:txBody>
          <a:bodyPr wrap="square" lIns="0" tIns="0" rIns="0" bIns="0" rtlCol="0" anchor="ctr"/>
          <a:lstStyle/>
          <a:p>
            <a:pPr marL="0" indent="0" algn="ctr">
              <a:buNone/>
            </a:pPr>
            <a:r>
              <a:rPr lang="en-US" sz="1400" dirty="0">
                <a:solidFill>
                  <a:srgbClr val="A6E3A1"/>
                </a:solidFill>
                <a:latin typeface="Courier New" pitchFamily="34" charset="0"/>
                <a:ea typeface="Courier New" pitchFamily="34" charset="-122"/>
                <a:cs typeface="Courier New" pitchFamily="34" charset="-120"/>
              </a:rPr>
              <a:t>"Manila"</a:t>
            </a:r>
            <a:endParaRPr lang="en-US" sz="1400" dirty="0"/>
          </a:p>
        </p:txBody>
      </p:sp>
      <p:sp>
        <p:nvSpPr>
          <p:cNvPr id="35" name="Text 33"/>
          <p:cNvSpPr txBox="1"/>
          <p:nvPr/>
        </p:nvSpPr>
        <p:spPr>
          <a:xfrm>
            <a:off x="6766560" y="4846320"/>
            <a:ext cx="4663440" cy="731520"/>
          </a:xfrm>
          <a:prstGeom prst="rect">
            <a:avLst/>
          </a:prstGeom>
          <a:noFill/>
          <a:ln/>
        </p:spPr>
        <p:txBody>
          <a:bodyPr wrap="square" lIns="0" tIns="0" rIns="0" bIns="0" rtlCol="0" anchor="t"/>
          <a:lstStyle/>
          <a:p>
            <a:pPr marL="0" indent="0">
              <a:buNone/>
            </a:pPr>
            <a:r>
              <a:rPr lang="en-US" sz="1300" dirty="0">
                <a:solidFill>
                  <a:srgbClr val="C9CCFF"/>
                </a:solidFill>
                <a:latin typeface="Calibri" pitchFamily="34" charset="0"/>
                <a:ea typeface="Calibri" pitchFamily="34" charset="-122"/>
                <a:cs typeface="Calibri" pitchFamily="34" charset="-120"/>
              </a:rPr>
              <a:t>Each key is unique and points to exactly one value.</a:t>
            </a:r>
            <a:endParaRPr lang="en-US" sz="1300" dirty="0"/>
          </a:p>
        </p:txBody>
      </p:sp>
      <p:sp>
        <p:nvSpPr>
          <p:cNvPr id="36" name="Text 34"/>
          <p:cNvSpPr txBox="1"/>
          <p:nvPr/>
        </p:nvSpPr>
        <p:spPr>
          <a:xfrm>
            <a:off x="11140135" y="6446520"/>
            <a:ext cx="548640" cy="228600"/>
          </a:xfrm>
          <a:prstGeom prst="rect">
            <a:avLst/>
          </a:prstGeom>
          <a:noFill/>
          <a:ln/>
        </p:spPr>
        <p:txBody>
          <a:bodyPr wrap="square" lIns="0" tIns="0" rIns="0" bIns="0" rtlCol="0" anchor="t"/>
          <a:lstStyle/>
          <a:p>
            <a:pPr marL="0" indent="0" algn="r">
              <a:buNone/>
            </a:pPr>
            <a:r>
              <a:rPr lang="en-US" sz="900" dirty="0">
                <a:solidFill>
                  <a:srgbClr val="9EA2E0"/>
                </a:solidFill>
                <a:latin typeface="Calibri" pitchFamily="34" charset="0"/>
                <a:ea typeface="Calibri" pitchFamily="34" charset="-122"/>
                <a:cs typeface="Calibri" pitchFamily="34" charset="-120"/>
              </a:rPr>
              <a:t>19</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02920" y="310896"/>
            <a:ext cx="8229600" cy="237744"/>
          </a:xfrm>
          <a:prstGeom prst="rect">
            <a:avLst/>
          </a:prstGeom>
          <a:noFill/>
          <a:ln/>
        </p:spPr>
        <p:txBody>
          <a:bodyPr wrap="square" lIns="0" tIns="0" rIns="0" bIns="0" rtlCol="0" anchor="t"/>
          <a:lstStyle/>
          <a:p>
            <a:pPr marL="0" indent="0">
              <a:buNone/>
            </a:pPr>
            <a:r>
              <a:rPr lang="en-US" sz="1050" b="1" kern="0" spc="200" dirty="0">
                <a:solidFill>
                  <a:srgbClr val="C8559F"/>
                </a:solidFill>
                <a:latin typeface="Calibri" pitchFamily="34" charset="0"/>
                <a:ea typeface="Calibri" pitchFamily="34" charset="-122"/>
                <a:cs typeface="Calibri" pitchFamily="34" charset="-120"/>
              </a:rPr>
              <a:t>DICTIONARY · DEFINITION</a:t>
            </a:r>
            <a:endParaRPr lang="en-US" sz="1050" dirty="0"/>
          </a:p>
        </p:txBody>
      </p:sp>
      <p:sp>
        <p:nvSpPr>
          <p:cNvPr id="3" name="Text 1"/>
          <p:cNvSpPr txBox="1"/>
          <p:nvPr/>
        </p:nvSpPr>
        <p:spPr>
          <a:xfrm>
            <a:off x="502920" y="530352"/>
            <a:ext cx="10241280" cy="640080"/>
          </a:xfrm>
          <a:prstGeom prst="rect">
            <a:avLst/>
          </a:prstGeom>
          <a:noFill/>
          <a:ln/>
        </p:spPr>
        <p:txBody>
          <a:bodyPr wrap="square" lIns="0" tIns="0" rIns="0" bIns="0" rtlCol="0" anchor="ctr"/>
          <a:lstStyle/>
          <a:p>
            <a:pPr marL="0" indent="0">
              <a:buNone/>
            </a:pPr>
            <a:r>
              <a:rPr lang="en-US" sz="2800" b="1" dirty="0">
                <a:solidFill>
                  <a:srgbClr val="1E1B4B"/>
                </a:solidFill>
                <a:latin typeface="Calibri" pitchFamily="34" charset="0"/>
                <a:ea typeface="Calibri" pitchFamily="34" charset="-122"/>
                <a:cs typeface="Calibri" pitchFamily="34" charset="-120"/>
              </a:rPr>
              <a:t>Python Dictionary</a:t>
            </a:r>
            <a:endParaRPr lang="en-US" sz="2800" dirty="0"/>
          </a:p>
        </p:txBody>
      </p:sp>
      <p:sp>
        <p:nvSpPr>
          <p:cNvPr id="4" name="Text 2"/>
          <p:cNvSpPr txBox="1"/>
          <p:nvPr/>
        </p:nvSpPr>
        <p:spPr>
          <a:xfrm>
            <a:off x="502920" y="6446520"/>
            <a:ext cx="5486400" cy="228600"/>
          </a:xfrm>
          <a:prstGeom prst="rect">
            <a:avLst/>
          </a:prstGeom>
          <a:noFill/>
          <a:ln/>
        </p:spPr>
        <p:txBody>
          <a:bodyPr wrap="square" lIns="0" tIns="0" rIns="0" bIns="0" rtlCol="0" anchor="t"/>
          <a:lstStyle/>
          <a:p>
            <a:pPr marL="0" indent="0">
              <a:buNone/>
            </a:pPr>
            <a:r>
              <a:rPr lang="en-US" sz="900" dirty="0">
                <a:solidFill>
                  <a:srgbClr val="5B5F7A"/>
                </a:solidFill>
                <a:latin typeface="Calibri" pitchFamily="34" charset="0"/>
                <a:ea typeface="Calibri" pitchFamily="34" charset="-122"/>
                <a:cs typeface="Calibri" pitchFamily="34" charset="-120"/>
              </a:rPr>
              <a:t>Python  ·  Dictionary</a:t>
            </a:r>
            <a:endParaRPr lang="en-US" sz="900" dirty="0"/>
          </a:p>
        </p:txBody>
      </p:sp>
      <p:sp>
        <p:nvSpPr>
          <p:cNvPr id="5" name="Text 3"/>
          <p:cNvSpPr txBox="1"/>
          <p:nvPr/>
        </p:nvSpPr>
        <p:spPr>
          <a:xfrm>
            <a:off x="11140135" y="6446520"/>
            <a:ext cx="548640" cy="228600"/>
          </a:xfrm>
          <a:prstGeom prst="rect">
            <a:avLst/>
          </a:prstGeom>
          <a:noFill/>
          <a:ln/>
        </p:spPr>
        <p:txBody>
          <a:bodyPr wrap="square" lIns="0" tIns="0" rIns="0" bIns="0" rtlCol="0" anchor="t"/>
          <a:lstStyle/>
          <a:p>
            <a:pPr marL="0" indent="0" algn="r">
              <a:buNone/>
            </a:pPr>
            <a:r>
              <a:rPr lang="en-US" sz="900" dirty="0">
                <a:solidFill>
                  <a:srgbClr val="5B5F7A"/>
                </a:solidFill>
                <a:latin typeface="Calibri" pitchFamily="34" charset="0"/>
                <a:ea typeface="Calibri" pitchFamily="34" charset="-122"/>
                <a:cs typeface="Calibri" pitchFamily="34" charset="-120"/>
              </a:rPr>
              <a:t>20</a:t>
            </a:r>
            <a:endParaRPr lang="en-US" sz="900" dirty="0"/>
          </a:p>
        </p:txBody>
      </p:sp>
      <p:sp>
        <p:nvSpPr>
          <p:cNvPr id="6" name="Shape 4"/>
          <p:cNvSpPr/>
          <p:nvPr/>
        </p:nvSpPr>
        <p:spPr>
          <a:xfrm>
            <a:off x="502920" y="1417320"/>
            <a:ext cx="5669280" cy="2331720"/>
          </a:xfrm>
          <a:prstGeom prst="roundRect">
            <a:avLst>
              <a:gd name="adj" fmla="val 4706"/>
            </a:avLst>
          </a:prstGeom>
          <a:solidFill>
            <a:srgbClr val="FFFFFF"/>
          </a:solidFill>
          <a:ln w="9525">
            <a:solidFill>
              <a:srgbClr val="DCDDF5"/>
            </a:solidFill>
            <a:prstDash val="solid"/>
          </a:ln>
          <a:effectLst>
            <a:outerShdw blurRad="127000" dist="25400" dir="5400000" algn="bl" rotWithShape="0">
              <a:srgbClr val="4F46E5">
                <a:alpha val="12000"/>
              </a:srgbClr>
            </a:outerShdw>
          </a:effectLst>
        </p:spPr>
        <p:txBody>
          <a:bodyPr/>
          <a:lstStyle/>
          <a:p>
            <a:endParaRPr lang="en-PH"/>
          </a:p>
        </p:txBody>
      </p:sp>
      <p:sp>
        <p:nvSpPr>
          <p:cNvPr id="7" name="Text 5"/>
          <p:cNvSpPr txBox="1"/>
          <p:nvPr/>
        </p:nvSpPr>
        <p:spPr>
          <a:xfrm>
            <a:off x="731520" y="1554480"/>
            <a:ext cx="5212080" cy="502920"/>
          </a:xfrm>
          <a:prstGeom prst="rect">
            <a:avLst/>
          </a:prstGeom>
          <a:noFill/>
          <a:ln/>
        </p:spPr>
        <p:txBody>
          <a:bodyPr wrap="square" lIns="0" tIns="0" rIns="0" bIns="0" rtlCol="0" anchor="t"/>
          <a:lstStyle/>
          <a:p>
            <a:pPr marL="0" indent="0">
              <a:buNone/>
            </a:pPr>
            <a:r>
              <a:rPr lang="en-US" sz="1300" b="1" dirty="0">
                <a:solidFill>
                  <a:srgbClr val="1E1B4B"/>
                </a:solidFill>
                <a:latin typeface="Calibri" pitchFamily="34" charset="0"/>
                <a:ea typeface="Calibri" pitchFamily="34" charset="-122"/>
                <a:cs typeface="Calibri" pitchFamily="34" charset="-120"/>
              </a:rPr>
              <a:t>Example:</a:t>
            </a:r>
            <a:r>
              <a:rPr lang="en-US" sz="1300" dirty="0">
                <a:solidFill>
                  <a:srgbClr val="1E1B4B"/>
                </a:solidFill>
                <a:latin typeface="Calibri" pitchFamily="34" charset="0"/>
                <a:ea typeface="Calibri" pitchFamily="34" charset="-122"/>
                <a:cs typeface="Calibri" pitchFamily="34" charset="-120"/>
              </a:rPr>
              <a:t> This example shows how a dictionary stores data using keys and values.</a:t>
            </a:r>
            <a:endParaRPr lang="en-US" sz="1300" dirty="0"/>
          </a:p>
        </p:txBody>
      </p:sp>
      <p:sp>
        <p:nvSpPr>
          <p:cNvPr id="8" name="Shape 6"/>
          <p:cNvSpPr/>
          <p:nvPr/>
        </p:nvSpPr>
        <p:spPr>
          <a:xfrm>
            <a:off x="731520" y="2103120"/>
            <a:ext cx="5212080" cy="835152"/>
          </a:xfrm>
          <a:prstGeom prst="roundRect">
            <a:avLst>
              <a:gd name="adj" fmla="val 10949"/>
            </a:avLst>
          </a:prstGeom>
          <a:solidFill>
            <a:srgbClr val="1F1D36"/>
          </a:solidFill>
          <a:ln w="12700">
            <a:solidFill>
              <a:srgbClr val="1F1D36"/>
            </a:solidFill>
            <a:prstDash val="solid"/>
          </a:ln>
        </p:spPr>
        <p:txBody>
          <a:bodyPr/>
          <a:lstStyle/>
          <a:p>
            <a:endParaRPr lang="en-PH"/>
          </a:p>
        </p:txBody>
      </p:sp>
      <p:sp>
        <p:nvSpPr>
          <p:cNvPr id="9" name="Text 7"/>
          <p:cNvSpPr txBox="1"/>
          <p:nvPr/>
        </p:nvSpPr>
        <p:spPr>
          <a:xfrm>
            <a:off x="896112" y="2185416"/>
            <a:ext cx="4882896" cy="201168"/>
          </a:xfrm>
          <a:prstGeom prst="rect">
            <a:avLst/>
          </a:prstGeom>
          <a:noFill/>
          <a:ln/>
        </p:spPr>
        <p:txBody>
          <a:bodyPr wrap="square" lIns="0" tIns="0" rIns="0" bIns="0" rtlCol="0" anchor="ctr"/>
          <a:lstStyle/>
          <a:p>
            <a:pPr marL="0" indent="0">
              <a:buNone/>
            </a:pPr>
            <a:r>
              <a:rPr lang="en-US" sz="900" b="1" dirty="0">
                <a:solidFill>
                  <a:srgbClr val="8A8FB5"/>
                </a:solidFill>
                <a:latin typeface="Calibri" pitchFamily="34" charset="0"/>
                <a:ea typeface="Calibri" pitchFamily="34" charset="-122"/>
                <a:cs typeface="Calibri" pitchFamily="34" charset="-120"/>
              </a:rPr>
              <a:t>&lt;/&gt;  Python</a:t>
            </a:r>
            <a:endParaRPr lang="en-US" sz="900" dirty="0"/>
          </a:p>
        </p:txBody>
      </p:sp>
      <p:sp>
        <p:nvSpPr>
          <p:cNvPr id="10" name="Text 8"/>
          <p:cNvSpPr txBox="1"/>
          <p:nvPr/>
        </p:nvSpPr>
        <p:spPr>
          <a:xfrm>
            <a:off x="896112" y="2432304"/>
            <a:ext cx="4937760" cy="451104"/>
          </a:xfrm>
          <a:prstGeom prst="rect">
            <a:avLst/>
          </a:prstGeom>
          <a:noFill/>
          <a:ln/>
        </p:spPr>
        <p:txBody>
          <a:bodyPr wrap="square" lIns="0" tIns="0" rIns="0" bIns="0" rtlCol="0" anchor="t"/>
          <a:lstStyle/>
          <a:p>
            <a:pPr marL="0" indent="0">
              <a:buNone/>
            </a:pPr>
            <a:r>
              <a:rPr lang="en-US" sz="1200" dirty="0">
                <a:solidFill>
                  <a:srgbClr val="E4E4F0"/>
                </a:solidFill>
                <a:latin typeface="Courier New" pitchFamily="34" charset="0"/>
                <a:ea typeface="Courier New" pitchFamily="34" charset="-122"/>
                <a:cs typeface="Courier New" pitchFamily="34" charset="-120"/>
              </a:rPr>
              <a:t>data = { </a:t>
            </a:r>
            <a:r>
              <a:rPr lang="en-US" sz="1200" dirty="0">
                <a:solidFill>
                  <a:srgbClr val="A6E3A1"/>
                </a:solidFill>
                <a:latin typeface="Courier New" pitchFamily="34" charset="0"/>
                <a:ea typeface="Courier New" pitchFamily="34" charset="-122"/>
                <a:cs typeface="Courier New" pitchFamily="34" charset="-120"/>
              </a:rPr>
              <a:t>"name"</a:t>
            </a:r>
            <a:r>
              <a:rPr lang="en-US" sz="1200" dirty="0">
                <a:solidFill>
                  <a:srgbClr val="E4E4F0"/>
                </a:solidFill>
                <a:latin typeface="Courier New" pitchFamily="34" charset="0"/>
                <a:ea typeface="Courier New" pitchFamily="34" charset="-122"/>
                <a:cs typeface="Courier New" pitchFamily="34" charset="-120"/>
              </a:rPr>
              <a:t>: </a:t>
            </a:r>
            <a:r>
              <a:rPr lang="en-US" sz="1200" dirty="0">
                <a:solidFill>
                  <a:srgbClr val="A6E3A1"/>
                </a:solidFill>
                <a:latin typeface="Courier New" pitchFamily="34" charset="0"/>
                <a:ea typeface="Courier New" pitchFamily="34" charset="-122"/>
                <a:cs typeface="Courier New" pitchFamily="34" charset="-120"/>
              </a:rPr>
              <a:t>"Jake"</a:t>
            </a:r>
            <a:r>
              <a:rPr lang="en-US" sz="1200" dirty="0">
                <a:solidFill>
                  <a:srgbClr val="E4E4F0"/>
                </a:solidFill>
                <a:latin typeface="Courier New" pitchFamily="34" charset="0"/>
                <a:ea typeface="Courier New" pitchFamily="34" charset="-122"/>
                <a:cs typeface="Courier New" pitchFamily="34" charset="-120"/>
              </a:rPr>
              <a:t>, </a:t>
            </a:r>
            <a:r>
              <a:rPr lang="en-US" sz="1200" dirty="0">
                <a:solidFill>
                  <a:srgbClr val="A6E3A1"/>
                </a:solidFill>
                <a:latin typeface="Courier New" pitchFamily="34" charset="0"/>
                <a:ea typeface="Courier New" pitchFamily="34" charset="-122"/>
                <a:cs typeface="Courier New" pitchFamily="34" charset="-120"/>
              </a:rPr>
              <a:t>"age"</a:t>
            </a:r>
            <a:r>
              <a:rPr lang="en-US" sz="1200" dirty="0">
                <a:solidFill>
                  <a:srgbClr val="E4E4F0"/>
                </a:solidFill>
                <a:latin typeface="Courier New" pitchFamily="34" charset="0"/>
                <a:ea typeface="Courier New" pitchFamily="34" charset="-122"/>
                <a:cs typeface="Courier New" pitchFamily="34" charset="-120"/>
              </a:rPr>
              <a:t>: </a:t>
            </a:r>
            <a:r>
              <a:rPr lang="en-US" sz="1200" dirty="0">
                <a:solidFill>
                  <a:srgbClr val="FAB387"/>
                </a:solidFill>
                <a:latin typeface="Courier New" pitchFamily="34" charset="0"/>
                <a:ea typeface="Courier New" pitchFamily="34" charset="-122"/>
                <a:cs typeface="Courier New" pitchFamily="34" charset="-120"/>
              </a:rPr>
              <a:t>22</a:t>
            </a:r>
            <a:r>
              <a:rPr lang="en-US" sz="1200" dirty="0">
                <a:solidFill>
                  <a:srgbClr val="E4E4F0"/>
                </a:solidFill>
                <a:latin typeface="Courier New" pitchFamily="34" charset="0"/>
                <a:ea typeface="Courier New" pitchFamily="34" charset="-122"/>
                <a:cs typeface="Courier New" pitchFamily="34" charset="-120"/>
              </a:rPr>
              <a:t> }</a:t>
            </a:r>
            <a:endParaRPr lang="en-US" sz="1200" dirty="0"/>
          </a:p>
          <a:p>
            <a:pPr marL="0" indent="0">
              <a:buNone/>
            </a:pPr>
            <a:r>
              <a:rPr lang="en-US" sz="1200" dirty="0">
                <a:solidFill>
                  <a:srgbClr val="82AAFF"/>
                </a:solidFill>
                <a:latin typeface="Courier New" pitchFamily="34" charset="0"/>
                <a:ea typeface="Courier New" pitchFamily="34" charset="-122"/>
                <a:cs typeface="Courier New" pitchFamily="34" charset="-120"/>
              </a:rPr>
              <a:t>print</a:t>
            </a:r>
            <a:r>
              <a:rPr lang="en-US" sz="1200" dirty="0">
                <a:solidFill>
                  <a:srgbClr val="E4E4F0"/>
                </a:solidFill>
                <a:latin typeface="Courier New" pitchFamily="34" charset="0"/>
                <a:ea typeface="Courier New" pitchFamily="34" charset="-122"/>
                <a:cs typeface="Courier New" pitchFamily="34" charset="-120"/>
              </a:rPr>
              <a:t>(data)</a:t>
            </a:r>
            <a:endParaRPr lang="en-US" sz="1200" dirty="0"/>
          </a:p>
        </p:txBody>
      </p:sp>
      <p:sp>
        <p:nvSpPr>
          <p:cNvPr id="11" name="Shape 9"/>
          <p:cNvSpPr/>
          <p:nvPr/>
        </p:nvSpPr>
        <p:spPr>
          <a:xfrm>
            <a:off x="731520" y="2944368"/>
            <a:ext cx="5212080" cy="658368"/>
          </a:xfrm>
          <a:prstGeom prst="roundRect">
            <a:avLst>
              <a:gd name="adj" fmla="val 13889"/>
            </a:avLst>
          </a:prstGeom>
          <a:solidFill>
            <a:srgbClr val="F6F6FF"/>
          </a:solidFill>
          <a:ln w="9525">
            <a:solidFill>
              <a:srgbClr val="DCDDF5"/>
            </a:solidFill>
            <a:prstDash val="solid"/>
          </a:ln>
        </p:spPr>
        <p:txBody>
          <a:bodyPr/>
          <a:lstStyle/>
          <a:p>
            <a:endParaRPr lang="en-PH"/>
          </a:p>
        </p:txBody>
      </p:sp>
      <p:sp>
        <p:nvSpPr>
          <p:cNvPr id="12" name="Text 10"/>
          <p:cNvSpPr txBox="1"/>
          <p:nvPr/>
        </p:nvSpPr>
        <p:spPr>
          <a:xfrm>
            <a:off x="877824" y="3017520"/>
            <a:ext cx="4937760" cy="182880"/>
          </a:xfrm>
          <a:prstGeom prst="rect">
            <a:avLst/>
          </a:prstGeom>
          <a:noFill/>
          <a:ln/>
        </p:spPr>
        <p:txBody>
          <a:bodyPr wrap="square" lIns="0" tIns="0" rIns="0" bIns="0" rtlCol="0" anchor="ctr"/>
          <a:lstStyle/>
          <a:p>
            <a:pPr marL="0" indent="0">
              <a:buNone/>
            </a:pPr>
            <a:r>
              <a:rPr lang="en-US" sz="850" b="1" kern="0" spc="150" dirty="0">
                <a:solidFill>
                  <a:srgbClr val="4F46E5"/>
                </a:solidFill>
                <a:latin typeface="Calibri" pitchFamily="34" charset="0"/>
                <a:ea typeface="Calibri" pitchFamily="34" charset="-122"/>
                <a:cs typeface="Calibri" pitchFamily="34" charset="-120"/>
              </a:rPr>
              <a:t>OUTPUT</a:t>
            </a:r>
            <a:endParaRPr lang="en-US" sz="850" dirty="0"/>
          </a:p>
        </p:txBody>
      </p:sp>
      <p:sp>
        <p:nvSpPr>
          <p:cNvPr id="13" name="Text 11"/>
          <p:cNvSpPr txBox="1"/>
          <p:nvPr/>
        </p:nvSpPr>
        <p:spPr>
          <a:xfrm>
            <a:off x="877824" y="3236976"/>
            <a:ext cx="4974336" cy="329184"/>
          </a:xfrm>
          <a:prstGeom prst="rect">
            <a:avLst/>
          </a:prstGeom>
          <a:noFill/>
          <a:ln/>
        </p:spPr>
        <p:txBody>
          <a:bodyPr wrap="square" lIns="0" tIns="0" rIns="0" bIns="0" rtlCol="0" anchor="t"/>
          <a:lstStyle/>
          <a:p>
            <a:pPr marL="0" indent="0">
              <a:buNone/>
            </a:pPr>
            <a:r>
              <a:rPr lang="en-US" sz="1200" dirty="0">
                <a:solidFill>
                  <a:srgbClr val="1E1B4B"/>
                </a:solidFill>
                <a:latin typeface="Courier New" pitchFamily="34" charset="0"/>
                <a:ea typeface="Courier New" pitchFamily="34" charset="-122"/>
                <a:cs typeface="Courier New" pitchFamily="34" charset="-120"/>
              </a:rPr>
              <a:t>{'name': 'Jake', 'age': 22}</a:t>
            </a:r>
            <a:endParaRPr lang="en-US" sz="1200" dirty="0"/>
          </a:p>
        </p:txBody>
      </p:sp>
      <p:sp>
        <p:nvSpPr>
          <p:cNvPr id="14" name="Text 12"/>
          <p:cNvSpPr txBox="1"/>
          <p:nvPr/>
        </p:nvSpPr>
        <p:spPr>
          <a:xfrm>
            <a:off x="502920" y="3931920"/>
            <a:ext cx="4572000" cy="228600"/>
          </a:xfrm>
          <a:prstGeom prst="rect">
            <a:avLst/>
          </a:prstGeom>
          <a:noFill/>
          <a:ln/>
        </p:spPr>
        <p:txBody>
          <a:bodyPr wrap="square" lIns="0" tIns="0" rIns="0" bIns="0" rtlCol="0" anchor="t"/>
          <a:lstStyle/>
          <a:p>
            <a:pPr marL="0" indent="0">
              <a:buNone/>
            </a:pPr>
            <a:r>
              <a:rPr lang="en-US" sz="1050" b="1" kern="0" spc="200" dirty="0">
                <a:solidFill>
                  <a:srgbClr val="C8559F"/>
                </a:solidFill>
                <a:latin typeface="Calibri" pitchFamily="34" charset="0"/>
                <a:ea typeface="Calibri" pitchFamily="34" charset="-122"/>
                <a:cs typeface="Calibri" pitchFamily="34" charset="-120"/>
              </a:rPr>
              <a:t>ANATOMY OF A DICTIONARY</a:t>
            </a:r>
            <a:endParaRPr lang="en-US" sz="1050" dirty="0"/>
          </a:p>
        </p:txBody>
      </p:sp>
      <p:sp>
        <p:nvSpPr>
          <p:cNvPr id="15" name="Shape 13"/>
          <p:cNvSpPr/>
          <p:nvPr/>
        </p:nvSpPr>
        <p:spPr>
          <a:xfrm>
            <a:off x="502920" y="4251960"/>
            <a:ext cx="2788920" cy="868680"/>
          </a:xfrm>
          <a:prstGeom prst="roundRect">
            <a:avLst>
              <a:gd name="adj" fmla="val 12632"/>
            </a:avLst>
          </a:prstGeom>
          <a:solidFill>
            <a:srgbClr val="F1F1FE"/>
          </a:solidFill>
          <a:ln w="9525">
            <a:solidFill>
              <a:srgbClr val="DCDDF5"/>
            </a:solidFill>
            <a:prstDash val="solid"/>
          </a:ln>
        </p:spPr>
        <p:txBody>
          <a:bodyPr/>
          <a:lstStyle/>
          <a:p>
            <a:endParaRPr lang="en-PH"/>
          </a:p>
        </p:txBody>
      </p:sp>
      <p:sp>
        <p:nvSpPr>
          <p:cNvPr id="16" name="Text 14"/>
          <p:cNvSpPr txBox="1"/>
          <p:nvPr/>
        </p:nvSpPr>
        <p:spPr>
          <a:xfrm>
            <a:off x="640080" y="4251960"/>
            <a:ext cx="868680" cy="868680"/>
          </a:xfrm>
          <a:prstGeom prst="rect">
            <a:avLst/>
          </a:prstGeom>
          <a:noFill/>
          <a:ln/>
        </p:spPr>
        <p:txBody>
          <a:bodyPr wrap="square" lIns="0" tIns="0" rIns="0" bIns="0" rtlCol="0" anchor="ctr"/>
          <a:lstStyle/>
          <a:p>
            <a:pPr marL="0" indent="0" algn="ctr">
              <a:buNone/>
            </a:pPr>
            <a:r>
              <a:rPr lang="en-US" sz="1400" b="1" dirty="0">
                <a:solidFill>
                  <a:srgbClr val="4F46E5"/>
                </a:solidFill>
                <a:latin typeface="Courier New" pitchFamily="34" charset="0"/>
                <a:ea typeface="Courier New" pitchFamily="34" charset="-122"/>
                <a:cs typeface="Courier New" pitchFamily="34" charset="-120"/>
              </a:rPr>
              <a:t>{ }</a:t>
            </a:r>
            <a:endParaRPr lang="en-US" sz="1400" dirty="0"/>
          </a:p>
        </p:txBody>
      </p:sp>
      <p:sp>
        <p:nvSpPr>
          <p:cNvPr id="17" name="Text 15"/>
          <p:cNvSpPr txBox="1"/>
          <p:nvPr/>
        </p:nvSpPr>
        <p:spPr>
          <a:xfrm>
            <a:off x="1554480" y="4325112"/>
            <a:ext cx="1600200" cy="731520"/>
          </a:xfrm>
          <a:prstGeom prst="rect">
            <a:avLst/>
          </a:prstGeom>
          <a:noFill/>
          <a:ln/>
        </p:spPr>
        <p:txBody>
          <a:bodyPr wrap="square" lIns="0" tIns="0" rIns="0" bIns="0" rtlCol="0" anchor="ctr"/>
          <a:lstStyle/>
          <a:p>
            <a:pPr marL="0" indent="0">
              <a:buNone/>
            </a:pPr>
            <a:r>
              <a:rPr lang="en-US" sz="1150" dirty="0">
                <a:solidFill>
                  <a:srgbClr val="1E1B4B"/>
                </a:solidFill>
                <a:latin typeface="Calibri" pitchFamily="34" charset="0"/>
                <a:ea typeface="Calibri" pitchFamily="34" charset="-122"/>
                <a:cs typeface="Calibri" pitchFamily="34" charset="-120"/>
              </a:rPr>
              <a:t>Curly braces wrap the whole dictionary</a:t>
            </a:r>
            <a:endParaRPr lang="en-US" sz="1150" dirty="0"/>
          </a:p>
        </p:txBody>
      </p:sp>
      <p:sp>
        <p:nvSpPr>
          <p:cNvPr id="18" name="Shape 16"/>
          <p:cNvSpPr/>
          <p:nvPr/>
        </p:nvSpPr>
        <p:spPr>
          <a:xfrm>
            <a:off x="3383280" y="4251960"/>
            <a:ext cx="2788920" cy="868680"/>
          </a:xfrm>
          <a:prstGeom prst="roundRect">
            <a:avLst>
              <a:gd name="adj" fmla="val 12632"/>
            </a:avLst>
          </a:prstGeom>
          <a:solidFill>
            <a:srgbClr val="F1F1FE"/>
          </a:solidFill>
          <a:ln w="9525">
            <a:solidFill>
              <a:srgbClr val="DCDDF5"/>
            </a:solidFill>
            <a:prstDash val="solid"/>
          </a:ln>
        </p:spPr>
        <p:txBody>
          <a:bodyPr/>
          <a:lstStyle/>
          <a:p>
            <a:endParaRPr lang="en-PH"/>
          </a:p>
        </p:txBody>
      </p:sp>
      <p:sp>
        <p:nvSpPr>
          <p:cNvPr id="19" name="Text 17"/>
          <p:cNvSpPr txBox="1"/>
          <p:nvPr/>
        </p:nvSpPr>
        <p:spPr>
          <a:xfrm>
            <a:off x="3520440" y="4251960"/>
            <a:ext cx="868680" cy="868680"/>
          </a:xfrm>
          <a:prstGeom prst="rect">
            <a:avLst/>
          </a:prstGeom>
          <a:noFill/>
          <a:ln/>
        </p:spPr>
        <p:txBody>
          <a:bodyPr wrap="square" lIns="0" tIns="0" rIns="0" bIns="0" rtlCol="0" anchor="ctr"/>
          <a:lstStyle/>
          <a:p>
            <a:pPr marL="0" indent="0" algn="ctr">
              <a:buNone/>
            </a:pPr>
            <a:r>
              <a:rPr lang="en-US" sz="1400" b="1" dirty="0">
                <a:solidFill>
                  <a:srgbClr val="4F46E5"/>
                </a:solidFill>
                <a:latin typeface="Courier New" pitchFamily="34" charset="0"/>
                <a:ea typeface="Courier New" pitchFamily="34" charset="-122"/>
                <a:cs typeface="Courier New" pitchFamily="34" charset="-120"/>
              </a:rPr>
              <a:t>"name"</a:t>
            </a:r>
            <a:endParaRPr lang="en-US" sz="1400" dirty="0"/>
          </a:p>
        </p:txBody>
      </p:sp>
      <p:sp>
        <p:nvSpPr>
          <p:cNvPr id="20" name="Text 18"/>
          <p:cNvSpPr txBox="1"/>
          <p:nvPr/>
        </p:nvSpPr>
        <p:spPr>
          <a:xfrm>
            <a:off x="4434840" y="4325112"/>
            <a:ext cx="1600200" cy="731520"/>
          </a:xfrm>
          <a:prstGeom prst="rect">
            <a:avLst/>
          </a:prstGeom>
          <a:noFill/>
          <a:ln/>
        </p:spPr>
        <p:txBody>
          <a:bodyPr wrap="square" lIns="0" tIns="0" rIns="0" bIns="0" rtlCol="0" anchor="ctr"/>
          <a:lstStyle/>
          <a:p>
            <a:pPr marL="0" indent="0">
              <a:buNone/>
            </a:pPr>
            <a:r>
              <a:rPr lang="en-US" sz="1150" dirty="0">
                <a:solidFill>
                  <a:srgbClr val="1E1B4B"/>
                </a:solidFill>
                <a:latin typeface="Calibri" pitchFamily="34" charset="0"/>
                <a:ea typeface="Calibri" pitchFamily="34" charset="-122"/>
                <a:cs typeface="Calibri" pitchFamily="34" charset="-120"/>
              </a:rPr>
              <a:t>Key — the label you look data up by</a:t>
            </a:r>
            <a:endParaRPr lang="en-US" sz="1150" dirty="0"/>
          </a:p>
        </p:txBody>
      </p:sp>
      <p:sp>
        <p:nvSpPr>
          <p:cNvPr id="21" name="Shape 19"/>
          <p:cNvSpPr/>
          <p:nvPr/>
        </p:nvSpPr>
        <p:spPr>
          <a:xfrm>
            <a:off x="502920" y="5239512"/>
            <a:ext cx="2788920" cy="868680"/>
          </a:xfrm>
          <a:prstGeom prst="roundRect">
            <a:avLst>
              <a:gd name="adj" fmla="val 12632"/>
            </a:avLst>
          </a:prstGeom>
          <a:solidFill>
            <a:srgbClr val="F1F1FE"/>
          </a:solidFill>
          <a:ln w="9525">
            <a:solidFill>
              <a:srgbClr val="DCDDF5"/>
            </a:solidFill>
            <a:prstDash val="solid"/>
          </a:ln>
        </p:spPr>
        <p:txBody>
          <a:bodyPr/>
          <a:lstStyle/>
          <a:p>
            <a:endParaRPr lang="en-PH"/>
          </a:p>
        </p:txBody>
      </p:sp>
      <p:sp>
        <p:nvSpPr>
          <p:cNvPr id="22" name="Text 20"/>
          <p:cNvSpPr txBox="1"/>
          <p:nvPr/>
        </p:nvSpPr>
        <p:spPr>
          <a:xfrm>
            <a:off x="640080" y="5239512"/>
            <a:ext cx="868680" cy="868680"/>
          </a:xfrm>
          <a:prstGeom prst="rect">
            <a:avLst/>
          </a:prstGeom>
          <a:noFill/>
          <a:ln/>
        </p:spPr>
        <p:txBody>
          <a:bodyPr wrap="square" lIns="0" tIns="0" rIns="0" bIns="0" rtlCol="0" anchor="ctr"/>
          <a:lstStyle/>
          <a:p>
            <a:pPr marL="0" indent="0" algn="ctr">
              <a:buNone/>
            </a:pPr>
            <a:r>
              <a:rPr lang="en-US" sz="1400" b="1" dirty="0">
                <a:solidFill>
                  <a:srgbClr val="4F46E5"/>
                </a:solidFill>
                <a:latin typeface="Courier New" pitchFamily="34" charset="0"/>
                <a:ea typeface="Courier New" pitchFamily="34" charset="-122"/>
                <a:cs typeface="Courier New" pitchFamily="34" charset="-120"/>
              </a:rPr>
              <a:t>:</a:t>
            </a:r>
            <a:endParaRPr lang="en-US" sz="1400" dirty="0"/>
          </a:p>
        </p:txBody>
      </p:sp>
      <p:sp>
        <p:nvSpPr>
          <p:cNvPr id="23" name="Text 21"/>
          <p:cNvSpPr txBox="1"/>
          <p:nvPr/>
        </p:nvSpPr>
        <p:spPr>
          <a:xfrm>
            <a:off x="1554480" y="5312664"/>
            <a:ext cx="1600200" cy="731520"/>
          </a:xfrm>
          <a:prstGeom prst="rect">
            <a:avLst/>
          </a:prstGeom>
          <a:noFill/>
          <a:ln/>
        </p:spPr>
        <p:txBody>
          <a:bodyPr wrap="square" lIns="0" tIns="0" rIns="0" bIns="0" rtlCol="0" anchor="ctr"/>
          <a:lstStyle/>
          <a:p>
            <a:pPr marL="0" indent="0">
              <a:buNone/>
            </a:pPr>
            <a:r>
              <a:rPr lang="en-US" sz="1150" dirty="0">
                <a:solidFill>
                  <a:srgbClr val="1E1B4B"/>
                </a:solidFill>
                <a:latin typeface="Calibri" pitchFamily="34" charset="0"/>
                <a:ea typeface="Calibri" pitchFamily="34" charset="-122"/>
                <a:cs typeface="Calibri" pitchFamily="34" charset="-120"/>
              </a:rPr>
              <a:t>Colon links each key to its value</a:t>
            </a:r>
            <a:endParaRPr lang="en-US" sz="1150" dirty="0"/>
          </a:p>
        </p:txBody>
      </p:sp>
      <p:sp>
        <p:nvSpPr>
          <p:cNvPr id="24" name="Shape 22"/>
          <p:cNvSpPr/>
          <p:nvPr/>
        </p:nvSpPr>
        <p:spPr>
          <a:xfrm>
            <a:off x="3383280" y="5239512"/>
            <a:ext cx="2788920" cy="868680"/>
          </a:xfrm>
          <a:prstGeom prst="roundRect">
            <a:avLst>
              <a:gd name="adj" fmla="val 12632"/>
            </a:avLst>
          </a:prstGeom>
          <a:solidFill>
            <a:srgbClr val="F1F1FE"/>
          </a:solidFill>
          <a:ln w="9525">
            <a:solidFill>
              <a:srgbClr val="DCDDF5"/>
            </a:solidFill>
            <a:prstDash val="solid"/>
          </a:ln>
        </p:spPr>
        <p:txBody>
          <a:bodyPr/>
          <a:lstStyle/>
          <a:p>
            <a:endParaRPr lang="en-PH"/>
          </a:p>
        </p:txBody>
      </p:sp>
      <p:sp>
        <p:nvSpPr>
          <p:cNvPr id="25" name="Text 23"/>
          <p:cNvSpPr txBox="1"/>
          <p:nvPr/>
        </p:nvSpPr>
        <p:spPr>
          <a:xfrm>
            <a:off x="3520440" y="5239512"/>
            <a:ext cx="868680" cy="868680"/>
          </a:xfrm>
          <a:prstGeom prst="rect">
            <a:avLst/>
          </a:prstGeom>
          <a:noFill/>
          <a:ln/>
        </p:spPr>
        <p:txBody>
          <a:bodyPr wrap="square" lIns="0" tIns="0" rIns="0" bIns="0" rtlCol="0" anchor="ctr"/>
          <a:lstStyle/>
          <a:p>
            <a:pPr marL="0" indent="0" algn="ctr">
              <a:buNone/>
            </a:pPr>
            <a:r>
              <a:rPr lang="en-US" sz="1400" b="1" dirty="0">
                <a:solidFill>
                  <a:srgbClr val="4F46E5"/>
                </a:solidFill>
                <a:latin typeface="Courier New" pitchFamily="34" charset="0"/>
                <a:ea typeface="Courier New" pitchFamily="34" charset="-122"/>
                <a:cs typeface="Courier New" pitchFamily="34" charset="-120"/>
              </a:rPr>
              <a:t>"Jake"</a:t>
            </a:r>
            <a:endParaRPr lang="en-US" sz="1400" dirty="0"/>
          </a:p>
        </p:txBody>
      </p:sp>
      <p:sp>
        <p:nvSpPr>
          <p:cNvPr id="26" name="Text 24"/>
          <p:cNvSpPr txBox="1"/>
          <p:nvPr/>
        </p:nvSpPr>
        <p:spPr>
          <a:xfrm>
            <a:off x="4434840" y="5312664"/>
            <a:ext cx="1600200" cy="731520"/>
          </a:xfrm>
          <a:prstGeom prst="rect">
            <a:avLst/>
          </a:prstGeom>
          <a:noFill/>
          <a:ln/>
        </p:spPr>
        <p:txBody>
          <a:bodyPr wrap="square" lIns="0" tIns="0" rIns="0" bIns="0" rtlCol="0" anchor="ctr"/>
          <a:lstStyle/>
          <a:p>
            <a:pPr marL="0" indent="0">
              <a:buNone/>
            </a:pPr>
            <a:r>
              <a:rPr lang="en-US" sz="1150" dirty="0">
                <a:solidFill>
                  <a:srgbClr val="1E1B4B"/>
                </a:solidFill>
                <a:latin typeface="Calibri" pitchFamily="34" charset="0"/>
                <a:ea typeface="Calibri" pitchFamily="34" charset="-122"/>
                <a:cs typeface="Calibri" pitchFamily="34" charset="-120"/>
              </a:rPr>
              <a:t>Value — the data stored under the key</a:t>
            </a:r>
            <a:endParaRPr lang="en-US" sz="1150" dirty="0"/>
          </a:p>
        </p:txBody>
      </p:sp>
      <p:sp>
        <p:nvSpPr>
          <p:cNvPr id="27" name="Text 25"/>
          <p:cNvSpPr txBox="1"/>
          <p:nvPr/>
        </p:nvSpPr>
        <p:spPr>
          <a:xfrm>
            <a:off x="6492240" y="1417320"/>
            <a:ext cx="5196535" cy="2331720"/>
          </a:xfrm>
          <a:prstGeom prst="rect">
            <a:avLst/>
          </a:prstGeom>
          <a:noFill/>
          <a:ln/>
        </p:spPr>
        <p:txBody>
          <a:bodyPr wrap="square" lIns="0" tIns="0" rIns="0" bIns="0" rtlCol="0" anchor="t"/>
          <a:lstStyle/>
          <a:p>
            <a:pPr marL="0" indent="0">
              <a:buNone/>
            </a:pPr>
            <a:r>
              <a:rPr lang="en-US" sz="1450" dirty="0">
                <a:solidFill>
                  <a:srgbClr val="1E1B4B"/>
                </a:solidFill>
                <a:latin typeface="Calibri" pitchFamily="34" charset="0"/>
                <a:ea typeface="Calibri" pitchFamily="34" charset="-122"/>
                <a:cs typeface="Calibri" pitchFamily="34" charset="-120"/>
              </a:rPr>
              <a:t>Dictionary is a data structure that stores information in </a:t>
            </a:r>
            <a:r>
              <a:rPr lang="en-US" sz="1450" b="1" dirty="0">
                <a:solidFill>
                  <a:srgbClr val="1E1B4B"/>
                </a:solidFill>
                <a:latin typeface="Calibri" pitchFamily="34" charset="0"/>
                <a:ea typeface="Calibri" pitchFamily="34" charset="-122"/>
                <a:cs typeface="Calibri" pitchFamily="34" charset="-120"/>
              </a:rPr>
              <a:t>key-value pairs</a:t>
            </a:r>
            <a:r>
              <a:rPr lang="en-US" sz="1450" dirty="0">
                <a:solidFill>
                  <a:srgbClr val="1E1B4B"/>
                </a:solidFill>
                <a:latin typeface="Calibri" pitchFamily="34" charset="0"/>
                <a:ea typeface="Calibri" pitchFamily="34" charset="-122"/>
                <a:cs typeface="Calibri" pitchFamily="34" charset="-120"/>
              </a:rPr>
              <a:t>. While keys must be </a:t>
            </a:r>
            <a:r>
              <a:rPr lang="en-US" sz="1450" b="1" dirty="0">
                <a:solidFill>
                  <a:srgbClr val="1E1B4B"/>
                </a:solidFill>
                <a:latin typeface="Calibri" pitchFamily="34" charset="0"/>
                <a:ea typeface="Calibri" pitchFamily="34" charset="-122"/>
                <a:cs typeface="Calibri" pitchFamily="34" charset="-120"/>
              </a:rPr>
              <a:t>unique and immutable</a:t>
            </a:r>
            <a:r>
              <a:rPr lang="en-US" sz="1450" dirty="0">
                <a:solidFill>
                  <a:srgbClr val="1E1B4B"/>
                </a:solidFill>
                <a:latin typeface="Calibri" pitchFamily="34" charset="0"/>
                <a:ea typeface="Calibri" pitchFamily="34" charset="-122"/>
                <a:cs typeface="Calibri" pitchFamily="34" charset="-120"/>
              </a:rPr>
              <a:t> (like strings or numbers), values can be of </a:t>
            </a:r>
            <a:r>
              <a:rPr lang="en-US" sz="1450" b="1" dirty="0">
                <a:solidFill>
                  <a:srgbClr val="1E1B4B"/>
                </a:solidFill>
                <a:latin typeface="Calibri" pitchFamily="34" charset="0"/>
                <a:ea typeface="Calibri" pitchFamily="34" charset="-122"/>
                <a:cs typeface="Calibri" pitchFamily="34" charset="-120"/>
              </a:rPr>
              <a:t>any data type</a:t>
            </a:r>
            <a:r>
              <a:rPr lang="en-US" sz="1450" dirty="0">
                <a:solidFill>
                  <a:srgbClr val="1E1B4B"/>
                </a:solidFill>
                <a:latin typeface="Calibri" pitchFamily="34" charset="0"/>
                <a:ea typeface="Calibri" pitchFamily="34" charset="-122"/>
                <a:cs typeface="Calibri" pitchFamily="34" charset="-120"/>
              </a:rPr>
              <a:t>, whether mutable or immutable. This makes dictionaries ideal for accessing data by a </a:t>
            </a:r>
            <a:r>
              <a:rPr lang="en-US" sz="1450" b="1" dirty="0">
                <a:solidFill>
                  <a:srgbClr val="1E1B4B"/>
                </a:solidFill>
                <a:latin typeface="Calibri" pitchFamily="34" charset="0"/>
                <a:ea typeface="Calibri" pitchFamily="34" charset="-122"/>
                <a:cs typeface="Calibri" pitchFamily="34" charset="-120"/>
              </a:rPr>
              <a:t>specific name</a:t>
            </a:r>
            <a:r>
              <a:rPr lang="en-US" sz="1450" dirty="0">
                <a:solidFill>
                  <a:srgbClr val="1E1B4B"/>
                </a:solidFill>
                <a:latin typeface="Calibri" pitchFamily="34" charset="0"/>
                <a:ea typeface="Calibri" pitchFamily="34" charset="-122"/>
                <a:cs typeface="Calibri" pitchFamily="34" charset="-120"/>
              </a:rPr>
              <a:t> rather than a numeric position like in list.</a:t>
            </a:r>
            <a:endParaRPr lang="en-US" sz="1450" dirty="0"/>
          </a:p>
        </p:txBody>
      </p:sp>
      <p:sp>
        <p:nvSpPr>
          <p:cNvPr id="28" name="Shape 26"/>
          <p:cNvSpPr/>
          <p:nvPr/>
        </p:nvSpPr>
        <p:spPr>
          <a:xfrm>
            <a:off x="6492240" y="3931920"/>
            <a:ext cx="5196535" cy="658368"/>
          </a:xfrm>
          <a:prstGeom prst="roundRect">
            <a:avLst>
              <a:gd name="adj" fmla="val 16667"/>
            </a:avLst>
          </a:prstGeom>
          <a:solidFill>
            <a:srgbClr val="FFFFFF"/>
          </a:solidFill>
          <a:ln w="9525">
            <a:solidFill>
              <a:srgbClr val="DCDDF5"/>
            </a:solidFill>
            <a:prstDash val="solid"/>
          </a:ln>
          <a:effectLst>
            <a:outerShdw blurRad="127000" dist="25400" dir="5400000" algn="bl" rotWithShape="0">
              <a:srgbClr val="4F46E5">
                <a:alpha val="12000"/>
              </a:srgbClr>
            </a:outerShdw>
          </a:effectLst>
        </p:spPr>
        <p:txBody>
          <a:bodyPr/>
          <a:lstStyle/>
          <a:p>
            <a:endParaRPr lang="en-PH"/>
          </a:p>
        </p:txBody>
      </p:sp>
      <p:sp>
        <p:nvSpPr>
          <p:cNvPr id="29" name="Shape 27"/>
          <p:cNvSpPr/>
          <p:nvPr/>
        </p:nvSpPr>
        <p:spPr>
          <a:xfrm>
            <a:off x="6675120" y="4114800"/>
            <a:ext cx="914400" cy="274320"/>
          </a:xfrm>
          <a:prstGeom prst="roundRect">
            <a:avLst>
              <a:gd name="adj" fmla="val 50000"/>
            </a:avLst>
          </a:prstGeom>
          <a:solidFill>
            <a:srgbClr val="E8E8FD"/>
          </a:solidFill>
          <a:ln w="12700">
            <a:solidFill>
              <a:srgbClr val="E8E8FD"/>
            </a:solidFill>
            <a:prstDash val="solid"/>
          </a:ln>
        </p:spPr>
        <p:txBody>
          <a:bodyPr/>
          <a:lstStyle/>
          <a:p>
            <a:endParaRPr lang="en-PH"/>
          </a:p>
        </p:txBody>
      </p:sp>
      <p:sp>
        <p:nvSpPr>
          <p:cNvPr id="30" name="Text 28"/>
          <p:cNvSpPr txBox="1"/>
          <p:nvPr/>
        </p:nvSpPr>
        <p:spPr>
          <a:xfrm>
            <a:off x="6675120" y="4114800"/>
            <a:ext cx="914400" cy="274320"/>
          </a:xfrm>
          <a:prstGeom prst="rect">
            <a:avLst/>
          </a:prstGeom>
          <a:noFill/>
          <a:ln/>
        </p:spPr>
        <p:txBody>
          <a:bodyPr wrap="square" lIns="0" tIns="0" rIns="0" bIns="0" rtlCol="0" anchor="ctr"/>
          <a:lstStyle/>
          <a:p>
            <a:pPr marL="0" indent="0" algn="ctr">
              <a:buNone/>
            </a:pPr>
            <a:r>
              <a:rPr lang="en-US" sz="1100" b="1" dirty="0">
                <a:solidFill>
                  <a:srgbClr val="4F46E5"/>
                </a:solidFill>
                <a:latin typeface="Calibri" pitchFamily="34" charset="0"/>
                <a:ea typeface="Calibri" pitchFamily="34" charset="-122"/>
                <a:cs typeface="Calibri" pitchFamily="34" charset="-120"/>
              </a:rPr>
              <a:t>Keys</a:t>
            </a:r>
            <a:endParaRPr lang="en-US" sz="1100" dirty="0"/>
          </a:p>
        </p:txBody>
      </p:sp>
      <p:sp>
        <p:nvSpPr>
          <p:cNvPr id="31" name="Text 29"/>
          <p:cNvSpPr txBox="1"/>
          <p:nvPr/>
        </p:nvSpPr>
        <p:spPr>
          <a:xfrm>
            <a:off x="7772400" y="3931920"/>
            <a:ext cx="3779215" cy="658368"/>
          </a:xfrm>
          <a:prstGeom prst="rect">
            <a:avLst/>
          </a:prstGeom>
          <a:noFill/>
          <a:ln/>
        </p:spPr>
        <p:txBody>
          <a:bodyPr wrap="square" lIns="0" tIns="0" rIns="0" bIns="0" rtlCol="0" anchor="ctr"/>
          <a:lstStyle/>
          <a:p>
            <a:pPr marL="0" indent="0">
              <a:buNone/>
            </a:pPr>
            <a:r>
              <a:rPr lang="en-US" sz="1250" dirty="0">
                <a:solidFill>
                  <a:srgbClr val="1E1B4B"/>
                </a:solidFill>
                <a:latin typeface="Calibri" pitchFamily="34" charset="0"/>
                <a:ea typeface="Calibri" pitchFamily="34" charset="-122"/>
                <a:cs typeface="Calibri" pitchFamily="34" charset="-120"/>
              </a:rPr>
              <a:t>Unique and immutable — strings, numbers or tuples.</a:t>
            </a:r>
            <a:endParaRPr lang="en-US" sz="1250" dirty="0"/>
          </a:p>
        </p:txBody>
      </p:sp>
      <p:sp>
        <p:nvSpPr>
          <p:cNvPr id="32" name="Shape 30"/>
          <p:cNvSpPr/>
          <p:nvPr/>
        </p:nvSpPr>
        <p:spPr>
          <a:xfrm>
            <a:off x="6492240" y="4690872"/>
            <a:ext cx="5196535" cy="658368"/>
          </a:xfrm>
          <a:prstGeom prst="roundRect">
            <a:avLst>
              <a:gd name="adj" fmla="val 16667"/>
            </a:avLst>
          </a:prstGeom>
          <a:solidFill>
            <a:srgbClr val="FFFFFF"/>
          </a:solidFill>
          <a:ln w="9525">
            <a:solidFill>
              <a:srgbClr val="DCDDF5"/>
            </a:solidFill>
            <a:prstDash val="solid"/>
          </a:ln>
          <a:effectLst>
            <a:outerShdw blurRad="127000" dist="25400" dir="5400000" algn="bl" rotWithShape="0">
              <a:srgbClr val="4F46E5">
                <a:alpha val="12000"/>
              </a:srgbClr>
            </a:outerShdw>
          </a:effectLst>
        </p:spPr>
        <p:txBody>
          <a:bodyPr/>
          <a:lstStyle/>
          <a:p>
            <a:endParaRPr lang="en-PH"/>
          </a:p>
        </p:txBody>
      </p:sp>
      <p:sp>
        <p:nvSpPr>
          <p:cNvPr id="33" name="Shape 31"/>
          <p:cNvSpPr/>
          <p:nvPr/>
        </p:nvSpPr>
        <p:spPr>
          <a:xfrm>
            <a:off x="6675120" y="4873752"/>
            <a:ext cx="914400" cy="274320"/>
          </a:xfrm>
          <a:prstGeom prst="roundRect">
            <a:avLst>
              <a:gd name="adj" fmla="val 50000"/>
            </a:avLst>
          </a:prstGeom>
          <a:solidFill>
            <a:srgbClr val="E8E8FD"/>
          </a:solidFill>
          <a:ln w="12700">
            <a:solidFill>
              <a:srgbClr val="E8E8FD"/>
            </a:solidFill>
            <a:prstDash val="solid"/>
          </a:ln>
        </p:spPr>
        <p:txBody>
          <a:bodyPr/>
          <a:lstStyle/>
          <a:p>
            <a:endParaRPr lang="en-PH"/>
          </a:p>
        </p:txBody>
      </p:sp>
      <p:sp>
        <p:nvSpPr>
          <p:cNvPr id="34" name="Text 32"/>
          <p:cNvSpPr txBox="1"/>
          <p:nvPr/>
        </p:nvSpPr>
        <p:spPr>
          <a:xfrm>
            <a:off x="6675120" y="4873752"/>
            <a:ext cx="914400" cy="274320"/>
          </a:xfrm>
          <a:prstGeom prst="rect">
            <a:avLst/>
          </a:prstGeom>
          <a:noFill/>
          <a:ln/>
        </p:spPr>
        <p:txBody>
          <a:bodyPr wrap="square" lIns="0" tIns="0" rIns="0" bIns="0" rtlCol="0" anchor="ctr"/>
          <a:lstStyle/>
          <a:p>
            <a:pPr marL="0" indent="0" algn="ctr">
              <a:buNone/>
            </a:pPr>
            <a:r>
              <a:rPr lang="en-US" sz="1100" b="1" dirty="0">
                <a:solidFill>
                  <a:srgbClr val="4F46E5"/>
                </a:solidFill>
                <a:latin typeface="Calibri" pitchFamily="34" charset="0"/>
                <a:ea typeface="Calibri" pitchFamily="34" charset="-122"/>
                <a:cs typeface="Calibri" pitchFamily="34" charset="-120"/>
              </a:rPr>
              <a:t>Values</a:t>
            </a:r>
            <a:endParaRPr lang="en-US" sz="1100" dirty="0"/>
          </a:p>
        </p:txBody>
      </p:sp>
      <p:sp>
        <p:nvSpPr>
          <p:cNvPr id="35" name="Text 33"/>
          <p:cNvSpPr txBox="1"/>
          <p:nvPr/>
        </p:nvSpPr>
        <p:spPr>
          <a:xfrm>
            <a:off x="7772400" y="4690872"/>
            <a:ext cx="3779215" cy="658368"/>
          </a:xfrm>
          <a:prstGeom prst="rect">
            <a:avLst/>
          </a:prstGeom>
          <a:noFill/>
          <a:ln/>
        </p:spPr>
        <p:txBody>
          <a:bodyPr wrap="square" lIns="0" tIns="0" rIns="0" bIns="0" rtlCol="0" anchor="ctr"/>
          <a:lstStyle/>
          <a:p>
            <a:pPr marL="0" indent="0">
              <a:buNone/>
            </a:pPr>
            <a:r>
              <a:rPr lang="en-US" sz="1250" dirty="0">
                <a:solidFill>
                  <a:srgbClr val="1E1B4B"/>
                </a:solidFill>
                <a:latin typeface="Calibri" pitchFamily="34" charset="0"/>
                <a:ea typeface="Calibri" pitchFamily="34" charset="-122"/>
                <a:cs typeface="Calibri" pitchFamily="34" charset="-120"/>
              </a:rPr>
              <a:t>Any data type — even lists or other dictionaries.</a:t>
            </a:r>
            <a:endParaRPr lang="en-US" sz="1250" dirty="0"/>
          </a:p>
        </p:txBody>
      </p:sp>
      <p:sp>
        <p:nvSpPr>
          <p:cNvPr id="36" name="Shape 34"/>
          <p:cNvSpPr/>
          <p:nvPr/>
        </p:nvSpPr>
        <p:spPr>
          <a:xfrm>
            <a:off x="6492240" y="5449824"/>
            <a:ext cx="5196535" cy="658368"/>
          </a:xfrm>
          <a:prstGeom prst="roundRect">
            <a:avLst>
              <a:gd name="adj" fmla="val 16667"/>
            </a:avLst>
          </a:prstGeom>
          <a:solidFill>
            <a:srgbClr val="FFFFFF"/>
          </a:solidFill>
          <a:ln w="9525">
            <a:solidFill>
              <a:srgbClr val="DCDDF5"/>
            </a:solidFill>
            <a:prstDash val="solid"/>
          </a:ln>
          <a:effectLst>
            <a:outerShdw blurRad="127000" dist="25400" dir="5400000" algn="bl" rotWithShape="0">
              <a:srgbClr val="4F46E5">
                <a:alpha val="12000"/>
              </a:srgbClr>
            </a:outerShdw>
          </a:effectLst>
        </p:spPr>
        <p:txBody>
          <a:bodyPr/>
          <a:lstStyle/>
          <a:p>
            <a:endParaRPr lang="en-PH"/>
          </a:p>
        </p:txBody>
      </p:sp>
      <p:sp>
        <p:nvSpPr>
          <p:cNvPr id="37" name="Shape 35"/>
          <p:cNvSpPr/>
          <p:nvPr/>
        </p:nvSpPr>
        <p:spPr>
          <a:xfrm>
            <a:off x="6675120" y="5632704"/>
            <a:ext cx="914400" cy="274320"/>
          </a:xfrm>
          <a:prstGeom prst="roundRect">
            <a:avLst>
              <a:gd name="adj" fmla="val 50000"/>
            </a:avLst>
          </a:prstGeom>
          <a:solidFill>
            <a:srgbClr val="E8E8FD"/>
          </a:solidFill>
          <a:ln w="12700">
            <a:solidFill>
              <a:srgbClr val="E8E8FD"/>
            </a:solidFill>
            <a:prstDash val="solid"/>
          </a:ln>
        </p:spPr>
        <p:txBody>
          <a:bodyPr/>
          <a:lstStyle/>
          <a:p>
            <a:endParaRPr lang="en-PH"/>
          </a:p>
        </p:txBody>
      </p:sp>
      <p:sp>
        <p:nvSpPr>
          <p:cNvPr id="38" name="Text 36"/>
          <p:cNvSpPr txBox="1"/>
          <p:nvPr/>
        </p:nvSpPr>
        <p:spPr>
          <a:xfrm>
            <a:off x="6675120" y="5632704"/>
            <a:ext cx="914400" cy="274320"/>
          </a:xfrm>
          <a:prstGeom prst="rect">
            <a:avLst/>
          </a:prstGeom>
          <a:noFill/>
          <a:ln/>
        </p:spPr>
        <p:txBody>
          <a:bodyPr wrap="square" lIns="0" tIns="0" rIns="0" bIns="0" rtlCol="0" anchor="ctr"/>
          <a:lstStyle/>
          <a:p>
            <a:pPr marL="0" indent="0" algn="ctr">
              <a:buNone/>
            </a:pPr>
            <a:r>
              <a:rPr lang="en-US" sz="1100" b="1" dirty="0">
                <a:solidFill>
                  <a:srgbClr val="4F46E5"/>
                </a:solidFill>
                <a:latin typeface="Calibri" pitchFamily="34" charset="0"/>
                <a:ea typeface="Calibri" pitchFamily="34" charset="-122"/>
                <a:cs typeface="Calibri" pitchFamily="34" charset="-120"/>
              </a:rPr>
              <a:t>Access</a:t>
            </a:r>
            <a:endParaRPr lang="en-US" sz="1100" dirty="0"/>
          </a:p>
        </p:txBody>
      </p:sp>
      <p:sp>
        <p:nvSpPr>
          <p:cNvPr id="39" name="Text 37"/>
          <p:cNvSpPr txBox="1"/>
          <p:nvPr/>
        </p:nvSpPr>
        <p:spPr>
          <a:xfrm>
            <a:off x="7772400" y="5449824"/>
            <a:ext cx="3779215" cy="658368"/>
          </a:xfrm>
          <a:prstGeom prst="rect">
            <a:avLst/>
          </a:prstGeom>
          <a:noFill/>
          <a:ln/>
        </p:spPr>
        <p:txBody>
          <a:bodyPr wrap="square" lIns="0" tIns="0" rIns="0" bIns="0" rtlCol="0" anchor="ctr"/>
          <a:lstStyle/>
          <a:p>
            <a:pPr marL="0" indent="0">
              <a:buNone/>
            </a:pPr>
            <a:r>
              <a:rPr lang="en-US" sz="1250" dirty="0">
                <a:solidFill>
                  <a:srgbClr val="1E1B4B"/>
                </a:solidFill>
                <a:latin typeface="Calibri" pitchFamily="34" charset="0"/>
                <a:ea typeface="Calibri" pitchFamily="34" charset="-122"/>
                <a:cs typeface="Calibri" pitchFamily="34" charset="-120"/>
              </a:rPr>
              <a:t>By name: data["name"], not by position like data[0].</a:t>
            </a:r>
            <a:endParaRPr lang="en-US" sz="12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02920" y="310896"/>
            <a:ext cx="8229600" cy="237744"/>
          </a:xfrm>
          <a:prstGeom prst="rect">
            <a:avLst/>
          </a:prstGeom>
          <a:noFill/>
          <a:ln/>
        </p:spPr>
        <p:txBody>
          <a:bodyPr wrap="square" lIns="0" tIns="0" rIns="0" bIns="0" rtlCol="0" anchor="t"/>
          <a:lstStyle/>
          <a:p>
            <a:pPr marL="0" indent="0">
              <a:buNone/>
            </a:pPr>
            <a:r>
              <a:rPr lang="en-US" sz="1050" b="1" kern="0" spc="200" dirty="0">
                <a:solidFill>
                  <a:srgbClr val="C8559F"/>
                </a:solidFill>
                <a:latin typeface="Calibri" pitchFamily="34" charset="0"/>
                <a:ea typeface="Calibri" pitchFamily="34" charset="-122"/>
                <a:cs typeface="Calibri" pitchFamily="34" charset="-120"/>
              </a:rPr>
              <a:t>DICTIONARY · CREATE AND READ</a:t>
            </a:r>
            <a:endParaRPr lang="en-US" sz="1050" dirty="0"/>
          </a:p>
        </p:txBody>
      </p:sp>
      <p:sp>
        <p:nvSpPr>
          <p:cNvPr id="3" name="Text 1"/>
          <p:cNvSpPr txBox="1"/>
          <p:nvPr/>
        </p:nvSpPr>
        <p:spPr>
          <a:xfrm>
            <a:off x="502920" y="530352"/>
            <a:ext cx="10241280" cy="640080"/>
          </a:xfrm>
          <a:prstGeom prst="rect">
            <a:avLst/>
          </a:prstGeom>
          <a:noFill/>
          <a:ln/>
        </p:spPr>
        <p:txBody>
          <a:bodyPr wrap="square" lIns="0" tIns="0" rIns="0" bIns="0" rtlCol="0" anchor="ctr"/>
          <a:lstStyle/>
          <a:p>
            <a:pPr marL="0" indent="0">
              <a:buNone/>
            </a:pPr>
            <a:r>
              <a:rPr lang="en-US" sz="2800" b="1" dirty="0">
                <a:solidFill>
                  <a:srgbClr val="1E1B4B"/>
                </a:solidFill>
                <a:latin typeface="Calibri" pitchFamily="34" charset="0"/>
                <a:ea typeface="Calibri" pitchFamily="34" charset="-122"/>
                <a:cs typeface="Calibri" pitchFamily="34" charset="-120"/>
              </a:rPr>
              <a:t>Creating and Accessing a Dictionary</a:t>
            </a:r>
            <a:endParaRPr lang="en-US" sz="2800" dirty="0"/>
          </a:p>
        </p:txBody>
      </p:sp>
      <p:sp>
        <p:nvSpPr>
          <p:cNvPr id="4" name="Text 2"/>
          <p:cNvSpPr txBox="1"/>
          <p:nvPr/>
        </p:nvSpPr>
        <p:spPr>
          <a:xfrm>
            <a:off x="502920" y="6446520"/>
            <a:ext cx="5486400" cy="228600"/>
          </a:xfrm>
          <a:prstGeom prst="rect">
            <a:avLst/>
          </a:prstGeom>
          <a:noFill/>
          <a:ln/>
        </p:spPr>
        <p:txBody>
          <a:bodyPr wrap="square" lIns="0" tIns="0" rIns="0" bIns="0" rtlCol="0" anchor="t"/>
          <a:lstStyle/>
          <a:p>
            <a:pPr marL="0" indent="0">
              <a:buNone/>
            </a:pPr>
            <a:r>
              <a:rPr lang="en-US" sz="900" dirty="0">
                <a:solidFill>
                  <a:srgbClr val="5B5F7A"/>
                </a:solidFill>
                <a:latin typeface="Calibri" pitchFamily="34" charset="0"/>
                <a:ea typeface="Calibri" pitchFamily="34" charset="-122"/>
                <a:cs typeface="Calibri" pitchFamily="34" charset="-120"/>
              </a:rPr>
              <a:t>Python  ·  Dictionary</a:t>
            </a:r>
            <a:endParaRPr lang="en-US" sz="900" dirty="0"/>
          </a:p>
        </p:txBody>
      </p:sp>
      <p:sp>
        <p:nvSpPr>
          <p:cNvPr id="5" name="Text 3"/>
          <p:cNvSpPr txBox="1"/>
          <p:nvPr/>
        </p:nvSpPr>
        <p:spPr>
          <a:xfrm>
            <a:off x="11140135" y="6446520"/>
            <a:ext cx="548640" cy="228600"/>
          </a:xfrm>
          <a:prstGeom prst="rect">
            <a:avLst/>
          </a:prstGeom>
          <a:noFill/>
          <a:ln/>
        </p:spPr>
        <p:txBody>
          <a:bodyPr wrap="square" lIns="0" tIns="0" rIns="0" bIns="0" rtlCol="0" anchor="t"/>
          <a:lstStyle/>
          <a:p>
            <a:pPr marL="0" indent="0" algn="r">
              <a:buNone/>
            </a:pPr>
            <a:r>
              <a:rPr lang="en-US" sz="900" dirty="0">
                <a:solidFill>
                  <a:srgbClr val="5B5F7A"/>
                </a:solidFill>
                <a:latin typeface="Calibri" pitchFamily="34" charset="0"/>
                <a:ea typeface="Calibri" pitchFamily="34" charset="-122"/>
                <a:cs typeface="Calibri" pitchFamily="34" charset="-120"/>
              </a:rPr>
              <a:t>21</a:t>
            </a:r>
            <a:endParaRPr lang="en-US" sz="900" dirty="0"/>
          </a:p>
        </p:txBody>
      </p:sp>
      <p:sp>
        <p:nvSpPr>
          <p:cNvPr id="6" name="Shape 4"/>
          <p:cNvSpPr/>
          <p:nvPr/>
        </p:nvSpPr>
        <p:spPr>
          <a:xfrm>
            <a:off x="502920" y="1417320"/>
            <a:ext cx="5432908" cy="4800600"/>
          </a:xfrm>
          <a:prstGeom prst="roundRect">
            <a:avLst>
              <a:gd name="adj" fmla="val 2286"/>
            </a:avLst>
          </a:prstGeom>
          <a:solidFill>
            <a:srgbClr val="FFFFFF"/>
          </a:solidFill>
          <a:ln w="9525">
            <a:solidFill>
              <a:srgbClr val="DCDDF5"/>
            </a:solidFill>
            <a:prstDash val="solid"/>
          </a:ln>
          <a:effectLst>
            <a:outerShdw blurRad="127000" dist="25400" dir="5400000" algn="bl" rotWithShape="0">
              <a:srgbClr val="4F46E5">
                <a:alpha val="12000"/>
              </a:srgbClr>
            </a:outerShdw>
          </a:effectLst>
        </p:spPr>
        <p:txBody>
          <a:bodyPr/>
          <a:lstStyle/>
          <a:p>
            <a:endParaRPr lang="en-PH"/>
          </a:p>
        </p:txBody>
      </p:sp>
      <p:sp>
        <p:nvSpPr>
          <p:cNvPr id="7" name="Shape 5"/>
          <p:cNvSpPr/>
          <p:nvPr/>
        </p:nvSpPr>
        <p:spPr>
          <a:xfrm>
            <a:off x="704088" y="1572768"/>
            <a:ext cx="365760" cy="365760"/>
          </a:xfrm>
          <a:prstGeom prst="ellipse">
            <a:avLst/>
          </a:prstGeom>
          <a:solidFill>
            <a:srgbClr val="4F46E5"/>
          </a:solidFill>
          <a:ln w="12700">
            <a:solidFill>
              <a:srgbClr val="4F46E5"/>
            </a:solidFill>
            <a:prstDash val="solid"/>
          </a:ln>
        </p:spPr>
        <p:txBody>
          <a:bodyPr/>
          <a:lstStyle/>
          <a:p>
            <a:endParaRPr lang="en-PH"/>
          </a:p>
        </p:txBody>
      </p:sp>
      <p:sp>
        <p:nvSpPr>
          <p:cNvPr id="8" name="Text 6"/>
          <p:cNvSpPr txBox="1"/>
          <p:nvPr/>
        </p:nvSpPr>
        <p:spPr>
          <a:xfrm>
            <a:off x="704088" y="1572768"/>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9" name="Text 7"/>
          <p:cNvSpPr txBox="1"/>
          <p:nvPr/>
        </p:nvSpPr>
        <p:spPr>
          <a:xfrm>
            <a:off x="1188720" y="1572768"/>
            <a:ext cx="4518508" cy="365760"/>
          </a:xfrm>
          <a:prstGeom prst="rect">
            <a:avLst/>
          </a:prstGeom>
          <a:noFill/>
          <a:ln/>
        </p:spPr>
        <p:txBody>
          <a:bodyPr wrap="square" lIns="0" tIns="0" rIns="0" bIns="0" rtlCol="0" anchor="ctr"/>
          <a:lstStyle/>
          <a:p>
            <a:pPr marL="0" indent="0">
              <a:buNone/>
            </a:pPr>
            <a:r>
              <a:rPr lang="en-US" sz="1700" b="1" dirty="0">
                <a:solidFill>
                  <a:srgbClr val="1E1B4B"/>
                </a:solidFill>
                <a:latin typeface="Calibri" pitchFamily="34" charset="0"/>
                <a:ea typeface="Calibri" pitchFamily="34" charset="-122"/>
                <a:cs typeface="Calibri" pitchFamily="34" charset="-120"/>
              </a:rPr>
              <a:t>Creating a Dictionary</a:t>
            </a:r>
            <a:endParaRPr lang="en-US" sz="1700" dirty="0"/>
          </a:p>
        </p:txBody>
      </p:sp>
      <p:sp>
        <p:nvSpPr>
          <p:cNvPr id="10" name="Text 8"/>
          <p:cNvSpPr txBox="1"/>
          <p:nvPr/>
        </p:nvSpPr>
        <p:spPr>
          <a:xfrm>
            <a:off x="731520" y="2057400"/>
            <a:ext cx="4975708" cy="1051560"/>
          </a:xfrm>
          <a:prstGeom prst="rect">
            <a:avLst/>
          </a:prstGeom>
          <a:noFill/>
          <a:ln/>
        </p:spPr>
        <p:txBody>
          <a:bodyPr wrap="square" lIns="0" tIns="0" rIns="0" bIns="0" rtlCol="0" anchor="t"/>
          <a:lstStyle/>
          <a:p>
            <a:pPr marL="0" indent="0">
              <a:buNone/>
            </a:pPr>
            <a:r>
              <a:rPr lang="en-US" sz="1250" dirty="0">
                <a:solidFill>
                  <a:srgbClr val="5B5F7A"/>
                </a:solidFill>
                <a:latin typeface="Calibri" pitchFamily="34" charset="0"/>
                <a:ea typeface="Calibri" pitchFamily="34" charset="-122"/>
                <a:cs typeface="Calibri" pitchFamily="34" charset="-120"/>
              </a:rPr>
              <a:t>A dictionary is created by writing key-value pairs inside </a:t>
            </a:r>
            <a:r>
              <a:rPr lang="en-US" sz="1250" dirty="0">
                <a:solidFill>
                  <a:srgbClr val="4F46E5"/>
                </a:solidFill>
                <a:latin typeface="Courier New" pitchFamily="34" charset="0"/>
                <a:ea typeface="Courier New" pitchFamily="34" charset="-122"/>
                <a:cs typeface="Courier New" pitchFamily="34" charset="-120"/>
              </a:rPr>
              <a:t>{ }</a:t>
            </a:r>
            <a:r>
              <a:rPr lang="en-US" sz="1250" dirty="0">
                <a:solidFill>
                  <a:srgbClr val="5B5F7A"/>
                </a:solidFill>
                <a:latin typeface="Calibri" pitchFamily="34" charset="0"/>
                <a:ea typeface="Calibri" pitchFamily="34" charset="-122"/>
                <a:cs typeface="Calibri" pitchFamily="34" charset="-120"/>
              </a:rPr>
              <a:t>, where each key is connected to a value using colon </a:t>
            </a:r>
            <a:r>
              <a:rPr lang="en-US" sz="1250" dirty="0">
                <a:solidFill>
                  <a:srgbClr val="4F46E5"/>
                </a:solidFill>
                <a:latin typeface="Courier New" pitchFamily="34" charset="0"/>
                <a:ea typeface="Courier New" pitchFamily="34" charset="-122"/>
                <a:cs typeface="Courier New" pitchFamily="34" charset="-120"/>
              </a:rPr>
              <a:t>(:)</a:t>
            </a:r>
            <a:r>
              <a:rPr lang="en-US" sz="1250" dirty="0">
                <a:solidFill>
                  <a:srgbClr val="5B5F7A"/>
                </a:solidFill>
                <a:latin typeface="Calibri" pitchFamily="34" charset="0"/>
                <a:ea typeface="Calibri" pitchFamily="34" charset="-122"/>
                <a:cs typeface="Calibri" pitchFamily="34" charset="-120"/>
              </a:rPr>
              <a:t>. A dictionary can also be created using </a:t>
            </a:r>
            <a:r>
              <a:rPr lang="en-US" sz="1250" dirty="0">
                <a:solidFill>
                  <a:srgbClr val="4F46E5"/>
                </a:solidFill>
                <a:latin typeface="Courier New" pitchFamily="34" charset="0"/>
                <a:ea typeface="Courier New" pitchFamily="34" charset="-122"/>
                <a:cs typeface="Courier New" pitchFamily="34" charset="-120"/>
              </a:rPr>
              <a:t>dict()</a:t>
            </a:r>
            <a:r>
              <a:rPr lang="en-US" sz="1250" dirty="0">
                <a:solidFill>
                  <a:srgbClr val="5B5F7A"/>
                </a:solidFill>
                <a:latin typeface="Calibri" pitchFamily="34" charset="0"/>
                <a:ea typeface="Calibri" pitchFamily="34" charset="-122"/>
                <a:cs typeface="Calibri" pitchFamily="34" charset="-120"/>
              </a:rPr>
              <a:t> function.</a:t>
            </a:r>
            <a:endParaRPr lang="en-US" sz="1250" dirty="0"/>
          </a:p>
        </p:txBody>
      </p:sp>
      <p:sp>
        <p:nvSpPr>
          <p:cNvPr id="11" name="Shape 9"/>
          <p:cNvSpPr/>
          <p:nvPr/>
        </p:nvSpPr>
        <p:spPr>
          <a:xfrm>
            <a:off x="731520" y="3154680"/>
            <a:ext cx="4975708" cy="1280160"/>
          </a:xfrm>
          <a:prstGeom prst="roundRect">
            <a:avLst>
              <a:gd name="adj" fmla="val 7143"/>
            </a:avLst>
          </a:prstGeom>
          <a:solidFill>
            <a:srgbClr val="1F1D36"/>
          </a:solidFill>
          <a:ln w="12700">
            <a:solidFill>
              <a:srgbClr val="1F1D36"/>
            </a:solidFill>
            <a:prstDash val="solid"/>
          </a:ln>
        </p:spPr>
        <p:txBody>
          <a:bodyPr/>
          <a:lstStyle/>
          <a:p>
            <a:endParaRPr lang="en-PH"/>
          </a:p>
        </p:txBody>
      </p:sp>
      <p:sp>
        <p:nvSpPr>
          <p:cNvPr id="12" name="Text 10"/>
          <p:cNvSpPr txBox="1"/>
          <p:nvPr/>
        </p:nvSpPr>
        <p:spPr>
          <a:xfrm>
            <a:off x="896112" y="3236976"/>
            <a:ext cx="4646524" cy="201168"/>
          </a:xfrm>
          <a:prstGeom prst="rect">
            <a:avLst/>
          </a:prstGeom>
          <a:noFill/>
          <a:ln/>
        </p:spPr>
        <p:txBody>
          <a:bodyPr wrap="square" lIns="0" tIns="0" rIns="0" bIns="0" rtlCol="0" anchor="ctr"/>
          <a:lstStyle/>
          <a:p>
            <a:pPr marL="0" indent="0">
              <a:buNone/>
            </a:pPr>
            <a:r>
              <a:rPr lang="en-US" sz="900" b="1" dirty="0">
                <a:solidFill>
                  <a:srgbClr val="8A8FB5"/>
                </a:solidFill>
                <a:latin typeface="Calibri" pitchFamily="34" charset="0"/>
                <a:ea typeface="Calibri" pitchFamily="34" charset="-122"/>
                <a:cs typeface="Calibri" pitchFamily="34" charset="-120"/>
              </a:rPr>
              <a:t>&lt;/&gt;  Python</a:t>
            </a:r>
            <a:endParaRPr lang="en-US" sz="900" dirty="0"/>
          </a:p>
        </p:txBody>
      </p:sp>
      <p:sp>
        <p:nvSpPr>
          <p:cNvPr id="13" name="Text 11"/>
          <p:cNvSpPr txBox="1"/>
          <p:nvPr/>
        </p:nvSpPr>
        <p:spPr>
          <a:xfrm>
            <a:off x="896112" y="3483864"/>
            <a:ext cx="4701388" cy="896112"/>
          </a:xfrm>
          <a:prstGeom prst="rect">
            <a:avLst/>
          </a:prstGeom>
          <a:noFill/>
          <a:ln/>
        </p:spPr>
        <p:txBody>
          <a:bodyPr wrap="square" lIns="0" tIns="0" rIns="0" bIns="0" rtlCol="0" anchor="t"/>
          <a:lstStyle/>
          <a:p>
            <a:pPr marL="0" indent="0">
              <a:buNone/>
            </a:pPr>
            <a:r>
              <a:rPr lang="en-US" sz="1150" dirty="0">
                <a:solidFill>
                  <a:srgbClr val="E4E4F0"/>
                </a:solidFill>
                <a:latin typeface="Courier New" pitchFamily="34" charset="0"/>
                <a:ea typeface="Courier New" pitchFamily="34" charset="-122"/>
                <a:cs typeface="Courier New" pitchFamily="34" charset="-120"/>
              </a:rPr>
              <a:t>a = {</a:t>
            </a:r>
            <a:r>
              <a:rPr lang="en-US" sz="1150" dirty="0">
                <a:solidFill>
                  <a:srgbClr val="A6E3A1"/>
                </a:solidFill>
                <a:latin typeface="Courier New" pitchFamily="34" charset="0"/>
                <a:ea typeface="Courier New" pitchFamily="34" charset="-122"/>
                <a:cs typeface="Courier New" pitchFamily="34" charset="-120"/>
              </a:rPr>
              <a:t>"x"</a:t>
            </a:r>
            <a:r>
              <a:rPr lang="en-US" sz="1150" dirty="0">
                <a:solidFill>
                  <a:srgbClr val="E4E4F0"/>
                </a:solidFill>
                <a:latin typeface="Courier New" pitchFamily="34" charset="0"/>
                <a:ea typeface="Courier New" pitchFamily="34" charset="-122"/>
                <a:cs typeface="Courier New" pitchFamily="34" charset="-120"/>
              </a:rPr>
              <a:t>: </a:t>
            </a:r>
            <a:r>
              <a:rPr lang="en-US" sz="1150" dirty="0">
                <a:solidFill>
                  <a:srgbClr val="FAB387"/>
                </a:solidFill>
                <a:latin typeface="Courier New" pitchFamily="34" charset="0"/>
                <a:ea typeface="Courier New" pitchFamily="34" charset="-122"/>
                <a:cs typeface="Courier New" pitchFamily="34" charset="-120"/>
              </a:rPr>
              <a:t>1</a:t>
            </a:r>
            <a:r>
              <a:rPr lang="en-US" sz="1150" dirty="0">
                <a:solidFill>
                  <a:srgbClr val="E4E4F0"/>
                </a:solidFill>
                <a:latin typeface="Courier New" pitchFamily="34" charset="0"/>
                <a:ea typeface="Courier New" pitchFamily="34" charset="-122"/>
                <a:cs typeface="Courier New" pitchFamily="34" charset="-120"/>
              </a:rPr>
              <a:t>, </a:t>
            </a:r>
            <a:r>
              <a:rPr lang="en-US" sz="1150" dirty="0">
                <a:solidFill>
                  <a:srgbClr val="A6E3A1"/>
                </a:solidFill>
                <a:latin typeface="Courier New" pitchFamily="34" charset="0"/>
                <a:ea typeface="Courier New" pitchFamily="34" charset="-122"/>
                <a:cs typeface="Courier New" pitchFamily="34" charset="-120"/>
              </a:rPr>
              <a:t>"y"</a:t>
            </a:r>
            <a:r>
              <a:rPr lang="en-US" sz="1150" dirty="0">
                <a:solidFill>
                  <a:srgbClr val="E4E4F0"/>
                </a:solidFill>
                <a:latin typeface="Courier New" pitchFamily="34" charset="0"/>
                <a:ea typeface="Courier New" pitchFamily="34" charset="-122"/>
                <a:cs typeface="Courier New" pitchFamily="34" charset="-120"/>
              </a:rPr>
              <a:t>: </a:t>
            </a:r>
            <a:r>
              <a:rPr lang="en-US" sz="1150" dirty="0">
                <a:solidFill>
                  <a:srgbClr val="FAB387"/>
                </a:solidFill>
                <a:latin typeface="Courier New" pitchFamily="34" charset="0"/>
                <a:ea typeface="Courier New" pitchFamily="34" charset="-122"/>
                <a:cs typeface="Courier New" pitchFamily="34" charset="-120"/>
              </a:rPr>
              <a:t>2</a:t>
            </a:r>
            <a:r>
              <a:rPr lang="en-US" sz="1150" dirty="0">
                <a:solidFill>
                  <a:srgbClr val="E4E4F0"/>
                </a:solidFill>
                <a:latin typeface="Courier New" pitchFamily="34" charset="0"/>
                <a:ea typeface="Courier New" pitchFamily="34" charset="-122"/>
                <a:cs typeface="Courier New" pitchFamily="34" charset="-120"/>
              </a:rPr>
              <a:t>}</a:t>
            </a:r>
            <a:endParaRPr lang="en-US" sz="1150" dirty="0"/>
          </a:p>
          <a:p>
            <a:pPr marL="0" indent="0">
              <a:buNone/>
            </a:pPr>
            <a:r>
              <a:rPr lang="en-US" sz="1150" dirty="0">
                <a:solidFill>
                  <a:srgbClr val="82AAFF"/>
                </a:solidFill>
                <a:latin typeface="Courier New" pitchFamily="34" charset="0"/>
                <a:ea typeface="Courier New" pitchFamily="34" charset="-122"/>
                <a:cs typeface="Courier New" pitchFamily="34" charset="-120"/>
              </a:rPr>
              <a:t>print</a:t>
            </a:r>
            <a:r>
              <a:rPr lang="en-US" sz="1150" dirty="0">
                <a:solidFill>
                  <a:srgbClr val="E4E4F0"/>
                </a:solidFill>
                <a:latin typeface="Courier New" pitchFamily="34" charset="0"/>
                <a:ea typeface="Courier New" pitchFamily="34" charset="-122"/>
                <a:cs typeface="Courier New" pitchFamily="34" charset="-120"/>
              </a:rPr>
              <a:t>(a)</a:t>
            </a:r>
            <a:endParaRPr lang="en-US" sz="1150" dirty="0"/>
          </a:p>
          <a:p>
            <a:pPr marL="0" indent="0">
              <a:buNone/>
            </a:pPr>
            <a:r>
              <a:rPr lang="en-US" sz="1150" dirty="0">
                <a:solidFill>
                  <a:srgbClr val="E4E4F0"/>
                </a:solidFill>
                <a:latin typeface="Courier New" pitchFamily="34" charset="0"/>
                <a:ea typeface="Courier New" pitchFamily="34" charset="-122"/>
                <a:cs typeface="Courier New" pitchFamily="34" charset="-120"/>
              </a:rPr>
              <a:t> </a:t>
            </a:r>
            <a:endParaRPr lang="en-US" sz="1150" dirty="0"/>
          </a:p>
          <a:p>
            <a:pPr marL="0" indent="0">
              <a:buNone/>
            </a:pPr>
            <a:r>
              <a:rPr lang="en-US" sz="1150" dirty="0">
                <a:solidFill>
                  <a:srgbClr val="E4E4F0"/>
                </a:solidFill>
                <a:latin typeface="Courier New" pitchFamily="34" charset="0"/>
                <a:ea typeface="Courier New" pitchFamily="34" charset="-122"/>
                <a:cs typeface="Courier New" pitchFamily="34" charset="-120"/>
              </a:rPr>
              <a:t>b = </a:t>
            </a:r>
            <a:r>
              <a:rPr lang="en-US" sz="1150" dirty="0">
                <a:solidFill>
                  <a:srgbClr val="82AAFF"/>
                </a:solidFill>
                <a:latin typeface="Courier New" pitchFamily="34" charset="0"/>
                <a:ea typeface="Courier New" pitchFamily="34" charset="-122"/>
                <a:cs typeface="Courier New" pitchFamily="34" charset="-120"/>
              </a:rPr>
              <a:t>dict</a:t>
            </a:r>
            <a:r>
              <a:rPr lang="en-US" sz="1150" dirty="0">
                <a:solidFill>
                  <a:srgbClr val="E4E4F0"/>
                </a:solidFill>
                <a:latin typeface="Courier New" pitchFamily="34" charset="0"/>
                <a:ea typeface="Courier New" pitchFamily="34" charset="-122"/>
                <a:cs typeface="Courier New" pitchFamily="34" charset="-120"/>
              </a:rPr>
              <a:t>(name=</a:t>
            </a:r>
            <a:r>
              <a:rPr lang="en-US" sz="1150" dirty="0">
                <a:solidFill>
                  <a:srgbClr val="A6E3A1"/>
                </a:solidFill>
                <a:latin typeface="Courier New" pitchFamily="34" charset="0"/>
                <a:ea typeface="Courier New" pitchFamily="34" charset="-122"/>
                <a:cs typeface="Courier New" pitchFamily="34" charset="-120"/>
              </a:rPr>
              <a:t>"Sam"</a:t>
            </a:r>
            <a:r>
              <a:rPr lang="en-US" sz="1150" dirty="0">
                <a:solidFill>
                  <a:srgbClr val="E4E4F0"/>
                </a:solidFill>
                <a:latin typeface="Courier New" pitchFamily="34" charset="0"/>
                <a:ea typeface="Courier New" pitchFamily="34" charset="-122"/>
                <a:cs typeface="Courier New" pitchFamily="34" charset="-120"/>
              </a:rPr>
              <a:t>, age=</a:t>
            </a:r>
            <a:r>
              <a:rPr lang="en-US" sz="1150" dirty="0">
                <a:solidFill>
                  <a:srgbClr val="FAB387"/>
                </a:solidFill>
                <a:latin typeface="Courier New" pitchFamily="34" charset="0"/>
                <a:ea typeface="Courier New" pitchFamily="34" charset="-122"/>
                <a:cs typeface="Courier New" pitchFamily="34" charset="-120"/>
              </a:rPr>
              <a:t>20</a:t>
            </a:r>
            <a:r>
              <a:rPr lang="en-US" sz="1150" dirty="0">
                <a:solidFill>
                  <a:srgbClr val="E4E4F0"/>
                </a:solidFill>
                <a:latin typeface="Courier New" pitchFamily="34" charset="0"/>
                <a:ea typeface="Courier New" pitchFamily="34" charset="-122"/>
                <a:cs typeface="Courier New" pitchFamily="34" charset="-120"/>
              </a:rPr>
              <a:t>)</a:t>
            </a:r>
            <a:endParaRPr lang="en-US" sz="1150" dirty="0"/>
          </a:p>
          <a:p>
            <a:pPr marL="0" indent="0">
              <a:buNone/>
            </a:pPr>
            <a:r>
              <a:rPr lang="en-US" sz="1150" dirty="0">
                <a:solidFill>
                  <a:srgbClr val="82AAFF"/>
                </a:solidFill>
                <a:latin typeface="Courier New" pitchFamily="34" charset="0"/>
                <a:ea typeface="Courier New" pitchFamily="34" charset="-122"/>
                <a:cs typeface="Courier New" pitchFamily="34" charset="-120"/>
              </a:rPr>
              <a:t>print</a:t>
            </a:r>
            <a:r>
              <a:rPr lang="en-US" sz="1150" dirty="0">
                <a:solidFill>
                  <a:srgbClr val="E4E4F0"/>
                </a:solidFill>
                <a:latin typeface="Courier New" pitchFamily="34" charset="0"/>
                <a:ea typeface="Courier New" pitchFamily="34" charset="-122"/>
                <a:cs typeface="Courier New" pitchFamily="34" charset="-120"/>
              </a:rPr>
              <a:t>(b)</a:t>
            </a:r>
            <a:endParaRPr lang="en-US" sz="1150" dirty="0"/>
          </a:p>
        </p:txBody>
      </p:sp>
      <p:sp>
        <p:nvSpPr>
          <p:cNvPr id="14" name="Shape 12"/>
          <p:cNvSpPr/>
          <p:nvPr/>
        </p:nvSpPr>
        <p:spPr>
          <a:xfrm>
            <a:off x="731520" y="4544568"/>
            <a:ext cx="4975708" cy="749808"/>
          </a:xfrm>
          <a:prstGeom prst="roundRect">
            <a:avLst>
              <a:gd name="adj" fmla="val 12195"/>
            </a:avLst>
          </a:prstGeom>
          <a:solidFill>
            <a:srgbClr val="F6F6FF"/>
          </a:solidFill>
          <a:ln w="9525">
            <a:solidFill>
              <a:srgbClr val="DCDDF5"/>
            </a:solidFill>
            <a:prstDash val="solid"/>
          </a:ln>
        </p:spPr>
        <p:txBody>
          <a:bodyPr/>
          <a:lstStyle/>
          <a:p>
            <a:endParaRPr lang="en-PH"/>
          </a:p>
        </p:txBody>
      </p:sp>
      <p:sp>
        <p:nvSpPr>
          <p:cNvPr id="15" name="Text 13"/>
          <p:cNvSpPr txBox="1"/>
          <p:nvPr/>
        </p:nvSpPr>
        <p:spPr>
          <a:xfrm>
            <a:off x="877824" y="4617720"/>
            <a:ext cx="4701388" cy="182880"/>
          </a:xfrm>
          <a:prstGeom prst="rect">
            <a:avLst/>
          </a:prstGeom>
          <a:noFill/>
          <a:ln/>
        </p:spPr>
        <p:txBody>
          <a:bodyPr wrap="square" lIns="0" tIns="0" rIns="0" bIns="0" rtlCol="0" anchor="ctr"/>
          <a:lstStyle/>
          <a:p>
            <a:pPr marL="0" indent="0">
              <a:buNone/>
            </a:pPr>
            <a:r>
              <a:rPr lang="en-US" sz="850" b="1" kern="0" spc="150" dirty="0">
                <a:solidFill>
                  <a:srgbClr val="4F46E5"/>
                </a:solidFill>
                <a:latin typeface="Calibri" pitchFamily="34" charset="0"/>
                <a:ea typeface="Calibri" pitchFamily="34" charset="-122"/>
                <a:cs typeface="Calibri" pitchFamily="34" charset="-120"/>
              </a:rPr>
              <a:t>OUTPUT</a:t>
            </a:r>
            <a:endParaRPr lang="en-US" sz="850" dirty="0"/>
          </a:p>
        </p:txBody>
      </p:sp>
      <p:sp>
        <p:nvSpPr>
          <p:cNvPr id="16" name="Text 14"/>
          <p:cNvSpPr txBox="1"/>
          <p:nvPr/>
        </p:nvSpPr>
        <p:spPr>
          <a:xfrm>
            <a:off x="877824" y="4837176"/>
            <a:ext cx="4737964" cy="420624"/>
          </a:xfrm>
          <a:prstGeom prst="rect">
            <a:avLst/>
          </a:prstGeom>
          <a:noFill/>
          <a:ln/>
        </p:spPr>
        <p:txBody>
          <a:bodyPr wrap="square" lIns="0" tIns="0" rIns="0" bIns="0" rtlCol="0" anchor="t"/>
          <a:lstStyle/>
          <a:p>
            <a:pPr marL="0" indent="0">
              <a:buNone/>
            </a:pPr>
            <a:r>
              <a:rPr lang="en-US" sz="1100" dirty="0">
                <a:solidFill>
                  <a:srgbClr val="1E1B4B"/>
                </a:solidFill>
                <a:latin typeface="Courier New" pitchFamily="34" charset="0"/>
                <a:ea typeface="Courier New" pitchFamily="34" charset="-122"/>
                <a:cs typeface="Courier New" pitchFamily="34" charset="-120"/>
              </a:rPr>
              <a:t>{'x': 1, 'y': 2}</a:t>
            </a:r>
            <a:endParaRPr lang="en-US" sz="1100" dirty="0"/>
          </a:p>
          <a:p>
            <a:pPr marL="0" indent="0">
              <a:buNone/>
            </a:pPr>
            <a:r>
              <a:rPr lang="en-US" sz="1100" dirty="0">
                <a:solidFill>
                  <a:srgbClr val="1E1B4B"/>
                </a:solidFill>
                <a:latin typeface="Courier New" pitchFamily="34" charset="0"/>
                <a:ea typeface="Courier New" pitchFamily="34" charset="-122"/>
                <a:cs typeface="Courier New" pitchFamily="34" charset="-120"/>
              </a:rPr>
              <a:t>{'name': 'Sam', 'age': 20}</a:t>
            </a:r>
            <a:endParaRPr lang="en-US" sz="1100" dirty="0"/>
          </a:p>
        </p:txBody>
      </p:sp>
      <p:sp>
        <p:nvSpPr>
          <p:cNvPr id="17" name="Text 15"/>
          <p:cNvSpPr txBox="1"/>
          <p:nvPr/>
        </p:nvSpPr>
        <p:spPr>
          <a:xfrm>
            <a:off x="731520" y="5422392"/>
            <a:ext cx="4975708" cy="704088"/>
          </a:xfrm>
          <a:prstGeom prst="rect">
            <a:avLst/>
          </a:prstGeom>
          <a:noFill/>
          <a:ln/>
        </p:spPr>
        <p:txBody>
          <a:bodyPr wrap="square" lIns="0" tIns="0" rIns="0" bIns="0" rtlCol="0" anchor="t"/>
          <a:lstStyle/>
          <a:p>
            <a:pPr marL="0" indent="0">
              <a:buNone/>
            </a:pPr>
            <a:r>
              <a:rPr lang="en-US" sz="1200" b="1" dirty="0">
                <a:solidFill>
                  <a:srgbClr val="1E1B4B"/>
                </a:solidFill>
                <a:latin typeface="Calibri" pitchFamily="34" charset="0"/>
                <a:ea typeface="Calibri" pitchFamily="34" charset="-122"/>
                <a:cs typeface="Calibri" pitchFamily="34" charset="-120"/>
              </a:rPr>
              <a:t>Tip:</a:t>
            </a:r>
            <a:r>
              <a:rPr lang="en-US" sz="1200" dirty="0">
                <a:solidFill>
                  <a:srgbClr val="1E1B4B"/>
                </a:solidFill>
                <a:latin typeface="Calibri" pitchFamily="34" charset="0"/>
                <a:ea typeface="Calibri" pitchFamily="34" charset="-122"/>
                <a:cs typeface="Calibri" pitchFamily="34" charset="-120"/>
              </a:rPr>
              <a:t> An empty dictionary is written as </a:t>
            </a:r>
            <a:r>
              <a:rPr lang="en-US" sz="1200" dirty="0">
                <a:solidFill>
                  <a:srgbClr val="4F46E5"/>
                </a:solidFill>
                <a:latin typeface="Courier New" pitchFamily="34" charset="0"/>
                <a:ea typeface="Courier New" pitchFamily="34" charset="-122"/>
                <a:cs typeface="Courier New" pitchFamily="34" charset="-120"/>
              </a:rPr>
              <a:t>{}</a:t>
            </a:r>
            <a:r>
              <a:rPr lang="en-US" sz="1200" dirty="0">
                <a:solidFill>
                  <a:srgbClr val="1E1B4B"/>
                </a:solidFill>
                <a:latin typeface="Calibri" pitchFamily="34" charset="0"/>
                <a:ea typeface="Calibri" pitchFamily="34" charset="-122"/>
                <a:cs typeface="Calibri" pitchFamily="34" charset="-120"/>
              </a:rPr>
              <a:t> or </a:t>
            </a:r>
            <a:r>
              <a:rPr lang="en-US" sz="1200" dirty="0">
                <a:solidFill>
                  <a:srgbClr val="4F46E5"/>
                </a:solidFill>
                <a:latin typeface="Courier New" pitchFamily="34" charset="0"/>
                <a:ea typeface="Courier New" pitchFamily="34" charset="-122"/>
                <a:cs typeface="Courier New" pitchFamily="34" charset="-120"/>
              </a:rPr>
              <a:t>dict()</a:t>
            </a:r>
            <a:r>
              <a:rPr lang="en-US" sz="1200" dirty="0">
                <a:solidFill>
                  <a:srgbClr val="1E1B4B"/>
                </a:solidFill>
                <a:latin typeface="Calibri" pitchFamily="34" charset="0"/>
                <a:ea typeface="Calibri" pitchFamily="34" charset="-122"/>
                <a:cs typeface="Calibri" pitchFamily="34" charset="-120"/>
              </a:rPr>
              <a:t>.</a:t>
            </a:r>
            <a:endParaRPr lang="en-US" sz="1200" dirty="0"/>
          </a:p>
        </p:txBody>
      </p:sp>
      <p:sp>
        <p:nvSpPr>
          <p:cNvPr id="18" name="Shape 16"/>
          <p:cNvSpPr/>
          <p:nvPr/>
        </p:nvSpPr>
        <p:spPr>
          <a:xfrm>
            <a:off x="6255868" y="1417320"/>
            <a:ext cx="5432908" cy="4800600"/>
          </a:xfrm>
          <a:prstGeom prst="roundRect">
            <a:avLst>
              <a:gd name="adj" fmla="val 2286"/>
            </a:avLst>
          </a:prstGeom>
          <a:solidFill>
            <a:srgbClr val="FFFFFF"/>
          </a:solidFill>
          <a:ln w="9525">
            <a:solidFill>
              <a:srgbClr val="DCDDF5"/>
            </a:solidFill>
            <a:prstDash val="solid"/>
          </a:ln>
          <a:effectLst>
            <a:outerShdw blurRad="127000" dist="25400" dir="5400000" algn="bl" rotWithShape="0">
              <a:srgbClr val="4F46E5">
                <a:alpha val="12000"/>
              </a:srgbClr>
            </a:outerShdw>
          </a:effectLst>
        </p:spPr>
        <p:txBody>
          <a:bodyPr/>
          <a:lstStyle/>
          <a:p>
            <a:endParaRPr lang="en-PH"/>
          </a:p>
        </p:txBody>
      </p:sp>
      <p:sp>
        <p:nvSpPr>
          <p:cNvPr id="19" name="Shape 17"/>
          <p:cNvSpPr/>
          <p:nvPr/>
        </p:nvSpPr>
        <p:spPr>
          <a:xfrm>
            <a:off x="6457036" y="1572768"/>
            <a:ext cx="365760" cy="365760"/>
          </a:xfrm>
          <a:prstGeom prst="ellipse">
            <a:avLst/>
          </a:prstGeom>
          <a:solidFill>
            <a:srgbClr val="C8559F"/>
          </a:solidFill>
          <a:ln w="12700">
            <a:solidFill>
              <a:srgbClr val="C8559F"/>
            </a:solidFill>
            <a:prstDash val="solid"/>
          </a:ln>
        </p:spPr>
        <p:txBody>
          <a:bodyPr/>
          <a:lstStyle/>
          <a:p>
            <a:endParaRPr lang="en-PH"/>
          </a:p>
        </p:txBody>
      </p:sp>
      <p:sp>
        <p:nvSpPr>
          <p:cNvPr id="20" name="Text 18"/>
          <p:cNvSpPr txBox="1"/>
          <p:nvPr/>
        </p:nvSpPr>
        <p:spPr>
          <a:xfrm>
            <a:off x="6457036" y="1572768"/>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21" name="Text 19"/>
          <p:cNvSpPr txBox="1"/>
          <p:nvPr/>
        </p:nvSpPr>
        <p:spPr>
          <a:xfrm>
            <a:off x="6941668" y="1572768"/>
            <a:ext cx="4518508" cy="365760"/>
          </a:xfrm>
          <a:prstGeom prst="rect">
            <a:avLst/>
          </a:prstGeom>
          <a:noFill/>
          <a:ln/>
        </p:spPr>
        <p:txBody>
          <a:bodyPr wrap="square" lIns="0" tIns="0" rIns="0" bIns="0" rtlCol="0" anchor="ctr"/>
          <a:lstStyle/>
          <a:p>
            <a:pPr marL="0" indent="0">
              <a:buNone/>
            </a:pPr>
            <a:r>
              <a:rPr lang="en-US" sz="1700" b="1" dirty="0">
                <a:solidFill>
                  <a:srgbClr val="1E1B4B"/>
                </a:solidFill>
                <a:latin typeface="Calibri" pitchFamily="34" charset="0"/>
                <a:ea typeface="Calibri" pitchFamily="34" charset="-122"/>
                <a:cs typeface="Calibri" pitchFamily="34" charset="-120"/>
              </a:rPr>
              <a:t>Accessing Dictionary Items</a:t>
            </a:r>
            <a:endParaRPr lang="en-US" sz="1700" dirty="0"/>
          </a:p>
        </p:txBody>
      </p:sp>
      <p:sp>
        <p:nvSpPr>
          <p:cNvPr id="22" name="Text 20"/>
          <p:cNvSpPr txBox="1"/>
          <p:nvPr/>
        </p:nvSpPr>
        <p:spPr>
          <a:xfrm>
            <a:off x="6484468" y="2057400"/>
            <a:ext cx="4975708" cy="1051560"/>
          </a:xfrm>
          <a:prstGeom prst="rect">
            <a:avLst/>
          </a:prstGeom>
          <a:noFill/>
          <a:ln/>
        </p:spPr>
        <p:txBody>
          <a:bodyPr wrap="square" lIns="0" tIns="0" rIns="0" bIns="0" rtlCol="0" anchor="t"/>
          <a:lstStyle/>
          <a:p>
            <a:pPr marL="0" indent="0">
              <a:buNone/>
            </a:pPr>
            <a:r>
              <a:rPr lang="en-US" sz="1250" dirty="0">
                <a:solidFill>
                  <a:srgbClr val="5B5F7A"/>
                </a:solidFill>
                <a:latin typeface="Calibri" pitchFamily="34" charset="0"/>
                <a:ea typeface="Calibri" pitchFamily="34" charset="-122"/>
                <a:cs typeface="Calibri" pitchFamily="34" charset="-120"/>
              </a:rPr>
              <a:t>A value in a dictionary is accessed by using its key. This can be done either with square brackets </a:t>
            </a:r>
            <a:r>
              <a:rPr lang="en-US" sz="1250" dirty="0">
                <a:solidFill>
                  <a:srgbClr val="4F46E5"/>
                </a:solidFill>
                <a:latin typeface="Courier New" pitchFamily="34" charset="0"/>
                <a:ea typeface="Courier New" pitchFamily="34" charset="-122"/>
                <a:cs typeface="Courier New" pitchFamily="34" charset="-120"/>
              </a:rPr>
              <a:t>[ ]</a:t>
            </a:r>
            <a:r>
              <a:rPr lang="en-US" sz="1250" dirty="0">
                <a:solidFill>
                  <a:srgbClr val="5B5F7A"/>
                </a:solidFill>
                <a:latin typeface="Calibri" pitchFamily="34" charset="0"/>
                <a:ea typeface="Calibri" pitchFamily="34" charset="-122"/>
                <a:cs typeface="Calibri" pitchFamily="34" charset="-120"/>
              </a:rPr>
              <a:t> or with the </a:t>
            </a:r>
            <a:r>
              <a:rPr lang="en-US" sz="1250" dirty="0">
                <a:solidFill>
                  <a:srgbClr val="4F46E5"/>
                </a:solidFill>
                <a:latin typeface="Courier New" pitchFamily="34" charset="0"/>
                <a:ea typeface="Courier New" pitchFamily="34" charset="-122"/>
                <a:cs typeface="Courier New" pitchFamily="34" charset="-120"/>
              </a:rPr>
              <a:t>get()</a:t>
            </a:r>
            <a:r>
              <a:rPr lang="en-US" sz="1250" dirty="0">
                <a:solidFill>
                  <a:srgbClr val="5B5F7A"/>
                </a:solidFill>
                <a:latin typeface="Calibri" pitchFamily="34" charset="0"/>
                <a:ea typeface="Calibri" pitchFamily="34" charset="-122"/>
                <a:cs typeface="Calibri" pitchFamily="34" charset="-120"/>
              </a:rPr>
              <a:t> method. Both return the value linked to the given key.</a:t>
            </a:r>
            <a:endParaRPr lang="en-US" sz="1250" dirty="0"/>
          </a:p>
        </p:txBody>
      </p:sp>
      <p:sp>
        <p:nvSpPr>
          <p:cNvPr id="23" name="Shape 21"/>
          <p:cNvSpPr/>
          <p:nvPr/>
        </p:nvSpPr>
        <p:spPr>
          <a:xfrm>
            <a:off x="6484468" y="3154680"/>
            <a:ext cx="4975708" cy="1280160"/>
          </a:xfrm>
          <a:prstGeom prst="roundRect">
            <a:avLst>
              <a:gd name="adj" fmla="val 7143"/>
            </a:avLst>
          </a:prstGeom>
          <a:solidFill>
            <a:srgbClr val="1F1D36"/>
          </a:solidFill>
          <a:ln w="12700">
            <a:solidFill>
              <a:srgbClr val="1F1D36"/>
            </a:solidFill>
            <a:prstDash val="solid"/>
          </a:ln>
        </p:spPr>
        <p:txBody>
          <a:bodyPr/>
          <a:lstStyle/>
          <a:p>
            <a:endParaRPr lang="en-PH"/>
          </a:p>
        </p:txBody>
      </p:sp>
      <p:sp>
        <p:nvSpPr>
          <p:cNvPr id="24" name="Text 22"/>
          <p:cNvSpPr txBox="1"/>
          <p:nvPr/>
        </p:nvSpPr>
        <p:spPr>
          <a:xfrm>
            <a:off x="6649060" y="3236976"/>
            <a:ext cx="4646524" cy="201168"/>
          </a:xfrm>
          <a:prstGeom prst="rect">
            <a:avLst/>
          </a:prstGeom>
          <a:noFill/>
          <a:ln/>
        </p:spPr>
        <p:txBody>
          <a:bodyPr wrap="square" lIns="0" tIns="0" rIns="0" bIns="0" rtlCol="0" anchor="ctr"/>
          <a:lstStyle/>
          <a:p>
            <a:pPr marL="0" indent="0">
              <a:buNone/>
            </a:pPr>
            <a:r>
              <a:rPr lang="en-US" sz="900" b="1" dirty="0">
                <a:solidFill>
                  <a:srgbClr val="8A8FB5"/>
                </a:solidFill>
                <a:latin typeface="Calibri" pitchFamily="34" charset="0"/>
                <a:ea typeface="Calibri" pitchFamily="34" charset="-122"/>
                <a:cs typeface="Calibri" pitchFamily="34" charset="-120"/>
              </a:rPr>
              <a:t>&lt;/&gt;  Python</a:t>
            </a:r>
            <a:endParaRPr lang="en-US" sz="900" dirty="0"/>
          </a:p>
        </p:txBody>
      </p:sp>
      <p:sp>
        <p:nvSpPr>
          <p:cNvPr id="25" name="Text 23"/>
          <p:cNvSpPr txBox="1"/>
          <p:nvPr/>
        </p:nvSpPr>
        <p:spPr>
          <a:xfrm>
            <a:off x="6649060" y="3483864"/>
            <a:ext cx="4701388" cy="896112"/>
          </a:xfrm>
          <a:prstGeom prst="rect">
            <a:avLst/>
          </a:prstGeom>
          <a:noFill/>
          <a:ln/>
        </p:spPr>
        <p:txBody>
          <a:bodyPr wrap="square" lIns="0" tIns="0" rIns="0" bIns="0" rtlCol="0" anchor="t"/>
          <a:lstStyle/>
          <a:p>
            <a:pPr marL="0" indent="0">
              <a:buNone/>
            </a:pPr>
            <a:r>
              <a:rPr lang="en-US" sz="1150" dirty="0">
                <a:solidFill>
                  <a:srgbClr val="E4E4F0"/>
                </a:solidFill>
                <a:latin typeface="Courier New" pitchFamily="34" charset="0"/>
                <a:ea typeface="Courier New" pitchFamily="34" charset="-122"/>
                <a:cs typeface="Courier New" pitchFamily="34" charset="-120"/>
              </a:rPr>
              <a:t>d = {</a:t>
            </a:r>
            <a:r>
              <a:rPr lang="en-US" sz="1150" dirty="0">
                <a:solidFill>
                  <a:srgbClr val="A6E3A1"/>
                </a:solidFill>
                <a:latin typeface="Courier New" pitchFamily="34" charset="0"/>
                <a:ea typeface="Courier New" pitchFamily="34" charset="-122"/>
                <a:cs typeface="Courier New" pitchFamily="34" charset="-120"/>
              </a:rPr>
              <a:t>"name"</a:t>
            </a:r>
            <a:r>
              <a:rPr lang="en-US" sz="1150" dirty="0">
                <a:solidFill>
                  <a:srgbClr val="E4E4F0"/>
                </a:solidFill>
                <a:latin typeface="Courier New" pitchFamily="34" charset="0"/>
                <a:ea typeface="Courier New" pitchFamily="34" charset="-122"/>
                <a:cs typeface="Courier New" pitchFamily="34" charset="-120"/>
              </a:rPr>
              <a:t>: </a:t>
            </a:r>
            <a:r>
              <a:rPr lang="en-US" sz="1150" dirty="0">
                <a:solidFill>
                  <a:srgbClr val="A6E3A1"/>
                </a:solidFill>
                <a:latin typeface="Courier New" pitchFamily="34" charset="0"/>
                <a:ea typeface="Courier New" pitchFamily="34" charset="-122"/>
                <a:cs typeface="Courier New" pitchFamily="34" charset="-120"/>
              </a:rPr>
              <a:t>"Kat"</a:t>
            </a:r>
            <a:r>
              <a:rPr lang="en-US" sz="1150" dirty="0">
                <a:solidFill>
                  <a:srgbClr val="E4E4F0"/>
                </a:solidFill>
                <a:latin typeface="Courier New" pitchFamily="34" charset="0"/>
                <a:ea typeface="Courier New" pitchFamily="34" charset="-122"/>
                <a:cs typeface="Courier New" pitchFamily="34" charset="-120"/>
              </a:rPr>
              <a:t>, </a:t>
            </a:r>
            <a:r>
              <a:rPr lang="en-US" sz="1150" dirty="0">
                <a:solidFill>
                  <a:srgbClr val="A6E3A1"/>
                </a:solidFill>
                <a:latin typeface="Courier New" pitchFamily="34" charset="0"/>
                <a:ea typeface="Courier New" pitchFamily="34" charset="-122"/>
                <a:cs typeface="Courier New" pitchFamily="34" charset="-120"/>
              </a:rPr>
              <a:t>"age"</a:t>
            </a:r>
            <a:r>
              <a:rPr lang="en-US" sz="1150" dirty="0">
                <a:solidFill>
                  <a:srgbClr val="E4E4F0"/>
                </a:solidFill>
                <a:latin typeface="Courier New" pitchFamily="34" charset="0"/>
                <a:ea typeface="Courier New" pitchFamily="34" charset="-122"/>
                <a:cs typeface="Courier New" pitchFamily="34" charset="-120"/>
              </a:rPr>
              <a:t>: </a:t>
            </a:r>
            <a:r>
              <a:rPr lang="en-US" sz="1150" dirty="0">
                <a:solidFill>
                  <a:srgbClr val="FAB387"/>
                </a:solidFill>
                <a:latin typeface="Courier New" pitchFamily="34" charset="0"/>
                <a:ea typeface="Courier New" pitchFamily="34" charset="-122"/>
                <a:cs typeface="Courier New" pitchFamily="34" charset="-120"/>
              </a:rPr>
              <a:t>21</a:t>
            </a:r>
            <a:r>
              <a:rPr lang="en-US" sz="1150" dirty="0">
                <a:solidFill>
                  <a:srgbClr val="E4E4F0"/>
                </a:solidFill>
                <a:latin typeface="Courier New" pitchFamily="34" charset="0"/>
                <a:ea typeface="Courier New" pitchFamily="34" charset="-122"/>
                <a:cs typeface="Courier New" pitchFamily="34" charset="-120"/>
              </a:rPr>
              <a:t>}</a:t>
            </a:r>
            <a:endParaRPr lang="en-US" sz="1150" dirty="0"/>
          </a:p>
          <a:p>
            <a:pPr marL="0" indent="0">
              <a:buNone/>
            </a:pPr>
            <a:r>
              <a:rPr lang="en-US" sz="1150" dirty="0">
                <a:solidFill>
                  <a:srgbClr val="E4E4F0"/>
                </a:solidFill>
                <a:latin typeface="Courier New" pitchFamily="34" charset="0"/>
                <a:ea typeface="Courier New" pitchFamily="34" charset="-122"/>
                <a:cs typeface="Courier New" pitchFamily="34" charset="-120"/>
              </a:rPr>
              <a:t> </a:t>
            </a:r>
            <a:endParaRPr lang="en-US" sz="1150" dirty="0"/>
          </a:p>
          <a:p>
            <a:pPr marL="0" indent="0">
              <a:buNone/>
            </a:pPr>
            <a:r>
              <a:rPr lang="en-US" sz="1150" dirty="0">
                <a:solidFill>
                  <a:srgbClr val="82AAFF"/>
                </a:solidFill>
                <a:latin typeface="Courier New" pitchFamily="34" charset="0"/>
                <a:ea typeface="Courier New" pitchFamily="34" charset="-122"/>
                <a:cs typeface="Courier New" pitchFamily="34" charset="-120"/>
              </a:rPr>
              <a:t>print</a:t>
            </a:r>
            <a:r>
              <a:rPr lang="en-US" sz="1150" dirty="0">
                <a:solidFill>
                  <a:srgbClr val="E4E4F0"/>
                </a:solidFill>
                <a:latin typeface="Courier New" pitchFamily="34" charset="0"/>
                <a:ea typeface="Courier New" pitchFamily="34" charset="-122"/>
                <a:cs typeface="Courier New" pitchFamily="34" charset="-120"/>
              </a:rPr>
              <a:t>(d[</a:t>
            </a:r>
            <a:r>
              <a:rPr lang="en-US" sz="1150" dirty="0">
                <a:solidFill>
                  <a:srgbClr val="A6E3A1"/>
                </a:solidFill>
                <a:latin typeface="Courier New" pitchFamily="34" charset="0"/>
                <a:ea typeface="Courier New" pitchFamily="34" charset="-122"/>
                <a:cs typeface="Courier New" pitchFamily="34" charset="-120"/>
              </a:rPr>
              <a:t>"name"</a:t>
            </a:r>
            <a:r>
              <a:rPr lang="en-US" sz="1150" dirty="0">
                <a:solidFill>
                  <a:srgbClr val="E4E4F0"/>
                </a:solidFill>
                <a:latin typeface="Courier New" pitchFamily="34" charset="0"/>
                <a:ea typeface="Courier New" pitchFamily="34" charset="-122"/>
                <a:cs typeface="Courier New" pitchFamily="34" charset="-120"/>
              </a:rPr>
              <a:t>])     </a:t>
            </a:r>
            <a:r>
              <a:rPr lang="en-US" sz="1150" i="1" dirty="0">
                <a:solidFill>
                  <a:srgbClr val="8A8FB5"/>
                </a:solidFill>
                <a:latin typeface="Courier New" pitchFamily="34" charset="0"/>
                <a:ea typeface="Courier New" pitchFamily="34" charset="-122"/>
                <a:cs typeface="Courier New" pitchFamily="34" charset="-120"/>
              </a:rPr>
              <a:t># Access using key</a:t>
            </a:r>
            <a:endParaRPr lang="en-US" sz="1150" dirty="0"/>
          </a:p>
          <a:p>
            <a:pPr marL="0" indent="0">
              <a:buNone/>
            </a:pPr>
            <a:r>
              <a:rPr lang="en-US" sz="1150" dirty="0">
                <a:solidFill>
                  <a:srgbClr val="82AAFF"/>
                </a:solidFill>
                <a:latin typeface="Courier New" pitchFamily="34" charset="0"/>
                <a:ea typeface="Courier New" pitchFamily="34" charset="-122"/>
                <a:cs typeface="Courier New" pitchFamily="34" charset="-120"/>
              </a:rPr>
              <a:t>print</a:t>
            </a:r>
            <a:r>
              <a:rPr lang="en-US" sz="1150" dirty="0">
                <a:solidFill>
                  <a:srgbClr val="E4E4F0"/>
                </a:solidFill>
                <a:latin typeface="Courier New" pitchFamily="34" charset="0"/>
                <a:ea typeface="Courier New" pitchFamily="34" charset="-122"/>
                <a:cs typeface="Courier New" pitchFamily="34" charset="-120"/>
              </a:rPr>
              <a:t>(d.</a:t>
            </a:r>
            <a:r>
              <a:rPr lang="en-US" sz="1150" dirty="0">
                <a:solidFill>
                  <a:srgbClr val="89DCEB"/>
                </a:solidFill>
                <a:latin typeface="Courier New" pitchFamily="34" charset="0"/>
                <a:ea typeface="Courier New" pitchFamily="34" charset="-122"/>
                <a:cs typeface="Courier New" pitchFamily="34" charset="-120"/>
              </a:rPr>
              <a:t>get</a:t>
            </a:r>
            <a:r>
              <a:rPr lang="en-US" sz="1150" dirty="0">
                <a:solidFill>
                  <a:srgbClr val="E4E4F0"/>
                </a:solidFill>
                <a:latin typeface="Courier New" pitchFamily="34" charset="0"/>
                <a:ea typeface="Courier New" pitchFamily="34" charset="-122"/>
                <a:cs typeface="Courier New" pitchFamily="34" charset="-120"/>
              </a:rPr>
              <a:t>(</a:t>
            </a:r>
            <a:r>
              <a:rPr lang="en-US" sz="1150" dirty="0">
                <a:solidFill>
                  <a:srgbClr val="A6E3A1"/>
                </a:solidFill>
                <a:latin typeface="Courier New" pitchFamily="34" charset="0"/>
                <a:ea typeface="Courier New" pitchFamily="34" charset="-122"/>
                <a:cs typeface="Courier New" pitchFamily="34" charset="-120"/>
              </a:rPr>
              <a:t>"age"</a:t>
            </a:r>
            <a:r>
              <a:rPr lang="en-US" sz="1150" dirty="0">
                <a:solidFill>
                  <a:srgbClr val="E4E4F0"/>
                </a:solidFill>
                <a:latin typeface="Courier New" pitchFamily="34" charset="0"/>
                <a:ea typeface="Courier New" pitchFamily="34" charset="-122"/>
                <a:cs typeface="Courier New" pitchFamily="34" charset="-120"/>
              </a:rPr>
              <a:t>))  </a:t>
            </a:r>
            <a:r>
              <a:rPr lang="en-US" sz="1150" i="1" dirty="0">
                <a:solidFill>
                  <a:srgbClr val="8A8FB5"/>
                </a:solidFill>
                <a:latin typeface="Courier New" pitchFamily="34" charset="0"/>
                <a:ea typeface="Courier New" pitchFamily="34" charset="-122"/>
                <a:cs typeface="Courier New" pitchFamily="34" charset="-120"/>
              </a:rPr>
              <a:t># Access using get()</a:t>
            </a:r>
            <a:endParaRPr lang="en-US" sz="1150" dirty="0"/>
          </a:p>
        </p:txBody>
      </p:sp>
      <p:sp>
        <p:nvSpPr>
          <p:cNvPr id="26" name="Shape 24"/>
          <p:cNvSpPr/>
          <p:nvPr/>
        </p:nvSpPr>
        <p:spPr>
          <a:xfrm>
            <a:off x="6484468" y="4544568"/>
            <a:ext cx="4975708" cy="749808"/>
          </a:xfrm>
          <a:prstGeom prst="roundRect">
            <a:avLst>
              <a:gd name="adj" fmla="val 12195"/>
            </a:avLst>
          </a:prstGeom>
          <a:solidFill>
            <a:srgbClr val="F6F6FF"/>
          </a:solidFill>
          <a:ln w="9525">
            <a:solidFill>
              <a:srgbClr val="DCDDF5"/>
            </a:solidFill>
            <a:prstDash val="solid"/>
          </a:ln>
        </p:spPr>
        <p:txBody>
          <a:bodyPr/>
          <a:lstStyle/>
          <a:p>
            <a:endParaRPr lang="en-PH"/>
          </a:p>
        </p:txBody>
      </p:sp>
      <p:sp>
        <p:nvSpPr>
          <p:cNvPr id="27" name="Text 25"/>
          <p:cNvSpPr txBox="1"/>
          <p:nvPr/>
        </p:nvSpPr>
        <p:spPr>
          <a:xfrm>
            <a:off x="6630772" y="4617720"/>
            <a:ext cx="4701388" cy="182880"/>
          </a:xfrm>
          <a:prstGeom prst="rect">
            <a:avLst/>
          </a:prstGeom>
          <a:noFill/>
          <a:ln/>
        </p:spPr>
        <p:txBody>
          <a:bodyPr wrap="square" lIns="0" tIns="0" rIns="0" bIns="0" rtlCol="0" anchor="ctr"/>
          <a:lstStyle/>
          <a:p>
            <a:pPr marL="0" indent="0">
              <a:buNone/>
            </a:pPr>
            <a:r>
              <a:rPr lang="en-US" sz="850" b="1" kern="0" spc="150" dirty="0">
                <a:solidFill>
                  <a:srgbClr val="4F46E5"/>
                </a:solidFill>
                <a:latin typeface="Calibri" pitchFamily="34" charset="0"/>
                <a:ea typeface="Calibri" pitchFamily="34" charset="-122"/>
                <a:cs typeface="Calibri" pitchFamily="34" charset="-120"/>
              </a:rPr>
              <a:t>OUTPUT</a:t>
            </a:r>
            <a:endParaRPr lang="en-US" sz="850" dirty="0"/>
          </a:p>
        </p:txBody>
      </p:sp>
      <p:sp>
        <p:nvSpPr>
          <p:cNvPr id="28" name="Text 26"/>
          <p:cNvSpPr txBox="1"/>
          <p:nvPr/>
        </p:nvSpPr>
        <p:spPr>
          <a:xfrm>
            <a:off x="6630772" y="4837176"/>
            <a:ext cx="4737964" cy="420624"/>
          </a:xfrm>
          <a:prstGeom prst="rect">
            <a:avLst/>
          </a:prstGeom>
          <a:noFill/>
          <a:ln/>
        </p:spPr>
        <p:txBody>
          <a:bodyPr wrap="square" lIns="0" tIns="0" rIns="0" bIns="0" rtlCol="0" anchor="t"/>
          <a:lstStyle/>
          <a:p>
            <a:pPr marL="0" indent="0">
              <a:buNone/>
            </a:pPr>
            <a:r>
              <a:rPr lang="en-US" sz="1100" dirty="0">
                <a:solidFill>
                  <a:srgbClr val="1E1B4B"/>
                </a:solidFill>
                <a:latin typeface="Courier New" pitchFamily="34" charset="0"/>
                <a:ea typeface="Courier New" pitchFamily="34" charset="-122"/>
                <a:cs typeface="Courier New" pitchFamily="34" charset="-120"/>
              </a:rPr>
              <a:t>Kat</a:t>
            </a:r>
            <a:endParaRPr lang="en-US" sz="1100" dirty="0"/>
          </a:p>
          <a:p>
            <a:pPr marL="0" indent="0">
              <a:buNone/>
            </a:pPr>
            <a:r>
              <a:rPr lang="en-US" sz="1100" dirty="0">
                <a:solidFill>
                  <a:srgbClr val="1E1B4B"/>
                </a:solidFill>
                <a:latin typeface="Courier New" pitchFamily="34" charset="0"/>
                <a:ea typeface="Courier New" pitchFamily="34" charset="-122"/>
                <a:cs typeface="Courier New" pitchFamily="34" charset="-120"/>
              </a:rPr>
              <a:t>21</a:t>
            </a:r>
            <a:endParaRPr lang="en-US" sz="1100" dirty="0"/>
          </a:p>
        </p:txBody>
      </p:sp>
      <p:sp>
        <p:nvSpPr>
          <p:cNvPr id="29" name="Text 27"/>
          <p:cNvSpPr txBox="1"/>
          <p:nvPr/>
        </p:nvSpPr>
        <p:spPr>
          <a:xfrm>
            <a:off x="6484468" y="5422392"/>
            <a:ext cx="4975708" cy="704088"/>
          </a:xfrm>
          <a:prstGeom prst="rect">
            <a:avLst/>
          </a:prstGeom>
          <a:noFill/>
          <a:ln/>
        </p:spPr>
        <p:txBody>
          <a:bodyPr wrap="square" lIns="0" tIns="0" rIns="0" bIns="0" rtlCol="0" anchor="t"/>
          <a:lstStyle/>
          <a:p>
            <a:pPr marL="0" indent="0">
              <a:buNone/>
            </a:pPr>
            <a:r>
              <a:rPr lang="en-US" sz="1200" b="1" dirty="0">
                <a:solidFill>
                  <a:srgbClr val="1E1B4B"/>
                </a:solidFill>
                <a:latin typeface="Calibri" pitchFamily="34" charset="0"/>
                <a:ea typeface="Calibri" pitchFamily="34" charset="-122"/>
                <a:cs typeface="Calibri" pitchFamily="34" charset="-120"/>
              </a:rPr>
              <a:t>Tip:</a:t>
            </a:r>
            <a:r>
              <a:rPr lang="en-US" sz="1200" dirty="0">
                <a:solidFill>
                  <a:srgbClr val="1E1B4B"/>
                </a:solidFill>
                <a:latin typeface="Calibri" pitchFamily="34" charset="0"/>
                <a:ea typeface="Calibri" pitchFamily="34" charset="-122"/>
                <a:cs typeface="Calibri" pitchFamily="34" charset="-120"/>
              </a:rPr>
              <a:t> </a:t>
            </a:r>
            <a:r>
              <a:rPr lang="en-US" sz="1200" dirty="0">
                <a:solidFill>
                  <a:srgbClr val="4F46E5"/>
                </a:solidFill>
                <a:latin typeface="Courier New" pitchFamily="34" charset="0"/>
                <a:ea typeface="Courier New" pitchFamily="34" charset="-122"/>
                <a:cs typeface="Courier New" pitchFamily="34" charset="-120"/>
              </a:rPr>
              <a:t>d["city"]</a:t>
            </a:r>
            <a:r>
              <a:rPr lang="en-US" sz="1200" dirty="0">
                <a:solidFill>
                  <a:srgbClr val="1E1B4B"/>
                </a:solidFill>
                <a:latin typeface="Calibri" pitchFamily="34" charset="0"/>
                <a:ea typeface="Calibri" pitchFamily="34" charset="-122"/>
                <a:cs typeface="Calibri" pitchFamily="34" charset="-120"/>
              </a:rPr>
              <a:t> raises a KeyError if the key is missing, while </a:t>
            </a:r>
            <a:r>
              <a:rPr lang="en-US" sz="1200" dirty="0">
                <a:solidFill>
                  <a:srgbClr val="4F46E5"/>
                </a:solidFill>
                <a:latin typeface="Courier New" pitchFamily="34" charset="0"/>
                <a:ea typeface="Courier New" pitchFamily="34" charset="-122"/>
                <a:cs typeface="Courier New" pitchFamily="34" charset="-120"/>
              </a:rPr>
              <a:t>d.get("city")</a:t>
            </a:r>
            <a:r>
              <a:rPr lang="en-US" sz="1200" dirty="0">
                <a:solidFill>
                  <a:srgbClr val="1E1B4B"/>
                </a:solidFill>
                <a:latin typeface="Calibri" pitchFamily="34" charset="0"/>
                <a:ea typeface="Calibri" pitchFamily="34" charset="-122"/>
                <a:cs typeface="Calibri" pitchFamily="34" charset="-120"/>
              </a:rPr>
              <a:t> safely returns </a:t>
            </a:r>
            <a:r>
              <a:rPr lang="en-US" sz="1200" dirty="0">
                <a:solidFill>
                  <a:srgbClr val="4F46E5"/>
                </a:solidFill>
                <a:latin typeface="Courier New" pitchFamily="34" charset="0"/>
                <a:ea typeface="Courier New" pitchFamily="34" charset="-122"/>
                <a:cs typeface="Courier New" pitchFamily="34" charset="-120"/>
              </a:rPr>
              <a:t>None</a:t>
            </a:r>
            <a:r>
              <a:rPr lang="en-US" sz="1200" dirty="0">
                <a:solidFill>
                  <a:srgbClr val="1E1B4B"/>
                </a:solidFill>
                <a:latin typeface="Calibri" pitchFamily="34" charset="0"/>
                <a:ea typeface="Calibri" pitchFamily="34" charset="-122"/>
                <a:cs typeface="Calibri" pitchFamily="34" charset="-120"/>
              </a:rPr>
              <a:t>.</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02920" y="310896"/>
            <a:ext cx="8229600" cy="237744"/>
          </a:xfrm>
          <a:prstGeom prst="rect">
            <a:avLst/>
          </a:prstGeom>
          <a:noFill/>
          <a:ln/>
        </p:spPr>
        <p:txBody>
          <a:bodyPr wrap="square" lIns="0" tIns="0" rIns="0" bIns="0" rtlCol="0" anchor="t"/>
          <a:lstStyle/>
          <a:p>
            <a:pPr marL="0" indent="0">
              <a:buNone/>
            </a:pPr>
            <a:r>
              <a:rPr lang="en-US" sz="1050" b="1" kern="0" spc="200" dirty="0">
                <a:solidFill>
                  <a:srgbClr val="C8559F"/>
                </a:solidFill>
                <a:latin typeface="Calibri" pitchFamily="34" charset="0"/>
                <a:ea typeface="Calibri" pitchFamily="34" charset="-122"/>
                <a:cs typeface="Calibri" pitchFamily="34" charset="-120"/>
              </a:rPr>
              <a:t>DICTIONARY · CHANGE ITEMS</a:t>
            </a:r>
            <a:endParaRPr lang="en-US" sz="1050" dirty="0"/>
          </a:p>
        </p:txBody>
      </p:sp>
      <p:sp>
        <p:nvSpPr>
          <p:cNvPr id="3" name="Text 1"/>
          <p:cNvSpPr txBox="1"/>
          <p:nvPr/>
        </p:nvSpPr>
        <p:spPr>
          <a:xfrm>
            <a:off x="502920" y="530352"/>
            <a:ext cx="10241280" cy="640080"/>
          </a:xfrm>
          <a:prstGeom prst="rect">
            <a:avLst/>
          </a:prstGeom>
          <a:noFill/>
          <a:ln/>
        </p:spPr>
        <p:txBody>
          <a:bodyPr wrap="square" lIns="0" tIns="0" rIns="0" bIns="0" rtlCol="0" anchor="ctr"/>
          <a:lstStyle/>
          <a:p>
            <a:pPr marL="0" indent="0">
              <a:buNone/>
            </a:pPr>
            <a:r>
              <a:rPr lang="en-US" sz="2800" b="1" dirty="0">
                <a:solidFill>
                  <a:srgbClr val="1E1B4B"/>
                </a:solidFill>
                <a:latin typeface="Calibri" pitchFamily="34" charset="0"/>
                <a:ea typeface="Calibri" pitchFamily="34" charset="-122"/>
                <a:cs typeface="Calibri" pitchFamily="34" charset="-120"/>
              </a:rPr>
              <a:t>Adding, Updating and Removing Dictionary Items</a:t>
            </a:r>
            <a:endParaRPr lang="en-US" sz="2800" dirty="0"/>
          </a:p>
        </p:txBody>
      </p:sp>
      <p:sp>
        <p:nvSpPr>
          <p:cNvPr id="4" name="Text 2"/>
          <p:cNvSpPr txBox="1"/>
          <p:nvPr/>
        </p:nvSpPr>
        <p:spPr>
          <a:xfrm>
            <a:off x="502920" y="6446520"/>
            <a:ext cx="5486400" cy="228600"/>
          </a:xfrm>
          <a:prstGeom prst="rect">
            <a:avLst/>
          </a:prstGeom>
          <a:noFill/>
          <a:ln/>
        </p:spPr>
        <p:txBody>
          <a:bodyPr wrap="square" lIns="0" tIns="0" rIns="0" bIns="0" rtlCol="0" anchor="t"/>
          <a:lstStyle/>
          <a:p>
            <a:pPr marL="0" indent="0">
              <a:buNone/>
            </a:pPr>
            <a:r>
              <a:rPr lang="en-US" sz="900" dirty="0">
                <a:solidFill>
                  <a:srgbClr val="5B5F7A"/>
                </a:solidFill>
                <a:latin typeface="Calibri" pitchFamily="34" charset="0"/>
                <a:ea typeface="Calibri" pitchFamily="34" charset="-122"/>
                <a:cs typeface="Calibri" pitchFamily="34" charset="-120"/>
              </a:rPr>
              <a:t>Python  ·  Dictionary</a:t>
            </a:r>
            <a:endParaRPr lang="en-US" sz="900" dirty="0"/>
          </a:p>
        </p:txBody>
      </p:sp>
      <p:sp>
        <p:nvSpPr>
          <p:cNvPr id="5" name="Text 3"/>
          <p:cNvSpPr txBox="1"/>
          <p:nvPr/>
        </p:nvSpPr>
        <p:spPr>
          <a:xfrm>
            <a:off x="11140135" y="6446520"/>
            <a:ext cx="548640" cy="228600"/>
          </a:xfrm>
          <a:prstGeom prst="rect">
            <a:avLst/>
          </a:prstGeom>
          <a:noFill/>
          <a:ln/>
        </p:spPr>
        <p:txBody>
          <a:bodyPr wrap="square" lIns="0" tIns="0" rIns="0" bIns="0" rtlCol="0" anchor="t"/>
          <a:lstStyle/>
          <a:p>
            <a:pPr marL="0" indent="0" algn="r">
              <a:buNone/>
            </a:pPr>
            <a:r>
              <a:rPr lang="en-US" sz="900" dirty="0">
                <a:solidFill>
                  <a:srgbClr val="5B5F7A"/>
                </a:solidFill>
                <a:latin typeface="Calibri" pitchFamily="34" charset="0"/>
                <a:ea typeface="Calibri" pitchFamily="34" charset="-122"/>
                <a:cs typeface="Calibri" pitchFamily="34" charset="-120"/>
              </a:rPr>
              <a:t>22</a:t>
            </a:r>
            <a:endParaRPr lang="en-US" sz="900" dirty="0"/>
          </a:p>
        </p:txBody>
      </p:sp>
      <p:sp>
        <p:nvSpPr>
          <p:cNvPr id="6" name="Shape 4"/>
          <p:cNvSpPr/>
          <p:nvPr/>
        </p:nvSpPr>
        <p:spPr>
          <a:xfrm>
            <a:off x="502920" y="1417320"/>
            <a:ext cx="5432908" cy="4800600"/>
          </a:xfrm>
          <a:prstGeom prst="roundRect">
            <a:avLst>
              <a:gd name="adj" fmla="val 2286"/>
            </a:avLst>
          </a:prstGeom>
          <a:solidFill>
            <a:srgbClr val="FFFFFF"/>
          </a:solidFill>
          <a:ln w="9525">
            <a:solidFill>
              <a:srgbClr val="DCDDF5"/>
            </a:solidFill>
            <a:prstDash val="solid"/>
          </a:ln>
          <a:effectLst>
            <a:outerShdw blurRad="127000" dist="25400" dir="5400000" algn="bl" rotWithShape="0">
              <a:srgbClr val="4F46E5">
                <a:alpha val="12000"/>
              </a:srgbClr>
            </a:outerShdw>
          </a:effectLst>
        </p:spPr>
        <p:txBody>
          <a:bodyPr/>
          <a:lstStyle/>
          <a:p>
            <a:endParaRPr lang="en-PH"/>
          </a:p>
        </p:txBody>
      </p:sp>
      <p:sp>
        <p:nvSpPr>
          <p:cNvPr id="7" name="Text 5"/>
          <p:cNvSpPr txBox="1"/>
          <p:nvPr/>
        </p:nvSpPr>
        <p:spPr>
          <a:xfrm>
            <a:off x="731520" y="1554480"/>
            <a:ext cx="4975708" cy="365760"/>
          </a:xfrm>
          <a:prstGeom prst="rect">
            <a:avLst/>
          </a:prstGeom>
          <a:noFill/>
          <a:ln/>
        </p:spPr>
        <p:txBody>
          <a:bodyPr wrap="square" lIns="0" tIns="0" rIns="0" bIns="0" rtlCol="0" anchor="t"/>
          <a:lstStyle/>
          <a:p>
            <a:pPr marL="0" indent="0">
              <a:buNone/>
            </a:pPr>
            <a:r>
              <a:rPr lang="en-US" sz="1650" b="1" dirty="0">
                <a:solidFill>
                  <a:srgbClr val="4F46E5"/>
                </a:solidFill>
                <a:latin typeface="Calibri" pitchFamily="34" charset="0"/>
                <a:ea typeface="Calibri" pitchFamily="34" charset="-122"/>
                <a:cs typeface="Calibri" pitchFamily="34" charset="-120"/>
              </a:rPr>
              <a:t>Adding and Updating Dictionary Items</a:t>
            </a:r>
            <a:endParaRPr lang="en-US" sz="1650" dirty="0"/>
          </a:p>
        </p:txBody>
      </p:sp>
      <p:sp>
        <p:nvSpPr>
          <p:cNvPr id="8" name="Text 6"/>
          <p:cNvSpPr txBox="1"/>
          <p:nvPr/>
        </p:nvSpPr>
        <p:spPr>
          <a:xfrm>
            <a:off x="731520" y="1938528"/>
            <a:ext cx="4975708" cy="1005840"/>
          </a:xfrm>
          <a:prstGeom prst="rect">
            <a:avLst/>
          </a:prstGeom>
          <a:noFill/>
          <a:ln/>
        </p:spPr>
        <p:txBody>
          <a:bodyPr wrap="square" lIns="0" tIns="0" rIns="0" bIns="0" rtlCol="0" anchor="t"/>
          <a:lstStyle/>
          <a:p>
            <a:pPr marL="0" indent="0">
              <a:buNone/>
            </a:pPr>
            <a:r>
              <a:rPr lang="en-US" sz="1200" dirty="0">
                <a:solidFill>
                  <a:srgbClr val="5B5F7A"/>
                </a:solidFill>
                <a:latin typeface="Calibri" pitchFamily="34" charset="0"/>
                <a:ea typeface="Calibri" pitchFamily="34" charset="-122"/>
                <a:cs typeface="Calibri" pitchFamily="34" charset="-120"/>
              </a:rPr>
              <a:t>New items are added to a dictionary using the assignment operator </a:t>
            </a:r>
            <a:r>
              <a:rPr lang="en-US" sz="1200" dirty="0">
                <a:solidFill>
                  <a:srgbClr val="4F46E5"/>
                </a:solidFill>
                <a:latin typeface="Courier New" pitchFamily="34" charset="0"/>
                <a:ea typeface="Courier New" pitchFamily="34" charset="-122"/>
                <a:cs typeface="Courier New" pitchFamily="34" charset="-120"/>
              </a:rPr>
              <a:t>(=)</a:t>
            </a:r>
            <a:r>
              <a:rPr lang="en-US" sz="1200" dirty="0">
                <a:solidFill>
                  <a:srgbClr val="5B5F7A"/>
                </a:solidFill>
                <a:latin typeface="Calibri" pitchFamily="34" charset="0"/>
                <a:ea typeface="Calibri" pitchFamily="34" charset="-122"/>
                <a:cs typeface="Calibri" pitchFamily="34" charset="-120"/>
              </a:rPr>
              <a:t> by giving a new key a value. If an existing key is used with the assignment operator, its value is updated with the new one.</a:t>
            </a:r>
            <a:endParaRPr lang="en-US" sz="1200" dirty="0"/>
          </a:p>
        </p:txBody>
      </p:sp>
      <p:sp>
        <p:nvSpPr>
          <p:cNvPr id="9" name="Shape 7"/>
          <p:cNvSpPr/>
          <p:nvPr/>
        </p:nvSpPr>
        <p:spPr>
          <a:xfrm>
            <a:off x="731520" y="2971800"/>
            <a:ext cx="4975708" cy="1417320"/>
          </a:xfrm>
          <a:prstGeom prst="roundRect">
            <a:avLst>
              <a:gd name="adj" fmla="val 6452"/>
            </a:avLst>
          </a:prstGeom>
          <a:solidFill>
            <a:srgbClr val="1F1D36"/>
          </a:solidFill>
          <a:ln w="12700">
            <a:solidFill>
              <a:srgbClr val="1F1D36"/>
            </a:solidFill>
            <a:prstDash val="solid"/>
          </a:ln>
        </p:spPr>
        <p:txBody>
          <a:bodyPr/>
          <a:lstStyle/>
          <a:p>
            <a:endParaRPr lang="en-PH"/>
          </a:p>
        </p:txBody>
      </p:sp>
      <p:sp>
        <p:nvSpPr>
          <p:cNvPr id="10" name="Text 8"/>
          <p:cNvSpPr txBox="1"/>
          <p:nvPr/>
        </p:nvSpPr>
        <p:spPr>
          <a:xfrm>
            <a:off x="896112" y="3054096"/>
            <a:ext cx="4646524" cy="201168"/>
          </a:xfrm>
          <a:prstGeom prst="rect">
            <a:avLst/>
          </a:prstGeom>
          <a:noFill/>
          <a:ln/>
        </p:spPr>
        <p:txBody>
          <a:bodyPr wrap="square" lIns="0" tIns="0" rIns="0" bIns="0" rtlCol="0" anchor="ctr"/>
          <a:lstStyle/>
          <a:p>
            <a:pPr marL="0" indent="0">
              <a:buNone/>
            </a:pPr>
            <a:r>
              <a:rPr lang="en-US" sz="900" b="1" dirty="0">
                <a:solidFill>
                  <a:srgbClr val="8A8FB5"/>
                </a:solidFill>
                <a:latin typeface="Calibri" pitchFamily="34" charset="0"/>
                <a:ea typeface="Calibri" pitchFamily="34" charset="-122"/>
                <a:cs typeface="Calibri" pitchFamily="34" charset="-120"/>
              </a:rPr>
              <a:t>&lt;/&gt;  Python</a:t>
            </a:r>
            <a:endParaRPr lang="en-US" sz="900" dirty="0"/>
          </a:p>
        </p:txBody>
      </p:sp>
      <p:sp>
        <p:nvSpPr>
          <p:cNvPr id="11" name="Text 9"/>
          <p:cNvSpPr txBox="1"/>
          <p:nvPr/>
        </p:nvSpPr>
        <p:spPr>
          <a:xfrm>
            <a:off x="896112" y="3300984"/>
            <a:ext cx="4701388" cy="1033272"/>
          </a:xfrm>
          <a:prstGeom prst="rect">
            <a:avLst/>
          </a:prstGeom>
          <a:noFill/>
          <a:ln/>
        </p:spPr>
        <p:txBody>
          <a:bodyPr wrap="square" lIns="0" tIns="0" rIns="0" bIns="0" rtlCol="0" anchor="t"/>
          <a:lstStyle/>
          <a:p>
            <a:pPr marL="0" indent="0">
              <a:buNone/>
            </a:pPr>
            <a:r>
              <a:rPr lang="en-US" sz="1050" dirty="0">
                <a:solidFill>
                  <a:srgbClr val="E4E4F0"/>
                </a:solidFill>
                <a:latin typeface="Courier New" pitchFamily="34" charset="0"/>
                <a:ea typeface="Courier New" pitchFamily="34" charset="-122"/>
                <a:cs typeface="Courier New" pitchFamily="34" charset="-120"/>
              </a:rPr>
              <a:t>d = {</a:t>
            </a:r>
            <a:r>
              <a:rPr lang="en-US" sz="1050" dirty="0">
                <a:solidFill>
                  <a:srgbClr val="A6E3A1"/>
                </a:solidFill>
                <a:latin typeface="Courier New" pitchFamily="34" charset="0"/>
                <a:ea typeface="Courier New" pitchFamily="34" charset="-122"/>
                <a:cs typeface="Courier New" pitchFamily="34" charset="-120"/>
              </a:rPr>
              <a:t>"name"</a:t>
            </a:r>
            <a:r>
              <a:rPr lang="en-US" sz="1050" dirty="0">
                <a:solidFill>
                  <a:srgbClr val="E4E4F0"/>
                </a:solidFill>
                <a:latin typeface="Courier New" pitchFamily="34" charset="0"/>
                <a:ea typeface="Courier New" pitchFamily="34" charset="-122"/>
                <a:cs typeface="Courier New" pitchFamily="34" charset="-120"/>
              </a:rPr>
              <a:t>: </a:t>
            </a:r>
            <a:r>
              <a:rPr lang="en-US" sz="1050" dirty="0">
                <a:solidFill>
                  <a:srgbClr val="A6E3A1"/>
                </a:solidFill>
                <a:latin typeface="Courier New" pitchFamily="34" charset="0"/>
                <a:ea typeface="Courier New" pitchFamily="34" charset="-122"/>
                <a:cs typeface="Courier New" pitchFamily="34" charset="-120"/>
              </a:rPr>
              <a:t>"Sam"</a:t>
            </a:r>
            <a:r>
              <a:rPr lang="en-US" sz="1050" dirty="0">
                <a:solidFill>
                  <a:srgbClr val="E4E4F0"/>
                </a:solidFill>
                <a:latin typeface="Courier New" pitchFamily="34" charset="0"/>
                <a:ea typeface="Courier New" pitchFamily="34" charset="-122"/>
                <a:cs typeface="Courier New" pitchFamily="34" charset="-120"/>
              </a:rPr>
              <a:t>}</a:t>
            </a:r>
            <a:endParaRPr lang="en-US" sz="1050" dirty="0"/>
          </a:p>
          <a:p>
            <a:pPr marL="0" indent="0">
              <a:buNone/>
            </a:pPr>
            <a:r>
              <a:rPr lang="en-US" sz="1050" dirty="0">
                <a:solidFill>
                  <a:srgbClr val="E4E4F0"/>
                </a:solidFill>
                <a:latin typeface="Courier New" pitchFamily="34" charset="0"/>
                <a:ea typeface="Courier New" pitchFamily="34" charset="-122"/>
                <a:cs typeface="Courier New" pitchFamily="34" charset="-120"/>
              </a:rPr>
              <a:t>d[</a:t>
            </a:r>
            <a:r>
              <a:rPr lang="en-US" sz="1050" dirty="0">
                <a:solidFill>
                  <a:srgbClr val="A6E3A1"/>
                </a:solidFill>
                <a:latin typeface="Courier New" pitchFamily="34" charset="0"/>
                <a:ea typeface="Courier New" pitchFamily="34" charset="-122"/>
                <a:cs typeface="Courier New" pitchFamily="34" charset="-120"/>
              </a:rPr>
              <a:t>"age"</a:t>
            </a:r>
            <a:r>
              <a:rPr lang="en-US" sz="1050" dirty="0">
                <a:solidFill>
                  <a:srgbClr val="E4E4F0"/>
                </a:solidFill>
                <a:latin typeface="Courier New" pitchFamily="34" charset="0"/>
                <a:ea typeface="Courier New" pitchFamily="34" charset="-122"/>
                <a:cs typeface="Courier New" pitchFamily="34" charset="-120"/>
              </a:rPr>
              <a:t>] = </a:t>
            </a:r>
            <a:r>
              <a:rPr lang="en-US" sz="1050" dirty="0">
                <a:solidFill>
                  <a:srgbClr val="FAB387"/>
                </a:solidFill>
                <a:latin typeface="Courier New" pitchFamily="34" charset="0"/>
                <a:ea typeface="Courier New" pitchFamily="34" charset="-122"/>
                <a:cs typeface="Courier New" pitchFamily="34" charset="-120"/>
              </a:rPr>
              <a:t>21</a:t>
            </a:r>
            <a:r>
              <a:rPr lang="en-US" sz="1050" dirty="0">
                <a:solidFill>
                  <a:srgbClr val="E4E4F0"/>
                </a:solidFill>
                <a:latin typeface="Courier New" pitchFamily="34" charset="0"/>
                <a:ea typeface="Courier New" pitchFamily="34" charset="-122"/>
                <a:cs typeface="Courier New" pitchFamily="34" charset="-120"/>
              </a:rPr>
              <a:t>        </a:t>
            </a:r>
            <a:r>
              <a:rPr lang="en-US" sz="1050" i="1" dirty="0">
                <a:solidFill>
                  <a:srgbClr val="8A8FB5"/>
                </a:solidFill>
                <a:latin typeface="Courier New" pitchFamily="34" charset="0"/>
                <a:ea typeface="Courier New" pitchFamily="34" charset="-122"/>
                <a:cs typeface="Courier New" pitchFamily="34" charset="-120"/>
              </a:rPr>
              <a:t># Adding a new key-value pair</a:t>
            </a:r>
            <a:endParaRPr lang="en-US" sz="1050" dirty="0"/>
          </a:p>
          <a:p>
            <a:pPr marL="0" indent="0">
              <a:buNone/>
            </a:pPr>
            <a:r>
              <a:rPr lang="en-US" sz="1050" dirty="0">
                <a:solidFill>
                  <a:srgbClr val="E4E4F0"/>
                </a:solidFill>
                <a:latin typeface="Courier New" pitchFamily="34" charset="0"/>
                <a:ea typeface="Courier New" pitchFamily="34" charset="-122"/>
                <a:cs typeface="Courier New" pitchFamily="34" charset="-120"/>
              </a:rPr>
              <a:t>d[</a:t>
            </a:r>
            <a:r>
              <a:rPr lang="en-US" sz="1050" dirty="0">
                <a:solidFill>
                  <a:srgbClr val="A6E3A1"/>
                </a:solidFill>
                <a:latin typeface="Courier New" pitchFamily="34" charset="0"/>
                <a:ea typeface="Courier New" pitchFamily="34" charset="-122"/>
                <a:cs typeface="Courier New" pitchFamily="34" charset="-120"/>
              </a:rPr>
              <a:t>"name"</a:t>
            </a:r>
            <a:r>
              <a:rPr lang="en-US" sz="1050" dirty="0">
                <a:solidFill>
                  <a:srgbClr val="E4E4F0"/>
                </a:solidFill>
                <a:latin typeface="Courier New" pitchFamily="34" charset="0"/>
                <a:ea typeface="Courier New" pitchFamily="34" charset="-122"/>
                <a:cs typeface="Courier New" pitchFamily="34" charset="-120"/>
              </a:rPr>
              <a:t>] = </a:t>
            </a:r>
            <a:r>
              <a:rPr lang="en-US" sz="1050" dirty="0">
                <a:solidFill>
                  <a:srgbClr val="A6E3A1"/>
                </a:solidFill>
                <a:latin typeface="Courier New" pitchFamily="34" charset="0"/>
                <a:ea typeface="Courier New" pitchFamily="34" charset="-122"/>
                <a:cs typeface="Courier New" pitchFamily="34" charset="-120"/>
              </a:rPr>
              <a:t>"Alex"</a:t>
            </a:r>
            <a:r>
              <a:rPr lang="en-US" sz="1050" dirty="0">
                <a:solidFill>
                  <a:srgbClr val="E4E4F0"/>
                </a:solidFill>
                <a:latin typeface="Courier New" pitchFamily="34" charset="0"/>
                <a:ea typeface="Courier New" pitchFamily="34" charset="-122"/>
                <a:cs typeface="Courier New" pitchFamily="34" charset="-120"/>
              </a:rPr>
              <a:t>   </a:t>
            </a:r>
            <a:r>
              <a:rPr lang="en-US" sz="1050" i="1" dirty="0">
                <a:solidFill>
                  <a:srgbClr val="8A8FB5"/>
                </a:solidFill>
                <a:latin typeface="Courier New" pitchFamily="34" charset="0"/>
                <a:ea typeface="Courier New" pitchFamily="34" charset="-122"/>
                <a:cs typeface="Courier New" pitchFamily="34" charset="-120"/>
              </a:rPr>
              <a:t># Updating an existing value</a:t>
            </a:r>
            <a:endParaRPr lang="en-US" sz="1050" dirty="0"/>
          </a:p>
          <a:p>
            <a:pPr marL="0" indent="0">
              <a:buNone/>
            </a:pPr>
            <a:r>
              <a:rPr lang="en-US" sz="1050" dirty="0">
                <a:solidFill>
                  <a:srgbClr val="82AAFF"/>
                </a:solidFill>
                <a:latin typeface="Courier New" pitchFamily="34" charset="0"/>
                <a:ea typeface="Courier New" pitchFamily="34" charset="-122"/>
                <a:cs typeface="Courier New" pitchFamily="34" charset="-120"/>
              </a:rPr>
              <a:t>print</a:t>
            </a:r>
            <a:r>
              <a:rPr lang="en-US" sz="1050" dirty="0">
                <a:solidFill>
                  <a:srgbClr val="E4E4F0"/>
                </a:solidFill>
                <a:latin typeface="Courier New" pitchFamily="34" charset="0"/>
                <a:ea typeface="Courier New" pitchFamily="34" charset="-122"/>
                <a:cs typeface="Courier New" pitchFamily="34" charset="-120"/>
              </a:rPr>
              <a:t>(d)</a:t>
            </a:r>
            <a:endParaRPr lang="en-US" sz="1050" dirty="0"/>
          </a:p>
        </p:txBody>
      </p:sp>
      <p:sp>
        <p:nvSpPr>
          <p:cNvPr id="12" name="Shape 10"/>
          <p:cNvSpPr/>
          <p:nvPr/>
        </p:nvSpPr>
        <p:spPr>
          <a:xfrm>
            <a:off x="731520" y="4498848"/>
            <a:ext cx="4975708" cy="896112"/>
          </a:xfrm>
          <a:prstGeom prst="roundRect">
            <a:avLst>
              <a:gd name="adj" fmla="val 10204"/>
            </a:avLst>
          </a:prstGeom>
          <a:solidFill>
            <a:srgbClr val="F6F6FF"/>
          </a:solidFill>
          <a:ln w="9525">
            <a:solidFill>
              <a:srgbClr val="DCDDF5"/>
            </a:solidFill>
            <a:prstDash val="solid"/>
          </a:ln>
        </p:spPr>
        <p:txBody>
          <a:bodyPr/>
          <a:lstStyle/>
          <a:p>
            <a:endParaRPr lang="en-PH"/>
          </a:p>
        </p:txBody>
      </p:sp>
      <p:sp>
        <p:nvSpPr>
          <p:cNvPr id="13" name="Text 11"/>
          <p:cNvSpPr txBox="1"/>
          <p:nvPr/>
        </p:nvSpPr>
        <p:spPr>
          <a:xfrm>
            <a:off x="877824" y="4572000"/>
            <a:ext cx="4701388" cy="182880"/>
          </a:xfrm>
          <a:prstGeom prst="rect">
            <a:avLst/>
          </a:prstGeom>
          <a:noFill/>
          <a:ln/>
        </p:spPr>
        <p:txBody>
          <a:bodyPr wrap="square" lIns="0" tIns="0" rIns="0" bIns="0" rtlCol="0" anchor="ctr"/>
          <a:lstStyle/>
          <a:p>
            <a:pPr marL="0" indent="0">
              <a:buNone/>
            </a:pPr>
            <a:r>
              <a:rPr lang="en-US" sz="850" b="1" kern="0" spc="150" dirty="0">
                <a:solidFill>
                  <a:srgbClr val="4F46E5"/>
                </a:solidFill>
                <a:latin typeface="Calibri" pitchFamily="34" charset="0"/>
                <a:ea typeface="Calibri" pitchFamily="34" charset="-122"/>
                <a:cs typeface="Calibri" pitchFamily="34" charset="-120"/>
              </a:rPr>
              <a:t>OUTPUT</a:t>
            </a:r>
            <a:endParaRPr lang="en-US" sz="850" dirty="0"/>
          </a:p>
        </p:txBody>
      </p:sp>
      <p:sp>
        <p:nvSpPr>
          <p:cNvPr id="14" name="Text 12"/>
          <p:cNvSpPr txBox="1"/>
          <p:nvPr/>
        </p:nvSpPr>
        <p:spPr>
          <a:xfrm>
            <a:off x="877824" y="4791456"/>
            <a:ext cx="4737964" cy="566928"/>
          </a:xfrm>
          <a:prstGeom prst="rect">
            <a:avLst/>
          </a:prstGeom>
          <a:noFill/>
          <a:ln/>
        </p:spPr>
        <p:txBody>
          <a:bodyPr wrap="square" lIns="0" tIns="0" rIns="0" bIns="0" rtlCol="0" anchor="t"/>
          <a:lstStyle/>
          <a:p>
            <a:pPr marL="0" indent="0">
              <a:buNone/>
            </a:pPr>
            <a:r>
              <a:rPr lang="en-US" sz="1050" dirty="0">
                <a:solidFill>
                  <a:srgbClr val="1E1B4B"/>
                </a:solidFill>
                <a:latin typeface="Courier New" pitchFamily="34" charset="0"/>
                <a:ea typeface="Courier New" pitchFamily="34" charset="-122"/>
                <a:cs typeface="Courier New" pitchFamily="34" charset="-120"/>
              </a:rPr>
              <a:t>{'name': 'Alex', 'age': 21}</a:t>
            </a:r>
            <a:endParaRPr lang="en-US" sz="1050" dirty="0"/>
          </a:p>
        </p:txBody>
      </p:sp>
      <p:sp>
        <p:nvSpPr>
          <p:cNvPr id="15" name="Shape 13"/>
          <p:cNvSpPr/>
          <p:nvPr/>
        </p:nvSpPr>
        <p:spPr>
          <a:xfrm>
            <a:off x="731520" y="5504688"/>
            <a:ext cx="2419274" cy="603504"/>
          </a:xfrm>
          <a:prstGeom prst="roundRect">
            <a:avLst>
              <a:gd name="adj" fmla="val 12121"/>
            </a:avLst>
          </a:prstGeom>
          <a:solidFill>
            <a:srgbClr val="F1F1FE"/>
          </a:solidFill>
          <a:ln w="9525">
            <a:solidFill>
              <a:srgbClr val="DCDDF5"/>
            </a:solidFill>
            <a:prstDash val="solid"/>
          </a:ln>
        </p:spPr>
        <p:txBody>
          <a:bodyPr/>
          <a:lstStyle/>
          <a:p>
            <a:endParaRPr lang="en-PH"/>
          </a:p>
        </p:txBody>
      </p:sp>
      <p:sp>
        <p:nvSpPr>
          <p:cNvPr id="16" name="Text 14"/>
          <p:cNvSpPr txBox="1"/>
          <p:nvPr/>
        </p:nvSpPr>
        <p:spPr>
          <a:xfrm>
            <a:off x="841248" y="5559552"/>
            <a:ext cx="2199818" cy="256032"/>
          </a:xfrm>
          <a:prstGeom prst="rect">
            <a:avLst/>
          </a:prstGeom>
          <a:noFill/>
          <a:ln/>
        </p:spPr>
        <p:txBody>
          <a:bodyPr wrap="square" lIns="0" tIns="0" rIns="0" bIns="0" rtlCol="0" anchor="t"/>
          <a:lstStyle/>
          <a:p>
            <a:pPr marL="0" indent="0">
              <a:buNone/>
            </a:pPr>
            <a:r>
              <a:rPr lang="en-US" sz="1000" b="1" dirty="0">
                <a:solidFill>
                  <a:srgbClr val="4F46E5"/>
                </a:solidFill>
                <a:latin typeface="Courier New" pitchFamily="34" charset="0"/>
                <a:ea typeface="Courier New" pitchFamily="34" charset="-122"/>
                <a:cs typeface="Courier New" pitchFamily="34" charset="-120"/>
              </a:rPr>
              <a:t>d["age"] = 21</a:t>
            </a:r>
            <a:endParaRPr lang="en-US" sz="1000" dirty="0"/>
          </a:p>
        </p:txBody>
      </p:sp>
      <p:sp>
        <p:nvSpPr>
          <p:cNvPr id="17" name="Text 15"/>
          <p:cNvSpPr txBox="1"/>
          <p:nvPr/>
        </p:nvSpPr>
        <p:spPr>
          <a:xfrm>
            <a:off x="841248" y="5815584"/>
            <a:ext cx="2199818" cy="237744"/>
          </a:xfrm>
          <a:prstGeom prst="rect">
            <a:avLst/>
          </a:prstGeom>
          <a:noFill/>
          <a:ln/>
        </p:spPr>
        <p:txBody>
          <a:bodyPr wrap="square" lIns="0" tIns="0" rIns="0" bIns="0" rtlCol="0" anchor="t"/>
          <a:lstStyle/>
          <a:p>
            <a:pPr marL="0" indent="0">
              <a:buNone/>
            </a:pPr>
            <a:r>
              <a:rPr lang="en-US" sz="1050" dirty="0">
                <a:solidFill>
                  <a:srgbClr val="5B5F7A"/>
                </a:solidFill>
                <a:latin typeface="Calibri" pitchFamily="34" charset="0"/>
                <a:ea typeface="Calibri" pitchFamily="34" charset="-122"/>
                <a:cs typeface="Calibri" pitchFamily="34" charset="-120"/>
              </a:rPr>
              <a:t>new key → added</a:t>
            </a:r>
            <a:endParaRPr lang="en-US" sz="1050" dirty="0"/>
          </a:p>
        </p:txBody>
      </p:sp>
      <p:sp>
        <p:nvSpPr>
          <p:cNvPr id="18" name="Shape 16"/>
          <p:cNvSpPr/>
          <p:nvPr/>
        </p:nvSpPr>
        <p:spPr>
          <a:xfrm>
            <a:off x="3287954" y="5504688"/>
            <a:ext cx="2419274" cy="603504"/>
          </a:xfrm>
          <a:prstGeom prst="roundRect">
            <a:avLst>
              <a:gd name="adj" fmla="val 12121"/>
            </a:avLst>
          </a:prstGeom>
          <a:solidFill>
            <a:srgbClr val="F1F1FE"/>
          </a:solidFill>
          <a:ln w="9525">
            <a:solidFill>
              <a:srgbClr val="DCDDF5"/>
            </a:solidFill>
            <a:prstDash val="solid"/>
          </a:ln>
        </p:spPr>
        <p:txBody>
          <a:bodyPr/>
          <a:lstStyle/>
          <a:p>
            <a:endParaRPr lang="en-PH"/>
          </a:p>
        </p:txBody>
      </p:sp>
      <p:sp>
        <p:nvSpPr>
          <p:cNvPr id="19" name="Text 17"/>
          <p:cNvSpPr txBox="1"/>
          <p:nvPr/>
        </p:nvSpPr>
        <p:spPr>
          <a:xfrm>
            <a:off x="3397682" y="5559552"/>
            <a:ext cx="2199818" cy="256032"/>
          </a:xfrm>
          <a:prstGeom prst="rect">
            <a:avLst/>
          </a:prstGeom>
          <a:noFill/>
          <a:ln/>
        </p:spPr>
        <p:txBody>
          <a:bodyPr wrap="square" lIns="0" tIns="0" rIns="0" bIns="0" rtlCol="0" anchor="t"/>
          <a:lstStyle/>
          <a:p>
            <a:pPr marL="0" indent="0">
              <a:buNone/>
            </a:pPr>
            <a:r>
              <a:rPr lang="en-US" sz="1000" b="1" dirty="0">
                <a:solidFill>
                  <a:srgbClr val="4F46E5"/>
                </a:solidFill>
                <a:latin typeface="Courier New" pitchFamily="34" charset="0"/>
                <a:ea typeface="Courier New" pitchFamily="34" charset="-122"/>
                <a:cs typeface="Courier New" pitchFamily="34" charset="-120"/>
              </a:rPr>
              <a:t>d["name"] = "Alex"</a:t>
            </a:r>
            <a:endParaRPr lang="en-US" sz="1000" dirty="0"/>
          </a:p>
        </p:txBody>
      </p:sp>
      <p:sp>
        <p:nvSpPr>
          <p:cNvPr id="20" name="Text 18"/>
          <p:cNvSpPr txBox="1"/>
          <p:nvPr/>
        </p:nvSpPr>
        <p:spPr>
          <a:xfrm>
            <a:off x="3397682" y="5815584"/>
            <a:ext cx="2199818" cy="237744"/>
          </a:xfrm>
          <a:prstGeom prst="rect">
            <a:avLst/>
          </a:prstGeom>
          <a:noFill/>
          <a:ln/>
        </p:spPr>
        <p:txBody>
          <a:bodyPr wrap="square" lIns="0" tIns="0" rIns="0" bIns="0" rtlCol="0" anchor="t"/>
          <a:lstStyle/>
          <a:p>
            <a:pPr marL="0" indent="0">
              <a:buNone/>
            </a:pPr>
            <a:r>
              <a:rPr lang="en-US" sz="1050" dirty="0">
                <a:solidFill>
                  <a:srgbClr val="5B5F7A"/>
                </a:solidFill>
                <a:latin typeface="Calibri" pitchFamily="34" charset="0"/>
                <a:ea typeface="Calibri" pitchFamily="34" charset="-122"/>
                <a:cs typeface="Calibri" pitchFamily="34" charset="-120"/>
              </a:rPr>
              <a:t>existing key → updated</a:t>
            </a:r>
            <a:endParaRPr lang="en-US" sz="1050" dirty="0"/>
          </a:p>
        </p:txBody>
      </p:sp>
      <p:sp>
        <p:nvSpPr>
          <p:cNvPr id="21" name="Shape 19"/>
          <p:cNvSpPr/>
          <p:nvPr/>
        </p:nvSpPr>
        <p:spPr>
          <a:xfrm>
            <a:off x="6255868" y="1417320"/>
            <a:ext cx="5432908" cy="4800600"/>
          </a:xfrm>
          <a:prstGeom prst="roundRect">
            <a:avLst>
              <a:gd name="adj" fmla="val 2286"/>
            </a:avLst>
          </a:prstGeom>
          <a:solidFill>
            <a:srgbClr val="FFFFFF"/>
          </a:solidFill>
          <a:ln w="9525">
            <a:solidFill>
              <a:srgbClr val="DCDDF5"/>
            </a:solidFill>
            <a:prstDash val="solid"/>
          </a:ln>
          <a:effectLst>
            <a:outerShdw blurRad="127000" dist="25400" dir="5400000" algn="bl" rotWithShape="0">
              <a:srgbClr val="4F46E5">
                <a:alpha val="12000"/>
              </a:srgbClr>
            </a:outerShdw>
          </a:effectLst>
        </p:spPr>
        <p:txBody>
          <a:bodyPr/>
          <a:lstStyle/>
          <a:p>
            <a:endParaRPr lang="en-PH"/>
          </a:p>
        </p:txBody>
      </p:sp>
      <p:sp>
        <p:nvSpPr>
          <p:cNvPr id="22" name="Text 20"/>
          <p:cNvSpPr txBox="1"/>
          <p:nvPr/>
        </p:nvSpPr>
        <p:spPr>
          <a:xfrm>
            <a:off x="6484468" y="1554480"/>
            <a:ext cx="4975708" cy="365760"/>
          </a:xfrm>
          <a:prstGeom prst="rect">
            <a:avLst/>
          </a:prstGeom>
          <a:noFill/>
          <a:ln/>
        </p:spPr>
        <p:txBody>
          <a:bodyPr wrap="square" lIns="0" tIns="0" rIns="0" bIns="0" rtlCol="0" anchor="t"/>
          <a:lstStyle/>
          <a:p>
            <a:pPr marL="0" indent="0">
              <a:buNone/>
            </a:pPr>
            <a:r>
              <a:rPr lang="en-US" sz="1650" b="1" dirty="0">
                <a:solidFill>
                  <a:srgbClr val="C8559F"/>
                </a:solidFill>
                <a:latin typeface="Calibri" pitchFamily="34" charset="0"/>
                <a:ea typeface="Calibri" pitchFamily="34" charset="-122"/>
                <a:cs typeface="Calibri" pitchFamily="34" charset="-120"/>
              </a:rPr>
              <a:t>Removing Dictionary Items</a:t>
            </a:r>
            <a:endParaRPr lang="en-US" sz="1650" dirty="0"/>
          </a:p>
        </p:txBody>
      </p:sp>
      <p:sp>
        <p:nvSpPr>
          <p:cNvPr id="23" name="Text 21"/>
          <p:cNvSpPr txBox="1"/>
          <p:nvPr/>
        </p:nvSpPr>
        <p:spPr>
          <a:xfrm>
            <a:off x="6484468" y="1938528"/>
            <a:ext cx="4975708" cy="1005840"/>
          </a:xfrm>
          <a:prstGeom prst="rect">
            <a:avLst/>
          </a:prstGeom>
          <a:noFill/>
          <a:ln/>
        </p:spPr>
        <p:txBody>
          <a:bodyPr wrap="square" lIns="0" tIns="0" rIns="0" bIns="0" rtlCol="0" anchor="t"/>
          <a:lstStyle/>
          <a:p>
            <a:pPr marL="0" indent="0">
              <a:buNone/>
            </a:pPr>
            <a:r>
              <a:rPr lang="en-US" sz="1200" dirty="0">
                <a:solidFill>
                  <a:srgbClr val="5B5F7A"/>
                </a:solidFill>
                <a:latin typeface="Calibri" pitchFamily="34" charset="0"/>
                <a:ea typeface="Calibri" pitchFamily="34" charset="-122"/>
                <a:cs typeface="Calibri" pitchFamily="34" charset="-120"/>
              </a:rPr>
              <a:t>Items are removed by key using </a:t>
            </a:r>
            <a:r>
              <a:rPr lang="en-US" sz="1200" dirty="0">
                <a:solidFill>
                  <a:srgbClr val="4F46E5"/>
                </a:solidFill>
                <a:latin typeface="Courier New" pitchFamily="34" charset="0"/>
                <a:ea typeface="Courier New" pitchFamily="34" charset="-122"/>
                <a:cs typeface="Courier New" pitchFamily="34" charset="-120"/>
              </a:rPr>
              <a:t>pop()</a:t>
            </a:r>
            <a:r>
              <a:rPr lang="en-US" sz="1200" dirty="0">
                <a:solidFill>
                  <a:srgbClr val="5B5F7A"/>
                </a:solidFill>
                <a:latin typeface="Calibri" pitchFamily="34" charset="0"/>
                <a:ea typeface="Calibri" pitchFamily="34" charset="-122"/>
                <a:cs typeface="Calibri" pitchFamily="34" charset="-120"/>
              </a:rPr>
              <a:t> or </a:t>
            </a:r>
            <a:r>
              <a:rPr lang="en-US" sz="1200" dirty="0">
                <a:solidFill>
                  <a:srgbClr val="4F46E5"/>
                </a:solidFill>
                <a:latin typeface="Courier New" pitchFamily="34" charset="0"/>
                <a:ea typeface="Courier New" pitchFamily="34" charset="-122"/>
                <a:cs typeface="Courier New" pitchFamily="34" charset="-120"/>
              </a:rPr>
              <a:t>del</a:t>
            </a:r>
            <a:r>
              <a:rPr lang="en-US" sz="1200" dirty="0">
                <a:solidFill>
                  <a:srgbClr val="5B5F7A"/>
                </a:solidFill>
                <a:latin typeface="Calibri" pitchFamily="34" charset="0"/>
                <a:ea typeface="Calibri" pitchFamily="34" charset="-122"/>
                <a:cs typeface="Calibri" pitchFamily="34" charset="-120"/>
              </a:rPr>
              <a:t>. </a:t>
            </a:r>
            <a:r>
              <a:rPr lang="en-US" sz="1200" dirty="0">
                <a:solidFill>
                  <a:srgbClr val="4F46E5"/>
                </a:solidFill>
                <a:latin typeface="Courier New" pitchFamily="34" charset="0"/>
                <a:ea typeface="Courier New" pitchFamily="34" charset="-122"/>
                <a:cs typeface="Courier New" pitchFamily="34" charset="-120"/>
              </a:rPr>
              <a:t>popitem()</a:t>
            </a:r>
            <a:r>
              <a:rPr lang="en-US" sz="1200" dirty="0">
                <a:solidFill>
                  <a:srgbClr val="5B5F7A"/>
                </a:solidFill>
                <a:latin typeface="Calibri" pitchFamily="34" charset="0"/>
                <a:ea typeface="Calibri" pitchFamily="34" charset="-122"/>
                <a:cs typeface="Calibri" pitchFamily="34" charset="-120"/>
              </a:rPr>
              <a:t> removes the last inserted pair, and </a:t>
            </a:r>
            <a:r>
              <a:rPr lang="en-US" sz="1200" dirty="0">
                <a:solidFill>
                  <a:srgbClr val="4F46E5"/>
                </a:solidFill>
                <a:latin typeface="Courier New" pitchFamily="34" charset="0"/>
                <a:ea typeface="Courier New" pitchFamily="34" charset="-122"/>
                <a:cs typeface="Courier New" pitchFamily="34" charset="-120"/>
              </a:rPr>
              <a:t>clear()</a:t>
            </a:r>
            <a:r>
              <a:rPr lang="en-US" sz="1200" dirty="0">
                <a:solidFill>
                  <a:srgbClr val="5B5F7A"/>
                </a:solidFill>
                <a:latin typeface="Calibri" pitchFamily="34" charset="0"/>
                <a:ea typeface="Calibri" pitchFamily="34" charset="-122"/>
                <a:cs typeface="Calibri" pitchFamily="34" charset="-120"/>
              </a:rPr>
              <a:t> empties the whole dictionary.</a:t>
            </a:r>
            <a:endParaRPr lang="en-US" sz="1200" dirty="0"/>
          </a:p>
        </p:txBody>
      </p:sp>
      <p:sp>
        <p:nvSpPr>
          <p:cNvPr id="24" name="Shape 22"/>
          <p:cNvSpPr/>
          <p:nvPr/>
        </p:nvSpPr>
        <p:spPr>
          <a:xfrm>
            <a:off x="6484468" y="2971800"/>
            <a:ext cx="4975708" cy="1417320"/>
          </a:xfrm>
          <a:prstGeom prst="roundRect">
            <a:avLst>
              <a:gd name="adj" fmla="val 6452"/>
            </a:avLst>
          </a:prstGeom>
          <a:solidFill>
            <a:srgbClr val="1F1D36"/>
          </a:solidFill>
          <a:ln w="12700">
            <a:solidFill>
              <a:srgbClr val="1F1D36"/>
            </a:solidFill>
            <a:prstDash val="solid"/>
          </a:ln>
        </p:spPr>
        <p:txBody>
          <a:bodyPr/>
          <a:lstStyle/>
          <a:p>
            <a:endParaRPr lang="en-PH"/>
          </a:p>
        </p:txBody>
      </p:sp>
      <p:sp>
        <p:nvSpPr>
          <p:cNvPr id="25" name="Text 23"/>
          <p:cNvSpPr txBox="1"/>
          <p:nvPr/>
        </p:nvSpPr>
        <p:spPr>
          <a:xfrm>
            <a:off x="6649060" y="3054096"/>
            <a:ext cx="4646524" cy="201168"/>
          </a:xfrm>
          <a:prstGeom prst="rect">
            <a:avLst/>
          </a:prstGeom>
          <a:noFill/>
          <a:ln/>
        </p:spPr>
        <p:txBody>
          <a:bodyPr wrap="square" lIns="0" tIns="0" rIns="0" bIns="0" rtlCol="0" anchor="ctr"/>
          <a:lstStyle/>
          <a:p>
            <a:pPr marL="0" indent="0">
              <a:buNone/>
            </a:pPr>
            <a:r>
              <a:rPr lang="en-US" sz="900" b="1" dirty="0">
                <a:solidFill>
                  <a:srgbClr val="8A8FB5"/>
                </a:solidFill>
                <a:latin typeface="Calibri" pitchFamily="34" charset="0"/>
                <a:ea typeface="Calibri" pitchFamily="34" charset="-122"/>
                <a:cs typeface="Calibri" pitchFamily="34" charset="-120"/>
              </a:rPr>
              <a:t>&lt;/&gt;  Python</a:t>
            </a:r>
            <a:endParaRPr lang="en-US" sz="900" dirty="0"/>
          </a:p>
        </p:txBody>
      </p:sp>
      <p:sp>
        <p:nvSpPr>
          <p:cNvPr id="26" name="Text 24"/>
          <p:cNvSpPr txBox="1"/>
          <p:nvPr/>
        </p:nvSpPr>
        <p:spPr>
          <a:xfrm>
            <a:off x="6649060" y="3300984"/>
            <a:ext cx="4701388" cy="1033272"/>
          </a:xfrm>
          <a:prstGeom prst="rect">
            <a:avLst/>
          </a:prstGeom>
          <a:noFill/>
          <a:ln/>
        </p:spPr>
        <p:txBody>
          <a:bodyPr wrap="square" lIns="0" tIns="0" rIns="0" bIns="0" rtlCol="0" anchor="t"/>
          <a:lstStyle/>
          <a:p>
            <a:pPr marL="0" indent="0">
              <a:buNone/>
            </a:pPr>
            <a:r>
              <a:rPr lang="en-US" sz="1050" dirty="0">
                <a:solidFill>
                  <a:srgbClr val="E4E4F0"/>
                </a:solidFill>
                <a:latin typeface="Courier New" pitchFamily="34" charset="0"/>
                <a:ea typeface="Courier New" pitchFamily="34" charset="-122"/>
                <a:cs typeface="Courier New" pitchFamily="34" charset="-120"/>
              </a:rPr>
              <a:t>d = {</a:t>
            </a:r>
            <a:r>
              <a:rPr lang="en-US" sz="1050" dirty="0">
                <a:solidFill>
                  <a:srgbClr val="A6E3A1"/>
                </a:solidFill>
                <a:latin typeface="Courier New" pitchFamily="34" charset="0"/>
                <a:ea typeface="Courier New" pitchFamily="34" charset="-122"/>
                <a:cs typeface="Courier New" pitchFamily="34" charset="-120"/>
              </a:rPr>
              <a:t>"name"</a:t>
            </a:r>
            <a:r>
              <a:rPr lang="en-US" sz="1050" dirty="0">
                <a:solidFill>
                  <a:srgbClr val="E4E4F0"/>
                </a:solidFill>
                <a:latin typeface="Courier New" pitchFamily="34" charset="0"/>
                <a:ea typeface="Courier New" pitchFamily="34" charset="-122"/>
                <a:cs typeface="Courier New" pitchFamily="34" charset="-120"/>
              </a:rPr>
              <a:t>: </a:t>
            </a:r>
            <a:r>
              <a:rPr lang="en-US" sz="1050" dirty="0">
                <a:solidFill>
                  <a:srgbClr val="A6E3A1"/>
                </a:solidFill>
                <a:latin typeface="Courier New" pitchFamily="34" charset="0"/>
                <a:ea typeface="Courier New" pitchFamily="34" charset="-122"/>
                <a:cs typeface="Courier New" pitchFamily="34" charset="-120"/>
              </a:rPr>
              <a:t>"Sam"</a:t>
            </a:r>
            <a:r>
              <a:rPr lang="en-US" sz="1050" dirty="0">
                <a:solidFill>
                  <a:srgbClr val="E4E4F0"/>
                </a:solidFill>
                <a:latin typeface="Courier New" pitchFamily="34" charset="0"/>
                <a:ea typeface="Courier New" pitchFamily="34" charset="-122"/>
                <a:cs typeface="Courier New" pitchFamily="34" charset="-120"/>
              </a:rPr>
              <a:t>, </a:t>
            </a:r>
            <a:r>
              <a:rPr lang="en-US" sz="1050" dirty="0">
                <a:solidFill>
                  <a:srgbClr val="A6E3A1"/>
                </a:solidFill>
                <a:latin typeface="Courier New" pitchFamily="34" charset="0"/>
                <a:ea typeface="Courier New" pitchFamily="34" charset="-122"/>
                <a:cs typeface="Courier New" pitchFamily="34" charset="-120"/>
              </a:rPr>
              <a:t>"age"</a:t>
            </a:r>
            <a:r>
              <a:rPr lang="en-US" sz="1050" dirty="0">
                <a:solidFill>
                  <a:srgbClr val="E4E4F0"/>
                </a:solidFill>
                <a:latin typeface="Courier New" pitchFamily="34" charset="0"/>
                <a:ea typeface="Courier New" pitchFamily="34" charset="-122"/>
                <a:cs typeface="Courier New" pitchFamily="34" charset="-120"/>
              </a:rPr>
              <a:t>: </a:t>
            </a:r>
            <a:r>
              <a:rPr lang="en-US" sz="1050" dirty="0">
                <a:solidFill>
                  <a:srgbClr val="FAB387"/>
                </a:solidFill>
                <a:latin typeface="Courier New" pitchFamily="34" charset="0"/>
                <a:ea typeface="Courier New" pitchFamily="34" charset="-122"/>
                <a:cs typeface="Courier New" pitchFamily="34" charset="-120"/>
              </a:rPr>
              <a:t>21</a:t>
            </a:r>
            <a:r>
              <a:rPr lang="en-US" sz="1050" dirty="0">
                <a:solidFill>
                  <a:srgbClr val="E4E4F0"/>
                </a:solidFill>
                <a:latin typeface="Courier New" pitchFamily="34" charset="0"/>
                <a:ea typeface="Courier New" pitchFamily="34" charset="-122"/>
                <a:cs typeface="Courier New" pitchFamily="34" charset="-120"/>
              </a:rPr>
              <a:t>, </a:t>
            </a:r>
            <a:r>
              <a:rPr lang="en-US" sz="1050" dirty="0">
                <a:solidFill>
                  <a:srgbClr val="A6E3A1"/>
                </a:solidFill>
                <a:latin typeface="Courier New" pitchFamily="34" charset="0"/>
                <a:ea typeface="Courier New" pitchFamily="34" charset="-122"/>
                <a:cs typeface="Courier New" pitchFamily="34" charset="-120"/>
              </a:rPr>
              <a:t>"city"</a:t>
            </a:r>
            <a:r>
              <a:rPr lang="en-US" sz="1050" dirty="0">
                <a:solidFill>
                  <a:srgbClr val="E4E4F0"/>
                </a:solidFill>
                <a:latin typeface="Courier New" pitchFamily="34" charset="0"/>
                <a:ea typeface="Courier New" pitchFamily="34" charset="-122"/>
                <a:cs typeface="Courier New" pitchFamily="34" charset="-120"/>
              </a:rPr>
              <a:t>: </a:t>
            </a:r>
            <a:r>
              <a:rPr lang="en-US" sz="1050" dirty="0">
                <a:solidFill>
                  <a:srgbClr val="A6E3A1"/>
                </a:solidFill>
                <a:latin typeface="Courier New" pitchFamily="34" charset="0"/>
                <a:ea typeface="Courier New" pitchFamily="34" charset="-122"/>
                <a:cs typeface="Courier New" pitchFamily="34" charset="-120"/>
              </a:rPr>
              <a:t>"Manila"</a:t>
            </a:r>
            <a:r>
              <a:rPr lang="en-US" sz="1050" dirty="0">
                <a:solidFill>
                  <a:srgbClr val="E4E4F0"/>
                </a:solidFill>
                <a:latin typeface="Courier New" pitchFamily="34" charset="0"/>
                <a:ea typeface="Courier New" pitchFamily="34" charset="-122"/>
                <a:cs typeface="Courier New" pitchFamily="34" charset="-120"/>
              </a:rPr>
              <a:t>}</a:t>
            </a:r>
            <a:endParaRPr lang="en-US" sz="1050" dirty="0"/>
          </a:p>
          <a:p>
            <a:pPr marL="0" indent="0">
              <a:buNone/>
            </a:pPr>
            <a:r>
              <a:rPr lang="en-US" sz="1050" dirty="0">
                <a:solidFill>
                  <a:srgbClr val="82AAFF"/>
                </a:solidFill>
                <a:latin typeface="Courier New" pitchFamily="34" charset="0"/>
                <a:ea typeface="Courier New" pitchFamily="34" charset="-122"/>
                <a:cs typeface="Courier New" pitchFamily="34" charset="-120"/>
              </a:rPr>
              <a:t>print</a:t>
            </a:r>
            <a:r>
              <a:rPr lang="en-US" sz="1050" dirty="0">
                <a:solidFill>
                  <a:srgbClr val="E4E4F0"/>
                </a:solidFill>
                <a:latin typeface="Courier New" pitchFamily="34" charset="0"/>
                <a:ea typeface="Courier New" pitchFamily="34" charset="-122"/>
                <a:cs typeface="Courier New" pitchFamily="34" charset="-120"/>
              </a:rPr>
              <a:t>(d.</a:t>
            </a:r>
            <a:r>
              <a:rPr lang="en-US" sz="1050" dirty="0">
                <a:solidFill>
                  <a:srgbClr val="89DCEB"/>
                </a:solidFill>
                <a:latin typeface="Courier New" pitchFamily="34" charset="0"/>
                <a:ea typeface="Courier New" pitchFamily="34" charset="-122"/>
                <a:cs typeface="Courier New" pitchFamily="34" charset="-120"/>
              </a:rPr>
              <a:t>pop</a:t>
            </a:r>
            <a:r>
              <a:rPr lang="en-US" sz="1050" dirty="0">
                <a:solidFill>
                  <a:srgbClr val="E4E4F0"/>
                </a:solidFill>
                <a:latin typeface="Courier New" pitchFamily="34" charset="0"/>
                <a:ea typeface="Courier New" pitchFamily="34" charset="-122"/>
                <a:cs typeface="Courier New" pitchFamily="34" charset="-120"/>
              </a:rPr>
              <a:t>(</a:t>
            </a:r>
            <a:r>
              <a:rPr lang="en-US" sz="1050" dirty="0">
                <a:solidFill>
                  <a:srgbClr val="A6E3A1"/>
                </a:solidFill>
                <a:latin typeface="Courier New" pitchFamily="34" charset="0"/>
                <a:ea typeface="Courier New" pitchFamily="34" charset="-122"/>
                <a:cs typeface="Courier New" pitchFamily="34" charset="-120"/>
              </a:rPr>
              <a:t>"age"</a:t>
            </a:r>
            <a:r>
              <a:rPr lang="en-US" sz="1050" dirty="0">
                <a:solidFill>
                  <a:srgbClr val="E4E4F0"/>
                </a:solidFill>
                <a:latin typeface="Courier New" pitchFamily="34" charset="0"/>
                <a:ea typeface="Courier New" pitchFamily="34" charset="-122"/>
                <a:cs typeface="Courier New" pitchFamily="34" charset="-120"/>
              </a:rPr>
              <a:t>))  </a:t>
            </a:r>
            <a:r>
              <a:rPr lang="en-US" sz="1050" i="1" dirty="0">
                <a:solidFill>
                  <a:srgbClr val="8A8FB5"/>
                </a:solidFill>
                <a:latin typeface="Courier New" pitchFamily="34" charset="0"/>
                <a:ea typeface="Courier New" pitchFamily="34" charset="-122"/>
                <a:cs typeface="Courier New" pitchFamily="34" charset="-120"/>
              </a:rPr>
              <a:t># remove, return value</a:t>
            </a:r>
            <a:endParaRPr lang="en-US" sz="1050" dirty="0"/>
          </a:p>
          <a:p>
            <a:pPr marL="0" indent="0">
              <a:buNone/>
            </a:pPr>
            <a:r>
              <a:rPr lang="en-US" sz="1050" dirty="0">
                <a:solidFill>
                  <a:srgbClr val="D3A6FF"/>
                </a:solidFill>
                <a:latin typeface="Courier New" pitchFamily="34" charset="0"/>
                <a:ea typeface="Courier New" pitchFamily="34" charset="-122"/>
                <a:cs typeface="Courier New" pitchFamily="34" charset="-120"/>
              </a:rPr>
              <a:t>del</a:t>
            </a:r>
            <a:r>
              <a:rPr lang="en-US" sz="1050" dirty="0">
                <a:solidFill>
                  <a:srgbClr val="E4E4F0"/>
                </a:solidFill>
                <a:latin typeface="Courier New" pitchFamily="34" charset="0"/>
                <a:ea typeface="Courier New" pitchFamily="34" charset="-122"/>
                <a:cs typeface="Courier New" pitchFamily="34" charset="-120"/>
              </a:rPr>
              <a:t> d[</a:t>
            </a:r>
            <a:r>
              <a:rPr lang="en-US" sz="1050" dirty="0">
                <a:solidFill>
                  <a:srgbClr val="A6E3A1"/>
                </a:solidFill>
                <a:latin typeface="Courier New" pitchFamily="34" charset="0"/>
                <a:ea typeface="Courier New" pitchFamily="34" charset="-122"/>
                <a:cs typeface="Courier New" pitchFamily="34" charset="-120"/>
              </a:rPr>
              <a:t>"city"</a:t>
            </a:r>
            <a:r>
              <a:rPr lang="en-US" sz="1050" dirty="0">
                <a:solidFill>
                  <a:srgbClr val="E4E4F0"/>
                </a:solidFill>
                <a:latin typeface="Courier New" pitchFamily="34" charset="0"/>
                <a:ea typeface="Courier New" pitchFamily="34" charset="-122"/>
                <a:cs typeface="Courier New" pitchFamily="34" charset="-120"/>
              </a:rPr>
              <a:t>]         </a:t>
            </a:r>
            <a:r>
              <a:rPr lang="en-US" sz="1050" i="1" dirty="0">
                <a:solidFill>
                  <a:srgbClr val="8A8FB5"/>
                </a:solidFill>
                <a:latin typeface="Courier New" pitchFamily="34" charset="0"/>
                <a:ea typeface="Courier New" pitchFamily="34" charset="-122"/>
                <a:cs typeface="Courier New" pitchFamily="34" charset="-120"/>
              </a:rPr>
              <a:t># delete by key</a:t>
            </a:r>
            <a:endParaRPr lang="en-US" sz="1050" dirty="0"/>
          </a:p>
          <a:p>
            <a:pPr marL="0" indent="0">
              <a:buNone/>
            </a:pPr>
            <a:r>
              <a:rPr lang="en-US" sz="1050" dirty="0">
                <a:solidFill>
                  <a:srgbClr val="82AAFF"/>
                </a:solidFill>
                <a:latin typeface="Courier New" pitchFamily="34" charset="0"/>
                <a:ea typeface="Courier New" pitchFamily="34" charset="-122"/>
                <a:cs typeface="Courier New" pitchFamily="34" charset="-120"/>
              </a:rPr>
              <a:t>print</a:t>
            </a:r>
            <a:r>
              <a:rPr lang="en-US" sz="1050" dirty="0">
                <a:solidFill>
                  <a:srgbClr val="E4E4F0"/>
                </a:solidFill>
                <a:latin typeface="Courier New" pitchFamily="34" charset="0"/>
                <a:ea typeface="Courier New" pitchFamily="34" charset="-122"/>
                <a:cs typeface="Courier New" pitchFamily="34" charset="-120"/>
              </a:rPr>
              <a:t>(d)</a:t>
            </a:r>
            <a:endParaRPr lang="en-US" sz="1050" dirty="0"/>
          </a:p>
          <a:p>
            <a:pPr marL="0" indent="0">
              <a:buNone/>
            </a:pPr>
            <a:r>
              <a:rPr lang="en-US" sz="1050" dirty="0">
                <a:solidFill>
                  <a:srgbClr val="E4E4F0"/>
                </a:solidFill>
                <a:latin typeface="Courier New" pitchFamily="34" charset="0"/>
                <a:ea typeface="Courier New" pitchFamily="34" charset="-122"/>
                <a:cs typeface="Courier New" pitchFamily="34" charset="-120"/>
              </a:rPr>
              <a:t>d.</a:t>
            </a:r>
            <a:r>
              <a:rPr lang="en-US" sz="1050" dirty="0">
                <a:solidFill>
                  <a:srgbClr val="89DCEB"/>
                </a:solidFill>
                <a:latin typeface="Courier New" pitchFamily="34" charset="0"/>
                <a:ea typeface="Courier New" pitchFamily="34" charset="-122"/>
                <a:cs typeface="Courier New" pitchFamily="34" charset="-120"/>
              </a:rPr>
              <a:t>clear</a:t>
            </a:r>
            <a:r>
              <a:rPr lang="en-US" sz="1050" dirty="0">
                <a:solidFill>
                  <a:srgbClr val="E4E4F0"/>
                </a:solidFill>
                <a:latin typeface="Courier New" pitchFamily="34" charset="0"/>
                <a:ea typeface="Courier New" pitchFamily="34" charset="-122"/>
                <a:cs typeface="Courier New" pitchFamily="34" charset="-120"/>
              </a:rPr>
              <a:t>()             </a:t>
            </a:r>
            <a:r>
              <a:rPr lang="en-US" sz="1050" i="1" dirty="0">
                <a:solidFill>
                  <a:srgbClr val="8A8FB5"/>
                </a:solidFill>
                <a:latin typeface="Courier New" pitchFamily="34" charset="0"/>
                <a:ea typeface="Courier New" pitchFamily="34" charset="-122"/>
                <a:cs typeface="Courier New" pitchFamily="34" charset="-120"/>
              </a:rPr>
              <a:t># remove everything</a:t>
            </a:r>
            <a:endParaRPr lang="en-US" sz="1050" dirty="0"/>
          </a:p>
          <a:p>
            <a:pPr marL="0" indent="0">
              <a:buNone/>
            </a:pPr>
            <a:r>
              <a:rPr lang="en-US" sz="1050" dirty="0">
                <a:solidFill>
                  <a:srgbClr val="82AAFF"/>
                </a:solidFill>
                <a:latin typeface="Courier New" pitchFamily="34" charset="0"/>
                <a:ea typeface="Courier New" pitchFamily="34" charset="-122"/>
                <a:cs typeface="Courier New" pitchFamily="34" charset="-120"/>
              </a:rPr>
              <a:t>print</a:t>
            </a:r>
            <a:r>
              <a:rPr lang="en-US" sz="1050" dirty="0">
                <a:solidFill>
                  <a:srgbClr val="E4E4F0"/>
                </a:solidFill>
                <a:latin typeface="Courier New" pitchFamily="34" charset="0"/>
                <a:ea typeface="Courier New" pitchFamily="34" charset="-122"/>
                <a:cs typeface="Courier New" pitchFamily="34" charset="-120"/>
              </a:rPr>
              <a:t>(d)</a:t>
            </a:r>
            <a:endParaRPr lang="en-US" sz="1050" dirty="0"/>
          </a:p>
        </p:txBody>
      </p:sp>
      <p:sp>
        <p:nvSpPr>
          <p:cNvPr id="27" name="Shape 25"/>
          <p:cNvSpPr/>
          <p:nvPr/>
        </p:nvSpPr>
        <p:spPr>
          <a:xfrm>
            <a:off x="6484468" y="4498848"/>
            <a:ext cx="4975708" cy="896112"/>
          </a:xfrm>
          <a:prstGeom prst="roundRect">
            <a:avLst>
              <a:gd name="adj" fmla="val 10204"/>
            </a:avLst>
          </a:prstGeom>
          <a:solidFill>
            <a:srgbClr val="F6F6FF"/>
          </a:solidFill>
          <a:ln w="9525">
            <a:solidFill>
              <a:srgbClr val="DCDDF5"/>
            </a:solidFill>
            <a:prstDash val="solid"/>
          </a:ln>
        </p:spPr>
        <p:txBody>
          <a:bodyPr/>
          <a:lstStyle/>
          <a:p>
            <a:endParaRPr lang="en-PH"/>
          </a:p>
        </p:txBody>
      </p:sp>
      <p:sp>
        <p:nvSpPr>
          <p:cNvPr id="28" name="Text 26"/>
          <p:cNvSpPr txBox="1"/>
          <p:nvPr/>
        </p:nvSpPr>
        <p:spPr>
          <a:xfrm>
            <a:off x="6630772" y="4572000"/>
            <a:ext cx="4701388" cy="182880"/>
          </a:xfrm>
          <a:prstGeom prst="rect">
            <a:avLst/>
          </a:prstGeom>
          <a:noFill/>
          <a:ln/>
        </p:spPr>
        <p:txBody>
          <a:bodyPr wrap="square" lIns="0" tIns="0" rIns="0" bIns="0" rtlCol="0" anchor="ctr"/>
          <a:lstStyle/>
          <a:p>
            <a:pPr marL="0" indent="0">
              <a:buNone/>
            </a:pPr>
            <a:r>
              <a:rPr lang="en-US" sz="850" b="1" kern="0" spc="150" dirty="0">
                <a:solidFill>
                  <a:srgbClr val="4F46E5"/>
                </a:solidFill>
                <a:latin typeface="Calibri" pitchFamily="34" charset="0"/>
                <a:ea typeface="Calibri" pitchFamily="34" charset="-122"/>
                <a:cs typeface="Calibri" pitchFamily="34" charset="-120"/>
              </a:rPr>
              <a:t>OUTPUT</a:t>
            </a:r>
            <a:endParaRPr lang="en-US" sz="850" dirty="0"/>
          </a:p>
        </p:txBody>
      </p:sp>
      <p:sp>
        <p:nvSpPr>
          <p:cNvPr id="29" name="Text 27"/>
          <p:cNvSpPr txBox="1"/>
          <p:nvPr/>
        </p:nvSpPr>
        <p:spPr>
          <a:xfrm>
            <a:off x="6630772" y="4791456"/>
            <a:ext cx="4737964" cy="566928"/>
          </a:xfrm>
          <a:prstGeom prst="rect">
            <a:avLst/>
          </a:prstGeom>
          <a:noFill/>
          <a:ln/>
        </p:spPr>
        <p:txBody>
          <a:bodyPr wrap="square" lIns="0" tIns="0" rIns="0" bIns="0" rtlCol="0" anchor="t"/>
          <a:lstStyle/>
          <a:p>
            <a:pPr marL="0" indent="0">
              <a:buNone/>
            </a:pPr>
            <a:r>
              <a:rPr lang="en-US" sz="1050" dirty="0">
                <a:solidFill>
                  <a:srgbClr val="1E1B4B"/>
                </a:solidFill>
                <a:latin typeface="Courier New" pitchFamily="34" charset="0"/>
                <a:ea typeface="Courier New" pitchFamily="34" charset="-122"/>
                <a:cs typeface="Courier New" pitchFamily="34" charset="-120"/>
              </a:rPr>
              <a:t>21</a:t>
            </a:r>
            <a:endParaRPr lang="en-US" sz="1050" dirty="0"/>
          </a:p>
          <a:p>
            <a:pPr marL="0" indent="0">
              <a:buNone/>
            </a:pPr>
            <a:r>
              <a:rPr lang="en-US" sz="1050" dirty="0">
                <a:solidFill>
                  <a:srgbClr val="1E1B4B"/>
                </a:solidFill>
                <a:latin typeface="Courier New" pitchFamily="34" charset="0"/>
                <a:ea typeface="Courier New" pitchFamily="34" charset="-122"/>
                <a:cs typeface="Courier New" pitchFamily="34" charset="-120"/>
              </a:rPr>
              <a:t>{'name': 'Sam'}</a:t>
            </a:r>
            <a:endParaRPr lang="en-US" sz="1050" dirty="0"/>
          </a:p>
          <a:p>
            <a:pPr marL="0" indent="0">
              <a:buNone/>
            </a:pPr>
            <a:r>
              <a:rPr lang="en-US" sz="1050" dirty="0">
                <a:solidFill>
                  <a:srgbClr val="1E1B4B"/>
                </a:solidFill>
                <a:latin typeface="Courier New" pitchFamily="34" charset="0"/>
                <a:ea typeface="Courier New" pitchFamily="34" charset="-122"/>
                <a:cs typeface="Courier New" pitchFamily="34" charset="-120"/>
              </a:rPr>
              <a:t>{}</a:t>
            </a:r>
            <a:endParaRPr lang="en-US" sz="1050" dirty="0"/>
          </a:p>
        </p:txBody>
      </p:sp>
      <p:sp>
        <p:nvSpPr>
          <p:cNvPr id="30" name="Shape 28"/>
          <p:cNvSpPr/>
          <p:nvPr/>
        </p:nvSpPr>
        <p:spPr>
          <a:xfrm>
            <a:off x="6484468" y="5504688"/>
            <a:ext cx="2419274" cy="603504"/>
          </a:xfrm>
          <a:prstGeom prst="roundRect">
            <a:avLst>
              <a:gd name="adj" fmla="val 12121"/>
            </a:avLst>
          </a:prstGeom>
          <a:solidFill>
            <a:srgbClr val="F1F1FE"/>
          </a:solidFill>
          <a:ln w="9525">
            <a:solidFill>
              <a:srgbClr val="DCDDF5"/>
            </a:solidFill>
            <a:prstDash val="solid"/>
          </a:ln>
        </p:spPr>
        <p:txBody>
          <a:bodyPr/>
          <a:lstStyle/>
          <a:p>
            <a:endParaRPr lang="en-PH"/>
          </a:p>
        </p:txBody>
      </p:sp>
      <p:sp>
        <p:nvSpPr>
          <p:cNvPr id="31" name="Text 29"/>
          <p:cNvSpPr txBox="1"/>
          <p:nvPr/>
        </p:nvSpPr>
        <p:spPr>
          <a:xfrm>
            <a:off x="6594196" y="5559552"/>
            <a:ext cx="2199818" cy="256032"/>
          </a:xfrm>
          <a:prstGeom prst="rect">
            <a:avLst/>
          </a:prstGeom>
          <a:noFill/>
          <a:ln/>
        </p:spPr>
        <p:txBody>
          <a:bodyPr wrap="square" lIns="0" tIns="0" rIns="0" bIns="0" rtlCol="0" anchor="t"/>
          <a:lstStyle/>
          <a:p>
            <a:pPr marL="0" indent="0">
              <a:buNone/>
            </a:pPr>
            <a:r>
              <a:rPr lang="en-US" sz="1000" b="1" dirty="0">
                <a:solidFill>
                  <a:srgbClr val="4F46E5"/>
                </a:solidFill>
                <a:latin typeface="Courier New" pitchFamily="34" charset="0"/>
                <a:ea typeface="Courier New" pitchFamily="34" charset="-122"/>
                <a:cs typeface="Courier New" pitchFamily="34" charset="-120"/>
              </a:rPr>
              <a:t>pop(key)</a:t>
            </a:r>
            <a:endParaRPr lang="en-US" sz="1000" dirty="0"/>
          </a:p>
        </p:txBody>
      </p:sp>
      <p:sp>
        <p:nvSpPr>
          <p:cNvPr id="32" name="Text 30"/>
          <p:cNvSpPr txBox="1"/>
          <p:nvPr/>
        </p:nvSpPr>
        <p:spPr>
          <a:xfrm>
            <a:off x="6594196" y="5815584"/>
            <a:ext cx="2199818" cy="237744"/>
          </a:xfrm>
          <a:prstGeom prst="rect">
            <a:avLst/>
          </a:prstGeom>
          <a:noFill/>
          <a:ln/>
        </p:spPr>
        <p:txBody>
          <a:bodyPr wrap="square" lIns="0" tIns="0" rIns="0" bIns="0" rtlCol="0" anchor="t"/>
          <a:lstStyle/>
          <a:p>
            <a:pPr marL="0" indent="0">
              <a:buNone/>
            </a:pPr>
            <a:r>
              <a:rPr lang="en-US" sz="1050" dirty="0">
                <a:solidFill>
                  <a:srgbClr val="5B5F7A"/>
                </a:solidFill>
                <a:latin typeface="Calibri" pitchFamily="34" charset="0"/>
                <a:ea typeface="Calibri" pitchFamily="34" charset="-122"/>
                <a:cs typeface="Calibri" pitchFamily="34" charset="-120"/>
              </a:rPr>
              <a:t>remove + return value</a:t>
            </a:r>
            <a:endParaRPr lang="en-US" sz="1050" dirty="0"/>
          </a:p>
        </p:txBody>
      </p:sp>
      <p:sp>
        <p:nvSpPr>
          <p:cNvPr id="33" name="Shape 31"/>
          <p:cNvSpPr/>
          <p:nvPr/>
        </p:nvSpPr>
        <p:spPr>
          <a:xfrm>
            <a:off x="9040901" y="5504688"/>
            <a:ext cx="2419274" cy="603504"/>
          </a:xfrm>
          <a:prstGeom prst="roundRect">
            <a:avLst>
              <a:gd name="adj" fmla="val 12121"/>
            </a:avLst>
          </a:prstGeom>
          <a:solidFill>
            <a:srgbClr val="F1F1FE"/>
          </a:solidFill>
          <a:ln w="9525">
            <a:solidFill>
              <a:srgbClr val="DCDDF5"/>
            </a:solidFill>
            <a:prstDash val="solid"/>
          </a:ln>
        </p:spPr>
        <p:txBody>
          <a:bodyPr/>
          <a:lstStyle/>
          <a:p>
            <a:endParaRPr lang="en-PH"/>
          </a:p>
        </p:txBody>
      </p:sp>
      <p:sp>
        <p:nvSpPr>
          <p:cNvPr id="34" name="Text 32"/>
          <p:cNvSpPr txBox="1"/>
          <p:nvPr/>
        </p:nvSpPr>
        <p:spPr>
          <a:xfrm>
            <a:off x="9150629" y="5559552"/>
            <a:ext cx="2199818" cy="256032"/>
          </a:xfrm>
          <a:prstGeom prst="rect">
            <a:avLst/>
          </a:prstGeom>
          <a:noFill/>
          <a:ln/>
        </p:spPr>
        <p:txBody>
          <a:bodyPr wrap="square" lIns="0" tIns="0" rIns="0" bIns="0" rtlCol="0" anchor="t"/>
          <a:lstStyle/>
          <a:p>
            <a:pPr marL="0" indent="0">
              <a:buNone/>
            </a:pPr>
            <a:r>
              <a:rPr lang="en-US" sz="1000" b="1" dirty="0">
                <a:solidFill>
                  <a:srgbClr val="4F46E5"/>
                </a:solidFill>
                <a:latin typeface="Courier New" pitchFamily="34" charset="0"/>
                <a:ea typeface="Courier New" pitchFamily="34" charset="-122"/>
                <a:cs typeface="Courier New" pitchFamily="34" charset="-120"/>
              </a:rPr>
              <a:t>popitem()</a:t>
            </a:r>
            <a:endParaRPr lang="en-US" sz="1000" dirty="0"/>
          </a:p>
        </p:txBody>
      </p:sp>
      <p:sp>
        <p:nvSpPr>
          <p:cNvPr id="35" name="Text 33"/>
          <p:cNvSpPr txBox="1"/>
          <p:nvPr/>
        </p:nvSpPr>
        <p:spPr>
          <a:xfrm>
            <a:off x="9150629" y="5815584"/>
            <a:ext cx="2199818" cy="237744"/>
          </a:xfrm>
          <a:prstGeom prst="rect">
            <a:avLst/>
          </a:prstGeom>
          <a:noFill/>
          <a:ln/>
        </p:spPr>
        <p:txBody>
          <a:bodyPr wrap="square" lIns="0" tIns="0" rIns="0" bIns="0" rtlCol="0" anchor="t"/>
          <a:lstStyle/>
          <a:p>
            <a:pPr marL="0" indent="0">
              <a:buNone/>
            </a:pPr>
            <a:r>
              <a:rPr lang="en-US" sz="1050" dirty="0">
                <a:solidFill>
                  <a:srgbClr val="5B5F7A"/>
                </a:solidFill>
                <a:latin typeface="Calibri" pitchFamily="34" charset="0"/>
                <a:ea typeface="Calibri" pitchFamily="34" charset="-122"/>
                <a:cs typeface="Calibri" pitchFamily="34" charset="-120"/>
              </a:rPr>
              <a:t>remove last pair</a:t>
            </a:r>
            <a:endParaRPr lang="en-US" sz="10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94360" y="1417320"/>
            <a:ext cx="4572000" cy="274320"/>
          </a:xfrm>
          <a:prstGeom prst="rect">
            <a:avLst/>
          </a:prstGeom>
          <a:noFill/>
          <a:ln/>
        </p:spPr>
        <p:txBody>
          <a:bodyPr wrap="square" lIns="0" tIns="0" rIns="0" bIns="0" rtlCol="0" anchor="t"/>
          <a:lstStyle/>
          <a:p>
            <a:pPr marL="0" indent="0">
              <a:buNone/>
            </a:pPr>
            <a:r>
              <a:rPr lang="en-US" sz="1200" b="1" kern="0" spc="300" dirty="0">
                <a:solidFill>
                  <a:srgbClr val="F0A8DD"/>
                </a:solidFill>
                <a:latin typeface="Calibri" pitchFamily="34" charset="0"/>
                <a:ea typeface="Calibri" pitchFamily="34" charset="-122"/>
                <a:cs typeface="Calibri" pitchFamily="34" charset="-120"/>
              </a:rPr>
              <a:t>SECTION 04</a:t>
            </a:r>
            <a:endParaRPr lang="en-US" sz="1200" dirty="0"/>
          </a:p>
        </p:txBody>
      </p:sp>
      <p:sp>
        <p:nvSpPr>
          <p:cNvPr id="3" name="Text 1"/>
          <p:cNvSpPr txBox="1"/>
          <p:nvPr/>
        </p:nvSpPr>
        <p:spPr>
          <a:xfrm>
            <a:off x="594360" y="1737360"/>
            <a:ext cx="5577840" cy="1280160"/>
          </a:xfrm>
          <a:prstGeom prst="rect">
            <a:avLst/>
          </a:prstGeom>
          <a:noFill/>
          <a:ln/>
        </p:spPr>
        <p:txBody>
          <a:bodyPr wrap="square" lIns="0" tIns="0" rIns="0" bIns="0" rtlCol="0" anchor="t"/>
          <a:lstStyle/>
          <a:p>
            <a:pPr marL="0" indent="0">
              <a:buNone/>
            </a:pPr>
            <a:r>
              <a:rPr lang="en-US" sz="4000" b="1" dirty="0">
                <a:solidFill>
                  <a:srgbClr val="FFFFFF"/>
                </a:solidFill>
                <a:latin typeface="Calibri" pitchFamily="34" charset="0"/>
                <a:ea typeface="Calibri" pitchFamily="34" charset="-122"/>
                <a:cs typeface="Calibri" pitchFamily="34" charset="-120"/>
              </a:rPr>
              <a:t>Sets</a:t>
            </a:r>
            <a:endParaRPr lang="en-US" sz="4000" dirty="0"/>
          </a:p>
        </p:txBody>
      </p:sp>
      <p:sp>
        <p:nvSpPr>
          <p:cNvPr id="4" name="Text 2"/>
          <p:cNvSpPr txBox="1"/>
          <p:nvPr/>
        </p:nvSpPr>
        <p:spPr>
          <a:xfrm>
            <a:off x="594360" y="3017520"/>
            <a:ext cx="5303520" cy="731520"/>
          </a:xfrm>
          <a:prstGeom prst="rect">
            <a:avLst/>
          </a:prstGeom>
          <a:noFill/>
          <a:ln/>
        </p:spPr>
        <p:txBody>
          <a:bodyPr wrap="square" lIns="0" tIns="0" rIns="0" bIns="0" rtlCol="0" anchor="t"/>
          <a:lstStyle/>
          <a:p>
            <a:pPr marL="0" indent="0">
              <a:buNone/>
            </a:pPr>
            <a:r>
              <a:rPr lang="en-US" sz="1600" dirty="0">
                <a:solidFill>
                  <a:srgbClr val="C9CCFF"/>
                </a:solidFill>
                <a:latin typeface="Calibri" pitchFamily="34" charset="0"/>
                <a:ea typeface="Calibri" pitchFamily="34" charset="-122"/>
                <a:cs typeface="Calibri" pitchFamily="34" charset="-120"/>
              </a:rPr>
              <a:t>Unordered collections that keep only unique items.</a:t>
            </a:r>
            <a:endParaRPr lang="en-US" sz="1600" dirty="0"/>
          </a:p>
        </p:txBody>
      </p:sp>
      <p:sp>
        <p:nvSpPr>
          <p:cNvPr id="5" name="Text 3"/>
          <p:cNvSpPr txBox="1"/>
          <p:nvPr/>
        </p:nvSpPr>
        <p:spPr>
          <a:xfrm>
            <a:off x="594360" y="4069080"/>
            <a:ext cx="4572000" cy="228600"/>
          </a:xfrm>
          <a:prstGeom prst="rect">
            <a:avLst/>
          </a:prstGeom>
          <a:noFill/>
          <a:ln/>
        </p:spPr>
        <p:txBody>
          <a:bodyPr wrap="square" lIns="0" tIns="0" rIns="0" bIns="0" rtlCol="0" anchor="t"/>
          <a:lstStyle/>
          <a:p>
            <a:pPr marL="0" indent="0">
              <a:buNone/>
            </a:pPr>
            <a:r>
              <a:rPr lang="en-US" sz="1000" b="1" kern="0" spc="200" dirty="0">
                <a:solidFill>
                  <a:srgbClr val="F0A8DD"/>
                </a:solidFill>
                <a:latin typeface="Calibri" pitchFamily="34" charset="0"/>
                <a:ea typeface="Calibri" pitchFamily="34" charset="-122"/>
                <a:cs typeface="Calibri" pitchFamily="34" charset="-120"/>
              </a:rPr>
              <a:t>IN THIS SECTION</a:t>
            </a:r>
            <a:endParaRPr lang="en-US" sz="1000" dirty="0"/>
          </a:p>
        </p:txBody>
      </p:sp>
      <p:sp>
        <p:nvSpPr>
          <p:cNvPr id="6" name="Shape 4"/>
          <p:cNvSpPr/>
          <p:nvPr/>
        </p:nvSpPr>
        <p:spPr>
          <a:xfrm>
            <a:off x="594360" y="4389120"/>
            <a:ext cx="292608" cy="292608"/>
          </a:xfrm>
          <a:prstGeom prst="ellipse">
            <a:avLst/>
          </a:prstGeom>
          <a:solidFill>
            <a:srgbClr val="3B3791"/>
          </a:solidFill>
          <a:ln w="12700">
            <a:solidFill>
              <a:srgbClr val="3B3791"/>
            </a:solidFill>
            <a:prstDash val="solid"/>
          </a:ln>
        </p:spPr>
        <p:txBody>
          <a:bodyPr/>
          <a:lstStyle/>
          <a:p>
            <a:endParaRPr lang="en-PH"/>
          </a:p>
        </p:txBody>
      </p:sp>
      <p:sp>
        <p:nvSpPr>
          <p:cNvPr id="7" name="Text 5"/>
          <p:cNvSpPr txBox="1"/>
          <p:nvPr/>
        </p:nvSpPr>
        <p:spPr>
          <a:xfrm>
            <a:off x="594360" y="4389120"/>
            <a:ext cx="292608" cy="292608"/>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1</a:t>
            </a:r>
            <a:endParaRPr lang="en-US" sz="1050" dirty="0"/>
          </a:p>
        </p:txBody>
      </p:sp>
      <p:sp>
        <p:nvSpPr>
          <p:cNvPr id="8" name="Text 6"/>
          <p:cNvSpPr txBox="1"/>
          <p:nvPr/>
        </p:nvSpPr>
        <p:spPr>
          <a:xfrm>
            <a:off x="1005840" y="4389120"/>
            <a:ext cx="4754880" cy="292608"/>
          </a:xfrm>
          <a:prstGeom prst="rect">
            <a:avLst/>
          </a:prstGeom>
          <a:noFill/>
          <a:ln/>
        </p:spPr>
        <p:txBody>
          <a:bodyPr wrap="square" lIns="0" tIns="0" rIns="0" bIns="0" rtlCol="0" anchor="ctr"/>
          <a:lstStyle/>
          <a:p>
            <a:pPr marL="0" indent="0">
              <a:buNone/>
            </a:pPr>
            <a:r>
              <a:rPr lang="en-US" sz="1350" dirty="0">
                <a:solidFill>
                  <a:srgbClr val="FFFFFF"/>
                </a:solidFill>
                <a:latin typeface="Calibri" pitchFamily="34" charset="0"/>
                <a:ea typeface="Calibri" pitchFamily="34" charset="-122"/>
                <a:cs typeface="Calibri" pitchFamily="34" charset="-120"/>
              </a:rPr>
              <a:t>What a set is</a:t>
            </a:r>
            <a:endParaRPr lang="en-US" sz="1350" dirty="0"/>
          </a:p>
        </p:txBody>
      </p:sp>
      <p:sp>
        <p:nvSpPr>
          <p:cNvPr id="9" name="Shape 7"/>
          <p:cNvSpPr/>
          <p:nvPr/>
        </p:nvSpPr>
        <p:spPr>
          <a:xfrm>
            <a:off x="594360" y="4791456"/>
            <a:ext cx="292608" cy="292608"/>
          </a:xfrm>
          <a:prstGeom prst="ellipse">
            <a:avLst/>
          </a:prstGeom>
          <a:solidFill>
            <a:srgbClr val="3B3791"/>
          </a:solidFill>
          <a:ln w="12700">
            <a:solidFill>
              <a:srgbClr val="3B3791"/>
            </a:solidFill>
            <a:prstDash val="solid"/>
          </a:ln>
        </p:spPr>
        <p:txBody>
          <a:bodyPr/>
          <a:lstStyle/>
          <a:p>
            <a:endParaRPr lang="en-PH"/>
          </a:p>
        </p:txBody>
      </p:sp>
      <p:sp>
        <p:nvSpPr>
          <p:cNvPr id="10" name="Text 8"/>
          <p:cNvSpPr txBox="1"/>
          <p:nvPr/>
        </p:nvSpPr>
        <p:spPr>
          <a:xfrm>
            <a:off x="594360" y="4791456"/>
            <a:ext cx="292608" cy="292608"/>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2</a:t>
            </a:r>
            <a:endParaRPr lang="en-US" sz="1050" dirty="0"/>
          </a:p>
        </p:txBody>
      </p:sp>
      <p:sp>
        <p:nvSpPr>
          <p:cNvPr id="11" name="Text 9"/>
          <p:cNvSpPr txBox="1"/>
          <p:nvPr/>
        </p:nvSpPr>
        <p:spPr>
          <a:xfrm>
            <a:off x="1005840" y="4791456"/>
            <a:ext cx="4754880" cy="292608"/>
          </a:xfrm>
          <a:prstGeom prst="rect">
            <a:avLst/>
          </a:prstGeom>
          <a:noFill/>
          <a:ln/>
        </p:spPr>
        <p:txBody>
          <a:bodyPr wrap="square" lIns="0" tIns="0" rIns="0" bIns="0" rtlCol="0" anchor="ctr"/>
          <a:lstStyle/>
          <a:p>
            <a:pPr marL="0" indent="0">
              <a:buNone/>
            </a:pPr>
            <a:r>
              <a:rPr lang="en-US" sz="1350" dirty="0">
                <a:solidFill>
                  <a:srgbClr val="FFFFFF"/>
                </a:solidFill>
                <a:latin typeface="Calibri" pitchFamily="34" charset="0"/>
                <a:ea typeface="Calibri" pitchFamily="34" charset="-122"/>
                <a:cs typeface="Calibri" pitchFamily="34" charset="-120"/>
              </a:rPr>
              <a:t>Unique, unordered elements</a:t>
            </a:r>
            <a:endParaRPr lang="en-US" sz="1350" dirty="0"/>
          </a:p>
        </p:txBody>
      </p:sp>
      <p:sp>
        <p:nvSpPr>
          <p:cNvPr id="12" name="Shape 10"/>
          <p:cNvSpPr/>
          <p:nvPr/>
        </p:nvSpPr>
        <p:spPr>
          <a:xfrm>
            <a:off x="594360" y="5193792"/>
            <a:ext cx="292608" cy="292608"/>
          </a:xfrm>
          <a:prstGeom prst="ellipse">
            <a:avLst/>
          </a:prstGeom>
          <a:solidFill>
            <a:srgbClr val="3B3791"/>
          </a:solidFill>
          <a:ln w="12700">
            <a:solidFill>
              <a:srgbClr val="3B3791"/>
            </a:solidFill>
            <a:prstDash val="solid"/>
          </a:ln>
        </p:spPr>
        <p:txBody>
          <a:bodyPr/>
          <a:lstStyle/>
          <a:p>
            <a:endParaRPr lang="en-PH"/>
          </a:p>
        </p:txBody>
      </p:sp>
      <p:sp>
        <p:nvSpPr>
          <p:cNvPr id="13" name="Text 11"/>
          <p:cNvSpPr txBox="1"/>
          <p:nvPr/>
        </p:nvSpPr>
        <p:spPr>
          <a:xfrm>
            <a:off x="594360" y="5193792"/>
            <a:ext cx="292608" cy="292608"/>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3</a:t>
            </a:r>
            <a:endParaRPr lang="en-US" sz="1050" dirty="0"/>
          </a:p>
        </p:txBody>
      </p:sp>
      <p:sp>
        <p:nvSpPr>
          <p:cNvPr id="14" name="Text 12"/>
          <p:cNvSpPr txBox="1"/>
          <p:nvPr/>
        </p:nvSpPr>
        <p:spPr>
          <a:xfrm>
            <a:off x="1005840" y="5193792"/>
            <a:ext cx="4754880" cy="292608"/>
          </a:xfrm>
          <a:prstGeom prst="rect">
            <a:avLst/>
          </a:prstGeom>
          <a:noFill/>
          <a:ln/>
        </p:spPr>
        <p:txBody>
          <a:bodyPr wrap="square" lIns="0" tIns="0" rIns="0" bIns="0" rtlCol="0" anchor="ctr"/>
          <a:lstStyle/>
          <a:p>
            <a:pPr marL="0" indent="0">
              <a:buNone/>
            </a:pPr>
            <a:r>
              <a:rPr lang="en-US" sz="1350" dirty="0">
                <a:solidFill>
                  <a:srgbClr val="FFFFFF"/>
                </a:solidFill>
                <a:latin typeface="Calibri" pitchFamily="34" charset="0"/>
                <a:ea typeface="Calibri" pitchFamily="34" charset="-122"/>
                <a:cs typeface="Calibri" pitchFamily="34" charset="-120"/>
              </a:rPr>
              <a:t>Fast search with hashing</a:t>
            </a:r>
            <a:endParaRPr lang="en-US" sz="1350" dirty="0"/>
          </a:p>
        </p:txBody>
      </p:sp>
      <p:sp>
        <p:nvSpPr>
          <p:cNvPr id="15" name="Shape 13"/>
          <p:cNvSpPr/>
          <p:nvPr/>
        </p:nvSpPr>
        <p:spPr>
          <a:xfrm>
            <a:off x="594360" y="5596128"/>
            <a:ext cx="292608" cy="292608"/>
          </a:xfrm>
          <a:prstGeom prst="ellipse">
            <a:avLst/>
          </a:prstGeom>
          <a:solidFill>
            <a:srgbClr val="3B3791"/>
          </a:solidFill>
          <a:ln w="12700">
            <a:solidFill>
              <a:srgbClr val="3B3791"/>
            </a:solidFill>
            <a:prstDash val="solid"/>
          </a:ln>
        </p:spPr>
        <p:txBody>
          <a:bodyPr/>
          <a:lstStyle/>
          <a:p>
            <a:endParaRPr lang="en-PH"/>
          </a:p>
        </p:txBody>
      </p:sp>
      <p:sp>
        <p:nvSpPr>
          <p:cNvPr id="16" name="Text 14"/>
          <p:cNvSpPr txBox="1"/>
          <p:nvPr/>
        </p:nvSpPr>
        <p:spPr>
          <a:xfrm>
            <a:off x="594360" y="5596128"/>
            <a:ext cx="292608" cy="292608"/>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4</a:t>
            </a:r>
            <a:endParaRPr lang="en-US" sz="1050" dirty="0"/>
          </a:p>
        </p:txBody>
      </p:sp>
      <p:sp>
        <p:nvSpPr>
          <p:cNvPr id="17" name="Text 15"/>
          <p:cNvSpPr txBox="1"/>
          <p:nvPr/>
        </p:nvSpPr>
        <p:spPr>
          <a:xfrm>
            <a:off x="1005840" y="5596128"/>
            <a:ext cx="4754880" cy="292608"/>
          </a:xfrm>
          <a:prstGeom prst="rect">
            <a:avLst/>
          </a:prstGeom>
          <a:noFill/>
          <a:ln/>
        </p:spPr>
        <p:txBody>
          <a:bodyPr wrap="square" lIns="0" tIns="0" rIns="0" bIns="0" rtlCol="0" anchor="ctr"/>
          <a:lstStyle/>
          <a:p>
            <a:pPr marL="0" indent="0">
              <a:buNone/>
            </a:pPr>
            <a:r>
              <a:rPr lang="en-US" sz="1350" dirty="0">
                <a:solidFill>
                  <a:srgbClr val="FFFFFF"/>
                </a:solidFill>
                <a:latin typeface="Calibri" pitchFamily="34" charset="0"/>
                <a:ea typeface="Calibri" pitchFamily="34" charset="-122"/>
                <a:cs typeface="Calibri" pitchFamily="34" charset="-120"/>
              </a:rPr>
              <a:t>Set operations</a:t>
            </a:r>
            <a:endParaRPr lang="en-US" sz="1350" dirty="0"/>
          </a:p>
        </p:txBody>
      </p:sp>
      <p:sp>
        <p:nvSpPr>
          <p:cNvPr id="18" name="Shape 16"/>
          <p:cNvSpPr/>
          <p:nvPr/>
        </p:nvSpPr>
        <p:spPr>
          <a:xfrm>
            <a:off x="6492240" y="1417320"/>
            <a:ext cx="5212080" cy="4526280"/>
          </a:xfrm>
          <a:prstGeom prst="roundRect">
            <a:avLst>
              <a:gd name="adj" fmla="val 2828"/>
            </a:avLst>
          </a:prstGeom>
          <a:solidFill>
            <a:srgbClr val="2A2766"/>
          </a:solidFill>
          <a:ln w="12700">
            <a:solidFill>
              <a:srgbClr val="4A46A0"/>
            </a:solidFill>
            <a:prstDash val="solid"/>
          </a:ln>
        </p:spPr>
        <p:txBody>
          <a:bodyPr/>
          <a:lstStyle/>
          <a:p>
            <a:endParaRPr lang="en-PH"/>
          </a:p>
        </p:txBody>
      </p:sp>
      <p:sp>
        <p:nvSpPr>
          <p:cNvPr id="19" name="Text 17"/>
          <p:cNvSpPr txBox="1"/>
          <p:nvPr/>
        </p:nvSpPr>
        <p:spPr>
          <a:xfrm>
            <a:off x="6766560" y="1645920"/>
            <a:ext cx="4572000" cy="274320"/>
          </a:xfrm>
          <a:prstGeom prst="rect">
            <a:avLst/>
          </a:prstGeom>
          <a:noFill/>
          <a:ln/>
        </p:spPr>
        <p:txBody>
          <a:bodyPr wrap="square" lIns="0" tIns="0" rIns="0" bIns="0" rtlCol="0" anchor="t"/>
          <a:lstStyle/>
          <a:p>
            <a:pPr marL="0" indent="0">
              <a:buNone/>
            </a:pPr>
            <a:r>
              <a:rPr lang="en-US" sz="1100" b="1" kern="0" spc="300" dirty="0">
                <a:solidFill>
                  <a:srgbClr val="F0A8DD"/>
                </a:solidFill>
                <a:latin typeface="Calibri" pitchFamily="34" charset="0"/>
                <a:ea typeface="Calibri" pitchFamily="34" charset="-122"/>
                <a:cs typeface="Calibri" pitchFamily="34" charset="-120"/>
              </a:rPr>
              <a:t>DUPLICATES DISAPPEAR</a:t>
            </a:r>
            <a:endParaRPr lang="en-US" sz="1100" dirty="0"/>
          </a:p>
        </p:txBody>
      </p:sp>
      <p:sp>
        <p:nvSpPr>
          <p:cNvPr id="20" name="Text 18"/>
          <p:cNvSpPr txBox="1"/>
          <p:nvPr/>
        </p:nvSpPr>
        <p:spPr>
          <a:xfrm>
            <a:off x="6766560" y="2103120"/>
            <a:ext cx="4663440" cy="457200"/>
          </a:xfrm>
          <a:prstGeom prst="rect">
            <a:avLst/>
          </a:prstGeom>
          <a:noFill/>
          <a:ln/>
        </p:spPr>
        <p:txBody>
          <a:bodyPr wrap="square" lIns="0" tIns="0" rIns="0" bIns="0" rtlCol="0" anchor="ctr"/>
          <a:lstStyle/>
          <a:p>
            <a:pPr marL="0" indent="0">
              <a:buNone/>
            </a:pPr>
            <a:r>
              <a:rPr lang="en-US" sz="1500" dirty="0">
                <a:solidFill>
                  <a:srgbClr val="E4E4F0"/>
                </a:solidFill>
                <a:latin typeface="Courier New" pitchFamily="34" charset="0"/>
                <a:ea typeface="Courier New" pitchFamily="34" charset="-122"/>
                <a:cs typeface="Courier New" pitchFamily="34" charset="-120"/>
              </a:rPr>
              <a:t>nums = {</a:t>
            </a:r>
            <a:r>
              <a:rPr lang="en-US" sz="1500" dirty="0">
                <a:solidFill>
                  <a:srgbClr val="FAB387"/>
                </a:solidFill>
                <a:latin typeface="Courier New" pitchFamily="34" charset="0"/>
                <a:ea typeface="Courier New" pitchFamily="34" charset="-122"/>
                <a:cs typeface="Courier New" pitchFamily="34" charset="-120"/>
              </a:rPr>
              <a:t>1</a:t>
            </a:r>
            <a:r>
              <a:rPr lang="en-US" sz="1500" dirty="0">
                <a:solidFill>
                  <a:srgbClr val="E4E4F0"/>
                </a:solidFill>
                <a:latin typeface="Courier New" pitchFamily="34" charset="0"/>
                <a:ea typeface="Courier New" pitchFamily="34" charset="-122"/>
                <a:cs typeface="Courier New" pitchFamily="34" charset="-120"/>
              </a:rPr>
              <a:t>, </a:t>
            </a:r>
            <a:r>
              <a:rPr lang="en-US" sz="1500" dirty="0">
                <a:solidFill>
                  <a:srgbClr val="FAB387"/>
                </a:solidFill>
                <a:latin typeface="Courier New" pitchFamily="34" charset="0"/>
                <a:ea typeface="Courier New" pitchFamily="34" charset="-122"/>
                <a:cs typeface="Courier New" pitchFamily="34" charset="-120"/>
              </a:rPr>
              <a:t>2</a:t>
            </a:r>
            <a:r>
              <a:rPr lang="en-US" sz="1500" dirty="0">
                <a:solidFill>
                  <a:srgbClr val="E4E4F0"/>
                </a:solidFill>
                <a:latin typeface="Courier New" pitchFamily="34" charset="0"/>
                <a:ea typeface="Courier New" pitchFamily="34" charset="-122"/>
                <a:cs typeface="Courier New" pitchFamily="34" charset="-120"/>
              </a:rPr>
              <a:t>, </a:t>
            </a:r>
            <a:r>
              <a:rPr lang="en-US" sz="1500" dirty="0">
                <a:solidFill>
                  <a:srgbClr val="FAB387"/>
                </a:solidFill>
                <a:latin typeface="Courier New" pitchFamily="34" charset="0"/>
                <a:ea typeface="Courier New" pitchFamily="34" charset="-122"/>
                <a:cs typeface="Courier New" pitchFamily="34" charset="-120"/>
              </a:rPr>
              <a:t>2</a:t>
            </a:r>
            <a:r>
              <a:rPr lang="en-US" sz="1500" dirty="0">
                <a:solidFill>
                  <a:srgbClr val="E4E4F0"/>
                </a:solidFill>
                <a:latin typeface="Courier New" pitchFamily="34" charset="0"/>
                <a:ea typeface="Courier New" pitchFamily="34" charset="-122"/>
                <a:cs typeface="Courier New" pitchFamily="34" charset="-120"/>
              </a:rPr>
              <a:t>, </a:t>
            </a:r>
            <a:r>
              <a:rPr lang="en-US" sz="1500" dirty="0">
                <a:solidFill>
                  <a:srgbClr val="FAB387"/>
                </a:solidFill>
                <a:latin typeface="Courier New" pitchFamily="34" charset="0"/>
                <a:ea typeface="Courier New" pitchFamily="34" charset="-122"/>
                <a:cs typeface="Courier New" pitchFamily="34" charset="-120"/>
              </a:rPr>
              <a:t>3</a:t>
            </a:r>
            <a:r>
              <a:rPr lang="en-US" sz="1500" dirty="0">
                <a:solidFill>
                  <a:srgbClr val="E4E4F0"/>
                </a:solidFill>
                <a:latin typeface="Courier New" pitchFamily="34" charset="0"/>
                <a:ea typeface="Courier New" pitchFamily="34" charset="-122"/>
                <a:cs typeface="Courier New" pitchFamily="34" charset="-120"/>
              </a:rPr>
              <a:t>, </a:t>
            </a:r>
            <a:r>
              <a:rPr lang="en-US" sz="1500" dirty="0">
                <a:solidFill>
                  <a:srgbClr val="FAB387"/>
                </a:solidFill>
                <a:latin typeface="Courier New" pitchFamily="34" charset="0"/>
                <a:ea typeface="Courier New" pitchFamily="34" charset="-122"/>
                <a:cs typeface="Courier New" pitchFamily="34" charset="-120"/>
              </a:rPr>
              <a:t>3</a:t>
            </a:r>
            <a:r>
              <a:rPr lang="en-US" sz="1500" dirty="0">
                <a:solidFill>
                  <a:srgbClr val="E4E4F0"/>
                </a:solidFill>
                <a:latin typeface="Courier New" pitchFamily="34" charset="0"/>
                <a:ea typeface="Courier New" pitchFamily="34" charset="-122"/>
                <a:cs typeface="Courier New" pitchFamily="34" charset="-120"/>
              </a:rPr>
              <a:t>, </a:t>
            </a:r>
            <a:r>
              <a:rPr lang="en-US" sz="1500" dirty="0">
                <a:solidFill>
                  <a:srgbClr val="FAB387"/>
                </a:solidFill>
                <a:latin typeface="Courier New" pitchFamily="34" charset="0"/>
                <a:ea typeface="Courier New" pitchFamily="34" charset="-122"/>
                <a:cs typeface="Courier New" pitchFamily="34" charset="-120"/>
              </a:rPr>
              <a:t>3</a:t>
            </a:r>
            <a:r>
              <a:rPr lang="en-US" sz="1500" dirty="0">
                <a:solidFill>
                  <a:srgbClr val="E4E4F0"/>
                </a:solidFill>
                <a:latin typeface="Courier New" pitchFamily="34" charset="0"/>
                <a:ea typeface="Courier New" pitchFamily="34" charset="-122"/>
                <a:cs typeface="Courier New" pitchFamily="34" charset="-120"/>
              </a:rPr>
              <a:t>}</a:t>
            </a:r>
            <a:endParaRPr lang="en-US" sz="1500" dirty="0"/>
          </a:p>
        </p:txBody>
      </p:sp>
      <p:sp>
        <p:nvSpPr>
          <p:cNvPr id="21" name="Text 19"/>
          <p:cNvSpPr txBox="1"/>
          <p:nvPr/>
        </p:nvSpPr>
        <p:spPr>
          <a:xfrm>
            <a:off x="6766560" y="2606040"/>
            <a:ext cx="914400" cy="457200"/>
          </a:xfrm>
          <a:prstGeom prst="rect">
            <a:avLst/>
          </a:prstGeom>
          <a:noFill/>
          <a:ln/>
        </p:spPr>
        <p:txBody>
          <a:bodyPr wrap="square" lIns="0" tIns="0" rIns="0" bIns="0" rtlCol="0" anchor="t"/>
          <a:lstStyle/>
          <a:p>
            <a:pPr marL="0" indent="0">
              <a:buNone/>
            </a:pPr>
            <a:r>
              <a:rPr lang="en-US" sz="2400" b="1" dirty="0">
                <a:solidFill>
                  <a:srgbClr val="F0A8DD"/>
                </a:solidFill>
                <a:latin typeface="Calibri" pitchFamily="34" charset="0"/>
                <a:ea typeface="Calibri" pitchFamily="34" charset="-122"/>
                <a:cs typeface="Calibri" pitchFamily="34" charset="-120"/>
              </a:rPr>
              <a:t>↓</a:t>
            </a:r>
            <a:endParaRPr lang="en-US" sz="2400" dirty="0"/>
          </a:p>
        </p:txBody>
      </p:sp>
      <p:sp>
        <p:nvSpPr>
          <p:cNvPr id="22" name="Shape 20"/>
          <p:cNvSpPr/>
          <p:nvPr/>
        </p:nvSpPr>
        <p:spPr>
          <a:xfrm>
            <a:off x="6766560" y="3154680"/>
            <a:ext cx="685800" cy="685800"/>
          </a:xfrm>
          <a:prstGeom prst="ellipse">
            <a:avLst/>
          </a:prstGeom>
          <a:solidFill>
            <a:srgbClr val="3B3791"/>
          </a:solidFill>
          <a:ln w="12700">
            <a:solidFill>
              <a:srgbClr val="3B3791"/>
            </a:solidFill>
            <a:prstDash val="solid"/>
          </a:ln>
        </p:spPr>
        <p:txBody>
          <a:bodyPr/>
          <a:lstStyle/>
          <a:p>
            <a:endParaRPr lang="en-PH"/>
          </a:p>
        </p:txBody>
      </p:sp>
      <p:sp>
        <p:nvSpPr>
          <p:cNvPr id="23" name="Text 21"/>
          <p:cNvSpPr txBox="1"/>
          <p:nvPr/>
        </p:nvSpPr>
        <p:spPr>
          <a:xfrm>
            <a:off x="6766560" y="3154680"/>
            <a:ext cx="685800" cy="685800"/>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24" name="Shape 22"/>
          <p:cNvSpPr/>
          <p:nvPr/>
        </p:nvSpPr>
        <p:spPr>
          <a:xfrm>
            <a:off x="7635240" y="3154680"/>
            <a:ext cx="685800" cy="685800"/>
          </a:xfrm>
          <a:prstGeom prst="ellipse">
            <a:avLst/>
          </a:prstGeom>
          <a:solidFill>
            <a:srgbClr val="3B3791"/>
          </a:solidFill>
          <a:ln w="12700">
            <a:solidFill>
              <a:srgbClr val="3B3791"/>
            </a:solidFill>
            <a:prstDash val="solid"/>
          </a:ln>
        </p:spPr>
        <p:txBody>
          <a:bodyPr/>
          <a:lstStyle/>
          <a:p>
            <a:endParaRPr lang="en-PH"/>
          </a:p>
        </p:txBody>
      </p:sp>
      <p:sp>
        <p:nvSpPr>
          <p:cNvPr id="25" name="Text 23"/>
          <p:cNvSpPr txBox="1"/>
          <p:nvPr/>
        </p:nvSpPr>
        <p:spPr>
          <a:xfrm>
            <a:off x="7635240" y="3154680"/>
            <a:ext cx="685800" cy="685800"/>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26" name="Shape 24"/>
          <p:cNvSpPr/>
          <p:nvPr/>
        </p:nvSpPr>
        <p:spPr>
          <a:xfrm>
            <a:off x="8503920" y="3154680"/>
            <a:ext cx="685800" cy="685800"/>
          </a:xfrm>
          <a:prstGeom prst="ellipse">
            <a:avLst/>
          </a:prstGeom>
          <a:solidFill>
            <a:srgbClr val="3B3791"/>
          </a:solidFill>
          <a:ln w="12700">
            <a:solidFill>
              <a:srgbClr val="3B3791"/>
            </a:solidFill>
            <a:prstDash val="solid"/>
          </a:ln>
        </p:spPr>
        <p:txBody>
          <a:bodyPr/>
          <a:lstStyle/>
          <a:p>
            <a:endParaRPr lang="en-PH"/>
          </a:p>
        </p:txBody>
      </p:sp>
      <p:sp>
        <p:nvSpPr>
          <p:cNvPr id="27" name="Text 25"/>
          <p:cNvSpPr txBox="1"/>
          <p:nvPr/>
        </p:nvSpPr>
        <p:spPr>
          <a:xfrm>
            <a:off x="8503920" y="3154680"/>
            <a:ext cx="685800" cy="685800"/>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28" name="Text 26"/>
          <p:cNvSpPr txBox="1"/>
          <p:nvPr/>
        </p:nvSpPr>
        <p:spPr>
          <a:xfrm>
            <a:off x="9509760" y="3154680"/>
            <a:ext cx="2011680" cy="685800"/>
          </a:xfrm>
          <a:prstGeom prst="rect">
            <a:avLst/>
          </a:prstGeom>
          <a:noFill/>
          <a:ln/>
        </p:spPr>
        <p:txBody>
          <a:bodyPr wrap="square" lIns="0" tIns="0" rIns="0" bIns="0" rtlCol="0" anchor="ctr"/>
          <a:lstStyle/>
          <a:p>
            <a:pPr marL="0" indent="0">
              <a:buNone/>
            </a:pPr>
            <a:r>
              <a:rPr lang="en-US" sz="1800" b="1" dirty="0">
                <a:solidFill>
                  <a:srgbClr val="A6E3A1"/>
                </a:solidFill>
                <a:latin typeface="Courier New" pitchFamily="34" charset="0"/>
                <a:ea typeface="Courier New" pitchFamily="34" charset="-122"/>
                <a:cs typeface="Courier New" pitchFamily="34" charset="-120"/>
              </a:rPr>
              <a:t>{1, 2, 3}</a:t>
            </a:r>
            <a:endParaRPr lang="en-US" sz="1800" dirty="0"/>
          </a:p>
        </p:txBody>
      </p:sp>
      <p:sp>
        <p:nvSpPr>
          <p:cNvPr id="29" name="Text 27"/>
          <p:cNvSpPr txBox="1"/>
          <p:nvPr/>
        </p:nvSpPr>
        <p:spPr>
          <a:xfrm>
            <a:off x="6766560" y="4160520"/>
            <a:ext cx="4663440" cy="1097280"/>
          </a:xfrm>
          <a:prstGeom prst="rect">
            <a:avLst/>
          </a:prstGeom>
          <a:noFill/>
          <a:ln/>
        </p:spPr>
        <p:txBody>
          <a:bodyPr wrap="square" lIns="0" tIns="0" rIns="0" bIns="0" rtlCol="0" anchor="t"/>
          <a:lstStyle/>
          <a:p>
            <a:pPr marL="0" indent="0">
              <a:buNone/>
            </a:pPr>
            <a:r>
              <a:rPr lang="en-US" sz="1300" dirty="0">
                <a:solidFill>
                  <a:srgbClr val="C9CCFF"/>
                </a:solidFill>
                <a:latin typeface="Calibri" pitchFamily="34" charset="0"/>
                <a:ea typeface="Calibri" pitchFamily="34" charset="-122"/>
                <a:cs typeface="Calibri" pitchFamily="34" charset="-120"/>
              </a:rPr>
              <a:t>Each value is stored once. Sets have no index positions, so items are checked with the </a:t>
            </a:r>
            <a:r>
              <a:rPr lang="en-US" sz="1300" dirty="0">
                <a:solidFill>
                  <a:srgbClr val="FFFFFF"/>
                </a:solidFill>
                <a:latin typeface="Courier New" pitchFamily="34" charset="0"/>
                <a:ea typeface="Courier New" pitchFamily="34" charset="-122"/>
                <a:cs typeface="Courier New" pitchFamily="34" charset="-120"/>
              </a:rPr>
              <a:t>in</a:t>
            </a:r>
            <a:r>
              <a:rPr lang="en-US" sz="1300" dirty="0">
                <a:solidFill>
                  <a:srgbClr val="C9CCFF"/>
                </a:solidFill>
                <a:latin typeface="Calibri" pitchFamily="34" charset="0"/>
                <a:ea typeface="Calibri" pitchFamily="34" charset="-122"/>
                <a:cs typeface="Calibri" pitchFamily="34" charset="-120"/>
              </a:rPr>
              <a:t> keyword instead.</a:t>
            </a:r>
            <a:endParaRPr lang="en-US" sz="1300" dirty="0"/>
          </a:p>
        </p:txBody>
      </p:sp>
      <p:sp>
        <p:nvSpPr>
          <p:cNvPr id="30" name="Text 28"/>
          <p:cNvSpPr txBox="1"/>
          <p:nvPr/>
        </p:nvSpPr>
        <p:spPr>
          <a:xfrm>
            <a:off x="11140135" y="6446520"/>
            <a:ext cx="548640" cy="228600"/>
          </a:xfrm>
          <a:prstGeom prst="rect">
            <a:avLst/>
          </a:prstGeom>
          <a:noFill/>
          <a:ln/>
        </p:spPr>
        <p:txBody>
          <a:bodyPr wrap="square" lIns="0" tIns="0" rIns="0" bIns="0" rtlCol="0" anchor="t"/>
          <a:lstStyle/>
          <a:p>
            <a:pPr marL="0" indent="0" algn="r">
              <a:buNone/>
            </a:pPr>
            <a:r>
              <a:rPr lang="en-US" sz="900" dirty="0">
                <a:solidFill>
                  <a:srgbClr val="9EA2E0"/>
                </a:solidFill>
                <a:latin typeface="Calibri" pitchFamily="34" charset="0"/>
                <a:ea typeface="Calibri" pitchFamily="34" charset="-122"/>
                <a:cs typeface="Calibri" pitchFamily="34" charset="-120"/>
              </a:rPr>
              <a:t>23</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02920" y="310896"/>
            <a:ext cx="8229600" cy="237744"/>
          </a:xfrm>
          <a:prstGeom prst="rect">
            <a:avLst/>
          </a:prstGeom>
          <a:noFill/>
          <a:ln/>
        </p:spPr>
        <p:txBody>
          <a:bodyPr wrap="square" lIns="0" tIns="0" rIns="0" bIns="0" rtlCol="0" anchor="t"/>
          <a:lstStyle/>
          <a:p>
            <a:pPr marL="0" indent="0">
              <a:buNone/>
            </a:pPr>
            <a:r>
              <a:rPr lang="en-US" sz="1050" b="1" kern="0" spc="200" dirty="0">
                <a:solidFill>
                  <a:srgbClr val="C8559F"/>
                </a:solidFill>
                <a:latin typeface="Calibri" pitchFamily="34" charset="0"/>
                <a:ea typeface="Calibri" pitchFamily="34" charset="-122"/>
                <a:cs typeface="Calibri" pitchFamily="34" charset="-120"/>
              </a:rPr>
              <a:t>SETS · DEFINITION</a:t>
            </a:r>
            <a:endParaRPr lang="en-US" sz="1050" dirty="0"/>
          </a:p>
        </p:txBody>
      </p:sp>
      <p:sp>
        <p:nvSpPr>
          <p:cNvPr id="3" name="Text 1"/>
          <p:cNvSpPr txBox="1"/>
          <p:nvPr/>
        </p:nvSpPr>
        <p:spPr>
          <a:xfrm>
            <a:off x="502920" y="530352"/>
            <a:ext cx="10241280" cy="640080"/>
          </a:xfrm>
          <a:prstGeom prst="rect">
            <a:avLst/>
          </a:prstGeom>
          <a:noFill/>
          <a:ln/>
        </p:spPr>
        <p:txBody>
          <a:bodyPr wrap="square" lIns="0" tIns="0" rIns="0" bIns="0" rtlCol="0" anchor="ctr"/>
          <a:lstStyle/>
          <a:p>
            <a:pPr marL="0" indent="0">
              <a:buNone/>
            </a:pPr>
            <a:r>
              <a:rPr lang="en-US" sz="2800" b="1" dirty="0">
                <a:solidFill>
                  <a:srgbClr val="1E1B4B"/>
                </a:solidFill>
                <a:latin typeface="Calibri" pitchFamily="34" charset="0"/>
                <a:ea typeface="Calibri" pitchFamily="34" charset="-122"/>
                <a:cs typeface="Calibri" pitchFamily="34" charset="-120"/>
              </a:rPr>
              <a:t>SETS</a:t>
            </a:r>
            <a:endParaRPr lang="en-US" sz="2800" dirty="0"/>
          </a:p>
        </p:txBody>
      </p:sp>
      <p:sp>
        <p:nvSpPr>
          <p:cNvPr id="4" name="Text 2"/>
          <p:cNvSpPr txBox="1"/>
          <p:nvPr/>
        </p:nvSpPr>
        <p:spPr>
          <a:xfrm>
            <a:off x="502920" y="6446520"/>
            <a:ext cx="5486400" cy="228600"/>
          </a:xfrm>
          <a:prstGeom prst="rect">
            <a:avLst/>
          </a:prstGeom>
          <a:noFill/>
          <a:ln/>
        </p:spPr>
        <p:txBody>
          <a:bodyPr wrap="square" lIns="0" tIns="0" rIns="0" bIns="0" rtlCol="0" anchor="t"/>
          <a:lstStyle/>
          <a:p>
            <a:pPr marL="0" indent="0">
              <a:buNone/>
            </a:pPr>
            <a:r>
              <a:rPr lang="en-US" sz="900" dirty="0">
                <a:solidFill>
                  <a:srgbClr val="5B5F7A"/>
                </a:solidFill>
                <a:latin typeface="Calibri" pitchFamily="34" charset="0"/>
                <a:ea typeface="Calibri" pitchFamily="34" charset="-122"/>
                <a:cs typeface="Calibri" pitchFamily="34" charset="-120"/>
              </a:rPr>
              <a:t>Python  ·  Sets</a:t>
            </a:r>
            <a:endParaRPr lang="en-US" sz="900" dirty="0"/>
          </a:p>
        </p:txBody>
      </p:sp>
      <p:sp>
        <p:nvSpPr>
          <p:cNvPr id="5" name="Text 3"/>
          <p:cNvSpPr txBox="1"/>
          <p:nvPr/>
        </p:nvSpPr>
        <p:spPr>
          <a:xfrm>
            <a:off x="11140135" y="6446520"/>
            <a:ext cx="548640" cy="228600"/>
          </a:xfrm>
          <a:prstGeom prst="rect">
            <a:avLst/>
          </a:prstGeom>
          <a:noFill/>
          <a:ln/>
        </p:spPr>
        <p:txBody>
          <a:bodyPr wrap="square" lIns="0" tIns="0" rIns="0" bIns="0" rtlCol="0" anchor="t"/>
          <a:lstStyle/>
          <a:p>
            <a:pPr marL="0" indent="0" algn="r">
              <a:buNone/>
            </a:pPr>
            <a:r>
              <a:rPr lang="en-US" sz="900" dirty="0">
                <a:solidFill>
                  <a:srgbClr val="5B5F7A"/>
                </a:solidFill>
                <a:latin typeface="Calibri" pitchFamily="34" charset="0"/>
                <a:ea typeface="Calibri" pitchFamily="34" charset="-122"/>
                <a:cs typeface="Calibri" pitchFamily="34" charset="-120"/>
              </a:rPr>
              <a:t>24</a:t>
            </a:r>
            <a:endParaRPr lang="en-US" sz="900" dirty="0"/>
          </a:p>
        </p:txBody>
      </p:sp>
      <p:sp>
        <p:nvSpPr>
          <p:cNvPr id="6" name="Text 4"/>
          <p:cNvSpPr txBox="1"/>
          <p:nvPr/>
        </p:nvSpPr>
        <p:spPr>
          <a:xfrm>
            <a:off x="502920" y="1417320"/>
            <a:ext cx="6035040" cy="685800"/>
          </a:xfrm>
          <a:prstGeom prst="rect">
            <a:avLst/>
          </a:prstGeom>
          <a:noFill/>
          <a:ln/>
        </p:spPr>
        <p:txBody>
          <a:bodyPr wrap="square" lIns="0" tIns="0" rIns="0" bIns="0" rtlCol="0" anchor="t"/>
          <a:lstStyle/>
          <a:p>
            <a:pPr marL="0" indent="0">
              <a:buNone/>
            </a:pPr>
            <a:r>
              <a:rPr lang="en-US" sz="1550" dirty="0">
                <a:solidFill>
                  <a:srgbClr val="1E1B4B"/>
                </a:solidFill>
                <a:latin typeface="Calibri" pitchFamily="34" charset="0"/>
                <a:ea typeface="Calibri" pitchFamily="34" charset="-122"/>
                <a:cs typeface="Calibri" pitchFamily="34" charset="-120"/>
              </a:rPr>
              <a:t>Set is a built-in Python data type used to store a collection of </a:t>
            </a:r>
            <a:r>
              <a:rPr lang="en-US" sz="1550" b="1" dirty="0">
                <a:solidFill>
                  <a:srgbClr val="1E1B4B"/>
                </a:solidFill>
                <a:latin typeface="Calibri" pitchFamily="34" charset="0"/>
                <a:ea typeface="Calibri" pitchFamily="34" charset="-122"/>
                <a:cs typeface="Calibri" pitchFamily="34" charset="-120"/>
              </a:rPr>
              <a:t>unique items</a:t>
            </a:r>
            <a:r>
              <a:rPr lang="en-US" sz="1550" dirty="0">
                <a:solidFill>
                  <a:srgbClr val="1E1B4B"/>
                </a:solidFill>
                <a:latin typeface="Calibri" pitchFamily="34" charset="0"/>
                <a:ea typeface="Calibri" pitchFamily="34" charset="-122"/>
                <a:cs typeface="Calibri" pitchFamily="34" charset="-120"/>
              </a:rPr>
              <a:t>.</a:t>
            </a:r>
            <a:endParaRPr lang="en-US" sz="1550" dirty="0"/>
          </a:p>
        </p:txBody>
      </p:sp>
      <p:sp>
        <p:nvSpPr>
          <p:cNvPr id="7" name="Shape 5"/>
          <p:cNvSpPr/>
          <p:nvPr/>
        </p:nvSpPr>
        <p:spPr>
          <a:xfrm>
            <a:off x="502920" y="2194560"/>
            <a:ext cx="6035040" cy="749808"/>
          </a:xfrm>
          <a:prstGeom prst="roundRect">
            <a:avLst>
              <a:gd name="adj" fmla="val 14634"/>
            </a:avLst>
          </a:prstGeom>
          <a:solidFill>
            <a:srgbClr val="FFFFFF"/>
          </a:solidFill>
          <a:ln w="9525">
            <a:solidFill>
              <a:srgbClr val="DCDDF5"/>
            </a:solidFill>
            <a:prstDash val="solid"/>
          </a:ln>
          <a:effectLst>
            <a:outerShdw blurRad="127000" dist="25400" dir="5400000" algn="bl" rotWithShape="0">
              <a:srgbClr val="4F46E5">
                <a:alpha val="12000"/>
              </a:srgbClr>
            </a:outerShdw>
          </a:effectLst>
        </p:spPr>
        <p:txBody>
          <a:bodyPr/>
          <a:lstStyle/>
          <a:p>
            <a:endParaRPr lang="en-PH"/>
          </a:p>
        </p:txBody>
      </p:sp>
      <p:sp>
        <p:nvSpPr>
          <p:cNvPr id="8" name="Shape 6"/>
          <p:cNvSpPr/>
          <p:nvPr/>
        </p:nvSpPr>
        <p:spPr>
          <a:xfrm>
            <a:off x="685800" y="2423160"/>
            <a:ext cx="1097280" cy="274320"/>
          </a:xfrm>
          <a:prstGeom prst="roundRect">
            <a:avLst>
              <a:gd name="adj" fmla="val 50000"/>
            </a:avLst>
          </a:prstGeom>
          <a:solidFill>
            <a:srgbClr val="E8E8FD"/>
          </a:solidFill>
          <a:ln w="12700">
            <a:solidFill>
              <a:srgbClr val="E8E8FD"/>
            </a:solidFill>
            <a:prstDash val="solid"/>
          </a:ln>
        </p:spPr>
        <p:txBody>
          <a:bodyPr/>
          <a:lstStyle/>
          <a:p>
            <a:endParaRPr lang="en-PH"/>
          </a:p>
        </p:txBody>
      </p:sp>
      <p:sp>
        <p:nvSpPr>
          <p:cNvPr id="9" name="Text 7"/>
          <p:cNvSpPr txBox="1"/>
          <p:nvPr/>
        </p:nvSpPr>
        <p:spPr>
          <a:xfrm>
            <a:off x="685800" y="2423160"/>
            <a:ext cx="1097280" cy="274320"/>
          </a:xfrm>
          <a:prstGeom prst="rect">
            <a:avLst/>
          </a:prstGeom>
          <a:noFill/>
          <a:ln/>
        </p:spPr>
        <p:txBody>
          <a:bodyPr wrap="square" lIns="0" tIns="0" rIns="0" bIns="0" rtlCol="0" anchor="ctr"/>
          <a:lstStyle/>
          <a:p>
            <a:pPr marL="0" indent="0" algn="ctr">
              <a:buNone/>
            </a:pPr>
            <a:r>
              <a:rPr lang="en-US" sz="1100" b="1" dirty="0">
                <a:solidFill>
                  <a:srgbClr val="4F46E5"/>
                </a:solidFill>
                <a:latin typeface="Calibri" pitchFamily="34" charset="0"/>
                <a:ea typeface="Calibri" pitchFamily="34" charset="-122"/>
                <a:cs typeface="Calibri" pitchFamily="34" charset="-120"/>
              </a:rPr>
              <a:t>Unique</a:t>
            </a:r>
            <a:endParaRPr lang="en-US" sz="1100" dirty="0"/>
          </a:p>
        </p:txBody>
      </p:sp>
      <p:sp>
        <p:nvSpPr>
          <p:cNvPr id="10" name="Text 8"/>
          <p:cNvSpPr txBox="1"/>
          <p:nvPr/>
        </p:nvSpPr>
        <p:spPr>
          <a:xfrm>
            <a:off x="1965960" y="2240280"/>
            <a:ext cx="4389120" cy="658368"/>
          </a:xfrm>
          <a:prstGeom prst="rect">
            <a:avLst/>
          </a:prstGeom>
          <a:noFill/>
          <a:ln/>
        </p:spPr>
        <p:txBody>
          <a:bodyPr wrap="square" lIns="0" tIns="0" rIns="0" bIns="0" rtlCol="0" anchor="ctr"/>
          <a:lstStyle/>
          <a:p>
            <a:pPr marL="0" indent="0">
              <a:buNone/>
            </a:pPr>
            <a:r>
              <a:rPr lang="en-US" sz="1300" dirty="0">
                <a:solidFill>
                  <a:srgbClr val="1E1B4B"/>
                </a:solidFill>
                <a:latin typeface="Calibri" pitchFamily="34" charset="0"/>
                <a:ea typeface="Calibri" pitchFamily="34" charset="-122"/>
                <a:cs typeface="Calibri" pitchFamily="34" charset="-120"/>
              </a:rPr>
              <a:t>Stores only unique elements; duplicate values are automatically removed.</a:t>
            </a:r>
            <a:endParaRPr lang="en-US" sz="1300" dirty="0"/>
          </a:p>
        </p:txBody>
      </p:sp>
      <p:sp>
        <p:nvSpPr>
          <p:cNvPr id="11" name="Shape 9"/>
          <p:cNvSpPr/>
          <p:nvPr/>
        </p:nvSpPr>
        <p:spPr>
          <a:xfrm>
            <a:off x="502920" y="3063240"/>
            <a:ext cx="6035040" cy="749808"/>
          </a:xfrm>
          <a:prstGeom prst="roundRect">
            <a:avLst>
              <a:gd name="adj" fmla="val 14634"/>
            </a:avLst>
          </a:prstGeom>
          <a:solidFill>
            <a:srgbClr val="FFFFFF"/>
          </a:solidFill>
          <a:ln w="9525">
            <a:solidFill>
              <a:srgbClr val="DCDDF5"/>
            </a:solidFill>
            <a:prstDash val="solid"/>
          </a:ln>
          <a:effectLst>
            <a:outerShdw blurRad="127000" dist="25400" dir="5400000" algn="bl" rotWithShape="0">
              <a:srgbClr val="4F46E5">
                <a:alpha val="12000"/>
              </a:srgbClr>
            </a:outerShdw>
          </a:effectLst>
        </p:spPr>
        <p:txBody>
          <a:bodyPr/>
          <a:lstStyle/>
          <a:p>
            <a:endParaRPr lang="en-PH"/>
          </a:p>
        </p:txBody>
      </p:sp>
      <p:sp>
        <p:nvSpPr>
          <p:cNvPr id="12" name="Shape 10"/>
          <p:cNvSpPr/>
          <p:nvPr/>
        </p:nvSpPr>
        <p:spPr>
          <a:xfrm>
            <a:off x="685800" y="3291840"/>
            <a:ext cx="1097280" cy="274320"/>
          </a:xfrm>
          <a:prstGeom prst="roundRect">
            <a:avLst>
              <a:gd name="adj" fmla="val 50000"/>
            </a:avLst>
          </a:prstGeom>
          <a:solidFill>
            <a:srgbClr val="E8E8FD"/>
          </a:solidFill>
          <a:ln w="12700">
            <a:solidFill>
              <a:srgbClr val="E8E8FD"/>
            </a:solidFill>
            <a:prstDash val="solid"/>
          </a:ln>
        </p:spPr>
        <p:txBody>
          <a:bodyPr/>
          <a:lstStyle/>
          <a:p>
            <a:endParaRPr lang="en-PH"/>
          </a:p>
        </p:txBody>
      </p:sp>
      <p:sp>
        <p:nvSpPr>
          <p:cNvPr id="13" name="Text 11"/>
          <p:cNvSpPr txBox="1"/>
          <p:nvPr/>
        </p:nvSpPr>
        <p:spPr>
          <a:xfrm>
            <a:off x="685800" y="3291840"/>
            <a:ext cx="1097280" cy="274320"/>
          </a:xfrm>
          <a:prstGeom prst="rect">
            <a:avLst/>
          </a:prstGeom>
          <a:noFill/>
          <a:ln/>
        </p:spPr>
        <p:txBody>
          <a:bodyPr wrap="square" lIns="0" tIns="0" rIns="0" bIns="0" rtlCol="0" anchor="ctr"/>
          <a:lstStyle/>
          <a:p>
            <a:pPr marL="0" indent="0" algn="ctr">
              <a:buNone/>
            </a:pPr>
            <a:r>
              <a:rPr lang="en-US" sz="1100" b="1" dirty="0">
                <a:solidFill>
                  <a:srgbClr val="4F46E5"/>
                </a:solidFill>
                <a:latin typeface="Calibri" pitchFamily="34" charset="0"/>
                <a:ea typeface="Calibri" pitchFamily="34" charset="-122"/>
                <a:cs typeface="Calibri" pitchFamily="34" charset="-120"/>
              </a:rPr>
              <a:t>Unordered</a:t>
            </a:r>
            <a:endParaRPr lang="en-US" sz="1100" dirty="0"/>
          </a:p>
        </p:txBody>
      </p:sp>
      <p:sp>
        <p:nvSpPr>
          <p:cNvPr id="14" name="Text 12"/>
          <p:cNvSpPr txBox="1"/>
          <p:nvPr/>
        </p:nvSpPr>
        <p:spPr>
          <a:xfrm>
            <a:off x="1965960" y="3108960"/>
            <a:ext cx="4389120" cy="658368"/>
          </a:xfrm>
          <a:prstGeom prst="rect">
            <a:avLst/>
          </a:prstGeom>
          <a:noFill/>
          <a:ln/>
        </p:spPr>
        <p:txBody>
          <a:bodyPr wrap="square" lIns="0" tIns="0" rIns="0" bIns="0" rtlCol="0" anchor="ctr"/>
          <a:lstStyle/>
          <a:p>
            <a:pPr marL="0" indent="0">
              <a:buNone/>
            </a:pPr>
            <a:r>
              <a:rPr lang="en-US" sz="1300" dirty="0">
                <a:solidFill>
                  <a:srgbClr val="1E1B4B"/>
                </a:solidFill>
                <a:latin typeface="Calibri" pitchFamily="34" charset="0"/>
                <a:ea typeface="Calibri" pitchFamily="34" charset="-122"/>
                <a:cs typeface="Calibri" pitchFamily="34" charset="-120"/>
              </a:rPr>
              <a:t>Unordered collection, so elements do not have a fixed position and cannot be accessed using indexes.</a:t>
            </a:r>
            <a:endParaRPr lang="en-US" sz="1300" dirty="0"/>
          </a:p>
        </p:txBody>
      </p:sp>
      <p:sp>
        <p:nvSpPr>
          <p:cNvPr id="15" name="Shape 13"/>
          <p:cNvSpPr/>
          <p:nvPr/>
        </p:nvSpPr>
        <p:spPr>
          <a:xfrm>
            <a:off x="502920" y="3931920"/>
            <a:ext cx="6035040" cy="749808"/>
          </a:xfrm>
          <a:prstGeom prst="roundRect">
            <a:avLst>
              <a:gd name="adj" fmla="val 14634"/>
            </a:avLst>
          </a:prstGeom>
          <a:solidFill>
            <a:srgbClr val="FFFFFF"/>
          </a:solidFill>
          <a:ln w="9525">
            <a:solidFill>
              <a:srgbClr val="DCDDF5"/>
            </a:solidFill>
            <a:prstDash val="solid"/>
          </a:ln>
          <a:effectLst>
            <a:outerShdw blurRad="127000" dist="25400" dir="5400000" algn="bl" rotWithShape="0">
              <a:srgbClr val="4F46E5">
                <a:alpha val="12000"/>
              </a:srgbClr>
            </a:outerShdw>
          </a:effectLst>
        </p:spPr>
        <p:txBody>
          <a:bodyPr/>
          <a:lstStyle/>
          <a:p>
            <a:endParaRPr lang="en-PH"/>
          </a:p>
        </p:txBody>
      </p:sp>
      <p:sp>
        <p:nvSpPr>
          <p:cNvPr id="16" name="Shape 14"/>
          <p:cNvSpPr/>
          <p:nvPr/>
        </p:nvSpPr>
        <p:spPr>
          <a:xfrm>
            <a:off x="685800" y="4160520"/>
            <a:ext cx="1097280" cy="274320"/>
          </a:xfrm>
          <a:prstGeom prst="roundRect">
            <a:avLst>
              <a:gd name="adj" fmla="val 50000"/>
            </a:avLst>
          </a:prstGeom>
          <a:solidFill>
            <a:srgbClr val="E8E8FD"/>
          </a:solidFill>
          <a:ln w="12700">
            <a:solidFill>
              <a:srgbClr val="E8E8FD"/>
            </a:solidFill>
            <a:prstDash val="solid"/>
          </a:ln>
        </p:spPr>
        <p:txBody>
          <a:bodyPr/>
          <a:lstStyle/>
          <a:p>
            <a:endParaRPr lang="en-PH"/>
          </a:p>
        </p:txBody>
      </p:sp>
      <p:sp>
        <p:nvSpPr>
          <p:cNvPr id="17" name="Text 15"/>
          <p:cNvSpPr txBox="1"/>
          <p:nvPr/>
        </p:nvSpPr>
        <p:spPr>
          <a:xfrm>
            <a:off x="685800" y="4160520"/>
            <a:ext cx="1097280" cy="274320"/>
          </a:xfrm>
          <a:prstGeom prst="rect">
            <a:avLst/>
          </a:prstGeom>
          <a:noFill/>
          <a:ln/>
        </p:spPr>
        <p:txBody>
          <a:bodyPr wrap="square" lIns="0" tIns="0" rIns="0" bIns="0" rtlCol="0" anchor="ctr"/>
          <a:lstStyle/>
          <a:p>
            <a:pPr marL="0" indent="0" algn="ctr">
              <a:buNone/>
            </a:pPr>
            <a:r>
              <a:rPr lang="en-US" sz="1100" b="1" dirty="0">
                <a:solidFill>
                  <a:srgbClr val="4F46E5"/>
                </a:solidFill>
                <a:latin typeface="Calibri" pitchFamily="34" charset="0"/>
                <a:ea typeface="Calibri" pitchFamily="34" charset="-122"/>
                <a:cs typeface="Calibri" pitchFamily="34" charset="-120"/>
              </a:rPr>
              <a:t>Fast</a:t>
            </a:r>
            <a:endParaRPr lang="en-US" sz="1100" dirty="0"/>
          </a:p>
        </p:txBody>
      </p:sp>
      <p:sp>
        <p:nvSpPr>
          <p:cNvPr id="18" name="Text 16"/>
          <p:cNvSpPr txBox="1"/>
          <p:nvPr/>
        </p:nvSpPr>
        <p:spPr>
          <a:xfrm>
            <a:off x="1965960" y="3977640"/>
            <a:ext cx="4389120" cy="658368"/>
          </a:xfrm>
          <a:prstGeom prst="rect">
            <a:avLst/>
          </a:prstGeom>
          <a:noFill/>
          <a:ln/>
        </p:spPr>
        <p:txBody>
          <a:bodyPr wrap="square" lIns="0" tIns="0" rIns="0" bIns="0" rtlCol="0" anchor="ctr"/>
          <a:lstStyle/>
          <a:p>
            <a:pPr marL="0" indent="0">
              <a:buNone/>
            </a:pPr>
            <a:r>
              <a:rPr lang="en-US" sz="1300" dirty="0">
                <a:solidFill>
                  <a:srgbClr val="1E1B4B"/>
                </a:solidFill>
                <a:latin typeface="Calibri" pitchFamily="34" charset="0"/>
                <a:ea typeface="Calibri" pitchFamily="34" charset="-122"/>
                <a:cs typeface="Calibri" pitchFamily="34" charset="-120"/>
              </a:rPr>
              <a:t>Supports fast search, insertion and deletion operations using hashing internally.</a:t>
            </a:r>
            <a:endParaRPr lang="en-US" sz="1300" dirty="0"/>
          </a:p>
        </p:txBody>
      </p:sp>
      <p:sp>
        <p:nvSpPr>
          <p:cNvPr id="19" name="Shape 17"/>
          <p:cNvSpPr/>
          <p:nvPr/>
        </p:nvSpPr>
        <p:spPr>
          <a:xfrm>
            <a:off x="502920" y="4892040"/>
            <a:ext cx="2926080" cy="1325880"/>
          </a:xfrm>
          <a:prstGeom prst="roundRect">
            <a:avLst>
              <a:gd name="adj" fmla="val 6897"/>
            </a:avLst>
          </a:prstGeom>
          <a:solidFill>
            <a:srgbClr val="1F1D36"/>
          </a:solidFill>
          <a:ln w="12700">
            <a:solidFill>
              <a:srgbClr val="1F1D36"/>
            </a:solidFill>
            <a:prstDash val="solid"/>
          </a:ln>
        </p:spPr>
        <p:txBody>
          <a:bodyPr/>
          <a:lstStyle/>
          <a:p>
            <a:endParaRPr lang="en-PH"/>
          </a:p>
        </p:txBody>
      </p:sp>
      <p:sp>
        <p:nvSpPr>
          <p:cNvPr id="20" name="Text 18"/>
          <p:cNvSpPr txBox="1"/>
          <p:nvPr/>
        </p:nvSpPr>
        <p:spPr>
          <a:xfrm>
            <a:off x="667512" y="4974336"/>
            <a:ext cx="2596896" cy="201168"/>
          </a:xfrm>
          <a:prstGeom prst="rect">
            <a:avLst/>
          </a:prstGeom>
          <a:noFill/>
          <a:ln/>
        </p:spPr>
        <p:txBody>
          <a:bodyPr wrap="square" lIns="0" tIns="0" rIns="0" bIns="0" rtlCol="0" anchor="ctr"/>
          <a:lstStyle/>
          <a:p>
            <a:pPr marL="0" indent="0">
              <a:buNone/>
            </a:pPr>
            <a:r>
              <a:rPr lang="en-US" sz="900" b="1" dirty="0">
                <a:solidFill>
                  <a:srgbClr val="8A8FB5"/>
                </a:solidFill>
                <a:latin typeface="Calibri" pitchFamily="34" charset="0"/>
                <a:ea typeface="Calibri" pitchFamily="34" charset="-122"/>
                <a:cs typeface="Calibri" pitchFamily="34" charset="-120"/>
              </a:rPr>
              <a:t>&lt;/&gt;  Python</a:t>
            </a:r>
            <a:endParaRPr lang="en-US" sz="900" dirty="0"/>
          </a:p>
        </p:txBody>
      </p:sp>
      <p:sp>
        <p:nvSpPr>
          <p:cNvPr id="21" name="Text 19"/>
          <p:cNvSpPr txBox="1"/>
          <p:nvPr/>
        </p:nvSpPr>
        <p:spPr>
          <a:xfrm>
            <a:off x="667512" y="5221224"/>
            <a:ext cx="2651760" cy="941832"/>
          </a:xfrm>
          <a:prstGeom prst="rect">
            <a:avLst/>
          </a:prstGeom>
          <a:noFill/>
          <a:ln/>
        </p:spPr>
        <p:txBody>
          <a:bodyPr wrap="square" lIns="0" tIns="0" rIns="0" bIns="0" rtlCol="0" anchor="t"/>
          <a:lstStyle/>
          <a:p>
            <a:pPr marL="0" indent="0">
              <a:buNone/>
            </a:pPr>
            <a:r>
              <a:rPr lang="en-US" sz="1200" dirty="0">
                <a:solidFill>
                  <a:srgbClr val="E4E4F0"/>
                </a:solidFill>
                <a:latin typeface="Courier New" pitchFamily="34" charset="0"/>
                <a:ea typeface="Courier New" pitchFamily="34" charset="-122"/>
                <a:cs typeface="Courier New" pitchFamily="34" charset="-120"/>
              </a:rPr>
              <a:t>s = {</a:t>
            </a:r>
            <a:r>
              <a:rPr lang="en-US" sz="1200" dirty="0">
                <a:solidFill>
                  <a:srgbClr val="FAB387"/>
                </a:solidFill>
                <a:latin typeface="Courier New" pitchFamily="34" charset="0"/>
                <a:ea typeface="Courier New" pitchFamily="34" charset="-122"/>
                <a:cs typeface="Courier New" pitchFamily="34" charset="-120"/>
              </a:rPr>
              <a:t>10</a:t>
            </a:r>
            <a:r>
              <a:rPr lang="en-US" sz="1200" dirty="0">
                <a:solidFill>
                  <a:srgbClr val="E4E4F0"/>
                </a:solidFill>
                <a:latin typeface="Courier New" pitchFamily="34" charset="0"/>
                <a:ea typeface="Courier New" pitchFamily="34" charset="-122"/>
                <a:cs typeface="Courier New" pitchFamily="34" charset="-120"/>
              </a:rPr>
              <a:t>, </a:t>
            </a:r>
            <a:r>
              <a:rPr lang="en-US" sz="1200" dirty="0">
                <a:solidFill>
                  <a:srgbClr val="FAB387"/>
                </a:solidFill>
                <a:latin typeface="Courier New" pitchFamily="34" charset="0"/>
                <a:ea typeface="Courier New" pitchFamily="34" charset="-122"/>
                <a:cs typeface="Courier New" pitchFamily="34" charset="-120"/>
              </a:rPr>
              <a:t>50</a:t>
            </a:r>
            <a:r>
              <a:rPr lang="en-US" sz="1200" dirty="0">
                <a:solidFill>
                  <a:srgbClr val="E4E4F0"/>
                </a:solidFill>
                <a:latin typeface="Courier New" pitchFamily="34" charset="0"/>
                <a:ea typeface="Courier New" pitchFamily="34" charset="-122"/>
                <a:cs typeface="Courier New" pitchFamily="34" charset="-120"/>
              </a:rPr>
              <a:t>, </a:t>
            </a:r>
            <a:r>
              <a:rPr lang="en-US" sz="1200" dirty="0">
                <a:solidFill>
                  <a:srgbClr val="FAB387"/>
                </a:solidFill>
                <a:latin typeface="Courier New" pitchFamily="34" charset="0"/>
                <a:ea typeface="Courier New" pitchFamily="34" charset="-122"/>
                <a:cs typeface="Courier New" pitchFamily="34" charset="-120"/>
              </a:rPr>
              <a:t>20</a:t>
            </a:r>
            <a:r>
              <a:rPr lang="en-US" sz="1200" dirty="0">
                <a:solidFill>
                  <a:srgbClr val="E4E4F0"/>
                </a:solidFill>
                <a:latin typeface="Courier New" pitchFamily="34" charset="0"/>
                <a:ea typeface="Courier New" pitchFamily="34" charset="-122"/>
                <a:cs typeface="Courier New" pitchFamily="34" charset="-120"/>
              </a:rPr>
              <a:t>}</a:t>
            </a:r>
            <a:endParaRPr lang="en-US" sz="1200" dirty="0"/>
          </a:p>
          <a:p>
            <a:pPr marL="0" indent="0">
              <a:buNone/>
            </a:pPr>
            <a:r>
              <a:rPr lang="en-US" sz="1200" dirty="0">
                <a:solidFill>
                  <a:srgbClr val="82AAFF"/>
                </a:solidFill>
                <a:latin typeface="Courier New" pitchFamily="34" charset="0"/>
                <a:ea typeface="Courier New" pitchFamily="34" charset="-122"/>
                <a:cs typeface="Courier New" pitchFamily="34" charset="-120"/>
              </a:rPr>
              <a:t>print</a:t>
            </a:r>
            <a:r>
              <a:rPr lang="en-US" sz="1200" dirty="0">
                <a:solidFill>
                  <a:srgbClr val="E4E4F0"/>
                </a:solidFill>
                <a:latin typeface="Courier New" pitchFamily="34" charset="0"/>
                <a:ea typeface="Courier New" pitchFamily="34" charset="-122"/>
                <a:cs typeface="Courier New" pitchFamily="34" charset="-120"/>
              </a:rPr>
              <a:t>(s)</a:t>
            </a:r>
            <a:endParaRPr lang="en-US" sz="1200" dirty="0"/>
          </a:p>
          <a:p>
            <a:pPr marL="0" indent="0">
              <a:buNone/>
            </a:pPr>
            <a:r>
              <a:rPr lang="en-US" sz="1200" dirty="0">
                <a:solidFill>
                  <a:srgbClr val="82AAFF"/>
                </a:solidFill>
                <a:latin typeface="Courier New" pitchFamily="34" charset="0"/>
                <a:ea typeface="Courier New" pitchFamily="34" charset="-122"/>
                <a:cs typeface="Courier New" pitchFamily="34" charset="-120"/>
              </a:rPr>
              <a:t>print</a:t>
            </a:r>
            <a:r>
              <a:rPr lang="en-US" sz="1200" dirty="0">
                <a:solidFill>
                  <a:srgbClr val="E4E4F0"/>
                </a:solidFill>
                <a:latin typeface="Courier New" pitchFamily="34" charset="0"/>
                <a:ea typeface="Courier New" pitchFamily="34" charset="-122"/>
                <a:cs typeface="Courier New" pitchFamily="34" charset="-120"/>
              </a:rPr>
              <a:t>(</a:t>
            </a:r>
            <a:r>
              <a:rPr lang="en-US" sz="1200" dirty="0">
                <a:solidFill>
                  <a:srgbClr val="82AAFF"/>
                </a:solidFill>
                <a:latin typeface="Courier New" pitchFamily="34" charset="0"/>
                <a:ea typeface="Courier New" pitchFamily="34" charset="-122"/>
                <a:cs typeface="Courier New" pitchFamily="34" charset="-120"/>
              </a:rPr>
              <a:t>type</a:t>
            </a:r>
            <a:r>
              <a:rPr lang="en-US" sz="1200" dirty="0">
                <a:solidFill>
                  <a:srgbClr val="E4E4F0"/>
                </a:solidFill>
                <a:latin typeface="Courier New" pitchFamily="34" charset="0"/>
                <a:ea typeface="Courier New" pitchFamily="34" charset="-122"/>
                <a:cs typeface="Courier New" pitchFamily="34" charset="-120"/>
              </a:rPr>
              <a:t>(s))</a:t>
            </a:r>
            <a:endParaRPr lang="en-US" sz="1200" dirty="0"/>
          </a:p>
        </p:txBody>
      </p:sp>
      <p:sp>
        <p:nvSpPr>
          <p:cNvPr id="22" name="Shape 20"/>
          <p:cNvSpPr/>
          <p:nvPr/>
        </p:nvSpPr>
        <p:spPr>
          <a:xfrm>
            <a:off x="3611880" y="4892040"/>
            <a:ext cx="2926080" cy="1325880"/>
          </a:xfrm>
          <a:prstGeom prst="roundRect">
            <a:avLst>
              <a:gd name="adj" fmla="val 6897"/>
            </a:avLst>
          </a:prstGeom>
          <a:solidFill>
            <a:srgbClr val="F6F6FF"/>
          </a:solidFill>
          <a:ln w="9525">
            <a:solidFill>
              <a:srgbClr val="DCDDF5"/>
            </a:solidFill>
            <a:prstDash val="solid"/>
          </a:ln>
        </p:spPr>
        <p:txBody>
          <a:bodyPr/>
          <a:lstStyle/>
          <a:p>
            <a:endParaRPr lang="en-PH"/>
          </a:p>
        </p:txBody>
      </p:sp>
      <p:sp>
        <p:nvSpPr>
          <p:cNvPr id="23" name="Text 21"/>
          <p:cNvSpPr txBox="1"/>
          <p:nvPr/>
        </p:nvSpPr>
        <p:spPr>
          <a:xfrm>
            <a:off x="3758184" y="4965192"/>
            <a:ext cx="2651760" cy="182880"/>
          </a:xfrm>
          <a:prstGeom prst="rect">
            <a:avLst/>
          </a:prstGeom>
          <a:noFill/>
          <a:ln/>
        </p:spPr>
        <p:txBody>
          <a:bodyPr wrap="square" lIns="0" tIns="0" rIns="0" bIns="0" rtlCol="0" anchor="ctr"/>
          <a:lstStyle/>
          <a:p>
            <a:pPr marL="0" indent="0">
              <a:buNone/>
            </a:pPr>
            <a:r>
              <a:rPr lang="en-US" sz="850" b="1" kern="0" spc="150" dirty="0">
                <a:solidFill>
                  <a:srgbClr val="4F46E5"/>
                </a:solidFill>
                <a:latin typeface="Calibri" pitchFamily="34" charset="0"/>
                <a:ea typeface="Calibri" pitchFamily="34" charset="-122"/>
                <a:cs typeface="Calibri" pitchFamily="34" charset="-120"/>
              </a:rPr>
              <a:t>OUTPUT</a:t>
            </a:r>
            <a:endParaRPr lang="en-US" sz="850" dirty="0"/>
          </a:p>
        </p:txBody>
      </p:sp>
      <p:sp>
        <p:nvSpPr>
          <p:cNvPr id="24" name="Text 22"/>
          <p:cNvSpPr txBox="1"/>
          <p:nvPr/>
        </p:nvSpPr>
        <p:spPr>
          <a:xfrm>
            <a:off x="3758184" y="5184648"/>
            <a:ext cx="2688336" cy="996696"/>
          </a:xfrm>
          <a:prstGeom prst="rect">
            <a:avLst/>
          </a:prstGeom>
          <a:noFill/>
          <a:ln/>
        </p:spPr>
        <p:txBody>
          <a:bodyPr wrap="square" lIns="0" tIns="0" rIns="0" bIns="0" rtlCol="0" anchor="t"/>
          <a:lstStyle/>
          <a:p>
            <a:pPr marL="0" indent="0">
              <a:buNone/>
            </a:pPr>
            <a:r>
              <a:rPr lang="en-US" sz="1200" dirty="0">
                <a:solidFill>
                  <a:srgbClr val="1E1B4B"/>
                </a:solidFill>
                <a:latin typeface="Courier New" pitchFamily="34" charset="0"/>
                <a:ea typeface="Courier New" pitchFamily="34" charset="-122"/>
                <a:cs typeface="Courier New" pitchFamily="34" charset="-120"/>
              </a:rPr>
              <a:t>{10, 50, 20}</a:t>
            </a:r>
            <a:endParaRPr lang="en-US" sz="1200" dirty="0"/>
          </a:p>
          <a:p>
            <a:pPr marL="0" indent="0">
              <a:buNone/>
            </a:pPr>
            <a:r>
              <a:rPr lang="en-US" sz="1200" dirty="0">
                <a:solidFill>
                  <a:srgbClr val="1E1B4B"/>
                </a:solidFill>
                <a:latin typeface="Courier New" pitchFamily="34" charset="0"/>
                <a:ea typeface="Courier New" pitchFamily="34" charset="-122"/>
                <a:cs typeface="Courier New" pitchFamily="34" charset="-120"/>
              </a:rPr>
              <a:t>&lt;class 'set'&gt;</a:t>
            </a:r>
            <a:endParaRPr lang="en-US" sz="1200" dirty="0"/>
          </a:p>
        </p:txBody>
      </p:sp>
      <p:sp>
        <p:nvSpPr>
          <p:cNvPr id="25" name="Shape 23"/>
          <p:cNvSpPr/>
          <p:nvPr/>
        </p:nvSpPr>
        <p:spPr>
          <a:xfrm>
            <a:off x="6858000" y="1417320"/>
            <a:ext cx="4830775" cy="4800600"/>
          </a:xfrm>
          <a:prstGeom prst="roundRect">
            <a:avLst>
              <a:gd name="adj" fmla="val 2286"/>
            </a:avLst>
          </a:prstGeom>
          <a:solidFill>
            <a:srgbClr val="FFFFFF"/>
          </a:solidFill>
          <a:ln w="9525">
            <a:solidFill>
              <a:srgbClr val="DCDDF5"/>
            </a:solidFill>
            <a:prstDash val="solid"/>
          </a:ln>
          <a:effectLst>
            <a:outerShdw blurRad="127000" dist="25400" dir="5400000" algn="bl" rotWithShape="0">
              <a:srgbClr val="4F46E5">
                <a:alpha val="12000"/>
              </a:srgbClr>
            </a:outerShdw>
          </a:effectLst>
        </p:spPr>
        <p:txBody>
          <a:bodyPr/>
          <a:lstStyle/>
          <a:p>
            <a:endParaRPr lang="en-PH"/>
          </a:p>
        </p:txBody>
      </p:sp>
      <p:sp>
        <p:nvSpPr>
          <p:cNvPr id="26" name="Text 24"/>
          <p:cNvSpPr txBox="1"/>
          <p:nvPr/>
        </p:nvSpPr>
        <p:spPr>
          <a:xfrm>
            <a:off x="7086600" y="1554480"/>
            <a:ext cx="4373575" cy="365760"/>
          </a:xfrm>
          <a:prstGeom prst="rect">
            <a:avLst/>
          </a:prstGeom>
          <a:noFill/>
          <a:ln/>
        </p:spPr>
        <p:txBody>
          <a:bodyPr wrap="square" lIns="0" tIns="0" rIns="0" bIns="0" rtlCol="0" anchor="t"/>
          <a:lstStyle/>
          <a:p>
            <a:pPr marL="0" indent="0">
              <a:buNone/>
            </a:pPr>
            <a:r>
              <a:rPr lang="en-US" sz="1700" b="1" dirty="0">
                <a:solidFill>
                  <a:srgbClr val="1E1B4B"/>
                </a:solidFill>
                <a:latin typeface="Calibri" pitchFamily="34" charset="0"/>
                <a:ea typeface="Calibri" pitchFamily="34" charset="-122"/>
                <a:cs typeface="Calibri" pitchFamily="34" charset="-120"/>
              </a:rPr>
              <a:t>Set operations</a:t>
            </a:r>
            <a:endParaRPr lang="en-US" sz="1700" dirty="0"/>
          </a:p>
        </p:txBody>
      </p:sp>
      <p:sp>
        <p:nvSpPr>
          <p:cNvPr id="27" name="Text 25"/>
          <p:cNvSpPr txBox="1"/>
          <p:nvPr/>
        </p:nvSpPr>
        <p:spPr>
          <a:xfrm>
            <a:off x="7086600" y="1938528"/>
            <a:ext cx="4373575" cy="411480"/>
          </a:xfrm>
          <a:prstGeom prst="rect">
            <a:avLst/>
          </a:prstGeom>
          <a:noFill/>
          <a:ln/>
        </p:spPr>
        <p:txBody>
          <a:bodyPr wrap="square" lIns="0" tIns="0" rIns="0" bIns="0" rtlCol="0" anchor="t"/>
          <a:lstStyle/>
          <a:p>
            <a:pPr marL="0" indent="0">
              <a:buNone/>
            </a:pPr>
            <a:r>
              <a:rPr lang="en-US" sz="1250" dirty="0">
                <a:solidFill>
                  <a:srgbClr val="5B5F7A"/>
                </a:solidFill>
                <a:latin typeface="Calibri" pitchFamily="34" charset="0"/>
                <a:ea typeface="Calibri" pitchFamily="34" charset="-122"/>
                <a:cs typeface="Calibri" pitchFamily="34" charset="-120"/>
              </a:rPr>
              <a:t>Sets can be combined and compared like sets in mathematics.</a:t>
            </a:r>
            <a:endParaRPr lang="en-US" sz="1250" dirty="0"/>
          </a:p>
        </p:txBody>
      </p:sp>
      <p:sp>
        <p:nvSpPr>
          <p:cNvPr id="28" name="Shape 26"/>
          <p:cNvSpPr/>
          <p:nvPr/>
        </p:nvSpPr>
        <p:spPr>
          <a:xfrm>
            <a:off x="7086600" y="2423160"/>
            <a:ext cx="4373575" cy="1509522"/>
          </a:xfrm>
          <a:prstGeom prst="roundRect">
            <a:avLst>
              <a:gd name="adj" fmla="val 6058"/>
            </a:avLst>
          </a:prstGeom>
          <a:solidFill>
            <a:srgbClr val="1F1D36"/>
          </a:solidFill>
          <a:ln w="12700">
            <a:solidFill>
              <a:srgbClr val="1F1D36"/>
            </a:solidFill>
            <a:prstDash val="solid"/>
          </a:ln>
        </p:spPr>
        <p:txBody>
          <a:bodyPr/>
          <a:lstStyle/>
          <a:p>
            <a:endParaRPr lang="en-PH"/>
          </a:p>
        </p:txBody>
      </p:sp>
      <p:sp>
        <p:nvSpPr>
          <p:cNvPr id="29" name="Text 27"/>
          <p:cNvSpPr txBox="1"/>
          <p:nvPr/>
        </p:nvSpPr>
        <p:spPr>
          <a:xfrm>
            <a:off x="7251192" y="2505456"/>
            <a:ext cx="4044391" cy="201168"/>
          </a:xfrm>
          <a:prstGeom prst="rect">
            <a:avLst/>
          </a:prstGeom>
          <a:noFill/>
          <a:ln/>
        </p:spPr>
        <p:txBody>
          <a:bodyPr wrap="square" lIns="0" tIns="0" rIns="0" bIns="0" rtlCol="0" anchor="ctr"/>
          <a:lstStyle/>
          <a:p>
            <a:pPr marL="0" indent="0">
              <a:buNone/>
            </a:pPr>
            <a:r>
              <a:rPr lang="en-US" sz="900" b="1" dirty="0">
                <a:solidFill>
                  <a:srgbClr val="8A8FB5"/>
                </a:solidFill>
                <a:latin typeface="Calibri" pitchFamily="34" charset="0"/>
                <a:ea typeface="Calibri" pitchFamily="34" charset="-122"/>
                <a:cs typeface="Calibri" pitchFamily="34" charset="-120"/>
              </a:rPr>
              <a:t>&lt;/&gt;  Python</a:t>
            </a:r>
            <a:endParaRPr lang="en-US" sz="900" dirty="0"/>
          </a:p>
        </p:txBody>
      </p:sp>
      <p:sp>
        <p:nvSpPr>
          <p:cNvPr id="30" name="Text 28"/>
          <p:cNvSpPr txBox="1"/>
          <p:nvPr/>
        </p:nvSpPr>
        <p:spPr>
          <a:xfrm>
            <a:off x="7251192" y="2752344"/>
            <a:ext cx="4099255" cy="1125474"/>
          </a:xfrm>
          <a:prstGeom prst="rect">
            <a:avLst/>
          </a:prstGeom>
          <a:noFill/>
          <a:ln/>
        </p:spPr>
        <p:txBody>
          <a:bodyPr wrap="square" lIns="0" tIns="0" rIns="0" bIns="0" rtlCol="0" anchor="t"/>
          <a:lstStyle/>
          <a:p>
            <a:pPr marL="0" indent="0">
              <a:buNone/>
            </a:pPr>
            <a:r>
              <a:rPr lang="en-US" sz="1150" dirty="0">
                <a:solidFill>
                  <a:srgbClr val="E4E4F0"/>
                </a:solidFill>
                <a:latin typeface="Courier New" pitchFamily="34" charset="0"/>
                <a:ea typeface="Courier New" pitchFamily="34" charset="-122"/>
                <a:cs typeface="Courier New" pitchFamily="34" charset="-120"/>
              </a:rPr>
              <a:t>a = {</a:t>
            </a:r>
            <a:r>
              <a:rPr lang="en-US" sz="1150" dirty="0">
                <a:solidFill>
                  <a:srgbClr val="FAB387"/>
                </a:solidFill>
                <a:latin typeface="Courier New" pitchFamily="34" charset="0"/>
                <a:ea typeface="Courier New" pitchFamily="34" charset="-122"/>
                <a:cs typeface="Courier New" pitchFamily="34" charset="-120"/>
              </a:rPr>
              <a:t>1</a:t>
            </a:r>
            <a:r>
              <a:rPr lang="en-US" sz="1150" dirty="0">
                <a:solidFill>
                  <a:srgbClr val="E4E4F0"/>
                </a:solidFill>
                <a:latin typeface="Courier New" pitchFamily="34" charset="0"/>
                <a:ea typeface="Courier New" pitchFamily="34" charset="-122"/>
                <a:cs typeface="Courier New" pitchFamily="34" charset="-120"/>
              </a:rPr>
              <a:t>, </a:t>
            </a:r>
            <a:r>
              <a:rPr lang="en-US" sz="1150" dirty="0">
                <a:solidFill>
                  <a:srgbClr val="FAB387"/>
                </a:solidFill>
                <a:latin typeface="Courier New" pitchFamily="34" charset="0"/>
                <a:ea typeface="Courier New" pitchFamily="34" charset="-122"/>
                <a:cs typeface="Courier New" pitchFamily="34" charset="-120"/>
              </a:rPr>
              <a:t>2</a:t>
            </a:r>
            <a:r>
              <a:rPr lang="en-US" sz="1150" dirty="0">
                <a:solidFill>
                  <a:srgbClr val="E4E4F0"/>
                </a:solidFill>
                <a:latin typeface="Courier New" pitchFamily="34" charset="0"/>
                <a:ea typeface="Courier New" pitchFamily="34" charset="-122"/>
                <a:cs typeface="Courier New" pitchFamily="34" charset="-120"/>
              </a:rPr>
              <a:t>, </a:t>
            </a:r>
            <a:r>
              <a:rPr lang="en-US" sz="1150" dirty="0">
                <a:solidFill>
                  <a:srgbClr val="FAB387"/>
                </a:solidFill>
                <a:latin typeface="Courier New" pitchFamily="34" charset="0"/>
                <a:ea typeface="Courier New" pitchFamily="34" charset="-122"/>
                <a:cs typeface="Courier New" pitchFamily="34" charset="-120"/>
              </a:rPr>
              <a:t>3</a:t>
            </a:r>
            <a:r>
              <a:rPr lang="en-US" sz="1150" dirty="0">
                <a:solidFill>
                  <a:srgbClr val="E4E4F0"/>
                </a:solidFill>
                <a:latin typeface="Courier New" pitchFamily="34" charset="0"/>
                <a:ea typeface="Courier New" pitchFamily="34" charset="-122"/>
                <a:cs typeface="Courier New" pitchFamily="34" charset="-120"/>
              </a:rPr>
              <a:t>}</a:t>
            </a:r>
            <a:endParaRPr lang="en-US" sz="1150" dirty="0"/>
          </a:p>
          <a:p>
            <a:pPr marL="0" indent="0">
              <a:buNone/>
            </a:pPr>
            <a:r>
              <a:rPr lang="en-US" sz="1150" dirty="0">
                <a:solidFill>
                  <a:srgbClr val="E4E4F0"/>
                </a:solidFill>
                <a:latin typeface="Courier New" pitchFamily="34" charset="0"/>
                <a:ea typeface="Courier New" pitchFamily="34" charset="-122"/>
                <a:cs typeface="Courier New" pitchFamily="34" charset="-120"/>
              </a:rPr>
              <a:t>b = {</a:t>
            </a:r>
            <a:r>
              <a:rPr lang="en-US" sz="1150" dirty="0">
                <a:solidFill>
                  <a:srgbClr val="FAB387"/>
                </a:solidFill>
                <a:latin typeface="Courier New" pitchFamily="34" charset="0"/>
                <a:ea typeface="Courier New" pitchFamily="34" charset="-122"/>
                <a:cs typeface="Courier New" pitchFamily="34" charset="-120"/>
              </a:rPr>
              <a:t>3</a:t>
            </a:r>
            <a:r>
              <a:rPr lang="en-US" sz="1150" dirty="0">
                <a:solidFill>
                  <a:srgbClr val="E4E4F0"/>
                </a:solidFill>
                <a:latin typeface="Courier New" pitchFamily="34" charset="0"/>
                <a:ea typeface="Courier New" pitchFamily="34" charset="-122"/>
                <a:cs typeface="Courier New" pitchFamily="34" charset="-120"/>
              </a:rPr>
              <a:t>, </a:t>
            </a:r>
            <a:r>
              <a:rPr lang="en-US" sz="1150" dirty="0">
                <a:solidFill>
                  <a:srgbClr val="FAB387"/>
                </a:solidFill>
                <a:latin typeface="Courier New" pitchFamily="34" charset="0"/>
                <a:ea typeface="Courier New" pitchFamily="34" charset="-122"/>
                <a:cs typeface="Courier New" pitchFamily="34" charset="-120"/>
              </a:rPr>
              <a:t>4</a:t>
            </a:r>
            <a:r>
              <a:rPr lang="en-US" sz="1150" dirty="0">
                <a:solidFill>
                  <a:srgbClr val="E4E4F0"/>
                </a:solidFill>
                <a:latin typeface="Courier New" pitchFamily="34" charset="0"/>
                <a:ea typeface="Courier New" pitchFamily="34" charset="-122"/>
                <a:cs typeface="Courier New" pitchFamily="34" charset="-120"/>
              </a:rPr>
              <a:t>, </a:t>
            </a:r>
            <a:r>
              <a:rPr lang="en-US" sz="1150" dirty="0">
                <a:solidFill>
                  <a:srgbClr val="FAB387"/>
                </a:solidFill>
                <a:latin typeface="Courier New" pitchFamily="34" charset="0"/>
                <a:ea typeface="Courier New" pitchFamily="34" charset="-122"/>
                <a:cs typeface="Courier New" pitchFamily="34" charset="-120"/>
              </a:rPr>
              <a:t>5</a:t>
            </a:r>
            <a:r>
              <a:rPr lang="en-US" sz="1150" dirty="0">
                <a:solidFill>
                  <a:srgbClr val="E4E4F0"/>
                </a:solidFill>
                <a:latin typeface="Courier New" pitchFamily="34" charset="0"/>
                <a:ea typeface="Courier New" pitchFamily="34" charset="-122"/>
                <a:cs typeface="Courier New" pitchFamily="34" charset="-120"/>
              </a:rPr>
              <a:t>}</a:t>
            </a:r>
            <a:endParaRPr lang="en-US" sz="1150" dirty="0"/>
          </a:p>
          <a:p>
            <a:pPr marL="0" indent="0">
              <a:buNone/>
            </a:pPr>
            <a:r>
              <a:rPr lang="en-US" sz="1150" dirty="0">
                <a:solidFill>
                  <a:srgbClr val="E4E4F0"/>
                </a:solidFill>
                <a:latin typeface="Courier New" pitchFamily="34" charset="0"/>
                <a:ea typeface="Courier New" pitchFamily="34" charset="-122"/>
                <a:cs typeface="Courier New" pitchFamily="34" charset="-120"/>
              </a:rPr>
              <a:t> </a:t>
            </a:r>
            <a:endParaRPr lang="en-US" sz="1150" dirty="0"/>
          </a:p>
          <a:p>
            <a:pPr marL="0" indent="0">
              <a:buNone/>
            </a:pPr>
            <a:r>
              <a:rPr lang="en-US" sz="1150" dirty="0">
                <a:solidFill>
                  <a:srgbClr val="82AAFF"/>
                </a:solidFill>
                <a:latin typeface="Courier New" pitchFamily="34" charset="0"/>
                <a:ea typeface="Courier New" pitchFamily="34" charset="-122"/>
                <a:cs typeface="Courier New" pitchFamily="34" charset="-120"/>
              </a:rPr>
              <a:t>print</a:t>
            </a:r>
            <a:r>
              <a:rPr lang="en-US" sz="1150" dirty="0">
                <a:solidFill>
                  <a:srgbClr val="E4E4F0"/>
                </a:solidFill>
                <a:latin typeface="Courier New" pitchFamily="34" charset="0"/>
                <a:ea typeface="Courier New" pitchFamily="34" charset="-122"/>
                <a:cs typeface="Courier New" pitchFamily="34" charset="-120"/>
              </a:rPr>
              <a:t>(a | b)   </a:t>
            </a:r>
            <a:r>
              <a:rPr lang="en-US" sz="1150" i="1" dirty="0">
                <a:solidFill>
                  <a:srgbClr val="8A8FB5"/>
                </a:solidFill>
                <a:latin typeface="Courier New" pitchFamily="34" charset="0"/>
                <a:ea typeface="Courier New" pitchFamily="34" charset="-122"/>
                <a:cs typeface="Courier New" pitchFamily="34" charset="-120"/>
              </a:rPr>
              <a:t># union</a:t>
            </a:r>
            <a:endParaRPr lang="en-US" sz="1150" dirty="0"/>
          </a:p>
          <a:p>
            <a:pPr marL="0" indent="0">
              <a:buNone/>
            </a:pPr>
            <a:r>
              <a:rPr lang="en-US" sz="1150" dirty="0">
                <a:solidFill>
                  <a:srgbClr val="82AAFF"/>
                </a:solidFill>
                <a:latin typeface="Courier New" pitchFamily="34" charset="0"/>
                <a:ea typeface="Courier New" pitchFamily="34" charset="-122"/>
                <a:cs typeface="Courier New" pitchFamily="34" charset="-120"/>
              </a:rPr>
              <a:t>print</a:t>
            </a:r>
            <a:r>
              <a:rPr lang="en-US" sz="1150" dirty="0">
                <a:solidFill>
                  <a:srgbClr val="E4E4F0"/>
                </a:solidFill>
                <a:latin typeface="Courier New" pitchFamily="34" charset="0"/>
                <a:ea typeface="Courier New" pitchFamily="34" charset="-122"/>
                <a:cs typeface="Courier New" pitchFamily="34" charset="-120"/>
              </a:rPr>
              <a:t>(a &amp; b)   </a:t>
            </a:r>
            <a:r>
              <a:rPr lang="en-US" sz="1150" i="1" dirty="0">
                <a:solidFill>
                  <a:srgbClr val="8A8FB5"/>
                </a:solidFill>
                <a:latin typeface="Courier New" pitchFamily="34" charset="0"/>
                <a:ea typeface="Courier New" pitchFamily="34" charset="-122"/>
                <a:cs typeface="Courier New" pitchFamily="34" charset="-120"/>
              </a:rPr>
              <a:t># intersection</a:t>
            </a:r>
            <a:endParaRPr lang="en-US" sz="1150" dirty="0"/>
          </a:p>
          <a:p>
            <a:pPr marL="0" indent="0">
              <a:buNone/>
            </a:pPr>
            <a:r>
              <a:rPr lang="en-US" sz="1150" dirty="0">
                <a:solidFill>
                  <a:srgbClr val="82AAFF"/>
                </a:solidFill>
                <a:latin typeface="Courier New" pitchFamily="34" charset="0"/>
                <a:ea typeface="Courier New" pitchFamily="34" charset="-122"/>
                <a:cs typeface="Courier New" pitchFamily="34" charset="-120"/>
              </a:rPr>
              <a:t>print</a:t>
            </a:r>
            <a:r>
              <a:rPr lang="en-US" sz="1150" dirty="0">
                <a:solidFill>
                  <a:srgbClr val="E4E4F0"/>
                </a:solidFill>
                <a:latin typeface="Courier New" pitchFamily="34" charset="0"/>
                <a:ea typeface="Courier New" pitchFamily="34" charset="-122"/>
                <a:cs typeface="Courier New" pitchFamily="34" charset="-120"/>
              </a:rPr>
              <a:t>(a - b)   </a:t>
            </a:r>
            <a:r>
              <a:rPr lang="en-US" sz="1150" i="1" dirty="0">
                <a:solidFill>
                  <a:srgbClr val="8A8FB5"/>
                </a:solidFill>
                <a:latin typeface="Courier New" pitchFamily="34" charset="0"/>
                <a:ea typeface="Courier New" pitchFamily="34" charset="-122"/>
                <a:cs typeface="Courier New" pitchFamily="34" charset="-120"/>
              </a:rPr>
              <a:t># difference</a:t>
            </a:r>
            <a:endParaRPr lang="en-US" sz="1150" dirty="0"/>
          </a:p>
        </p:txBody>
      </p:sp>
      <p:sp>
        <p:nvSpPr>
          <p:cNvPr id="31" name="Shape 29"/>
          <p:cNvSpPr/>
          <p:nvPr/>
        </p:nvSpPr>
        <p:spPr>
          <a:xfrm>
            <a:off x="7086600" y="4069080"/>
            <a:ext cx="4373575" cy="868680"/>
          </a:xfrm>
          <a:prstGeom prst="roundRect">
            <a:avLst>
              <a:gd name="adj" fmla="val 10526"/>
            </a:avLst>
          </a:prstGeom>
          <a:solidFill>
            <a:srgbClr val="F6F6FF"/>
          </a:solidFill>
          <a:ln w="9525">
            <a:solidFill>
              <a:srgbClr val="DCDDF5"/>
            </a:solidFill>
            <a:prstDash val="solid"/>
          </a:ln>
        </p:spPr>
        <p:txBody>
          <a:bodyPr/>
          <a:lstStyle/>
          <a:p>
            <a:endParaRPr lang="en-PH"/>
          </a:p>
        </p:txBody>
      </p:sp>
      <p:sp>
        <p:nvSpPr>
          <p:cNvPr id="32" name="Text 30"/>
          <p:cNvSpPr txBox="1"/>
          <p:nvPr/>
        </p:nvSpPr>
        <p:spPr>
          <a:xfrm>
            <a:off x="7232904" y="4142232"/>
            <a:ext cx="4099255" cy="182880"/>
          </a:xfrm>
          <a:prstGeom prst="rect">
            <a:avLst/>
          </a:prstGeom>
          <a:noFill/>
          <a:ln/>
        </p:spPr>
        <p:txBody>
          <a:bodyPr wrap="square" lIns="0" tIns="0" rIns="0" bIns="0" rtlCol="0" anchor="ctr"/>
          <a:lstStyle/>
          <a:p>
            <a:pPr marL="0" indent="0">
              <a:buNone/>
            </a:pPr>
            <a:r>
              <a:rPr lang="en-US" sz="850" b="1" kern="0" spc="150" dirty="0">
                <a:solidFill>
                  <a:srgbClr val="4F46E5"/>
                </a:solidFill>
                <a:latin typeface="Calibri" pitchFamily="34" charset="0"/>
                <a:ea typeface="Calibri" pitchFamily="34" charset="-122"/>
                <a:cs typeface="Calibri" pitchFamily="34" charset="-120"/>
              </a:rPr>
              <a:t>OUTPUT</a:t>
            </a:r>
            <a:endParaRPr lang="en-US" sz="850" dirty="0"/>
          </a:p>
        </p:txBody>
      </p:sp>
      <p:sp>
        <p:nvSpPr>
          <p:cNvPr id="33" name="Text 31"/>
          <p:cNvSpPr txBox="1"/>
          <p:nvPr/>
        </p:nvSpPr>
        <p:spPr>
          <a:xfrm>
            <a:off x="7232904" y="4361688"/>
            <a:ext cx="4135831" cy="539496"/>
          </a:xfrm>
          <a:prstGeom prst="rect">
            <a:avLst/>
          </a:prstGeom>
          <a:noFill/>
          <a:ln/>
        </p:spPr>
        <p:txBody>
          <a:bodyPr wrap="square" lIns="0" tIns="0" rIns="0" bIns="0" rtlCol="0" anchor="t"/>
          <a:lstStyle/>
          <a:p>
            <a:pPr marL="0" indent="0">
              <a:buNone/>
            </a:pPr>
            <a:r>
              <a:rPr lang="en-US" sz="1150" dirty="0">
                <a:solidFill>
                  <a:srgbClr val="1E1B4B"/>
                </a:solidFill>
                <a:latin typeface="Courier New" pitchFamily="34" charset="0"/>
                <a:ea typeface="Courier New" pitchFamily="34" charset="-122"/>
                <a:cs typeface="Courier New" pitchFamily="34" charset="-120"/>
              </a:rPr>
              <a:t>{1, 2, 3, 4, 5}</a:t>
            </a:r>
            <a:endParaRPr lang="en-US" sz="1150" dirty="0"/>
          </a:p>
          <a:p>
            <a:pPr marL="0" indent="0">
              <a:buNone/>
            </a:pPr>
            <a:r>
              <a:rPr lang="en-US" sz="1150" dirty="0">
                <a:solidFill>
                  <a:srgbClr val="1E1B4B"/>
                </a:solidFill>
                <a:latin typeface="Courier New" pitchFamily="34" charset="0"/>
                <a:ea typeface="Courier New" pitchFamily="34" charset="-122"/>
                <a:cs typeface="Courier New" pitchFamily="34" charset="-120"/>
              </a:rPr>
              <a:t>{3}</a:t>
            </a:r>
            <a:endParaRPr lang="en-US" sz="1150" dirty="0"/>
          </a:p>
          <a:p>
            <a:pPr marL="0" indent="0">
              <a:buNone/>
            </a:pPr>
            <a:r>
              <a:rPr lang="en-US" sz="1150" dirty="0">
                <a:solidFill>
                  <a:srgbClr val="1E1B4B"/>
                </a:solidFill>
                <a:latin typeface="Courier New" pitchFamily="34" charset="0"/>
                <a:ea typeface="Courier New" pitchFamily="34" charset="-122"/>
                <a:cs typeface="Courier New" pitchFamily="34" charset="-120"/>
              </a:rPr>
              <a:t>{1, 2}</a:t>
            </a:r>
            <a:endParaRPr lang="en-US" sz="1150" dirty="0"/>
          </a:p>
        </p:txBody>
      </p:sp>
      <p:sp>
        <p:nvSpPr>
          <p:cNvPr id="34" name="Shape 32"/>
          <p:cNvSpPr/>
          <p:nvPr/>
        </p:nvSpPr>
        <p:spPr>
          <a:xfrm>
            <a:off x="7086600" y="5120640"/>
            <a:ext cx="1396898" cy="868680"/>
          </a:xfrm>
          <a:prstGeom prst="roundRect">
            <a:avLst>
              <a:gd name="adj" fmla="val 8421"/>
            </a:avLst>
          </a:prstGeom>
          <a:solidFill>
            <a:srgbClr val="F1F1FE"/>
          </a:solidFill>
          <a:ln w="9525">
            <a:solidFill>
              <a:srgbClr val="DCDDF5"/>
            </a:solidFill>
            <a:prstDash val="solid"/>
          </a:ln>
        </p:spPr>
        <p:txBody>
          <a:bodyPr/>
          <a:lstStyle/>
          <a:p>
            <a:endParaRPr lang="en-PH"/>
          </a:p>
        </p:txBody>
      </p:sp>
      <p:sp>
        <p:nvSpPr>
          <p:cNvPr id="35" name="Text 33"/>
          <p:cNvSpPr txBox="1"/>
          <p:nvPr/>
        </p:nvSpPr>
        <p:spPr>
          <a:xfrm>
            <a:off x="7086600" y="5193792"/>
            <a:ext cx="1396898" cy="365760"/>
          </a:xfrm>
          <a:prstGeom prst="rect">
            <a:avLst/>
          </a:prstGeom>
          <a:noFill/>
          <a:ln/>
        </p:spPr>
        <p:txBody>
          <a:bodyPr wrap="square" lIns="0" tIns="0" rIns="0" bIns="0" rtlCol="0" anchor="t"/>
          <a:lstStyle/>
          <a:p>
            <a:pPr marL="0" indent="0" algn="ctr">
              <a:buNone/>
            </a:pPr>
            <a:r>
              <a:rPr lang="en-US" sz="1300" b="1" dirty="0">
                <a:solidFill>
                  <a:srgbClr val="4F46E5"/>
                </a:solidFill>
                <a:latin typeface="Courier New" pitchFamily="34" charset="0"/>
                <a:ea typeface="Courier New" pitchFamily="34" charset="-122"/>
                <a:cs typeface="Courier New" pitchFamily="34" charset="-120"/>
              </a:rPr>
              <a:t>a | b</a:t>
            </a:r>
            <a:endParaRPr lang="en-US" sz="1300" dirty="0"/>
          </a:p>
        </p:txBody>
      </p:sp>
      <p:sp>
        <p:nvSpPr>
          <p:cNvPr id="36" name="Text 34"/>
          <p:cNvSpPr txBox="1"/>
          <p:nvPr/>
        </p:nvSpPr>
        <p:spPr>
          <a:xfrm>
            <a:off x="7086600" y="5577840"/>
            <a:ext cx="1396898" cy="320040"/>
          </a:xfrm>
          <a:prstGeom prst="rect">
            <a:avLst/>
          </a:prstGeom>
          <a:noFill/>
          <a:ln/>
        </p:spPr>
        <p:txBody>
          <a:bodyPr wrap="square" lIns="0" tIns="0" rIns="0" bIns="0" rtlCol="0" anchor="t"/>
          <a:lstStyle/>
          <a:p>
            <a:pPr marL="0" indent="0" algn="ctr">
              <a:buNone/>
            </a:pPr>
            <a:r>
              <a:rPr lang="en-US" sz="1100" dirty="0">
                <a:solidFill>
                  <a:srgbClr val="5B5F7A"/>
                </a:solidFill>
                <a:latin typeface="Calibri" pitchFamily="34" charset="0"/>
                <a:ea typeface="Calibri" pitchFamily="34" charset="-122"/>
                <a:cs typeface="Calibri" pitchFamily="34" charset="-120"/>
              </a:rPr>
              <a:t>all items</a:t>
            </a:r>
            <a:endParaRPr lang="en-US" sz="1100" dirty="0"/>
          </a:p>
        </p:txBody>
      </p:sp>
      <p:sp>
        <p:nvSpPr>
          <p:cNvPr id="37" name="Shape 35"/>
          <p:cNvSpPr/>
          <p:nvPr/>
        </p:nvSpPr>
        <p:spPr>
          <a:xfrm>
            <a:off x="8574938" y="5120640"/>
            <a:ext cx="1396898" cy="868680"/>
          </a:xfrm>
          <a:prstGeom prst="roundRect">
            <a:avLst>
              <a:gd name="adj" fmla="val 8421"/>
            </a:avLst>
          </a:prstGeom>
          <a:solidFill>
            <a:srgbClr val="F1F1FE"/>
          </a:solidFill>
          <a:ln w="9525">
            <a:solidFill>
              <a:srgbClr val="DCDDF5"/>
            </a:solidFill>
            <a:prstDash val="solid"/>
          </a:ln>
        </p:spPr>
        <p:txBody>
          <a:bodyPr/>
          <a:lstStyle/>
          <a:p>
            <a:endParaRPr lang="en-PH"/>
          </a:p>
        </p:txBody>
      </p:sp>
      <p:sp>
        <p:nvSpPr>
          <p:cNvPr id="38" name="Text 36"/>
          <p:cNvSpPr txBox="1"/>
          <p:nvPr/>
        </p:nvSpPr>
        <p:spPr>
          <a:xfrm>
            <a:off x="8574938" y="5193792"/>
            <a:ext cx="1396898" cy="365760"/>
          </a:xfrm>
          <a:prstGeom prst="rect">
            <a:avLst/>
          </a:prstGeom>
          <a:noFill/>
          <a:ln/>
        </p:spPr>
        <p:txBody>
          <a:bodyPr wrap="square" lIns="0" tIns="0" rIns="0" bIns="0" rtlCol="0" anchor="t"/>
          <a:lstStyle/>
          <a:p>
            <a:pPr marL="0" indent="0" algn="ctr">
              <a:buNone/>
            </a:pPr>
            <a:r>
              <a:rPr lang="en-US" sz="1300" b="1" dirty="0">
                <a:solidFill>
                  <a:srgbClr val="4F46E5"/>
                </a:solidFill>
                <a:latin typeface="Courier New" pitchFamily="34" charset="0"/>
                <a:ea typeface="Courier New" pitchFamily="34" charset="-122"/>
                <a:cs typeface="Courier New" pitchFamily="34" charset="-120"/>
              </a:rPr>
              <a:t>a &amp; b</a:t>
            </a:r>
            <a:endParaRPr lang="en-US" sz="1300" dirty="0"/>
          </a:p>
        </p:txBody>
      </p:sp>
      <p:sp>
        <p:nvSpPr>
          <p:cNvPr id="39" name="Text 37"/>
          <p:cNvSpPr txBox="1"/>
          <p:nvPr/>
        </p:nvSpPr>
        <p:spPr>
          <a:xfrm>
            <a:off x="8574938" y="5577840"/>
            <a:ext cx="1396898" cy="320040"/>
          </a:xfrm>
          <a:prstGeom prst="rect">
            <a:avLst/>
          </a:prstGeom>
          <a:noFill/>
          <a:ln/>
        </p:spPr>
        <p:txBody>
          <a:bodyPr wrap="square" lIns="0" tIns="0" rIns="0" bIns="0" rtlCol="0" anchor="t"/>
          <a:lstStyle/>
          <a:p>
            <a:pPr marL="0" indent="0" algn="ctr">
              <a:buNone/>
            </a:pPr>
            <a:r>
              <a:rPr lang="en-US" sz="1100" dirty="0">
                <a:solidFill>
                  <a:srgbClr val="5B5F7A"/>
                </a:solidFill>
                <a:latin typeface="Calibri" pitchFamily="34" charset="0"/>
                <a:ea typeface="Calibri" pitchFamily="34" charset="-122"/>
                <a:cs typeface="Calibri" pitchFamily="34" charset="-120"/>
              </a:rPr>
              <a:t>shared items</a:t>
            </a:r>
            <a:endParaRPr lang="en-US" sz="1100" dirty="0"/>
          </a:p>
        </p:txBody>
      </p:sp>
      <p:sp>
        <p:nvSpPr>
          <p:cNvPr id="40" name="Shape 38"/>
          <p:cNvSpPr/>
          <p:nvPr/>
        </p:nvSpPr>
        <p:spPr>
          <a:xfrm>
            <a:off x="10063277" y="5120640"/>
            <a:ext cx="1396898" cy="868680"/>
          </a:xfrm>
          <a:prstGeom prst="roundRect">
            <a:avLst>
              <a:gd name="adj" fmla="val 8421"/>
            </a:avLst>
          </a:prstGeom>
          <a:solidFill>
            <a:srgbClr val="F1F1FE"/>
          </a:solidFill>
          <a:ln w="9525">
            <a:solidFill>
              <a:srgbClr val="DCDDF5"/>
            </a:solidFill>
            <a:prstDash val="solid"/>
          </a:ln>
        </p:spPr>
        <p:txBody>
          <a:bodyPr/>
          <a:lstStyle/>
          <a:p>
            <a:endParaRPr lang="en-PH"/>
          </a:p>
        </p:txBody>
      </p:sp>
      <p:sp>
        <p:nvSpPr>
          <p:cNvPr id="41" name="Text 39"/>
          <p:cNvSpPr txBox="1"/>
          <p:nvPr/>
        </p:nvSpPr>
        <p:spPr>
          <a:xfrm>
            <a:off x="10063277" y="5193792"/>
            <a:ext cx="1396898" cy="365760"/>
          </a:xfrm>
          <a:prstGeom prst="rect">
            <a:avLst/>
          </a:prstGeom>
          <a:noFill/>
          <a:ln/>
        </p:spPr>
        <p:txBody>
          <a:bodyPr wrap="square" lIns="0" tIns="0" rIns="0" bIns="0" rtlCol="0" anchor="t"/>
          <a:lstStyle/>
          <a:p>
            <a:pPr marL="0" indent="0" algn="ctr">
              <a:buNone/>
            </a:pPr>
            <a:r>
              <a:rPr lang="en-US" sz="1300" b="1" dirty="0">
                <a:solidFill>
                  <a:srgbClr val="4F46E5"/>
                </a:solidFill>
                <a:latin typeface="Courier New" pitchFamily="34" charset="0"/>
                <a:ea typeface="Courier New" pitchFamily="34" charset="-122"/>
                <a:cs typeface="Courier New" pitchFamily="34" charset="-120"/>
              </a:rPr>
              <a:t>a - b</a:t>
            </a:r>
            <a:endParaRPr lang="en-US" sz="1300" dirty="0"/>
          </a:p>
        </p:txBody>
      </p:sp>
      <p:sp>
        <p:nvSpPr>
          <p:cNvPr id="42" name="Text 40"/>
          <p:cNvSpPr txBox="1"/>
          <p:nvPr/>
        </p:nvSpPr>
        <p:spPr>
          <a:xfrm>
            <a:off x="10063277" y="5577840"/>
            <a:ext cx="1396898" cy="320040"/>
          </a:xfrm>
          <a:prstGeom prst="rect">
            <a:avLst/>
          </a:prstGeom>
          <a:noFill/>
          <a:ln/>
        </p:spPr>
        <p:txBody>
          <a:bodyPr wrap="square" lIns="0" tIns="0" rIns="0" bIns="0" rtlCol="0" anchor="t"/>
          <a:lstStyle/>
          <a:p>
            <a:pPr marL="0" indent="0" algn="ctr">
              <a:buNone/>
            </a:pPr>
            <a:r>
              <a:rPr lang="en-US" sz="1100" dirty="0">
                <a:solidFill>
                  <a:srgbClr val="5B5F7A"/>
                </a:solidFill>
                <a:latin typeface="Calibri" pitchFamily="34" charset="0"/>
                <a:ea typeface="Calibri" pitchFamily="34" charset="-122"/>
                <a:cs typeface="Calibri" pitchFamily="34" charset="-120"/>
              </a:rPr>
              <a:t>only in a</a:t>
            </a:r>
            <a:endParaRPr lang="en-US" sz="11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94360" y="1417320"/>
            <a:ext cx="4572000" cy="274320"/>
          </a:xfrm>
          <a:prstGeom prst="rect">
            <a:avLst/>
          </a:prstGeom>
          <a:noFill/>
          <a:ln/>
        </p:spPr>
        <p:txBody>
          <a:bodyPr wrap="square" lIns="0" tIns="0" rIns="0" bIns="0" rtlCol="0" anchor="t"/>
          <a:lstStyle/>
          <a:p>
            <a:pPr marL="0" indent="0">
              <a:buNone/>
            </a:pPr>
            <a:r>
              <a:rPr lang="en-US" sz="1200" b="1" kern="0" spc="300" dirty="0">
                <a:solidFill>
                  <a:srgbClr val="F0A8DD"/>
                </a:solidFill>
                <a:latin typeface="Calibri" pitchFamily="34" charset="0"/>
                <a:ea typeface="Calibri" pitchFamily="34" charset="-122"/>
                <a:cs typeface="Calibri" pitchFamily="34" charset="-120"/>
              </a:rPr>
              <a:t>SECTION 05</a:t>
            </a:r>
            <a:endParaRPr lang="en-US" sz="1200" dirty="0"/>
          </a:p>
        </p:txBody>
      </p:sp>
      <p:sp>
        <p:nvSpPr>
          <p:cNvPr id="3" name="Text 1"/>
          <p:cNvSpPr txBox="1"/>
          <p:nvPr/>
        </p:nvSpPr>
        <p:spPr>
          <a:xfrm>
            <a:off x="594360" y="1737360"/>
            <a:ext cx="5577840" cy="1280160"/>
          </a:xfrm>
          <a:prstGeom prst="rect">
            <a:avLst/>
          </a:prstGeom>
          <a:noFill/>
          <a:ln/>
        </p:spPr>
        <p:txBody>
          <a:bodyPr wrap="square" lIns="0" tIns="0" rIns="0" bIns="0" rtlCol="0" anchor="t"/>
          <a:lstStyle/>
          <a:p>
            <a:pPr marL="0" indent="0">
              <a:buNone/>
            </a:pPr>
            <a:r>
              <a:rPr lang="en-US" sz="4000" b="1" dirty="0">
                <a:solidFill>
                  <a:srgbClr val="FFFFFF"/>
                </a:solidFill>
                <a:latin typeface="Calibri" pitchFamily="34" charset="0"/>
                <a:ea typeface="Calibri" pitchFamily="34" charset="-122"/>
                <a:cs typeface="Calibri" pitchFamily="34" charset="-120"/>
              </a:rPr>
              <a:t>Data Structure In Python</a:t>
            </a:r>
            <a:endParaRPr lang="en-US" sz="4000" dirty="0"/>
          </a:p>
        </p:txBody>
      </p:sp>
      <p:sp>
        <p:nvSpPr>
          <p:cNvPr id="4" name="Text 2"/>
          <p:cNvSpPr txBox="1"/>
          <p:nvPr/>
        </p:nvSpPr>
        <p:spPr>
          <a:xfrm>
            <a:off x="594360" y="3017520"/>
            <a:ext cx="5303520" cy="731520"/>
          </a:xfrm>
          <a:prstGeom prst="rect">
            <a:avLst/>
          </a:prstGeom>
          <a:noFill/>
          <a:ln/>
        </p:spPr>
        <p:txBody>
          <a:bodyPr wrap="square" lIns="0" tIns="0" rIns="0" bIns="0" rtlCol="0" anchor="t"/>
          <a:lstStyle/>
          <a:p>
            <a:pPr marL="0" indent="0">
              <a:buNone/>
            </a:pPr>
            <a:r>
              <a:rPr lang="en-US" sz="1600" dirty="0">
                <a:solidFill>
                  <a:srgbClr val="C9CCFF"/>
                </a:solidFill>
                <a:latin typeface="Calibri" pitchFamily="34" charset="0"/>
                <a:ea typeface="Calibri" pitchFamily="34" charset="-122"/>
                <a:cs typeface="Calibri" pitchFamily="34" charset="-120"/>
              </a:rPr>
              <a:t>The built-in collections Python gives you for organising data.</a:t>
            </a:r>
            <a:endParaRPr lang="en-US" sz="1600" dirty="0"/>
          </a:p>
        </p:txBody>
      </p:sp>
      <p:sp>
        <p:nvSpPr>
          <p:cNvPr id="5" name="Text 3"/>
          <p:cNvSpPr txBox="1"/>
          <p:nvPr/>
        </p:nvSpPr>
        <p:spPr>
          <a:xfrm>
            <a:off x="594360" y="4069080"/>
            <a:ext cx="4572000" cy="228600"/>
          </a:xfrm>
          <a:prstGeom prst="rect">
            <a:avLst/>
          </a:prstGeom>
          <a:noFill/>
          <a:ln/>
        </p:spPr>
        <p:txBody>
          <a:bodyPr wrap="square" lIns="0" tIns="0" rIns="0" bIns="0" rtlCol="0" anchor="t"/>
          <a:lstStyle/>
          <a:p>
            <a:pPr marL="0" indent="0">
              <a:buNone/>
            </a:pPr>
            <a:r>
              <a:rPr lang="en-US" sz="1000" b="1" kern="0" spc="200" dirty="0">
                <a:solidFill>
                  <a:srgbClr val="F0A8DD"/>
                </a:solidFill>
                <a:latin typeface="Calibri" pitchFamily="34" charset="0"/>
                <a:ea typeface="Calibri" pitchFamily="34" charset="-122"/>
                <a:cs typeface="Calibri" pitchFamily="34" charset="-120"/>
              </a:rPr>
              <a:t>IN THIS SECTION</a:t>
            </a:r>
            <a:endParaRPr lang="en-US" sz="1000" dirty="0"/>
          </a:p>
        </p:txBody>
      </p:sp>
      <p:sp>
        <p:nvSpPr>
          <p:cNvPr id="6" name="Shape 4"/>
          <p:cNvSpPr/>
          <p:nvPr/>
        </p:nvSpPr>
        <p:spPr>
          <a:xfrm>
            <a:off x="594360" y="4389120"/>
            <a:ext cx="292608" cy="292608"/>
          </a:xfrm>
          <a:prstGeom prst="ellipse">
            <a:avLst/>
          </a:prstGeom>
          <a:solidFill>
            <a:srgbClr val="3B3791"/>
          </a:solidFill>
          <a:ln w="12700">
            <a:solidFill>
              <a:srgbClr val="3B3791"/>
            </a:solidFill>
            <a:prstDash val="solid"/>
          </a:ln>
        </p:spPr>
        <p:txBody>
          <a:bodyPr/>
          <a:lstStyle/>
          <a:p>
            <a:endParaRPr lang="en-PH"/>
          </a:p>
        </p:txBody>
      </p:sp>
      <p:sp>
        <p:nvSpPr>
          <p:cNvPr id="7" name="Text 5"/>
          <p:cNvSpPr txBox="1"/>
          <p:nvPr/>
        </p:nvSpPr>
        <p:spPr>
          <a:xfrm>
            <a:off x="594360" y="4389120"/>
            <a:ext cx="292608" cy="292608"/>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1</a:t>
            </a:r>
            <a:endParaRPr lang="en-US" sz="1050" dirty="0"/>
          </a:p>
        </p:txBody>
      </p:sp>
      <p:sp>
        <p:nvSpPr>
          <p:cNvPr id="8" name="Text 6"/>
          <p:cNvSpPr txBox="1"/>
          <p:nvPr/>
        </p:nvSpPr>
        <p:spPr>
          <a:xfrm>
            <a:off x="1005840" y="4389120"/>
            <a:ext cx="4754880" cy="292608"/>
          </a:xfrm>
          <a:prstGeom prst="rect">
            <a:avLst/>
          </a:prstGeom>
          <a:noFill/>
          <a:ln/>
        </p:spPr>
        <p:txBody>
          <a:bodyPr wrap="square" lIns="0" tIns="0" rIns="0" bIns="0" rtlCol="0" anchor="ctr"/>
          <a:lstStyle/>
          <a:p>
            <a:pPr marL="0" indent="0">
              <a:buNone/>
            </a:pPr>
            <a:r>
              <a:rPr lang="en-US" sz="1350" dirty="0">
                <a:solidFill>
                  <a:srgbClr val="FFFFFF"/>
                </a:solidFill>
                <a:latin typeface="Calibri" pitchFamily="34" charset="0"/>
                <a:ea typeface="Calibri" pitchFamily="34" charset="-122"/>
                <a:cs typeface="Calibri" pitchFamily="34" charset="-120"/>
              </a:rPr>
              <a:t>Data structure overview</a:t>
            </a:r>
            <a:endParaRPr lang="en-US" sz="1350" dirty="0"/>
          </a:p>
        </p:txBody>
      </p:sp>
      <p:sp>
        <p:nvSpPr>
          <p:cNvPr id="9" name="Shape 7"/>
          <p:cNvSpPr/>
          <p:nvPr/>
        </p:nvSpPr>
        <p:spPr>
          <a:xfrm>
            <a:off x="594360" y="4791456"/>
            <a:ext cx="292608" cy="292608"/>
          </a:xfrm>
          <a:prstGeom prst="ellipse">
            <a:avLst/>
          </a:prstGeom>
          <a:solidFill>
            <a:srgbClr val="3B3791"/>
          </a:solidFill>
          <a:ln w="12700">
            <a:solidFill>
              <a:srgbClr val="3B3791"/>
            </a:solidFill>
            <a:prstDash val="solid"/>
          </a:ln>
        </p:spPr>
        <p:txBody>
          <a:bodyPr/>
          <a:lstStyle/>
          <a:p>
            <a:endParaRPr lang="en-PH"/>
          </a:p>
        </p:txBody>
      </p:sp>
      <p:sp>
        <p:nvSpPr>
          <p:cNvPr id="10" name="Text 8"/>
          <p:cNvSpPr txBox="1"/>
          <p:nvPr/>
        </p:nvSpPr>
        <p:spPr>
          <a:xfrm>
            <a:off x="594360" y="4791456"/>
            <a:ext cx="292608" cy="292608"/>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2</a:t>
            </a:r>
            <a:endParaRPr lang="en-US" sz="1050" dirty="0"/>
          </a:p>
        </p:txBody>
      </p:sp>
      <p:sp>
        <p:nvSpPr>
          <p:cNvPr id="11" name="Text 9"/>
          <p:cNvSpPr txBox="1"/>
          <p:nvPr/>
        </p:nvSpPr>
        <p:spPr>
          <a:xfrm>
            <a:off x="1005840" y="4791456"/>
            <a:ext cx="4754880" cy="292608"/>
          </a:xfrm>
          <a:prstGeom prst="rect">
            <a:avLst/>
          </a:prstGeom>
          <a:noFill/>
          <a:ln/>
        </p:spPr>
        <p:txBody>
          <a:bodyPr wrap="square" lIns="0" tIns="0" rIns="0" bIns="0" rtlCol="0" anchor="ctr"/>
          <a:lstStyle/>
          <a:p>
            <a:pPr marL="0" indent="0">
              <a:buNone/>
            </a:pPr>
            <a:r>
              <a:rPr lang="en-US" sz="1350" dirty="0">
                <a:solidFill>
                  <a:srgbClr val="FFFFFF"/>
                </a:solidFill>
                <a:latin typeface="Calibri" pitchFamily="34" charset="0"/>
                <a:ea typeface="Calibri" pitchFamily="34" charset="-122"/>
                <a:cs typeface="Calibri" pitchFamily="34" charset="-120"/>
              </a:rPr>
              <a:t>Python string</a:t>
            </a:r>
            <a:endParaRPr lang="en-US" sz="1350" dirty="0"/>
          </a:p>
        </p:txBody>
      </p:sp>
      <p:sp>
        <p:nvSpPr>
          <p:cNvPr id="12" name="Shape 10"/>
          <p:cNvSpPr/>
          <p:nvPr/>
        </p:nvSpPr>
        <p:spPr>
          <a:xfrm>
            <a:off x="594360" y="5193792"/>
            <a:ext cx="292608" cy="292608"/>
          </a:xfrm>
          <a:prstGeom prst="ellipse">
            <a:avLst/>
          </a:prstGeom>
          <a:solidFill>
            <a:srgbClr val="3B3791"/>
          </a:solidFill>
          <a:ln w="12700">
            <a:solidFill>
              <a:srgbClr val="3B3791"/>
            </a:solidFill>
            <a:prstDash val="solid"/>
          </a:ln>
        </p:spPr>
        <p:txBody>
          <a:bodyPr/>
          <a:lstStyle/>
          <a:p>
            <a:endParaRPr lang="en-PH"/>
          </a:p>
        </p:txBody>
      </p:sp>
      <p:sp>
        <p:nvSpPr>
          <p:cNvPr id="13" name="Text 11"/>
          <p:cNvSpPr txBox="1"/>
          <p:nvPr/>
        </p:nvSpPr>
        <p:spPr>
          <a:xfrm>
            <a:off x="594360" y="5193792"/>
            <a:ext cx="292608" cy="292608"/>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3</a:t>
            </a:r>
            <a:endParaRPr lang="en-US" sz="1050" dirty="0"/>
          </a:p>
        </p:txBody>
      </p:sp>
      <p:sp>
        <p:nvSpPr>
          <p:cNvPr id="14" name="Text 12"/>
          <p:cNvSpPr txBox="1"/>
          <p:nvPr/>
        </p:nvSpPr>
        <p:spPr>
          <a:xfrm>
            <a:off x="1005840" y="5193792"/>
            <a:ext cx="4754880" cy="292608"/>
          </a:xfrm>
          <a:prstGeom prst="rect">
            <a:avLst/>
          </a:prstGeom>
          <a:noFill/>
          <a:ln/>
        </p:spPr>
        <p:txBody>
          <a:bodyPr wrap="square" lIns="0" tIns="0" rIns="0" bIns="0" rtlCol="0" anchor="ctr"/>
          <a:lstStyle/>
          <a:p>
            <a:pPr marL="0" indent="0">
              <a:buNone/>
            </a:pPr>
            <a:r>
              <a:rPr lang="en-US" sz="1350" dirty="0">
                <a:solidFill>
                  <a:srgbClr val="FFFFFF"/>
                </a:solidFill>
                <a:latin typeface="Calibri" pitchFamily="34" charset="0"/>
                <a:ea typeface="Calibri" pitchFamily="34" charset="-122"/>
                <a:cs typeface="Calibri" pitchFamily="34" charset="-120"/>
              </a:rPr>
              <a:t>Python list</a:t>
            </a:r>
            <a:endParaRPr lang="en-US" sz="1350" dirty="0"/>
          </a:p>
        </p:txBody>
      </p:sp>
      <p:sp>
        <p:nvSpPr>
          <p:cNvPr id="15" name="Shape 13"/>
          <p:cNvSpPr/>
          <p:nvPr/>
        </p:nvSpPr>
        <p:spPr>
          <a:xfrm>
            <a:off x="594360" y="5596128"/>
            <a:ext cx="292608" cy="292608"/>
          </a:xfrm>
          <a:prstGeom prst="ellipse">
            <a:avLst/>
          </a:prstGeom>
          <a:solidFill>
            <a:srgbClr val="3B3791"/>
          </a:solidFill>
          <a:ln w="12700">
            <a:solidFill>
              <a:srgbClr val="3B3791"/>
            </a:solidFill>
            <a:prstDash val="solid"/>
          </a:ln>
        </p:spPr>
        <p:txBody>
          <a:bodyPr/>
          <a:lstStyle/>
          <a:p>
            <a:endParaRPr lang="en-PH"/>
          </a:p>
        </p:txBody>
      </p:sp>
      <p:sp>
        <p:nvSpPr>
          <p:cNvPr id="16" name="Text 14"/>
          <p:cNvSpPr txBox="1"/>
          <p:nvPr/>
        </p:nvSpPr>
        <p:spPr>
          <a:xfrm>
            <a:off x="594360" y="5596128"/>
            <a:ext cx="292608" cy="292608"/>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4</a:t>
            </a:r>
            <a:endParaRPr lang="en-US" sz="1050" dirty="0"/>
          </a:p>
        </p:txBody>
      </p:sp>
      <p:sp>
        <p:nvSpPr>
          <p:cNvPr id="17" name="Text 15"/>
          <p:cNvSpPr txBox="1"/>
          <p:nvPr/>
        </p:nvSpPr>
        <p:spPr>
          <a:xfrm>
            <a:off x="1005840" y="5596128"/>
            <a:ext cx="4754880" cy="292608"/>
          </a:xfrm>
          <a:prstGeom prst="rect">
            <a:avLst/>
          </a:prstGeom>
          <a:noFill/>
          <a:ln/>
        </p:spPr>
        <p:txBody>
          <a:bodyPr wrap="square" lIns="0" tIns="0" rIns="0" bIns="0" rtlCol="0" anchor="ctr"/>
          <a:lstStyle/>
          <a:p>
            <a:pPr marL="0" indent="0">
              <a:buNone/>
            </a:pPr>
            <a:r>
              <a:rPr lang="en-US" sz="1350" dirty="0">
                <a:solidFill>
                  <a:srgbClr val="FFFFFF"/>
                </a:solidFill>
                <a:latin typeface="Calibri" pitchFamily="34" charset="0"/>
                <a:ea typeface="Calibri" pitchFamily="34" charset="-122"/>
                <a:cs typeface="Calibri" pitchFamily="34" charset="-120"/>
              </a:rPr>
              <a:t>Python tuples</a:t>
            </a:r>
            <a:endParaRPr lang="en-US" sz="1350" dirty="0"/>
          </a:p>
        </p:txBody>
      </p:sp>
      <p:sp>
        <p:nvSpPr>
          <p:cNvPr id="18" name="Shape 16"/>
          <p:cNvSpPr/>
          <p:nvPr/>
        </p:nvSpPr>
        <p:spPr>
          <a:xfrm>
            <a:off x="6492240" y="1417320"/>
            <a:ext cx="2560320" cy="1371600"/>
          </a:xfrm>
          <a:prstGeom prst="roundRect">
            <a:avLst>
              <a:gd name="adj" fmla="val 9333"/>
            </a:avLst>
          </a:prstGeom>
          <a:solidFill>
            <a:srgbClr val="2A2766"/>
          </a:solidFill>
          <a:ln w="12700">
            <a:solidFill>
              <a:srgbClr val="4A46A0"/>
            </a:solidFill>
            <a:prstDash val="solid"/>
          </a:ln>
        </p:spPr>
        <p:txBody>
          <a:bodyPr/>
          <a:lstStyle/>
          <a:p>
            <a:endParaRPr lang="en-PH"/>
          </a:p>
        </p:txBody>
      </p:sp>
      <p:sp>
        <p:nvSpPr>
          <p:cNvPr id="19" name="Text 17"/>
          <p:cNvSpPr txBox="1"/>
          <p:nvPr/>
        </p:nvSpPr>
        <p:spPr>
          <a:xfrm>
            <a:off x="6720840" y="1645920"/>
            <a:ext cx="2194560" cy="274320"/>
          </a:xfrm>
          <a:prstGeom prst="rect">
            <a:avLst/>
          </a:prstGeom>
          <a:noFill/>
          <a:ln/>
        </p:spPr>
        <p:txBody>
          <a:bodyPr wrap="square" lIns="0" tIns="0" rIns="0" bIns="0" rtlCol="0" anchor="t"/>
          <a:lstStyle/>
          <a:p>
            <a:pPr marL="0" indent="0">
              <a:buNone/>
            </a:pPr>
            <a:r>
              <a:rPr lang="en-US" sz="1100" b="1" kern="0" spc="200" dirty="0">
                <a:solidFill>
                  <a:srgbClr val="F0A8DD"/>
                </a:solidFill>
                <a:latin typeface="Calibri" pitchFamily="34" charset="0"/>
                <a:ea typeface="Calibri" pitchFamily="34" charset="-122"/>
                <a:cs typeface="Calibri" pitchFamily="34" charset="-120"/>
              </a:rPr>
              <a:t>LIST</a:t>
            </a:r>
            <a:endParaRPr lang="en-US" sz="1100" dirty="0"/>
          </a:p>
        </p:txBody>
      </p:sp>
      <p:sp>
        <p:nvSpPr>
          <p:cNvPr id="20" name="Text 18"/>
          <p:cNvSpPr txBox="1"/>
          <p:nvPr/>
        </p:nvSpPr>
        <p:spPr>
          <a:xfrm>
            <a:off x="6720840" y="2057400"/>
            <a:ext cx="2148840" cy="457200"/>
          </a:xfrm>
          <a:prstGeom prst="rect">
            <a:avLst/>
          </a:prstGeom>
          <a:noFill/>
          <a:ln/>
        </p:spPr>
        <p:txBody>
          <a:bodyPr wrap="square" lIns="0" tIns="0" rIns="0" bIns="0" rtlCol="0" anchor="ctr"/>
          <a:lstStyle/>
          <a:p>
            <a:pPr marL="0" indent="0">
              <a:buNone/>
            </a:pPr>
            <a:r>
              <a:rPr lang="en-US" sz="1250" dirty="0">
                <a:solidFill>
                  <a:srgbClr val="E4E4F0"/>
                </a:solidFill>
                <a:latin typeface="Courier New" pitchFamily="34" charset="0"/>
                <a:ea typeface="Courier New" pitchFamily="34" charset="-122"/>
                <a:cs typeface="Courier New" pitchFamily="34" charset="-120"/>
              </a:rPr>
              <a:t>[</a:t>
            </a:r>
            <a:r>
              <a:rPr lang="en-US" sz="1250" dirty="0">
                <a:solidFill>
                  <a:srgbClr val="FAB387"/>
                </a:solidFill>
                <a:latin typeface="Courier New" pitchFamily="34" charset="0"/>
                <a:ea typeface="Courier New" pitchFamily="34" charset="-122"/>
                <a:cs typeface="Courier New" pitchFamily="34" charset="-120"/>
              </a:rPr>
              <a:t>1</a:t>
            </a:r>
            <a:r>
              <a:rPr lang="en-US" sz="1250" dirty="0">
                <a:solidFill>
                  <a:srgbClr val="E4E4F0"/>
                </a:solidFill>
                <a:latin typeface="Courier New" pitchFamily="34" charset="0"/>
                <a:ea typeface="Courier New" pitchFamily="34" charset="-122"/>
                <a:cs typeface="Courier New" pitchFamily="34" charset="-120"/>
              </a:rPr>
              <a:t>, </a:t>
            </a:r>
            <a:r>
              <a:rPr lang="en-US" sz="1250" dirty="0">
                <a:solidFill>
                  <a:srgbClr val="FAB387"/>
                </a:solidFill>
                <a:latin typeface="Courier New" pitchFamily="34" charset="0"/>
                <a:ea typeface="Courier New" pitchFamily="34" charset="-122"/>
                <a:cs typeface="Courier New" pitchFamily="34" charset="-120"/>
              </a:rPr>
              <a:t>2</a:t>
            </a:r>
            <a:r>
              <a:rPr lang="en-US" sz="1250" dirty="0">
                <a:solidFill>
                  <a:srgbClr val="E4E4F0"/>
                </a:solidFill>
                <a:latin typeface="Courier New" pitchFamily="34" charset="0"/>
                <a:ea typeface="Courier New" pitchFamily="34" charset="-122"/>
                <a:cs typeface="Courier New" pitchFamily="34" charset="-120"/>
              </a:rPr>
              <a:t>, </a:t>
            </a:r>
            <a:r>
              <a:rPr lang="en-US" sz="1250" dirty="0">
                <a:solidFill>
                  <a:srgbClr val="FAB387"/>
                </a:solidFill>
                <a:latin typeface="Courier New" pitchFamily="34" charset="0"/>
                <a:ea typeface="Courier New" pitchFamily="34" charset="-122"/>
                <a:cs typeface="Courier New" pitchFamily="34" charset="-120"/>
              </a:rPr>
              <a:t>3</a:t>
            </a:r>
            <a:r>
              <a:rPr lang="en-US" sz="1250" dirty="0">
                <a:solidFill>
                  <a:srgbClr val="E4E4F0"/>
                </a:solidFill>
                <a:latin typeface="Courier New" pitchFamily="34" charset="0"/>
                <a:ea typeface="Courier New" pitchFamily="34" charset="-122"/>
                <a:cs typeface="Courier New" pitchFamily="34" charset="-120"/>
              </a:rPr>
              <a:t>]</a:t>
            </a:r>
            <a:endParaRPr lang="en-US" sz="1250" dirty="0"/>
          </a:p>
        </p:txBody>
      </p:sp>
      <p:sp>
        <p:nvSpPr>
          <p:cNvPr id="21" name="Shape 19"/>
          <p:cNvSpPr/>
          <p:nvPr/>
        </p:nvSpPr>
        <p:spPr>
          <a:xfrm>
            <a:off x="9144000" y="1417320"/>
            <a:ext cx="2560320" cy="1371600"/>
          </a:xfrm>
          <a:prstGeom prst="roundRect">
            <a:avLst>
              <a:gd name="adj" fmla="val 9333"/>
            </a:avLst>
          </a:prstGeom>
          <a:solidFill>
            <a:srgbClr val="2A2766"/>
          </a:solidFill>
          <a:ln w="12700">
            <a:solidFill>
              <a:srgbClr val="4A46A0"/>
            </a:solidFill>
            <a:prstDash val="solid"/>
          </a:ln>
        </p:spPr>
        <p:txBody>
          <a:bodyPr/>
          <a:lstStyle/>
          <a:p>
            <a:endParaRPr lang="en-PH"/>
          </a:p>
        </p:txBody>
      </p:sp>
      <p:sp>
        <p:nvSpPr>
          <p:cNvPr id="22" name="Text 20"/>
          <p:cNvSpPr txBox="1"/>
          <p:nvPr/>
        </p:nvSpPr>
        <p:spPr>
          <a:xfrm>
            <a:off x="9372600" y="1645920"/>
            <a:ext cx="2194560" cy="274320"/>
          </a:xfrm>
          <a:prstGeom prst="rect">
            <a:avLst/>
          </a:prstGeom>
          <a:noFill/>
          <a:ln/>
        </p:spPr>
        <p:txBody>
          <a:bodyPr wrap="square" lIns="0" tIns="0" rIns="0" bIns="0" rtlCol="0" anchor="t"/>
          <a:lstStyle/>
          <a:p>
            <a:pPr marL="0" indent="0">
              <a:buNone/>
            </a:pPr>
            <a:r>
              <a:rPr lang="en-US" sz="1100" b="1" kern="0" spc="200" dirty="0">
                <a:solidFill>
                  <a:srgbClr val="F0A8DD"/>
                </a:solidFill>
                <a:latin typeface="Calibri" pitchFamily="34" charset="0"/>
                <a:ea typeface="Calibri" pitchFamily="34" charset="-122"/>
                <a:cs typeface="Calibri" pitchFamily="34" charset="-120"/>
              </a:rPr>
              <a:t>STRING</a:t>
            </a:r>
            <a:endParaRPr lang="en-US" sz="1100" dirty="0"/>
          </a:p>
        </p:txBody>
      </p:sp>
      <p:sp>
        <p:nvSpPr>
          <p:cNvPr id="23" name="Text 21"/>
          <p:cNvSpPr txBox="1"/>
          <p:nvPr/>
        </p:nvSpPr>
        <p:spPr>
          <a:xfrm>
            <a:off x="9372600" y="2057400"/>
            <a:ext cx="2148840" cy="457200"/>
          </a:xfrm>
          <a:prstGeom prst="rect">
            <a:avLst/>
          </a:prstGeom>
          <a:noFill/>
          <a:ln/>
        </p:spPr>
        <p:txBody>
          <a:bodyPr wrap="square" lIns="0" tIns="0" rIns="0" bIns="0" rtlCol="0" anchor="ctr"/>
          <a:lstStyle/>
          <a:p>
            <a:pPr marL="0" indent="0">
              <a:buNone/>
            </a:pPr>
            <a:r>
              <a:rPr lang="en-US" sz="1250" dirty="0">
                <a:solidFill>
                  <a:srgbClr val="A6E3A1"/>
                </a:solidFill>
                <a:latin typeface="Courier New" pitchFamily="34" charset="0"/>
                <a:ea typeface="Courier New" pitchFamily="34" charset="-122"/>
                <a:cs typeface="Courier New" pitchFamily="34" charset="-120"/>
              </a:rPr>
              <a:t>"Hello"</a:t>
            </a:r>
            <a:endParaRPr lang="en-US" sz="1250" dirty="0"/>
          </a:p>
        </p:txBody>
      </p:sp>
      <p:sp>
        <p:nvSpPr>
          <p:cNvPr id="24" name="Shape 22"/>
          <p:cNvSpPr/>
          <p:nvPr/>
        </p:nvSpPr>
        <p:spPr>
          <a:xfrm>
            <a:off x="6492240" y="2971800"/>
            <a:ext cx="2560320" cy="1371600"/>
          </a:xfrm>
          <a:prstGeom prst="roundRect">
            <a:avLst>
              <a:gd name="adj" fmla="val 9333"/>
            </a:avLst>
          </a:prstGeom>
          <a:solidFill>
            <a:srgbClr val="2A2766"/>
          </a:solidFill>
          <a:ln w="12700">
            <a:solidFill>
              <a:srgbClr val="4A46A0"/>
            </a:solidFill>
            <a:prstDash val="solid"/>
          </a:ln>
        </p:spPr>
        <p:txBody>
          <a:bodyPr/>
          <a:lstStyle/>
          <a:p>
            <a:endParaRPr lang="en-PH"/>
          </a:p>
        </p:txBody>
      </p:sp>
      <p:sp>
        <p:nvSpPr>
          <p:cNvPr id="25" name="Text 23"/>
          <p:cNvSpPr txBox="1"/>
          <p:nvPr/>
        </p:nvSpPr>
        <p:spPr>
          <a:xfrm>
            <a:off x="6720840" y="3200400"/>
            <a:ext cx="2194560" cy="274320"/>
          </a:xfrm>
          <a:prstGeom prst="rect">
            <a:avLst/>
          </a:prstGeom>
          <a:noFill/>
          <a:ln/>
        </p:spPr>
        <p:txBody>
          <a:bodyPr wrap="square" lIns="0" tIns="0" rIns="0" bIns="0" rtlCol="0" anchor="t"/>
          <a:lstStyle/>
          <a:p>
            <a:pPr marL="0" indent="0">
              <a:buNone/>
            </a:pPr>
            <a:r>
              <a:rPr lang="en-US" sz="1100" b="1" kern="0" spc="200" dirty="0">
                <a:solidFill>
                  <a:srgbClr val="F0A8DD"/>
                </a:solidFill>
                <a:latin typeface="Calibri" pitchFamily="34" charset="0"/>
                <a:ea typeface="Calibri" pitchFamily="34" charset="-122"/>
                <a:cs typeface="Calibri" pitchFamily="34" charset="-120"/>
              </a:rPr>
              <a:t>TUPLE</a:t>
            </a:r>
            <a:endParaRPr lang="en-US" sz="1100" dirty="0"/>
          </a:p>
        </p:txBody>
      </p:sp>
      <p:sp>
        <p:nvSpPr>
          <p:cNvPr id="26" name="Text 24"/>
          <p:cNvSpPr txBox="1"/>
          <p:nvPr/>
        </p:nvSpPr>
        <p:spPr>
          <a:xfrm>
            <a:off x="6720840" y="3611880"/>
            <a:ext cx="2148840" cy="457200"/>
          </a:xfrm>
          <a:prstGeom prst="rect">
            <a:avLst/>
          </a:prstGeom>
          <a:noFill/>
          <a:ln/>
        </p:spPr>
        <p:txBody>
          <a:bodyPr wrap="square" lIns="0" tIns="0" rIns="0" bIns="0" rtlCol="0" anchor="ctr"/>
          <a:lstStyle/>
          <a:p>
            <a:pPr marL="0" indent="0">
              <a:buNone/>
            </a:pPr>
            <a:r>
              <a:rPr lang="en-US" sz="1250" dirty="0">
                <a:solidFill>
                  <a:srgbClr val="E4E4F0"/>
                </a:solidFill>
                <a:latin typeface="Courier New" pitchFamily="34" charset="0"/>
                <a:ea typeface="Courier New" pitchFamily="34" charset="-122"/>
                <a:cs typeface="Courier New" pitchFamily="34" charset="-120"/>
              </a:rPr>
              <a:t>(</a:t>
            </a:r>
            <a:r>
              <a:rPr lang="en-US" sz="1250" dirty="0">
                <a:solidFill>
                  <a:srgbClr val="FAB387"/>
                </a:solidFill>
                <a:latin typeface="Courier New" pitchFamily="34" charset="0"/>
                <a:ea typeface="Courier New" pitchFamily="34" charset="-122"/>
                <a:cs typeface="Courier New" pitchFamily="34" charset="-120"/>
              </a:rPr>
              <a:t>1</a:t>
            </a:r>
            <a:r>
              <a:rPr lang="en-US" sz="1250" dirty="0">
                <a:solidFill>
                  <a:srgbClr val="E4E4F0"/>
                </a:solidFill>
                <a:latin typeface="Courier New" pitchFamily="34" charset="0"/>
                <a:ea typeface="Courier New" pitchFamily="34" charset="-122"/>
                <a:cs typeface="Courier New" pitchFamily="34" charset="-120"/>
              </a:rPr>
              <a:t>, </a:t>
            </a:r>
            <a:r>
              <a:rPr lang="en-US" sz="1250" dirty="0">
                <a:solidFill>
                  <a:srgbClr val="FAB387"/>
                </a:solidFill>
                <a:latin typeface="Courier New" pitchFamily="34" charset="0"/>
                <a:ea typeface="Courier New" pitchFamily="34" charset="-122"/>
                <a:cs typeface="Courier New" pitchFamily="34" charset="-120"/>
              </a:rPr>
              <a:t>2</a:t>
            </a:r>
            <a:r>
              <a:rPr lang="en-US" sz="1250" dirty="0">
                <a:solidFill>
                  <a:srgbClr val="E4E4F0"/>
                </a:solidFill>
                <a:latin typeface="Courier New" pitchFamily="34" charset="0"/>
                <a:ea typeface="Courier New" pitchFamily="34" charset="-122"/>
                <a:cs typeface="Courier New" pitchFamily="34" charset="-120"/>
              </a:rPr>
              <a:t>, </a:t>
            </a:r>
            <a:r>
              <a:rPr lang="en-US" sz="1250" dirty="0">
                <a:solidFill>
                  <a:srgbClr val="FAB387"/>
                </a:solidFill>
                <a:latin typeface="Courier New" pitchFamily="34" charset="0"/>
                <a:ea typeface="Courier New" pitchFamily="34" charset="-122"/>
                <a:cs typeface="Courier New" pitchFamily="34" charset="-120"/>
              </a:rPr>
              <a:t>3</a:t>
            </a:r>
            <a:r>
              <a:rPr lang="en-US" sz="1250" dirty="0">
                <a:solidFill>
                  <a:srgbClr val="E4E4F0"/>
                </a:solidFill>
                <a:latin typeface="Courier New" pitchFamily="34" charset="0"/>
                <a:ea typeface="Courier New" pitchFamily="34" charset="-122"/>
                <a:cs typeface="Courier New" pitchFamily="34" charset="-120"/>
              </a:rPr>
              <a:t>)</a:t>
            </a:r>
            <a:endParaRPr lang="en-US" sz="1250" dirty="0"/>
          </a:p>
        </p:txBody>
      </p:sp>
      <p:sp>
        <p:nvSpPr>
          <p:cNvPr id="27" name="Shape 25"/>
          <p:cNvSpPr/>
          <p:nvPr/>
        </p:nvSpPr>
        <p:spPr>
          <a:xfrm>
            <a:off x="9144000" y="2971800"/>
            <a:ext cx="2560320" cy="1371600"/>
          </a:xfrm>
          <a:prstGeom prst="roundRect">
            <a:avLst>
              <a:gd name="adj" fmla="val 9333"/>
            </a:avLst>
          </a:prstGeom>
          <a:solidFill>
            <a:srgbClr val="2A2766"/>
          </a:solidFill>
          <a:ln w="12700">
            <a:solidFill>
              <a:srgbClr val="4A46A0"/>
            </a:solidFill>
            <a:prstDash val="solid"/>
          </a:ln>
        </p:spPr>
        <p:txBody>
          <a:bodyPr/>
          <a:lstStyle/>
          <a:p>
            <a:endParaRPr lang="en-PH"/>
          </a:p>
        </p:txBody>
      </p:sp>
      <p:sp>
        <p:nvSpPr>
          <p:cNvPr id="28" name="Text 26"/>
          <p:cNvSpPr txBox="1"/>
          <p:nvPr/>
        </p:nvSpPr>
        <p:spPr>
          <a:xfrm>
            <a:off x="9372600" y="3200400"/>
            <a:ext cx="2194560" cy="274320"/>
          </a:xfrm>
          <a:prstGeom prst="rect">
            <a:avLst/>
          </a:prstGeom>
          <a:noFill/>
          <a:ln/>
        </p:spPr>
        <p:txBody>
          <a:bodyPr wrap="square" lIns="0" tIns="0" rIns="0" bIns="0" rtlCol="0" anchor="t"/>
          <a:lstStyle/>
          <a:p>
            <a:pPr marL="0" indent="0">
              <a:buNone/>
            </a:pPr>
            <a:r>
              <a:rPr lang="en-US" sz="1100" b="1" kern="0" spc="200" dirty="0">
                <a:solidFill>
                  <a:srgbClr val="F0A8DD"/>
                </a:solidFill>
                <a:latin typeface="Calibri" pitchFamily="34" charset="0"/>
                <a:ea typeface="Calibri" pitchFamily="34" charset="-122"/>
                <a:cs typeface="Calibri" pitchFamily="34" charset="-120"/>
              </a:rPr>
              <a:t>SET</a:t>
            </a:r>
            <a:endParaRPr lang="en-US" sz="1100" dirty="0"/>
          </a:p>
        </p:txBody>
      </p:sp>
      <p:sp>
        <p:nvSpPr>
          <p:cNvPr id="29" name="Text 27"/>
          <p:cNvSpPr txBox="1"/>
          <p:nvPr/>
        </p:nvSpPr>
        <p:spPr>
          <a:xfrm>
            <a:off x="9372600" y="3611880"/>
            <a:ext cx="2148840" cy="457200"/>
          </a:xfrm>
          <a:prstGeom prst="rect">
            <a:avLst/>
          </a:prstGeom>
          <a:noFill/>
          <a:ln/>
        </p:spPr>
        <p:txBody>
          <a:bodyPr wrap="square" lIns="0" tIns="0" rIns="0" bIns="0" rtlCol="0" anchor="ctr"/>
          <a:lstStyle/>
          <a:p>
            <a:pPr marL="0" indent="0">
              <a:buNone/>
            </a:pPr>
            <a:r>
              <a:rPr lang="en-US" sz="1250" dirty="0">
                <a:solidFill>
                  <a:srgbClr val="E4E4F0"/>
                </a:solidFill>
                <a:latin typeface="Courier New" pitchFamily="34" charset="0"/>
                <a:ea typeface="Courier New" pitchFamily="34" charset="-122"/>
                <a:cs typeface="Courier New" pitchFamily="34" charset="-120"/>
              </a:rPr>
              <a:t>{</a:t>
            </a:r>
            <a:r>
              <a:rPr lang="en-US" sz="1250" dirty="0">
                <a:solidFill>
                  <a:srgbClr val="FAB387"/>
                </a:solidFill>
                <a:latin typeface="Courier New" pitchFamily="34" charset="0"/>
                <a:ea typeface="Courier New" pitchFamily="34" charset="-122"/>
                <a:cs typeface="Courier New" pitchFamily="34" charset="-120"/>
              </a:rPr>
              <a:t>1</a:t>
            </a:r>
            <a:r>
              <a:rPr lang="en-US" sz="1250" dirty="0">
                <a:solidFill>
                  <a:srgbClr val="E4E4F0"/>
                </a:solidFill>
                <a:latin typeface="Courier New" pitchFamily="34" charset="0"/>
                <a:ea typeface="Courier New" pitchFamily="34" charset="-122"/>
                <a:cs typeface="Courier New" pitchFamily="34" charset="-120"/>
              </a:rPr>
              <a:t>, </a:t>
            </a:r>
            <a:r>
              <a:rPr lang="en-US" sz="1250" dirty="0">
                <a:solidFill>
                  <a:srgbClr val="FAB387"/>
                </a:solidFill>
                <a:latin typeface="Courier New" pitchFamily="34" charset="0"/>
                <a:ea typeface="Courier New" pitchFamily="34" charset="-122"/>
                <a:cs typeface="Courier New" pitchFamily="34" charset="-120"/>
              </a:rPr>
              <a:t>2</a:t>
            </a:r>
            <a:r>
              <a:rPr lang="en-US" sz="1250" dirty="0">
                <a:solidFill>
                  <a:srgbClr val="E4E4F0"/>
                </a:solidFill>
                <a:latin typeface="Courier New" pitchFamily="34" charset="0"/>
                <a:ea typeface="Courier New" pitchFamily="34" charset="-122"/>
                <a:cs typeface="Courier New" pitchFamily="34" charset="-120"/>
              </a:rPr>
              <a:t>, </a:t>
            </a:r>
            <a:r>
              <a:rPr lang="en-US" sz="1250" dirty="0">
                <a:solidFill>
                  <a:srgbClr val="FAB387"/>
                </a:solidFill>
                <a:latin typeface="Courier New" pitchFamily="34" charset="0"/>
                <a:ea typeface="Courier New" pitchFamily="34" charset="-122"/>
                <a:cs typeface="Courier New" pitchFamily="34" charset="-120"/>
              </a:rPr>
              <a:t>3</a:t>
            </a:r>
            <a:r>
              <a:rPr lang="en-US" sz="1250" dirty="0">
                <a:solidFill>
                  <a:srgbClr val="E4E4F0"/>
                </a:solidFill>
                <a:latin typeface="Courier New" pitchFamily="34" charset="0"/>
                <a:ea typeface="Courier New" pitchFamily="34" charset="-122"/>
                <a:cs typeface="Courier New" pitchFamily="34" charset="-120"/>
              </a:rPr>
              <a:t>}</a:t>
            </a:r>
            <a:endParaRPr lang="en-US" sz="1250" dirty="0"/>
          </a:p>
        </p:txBody>
      </p:sp>
      <p:sp>
        <p:nvSpPr>
          <p:cNvPr id="30" name="Shape 28"/>
          <p:cNvSpPr/>
          <p:nvPr/>
        </p:nvSpPr>
        <p:spPr>
          <a:xfrm>
            <a:off x="6492240" y="4526280"/>
            <a:ext cx="2560320" cy="1371600"/>
          </a:xfrm>
          <a:prstGeom prst="roundRect">
            <a:avLst>
              <a:gd name="adj" fmla="val 9333"/>
            </a:avLst>
          </a:prstGeom>
          <a:solidFill>
            <a:srgbClr val="2A2766"/>
          </a:solidFill>
          <a:ln w="12700">
            <a:solidFill>
              <a:srgbClr val="4A46A0"/>
            </a:solidFill>
            <a:prstDash val="solid"/>
          </a:ln>
        </p:spPr>
        <p:txBody>
          <a:bodyPr/>
          <a:lstStyle/>
          <a:p>
            <a:endParaRPr lang="en-PH"/>
          </a:p>
        </p:txBody>
      </p:sp>
      <p:sp>
        <p:nvSpPr>
          <p:cNvPr id="31" name="Text 29"/>
          <p:cNvSpPr txBox="1"/>
          <p:nvPr/>
        </p:nvSpPr>
        <p:spPr>
          <a:xfrm>
            <a:off x="6720840" y="4754880"/>
            <a:ext cx="2194560" cy="274320"/>
          </a:xfrm>
          <a:prstGeom prst="rect">
            <a:avLst/>
          </a:prstGeom>
          <a:noFill/>
          <a:ln/>
        </p:spPr>
        <p:txBody>
          <a:bodyPr wrap="square" lIns="0" tIns="0" rIns="0" bIns="0" rtlCol="0" anchor="t"/>
          <a:lstStyle/>
          <a:p>
            <a:pPr marL="0" indent="0">
              <a:buNone/>
            </a:pPr>
            <a:r>
              <a:rPr lang="en-US" sz="1100" b="1" kern="0" spc="200" dirty="0">
                <a:solidFill>
                  <a:srgbClr val="F0A8DD"/>
                </a:solidFill>
                <a:latin typeface="Calibri" pitchFamily="34" charset="0"/>
                <a:ea typeface="Calibri" pitchFamily="34" charset="-122"/>
                <a:cs typeface="Calibri" pitchFamily="34" charset="-120"/>
              </a:rPr>
              <a:t>DICTIONARY</a:t>
            </a:r>
            <a:endParaRPr lang="en-US" sz="1100" dirty="0"/>
          </a:p>
        </p:txBody>
      </p:sp>
      <p:sp>
        <p:nvSpPr>
          <p:cNvPr id="32" name="Text 30"/>
          <p:cNvSpPr txBox="1"/>
          <p:nvPr/>
        </p:nvSpPr>
        <p:spPr>
          <a:xfrm>
            <a:off x="6720840" y="5166360"/>
            <a:ext cx="2148840" cy="457200"/>
          </a:xfrm>
          <a:prstGeom prst="rect">
            <a:avLst/>
          </a:prstGeom>
          <a:noFill/>
          <a:ln/>
        </p:spPr>
        <p:txBody>
          <a:bodyPr wrap="square" lIns="0" tIns="0" rIns="0" bIns="0" rtlCol="0" anchor="ctr"/>
          <a:lstStyle/>
          <a:p>
            <a:pPr marL="0" indent="0">
              <a:buNone/>
            </a:pPr>
            <a:r>
              <a:rPr lang="en-US" sz="1250" dirty="0">
                <a:solidFill>
                  <a:srgbClr val="E4E4F0"/>
                </a:solidFill>
                <a:latin typeface="Courier New" pitchFamily="34" charset="0"/>
                <a:ea typeface="Courier New" pitchFamily="34" charset="-122"/>
                <a:cs typeface="Courier New" pitchFamily="34" charset="-120"/>
              </a:rPr>
              <a:t>{</a:t>
            </a:r>
            <a:r>
              <a:rPr lang="en-US" sz="1250" dirty="0">
                <a:solidFill>
                  <a:srgbClr val="A6E3A1"/>
                </a:solidFill>
                <a:latin typeface="Courier New" pitchFamily="34" charset="0"/>
                <a:ea typeface="Courier New" pitchFamily="34" charset="-122"/>
                <a:cs typeface="Courier New" pitchFamily="34" charset="-120"/>
              </a:rPr>
              <a:t>"a"</a:t>
            </a:r>
            <a:r>
              <a:rPr lang="en-US" sz="1250" dirty="0">
                <a:solidFill>
                  <a:srgbClr val="E4E4F0"/>
                </a:solidFill>
                <a:latin typeface="Courier New" pitchFamily="34" charset="0"/>
                <a:ea typeface="Courier New" pitchFamily="34" charset="-122"/>
                <a:cs typeface="Courier New" pitchFamily="34" charset="-120"/>
              </a:rPr>
              <a:t>: </a:t>
            </a:r>
            <a:r>
              <a:rPr lang="en-US" sz="1250" dirty="0">
                <a:solidFill>
                  <a:srgbClr val="FAB387"/>
                </a:solidFill>
                <a:latin typeface="Courier New" pitchFamily="34" charset="0"/>
                <a:ea typeface="Courier New" pitchFamily="34" charset="-122"/>
                <a:cs typeface="Courier New" pitchFamily="34" charset="-120"/>
              </a:rPr>
              <a:t>1</a:t>
            </a:r>
            <a:r>
              <a:rPr lang="en-US" sz="1250" dirty="0">
                <a:solidFill>
                  <a:srgbClr val="E4E4F0"/>
                </a:solidFill>
                <a:latin typeface="Courier New" pitchFamily="34" charset="0"/>
                <a:ea typeface="Courier New" pitchFamily="34" charset="-122"/>
                <a:cs typeface="Courier New" pitchFamily="34" charset="-120"/>
              </a:rPr>
              <a:t>}</a:t>
            </a:r>
            <a:endParaRPr lang="en-US" sz="1250" dirty="0"/>
          </a:p>
        </p:txBody>
      </p:sp>
      <p:sp>
        <p:nvSpPr>
          <p:cNvPr id="33" name="Shape 31"/>
          <p:cNvSpPr/>
          <p:nvPr/>
        </p:nvSpPr>
        <p:spPr>
          <a:xfrm>
            <a:off x="9144000" y="4526280"/>
            <a:ext cx="2560320" cy="1371600"/>
          </a:xfrm>
          <a:prstGeom prst="roundRect">
            <a:avLst>
              <a:gd name="adj" fmla="val 9333"/>
            </a:avLst>
          </a:prstGeom>
          <a:solidFill>
            <a:srgbClr val="2A2766"/>
          </a:solidFill>
          <a:ln w="12700">
            <a:solidFill>
              <a:srgbClr val="4A46A0"/>
            </a:solidFill>
            <a:prstDash val="solid"/>
          </a:ln>
        </p:spPr>
        <p:txBody>
          <a:bodyPr/>
          <a:lstStyle/>
          <a:p>
            <a:endParaRPr lang="en-PH"/>
          </a:p>
        </p:txBody>
      </p:sp>
      <p:sp>
        <p:nvSpPr>
          <p:cNvPr id="34" name="Text 32"/>
          <p:cNvSpPr txBox="1"/>
          <p:nvPr/>
        </p:nvSpPr>
        <p:spPr>
          <a:xfrm>
            <a:off x="9372600" y="4754880"/>
            <a:ext cx="2194560" cy="274320"/>
          </a:xfrm>
          <a:prstGeom prst="rect">
            <a:avLst/>
          </a:prstGeom>
          <a:noFill/>
          <a:ln/>
        </p:spPr>
        <p:txBody>
          <a:bodyPr wrap="square" lIns="0" tIns="0" rIns="0" bIns="0" rtlCol="0" anchor="t"/>
          <a:lstStyle/>
          <a:p>
            <a:pPr marL="0" indent="0">
              <a:buNone/>
            </a:pPr>
            <a:r>
              <a:rPr lang="en-US" sz="1100" b="1" kern="0" spc="200" dirty="0">
                <a:solidFill>
                  <a:srgbClr val="F0A8DD"/>
                </a:solidFill>
                <a:latin typeface="Calibri" pitchFamily="34" charset="0"/>
                <a:ea typeface="Calibri" pitchFamily="34" charset="-122"/>
                <a:cs typeface="Calibri" pitchFamily="34" charset="-120"/>
              </a:rPr>
              <a:t>ARRAY</a:t>
            </a:r>
            <a:endParaRPr lang="en-US" sz="1100" dirty="0"/>
          </a:p>
        </p:txBody>
      </p:sp>
      <p:sp>
        <p:nvSpPr>
          <p:cNvPr id="35" name="Text 33"/>
          <p:cNvSpPr txBox="1"/>
          <p:nvPr/>
        </p:nvSpPr>
        <p:spPr>
          <a:xfrm>
            <a:off x="9372600" y="5166360"/>
            <a:ext cx="2148840" cy="457200"/>
          </a:xfrm>
          <a:prstGeom prst="rect">
            <a:avLst/>
          </a:prstGeom>
          <a:noFill/>
          <a:ln/>
        </p:spPr>
        <p:txBody>
          <a:bodyPr wrap="square" lIns="0" tIns="0" rIns="0" bIns="0" rtlCol="0" anchor="ctr"/>
          <a:lstStyle/>
          <a:p>
            <a:pPr marL="0" indent="0">
              <a:buNone/>
            </a:pPr>
            <a:r>
              <a:rPr lang="en-US" sz="1250" dirty="0">
                <a:solidFill>
                  <a:srgbClr val="82AAFF"/>
                </a:solidFill>
                <a:latin typeface="Courier New" pitchFamily="34" charset="0"/>
                <a:ea typeface="Courier New" pitchFamily="34" charset="-122"/>
                <a:cs typeface="Courier New" pitchFamily="34" charset="-120"/>
              </a:rPr>
              <a:t>array</a:t>
            </a:r>
            <a:r>
              <a:rPr lang="en-US" sz="1250" dirty="0">
                <a:solidFill>
                  <a:srgbClr val="E4E4F0"/>
                </a:solidFill>
                <a:latin typeface="Courier New" pitchFamily="34" charset="0"/>
                <a:ea typeface="Courier New" pitchFamily="34" charset="-122"/>
                <a:cs typeface="Courier New" pitchFamily="34" charset="-120"/>
              </a:rPr>
              <a:t>(</a:t>
            </a:r>
            <a:r>
              <a:rPr lang="en-US" sz="1250" dirty="0">
                <a:solidFill>
                  <a:srgbClr val="A6E3A1"/>
                </a:solidFill>
                <a:latin typeface="Courier New" pitchFamily="34" charset="0"/>
                <a:ea typeface="Courier New" pitchFamily="34" charset="-122"/>
                <a:cs typeface="Courier New" pitchFamily="34" charset="-120"/>
              </a:rPr>
              <a:t>'i'</a:t>
            </a:r>
            <a:r>
              <a:rPr lang="en-US" sz="1250" dirty="0">
                <a:solidFill>
                  <a:srgbClr val="E4E4F0"/>
                </a:solidFill>
                <a:latin typeface="Courier New" pitchFamily="34" charset="0"/>
                <a:ea typeface="Courier New" pitchFamily="34" charset="-122"/>
                <a:cs typeface="Courier New" pitchFamily="34" charset="-120"/>
              </a:rPr>
              <a:t>, [</a:t>
            </a:r>
            <a:r>
              <a:rPr lang="en-US" sz="1250" dirty="0">
                <a:solidFill>
                  <a:srgbClr val="FAB387"/>
                </a:solidFill>
                <a:latin typeface="Courier New" pitchFamily="34" charset="0"/>
                <a:ea typeface="Courier New" pitchFamily="34" charset="-122"/>
                <a:cs typeface="Courier New" pitchFamily="34" charset="-120"/>
              </a:rPr>
              <a:t>1</a:t>
            </a:r>
            <a:r>
              <a:rPr lang="en-US" sz="1250" dirty="0">
                <a:solidFill>
                  <a:srgbClr val="E4E4F0"/>
                </a:solidFill>
                <a:latin typeface="Courier New" pitchFamily="34" charset="0"/>
                <a:ea typeface="Courier New" pitchFamily="34" charset="-122"/>
                <a:cs typeface="Courier New" pitchFamily="34" charset="-120"/>
              </a:rPr>
              <a:t>, </a:t>
            </a:r>
            <a:r>
              <a:rPr lang="en-US" sz="1250" dirty="0">
                <a:solidFill>
                  <a:srgbClr val="FAB387"/>
                </a:solidFill>
                <a:latin typeface="Courier New" pitchFamily="34" charset="0"/>
                <a:ea typeface="Courier New" pitchFamily="34" charset="-122"/>
                <a:cs typeface="Courier New" pitchFamily="34" charset="-120"/>
              </a:rPr>
              <a:t>2</a:t>
            </a:r>
            <a:r>
              <a:rPr lang="en-US" sz="1250" dirty="0">
                <a:solidFill>
                  <a:srgbClr val="E4E4F0"/>
                </a:solidFill>
                <a:latin typeface="Courier New" pitchFamily="34" charset="0"/>
                <a:ea typeface="Courier New" pitchFamily="34" charset="-122"/>
                <a:cs typeface="Courier New" pitchFamily="34" charset="-120"/>
              </a:rPr>
              <a:t>])</a:t>
            </a:r>
            <a:endParaRPr lang="en-US" sz="1250" dirty="0"/>
          </a:p>
        </p:txBody>
      </p:sp>
      <p:sp>
        <p:nvSpPr>
          <p:cNvPr id="36" name="Text 34"/>
          <p:cNvSpPr txBox="1"/>
          <p:nvPr/>
        </p:nvSpPr>
        <p:spPr>
          <a:xfrm>
            <a:off x="11140135" y="6446520"/>
            <a:ext cx="548640" cy="228600"/>
          </a:xfrm>
          <a:prstGeom prst="rect">
            <a:avLst/>
          </a:prstGeom>
          <a:noFill/>
          <a:ln/>
        </p:spPr>
        <p:txBody>
          <a:bodyPr wrap="square" lIns="0" tIns="0" rIns="0" bIns="0" rtlCol="0" anchor="t"/>
          <a:lstStyle/>
          <a:p>
            <a:pPr marL="0" indent="0" algn="r">
              <a:buNone/>
            </a:pPr>
            <a:r>
              <a:rPr lang="en-US" sz="900" dirty="0">
                <a:solidFill>
                  <a:srgbClr val="9EA2E0"/>
                </a:solidFill>
                <a:latin typeface="Calibri" pitchFamily="34" charset="0"/>
                <a:ea typeface="Calibri" pitchFamily="34" charset="-122"/>
                <a:cs typeface="Calibri" pitchFamily="34" charset="-120"/>
              </a:rPr>
              <a:t>25</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02920" y="310896"/>
            <a:ext cx="8229600" cy="237744"/>
          </a:xfrm>
          <a:prstGeom prst="rect">
            <a:avLst/>
          </a:prstGeom>
          <a:noFill/>
          <a:ln/>
        </p:spPr>
        <p:txBody>
          <a:bodyPr wrap="square" lIns="0" tIns="0" rIns="0" bIns="0" rtlCol="0" anchor="t"/>
          <a:lstStyle/>
          <a:p>
            <a:pPr marL="0" indent="0">
              <a:buNone/>
            </a:pPr>
            <a:r>
              <a:rPr lang="en-US" sz="1050" b="1" kern="0" spc="200" dirty="0">
                <a:solidFill>
                  <a:srgbClr val="C8559F"/>
                </a:solidFill>
                <a:latin typeface="Calibri" pitchFamily="34" charset="0"/>
                <a:ea typeface="Calibri" pitchFamily="34" charset="-122"/>
                <a:cs typeface="Calibri" pitchFamily="34" charset="-120"/>
              </a:rPr>
              <a:t>DATA STRUCTURE IN PYTHON · OVERVIEW</a:t>
            </a:r>
            <a:endParaRPr lang="en-US" sz="1050" dirty="0"/>
          </a:p>
        </p:txBody>
      </p:sp>
      <p:sp>
        <p:nvSpPr>
          <p:cNvPr id="3" name="Text 1"/>
          <p:cNvSpPr txBox="1"/>
          <p:nvPr/>
        </p:nvSpPr>
        <p:spPr>
          <a:xfrm>
            <a:off x="502920" y="530352"/>
            <a:ext cx="10241280" cy="640080"/>
          </a:xfrm>
          <a:prstGeom prst="rect">
            <a:avLst/>
          </a:prstGeom>
          <a:noFill/>
          <a:ln/>
        </p:spPr>
        <p:txBody>
          <a:bodyPr wrap="square" lIns="0" tIns="0" rIns="0" bIns="0" rtlCol="0" anchor="ctr"/>
          <a:lstStyle/>
          <a:p>
            <a:pPr marL="0" indent="0">
              <a:buNone/>
            </a:pPr>
            <a:r>
              <a:rPr lang="en-US" sz="2800" b="1" dirty="0">
                <a:solidFill>
                  <a:srgbClr val="1E1B4B"/>
                </a:solidFill>
                <a:latin typeface="Calibri" pitchFamily="34" charset="0"/>
                <a:ea typeface="Calibri" pitchFamily="34" charset="-122"/>
                <a:cs typeface="Calibri" pitchFamily="34" charset="-120"/>
              </a:rPr>
              <a:t>Data Structure</a:t>
            </a:r>
            <a:endParaRPr lang="en-US" sz="2800" dirty="0"/>
          </a:p>
        </p:txBody>
      </p:sp>
      <p:sp>
        <p:nvSpPr>
          <p:cNvPr id="4" name="Text 2"/>
          <p:cNvSpPr txBox="1"/>
          <p:nvPr/>
        </p:nvSpPr>
        <p:spPr>
          <a:xfrm>
            <a:off x="502920" y="6446520"/>
            <a:ext cx="5486400" cy="228600"/>
          </a:xfrm>
          <a:prstGeom prst="rect">
            <a:avLst/>
          </a:prstGeom>
          <a:noFill/>
          <a:ln/>
        </p:spPr>
        <p:txBody>
          <a:bodyPr wrap="square" lIns="0" tIns="0" rIns="0" bIns="0" rtlCol="0" anchor="t"/>
          <a:lstStyle/>
          <a:p>
            <a:pPr marL="0" indent="0">
              <a:buNone/>
            </a:pPr>
            <a:r>
              <a:rPr lang="en-US" sz="900" dirty="0">
                <a:solidFill>
                  <a:srgbClr val="5B5F7A"/>
                </a:solidFill>
                <a:latin typeface="Calibri" pitchFamily="34" charset="0"/>
                <a:ea typeface="Calibri" pitchFamily="34" charset="-122"/>
                <a:cs typeface="Calibri" pitchFamily="34" charset="-120"/>
              </a:rPr>
              <a:t>Python  ·  Data Structure In Python</a:t>
            </a:r>
            <a:endParaRPr lang="en-US" sz="900" dirty="0"/>
          </a:p>
        </p:txBody>
      </p:sp>
      <p:sp>
        <p:nvSpPr>
          <p:cNvPr id="5" name="Text 3"/>
          <p:cNvSpPr txBox="1"/>
          <p:nvPr/>
        </p:nvSpPr>
        <p:spPr>
          <a:xfrm>
            <a:off x="11140135" y="6446520"/>
            <a:ext cx="548640" cy="228600"/>
          </a:xfrm>
          <a:prstGeom prst="rect">
            <a:avLst/>
          </a:prstGeom>
          <a:noFill/>
          <a:ln/>
        </p:spPr>
        <p:txBody>
          <a:bodyPr wrap="square" lIns="0" tIns="0" rIns="0" bIns="0" rtlCol="0" anchor="t"/>
          <a:lstStyle/>
          <a:p>
            <a:pPr marL="0" indent="0" algn="r">
              <a:buNone/>
            </a:pPr>
            <a:r>
              <a:rPr lang="en-US" sz="900" dirty="0">
                <a:solidFill>
                  <a:srgbClr val="5B5F7A"/>
                </a:solidFill>
                <a:latin typeface="Calibri" pitchFamily="34" charset="0"/>
                <a:ea typeface="Calibri" pitchFamily="34" charset="-122"/>
                <a:cs typeface="Calibri" pitchFamily="34" charset="-120"/>
              </a:rPr>
              <a:t>26</a:t>
            </a:r>
            <a:endParaRPr lang="en-US" sz="900" dirty="0"/>
          </a:p>
        </p:txBody>
      </p:sp>
      <p:sp>
        <p:nvSpPr>
          <p:cNvPr id="6" name="Shape 4"/>
          <p:cNvSpPr/>
          <p:nvPr/>
        </p:nvSpPr>
        <p:spPr>
          <a:xfrm>
            <a:off x="502920" y="1417320"/>
            <a:ext cx="11185855" cy="868680"/>
          </a:xfrm>
          <a:prstGeom prst="roundRect">
            <a:avLst>
              <a:gd name="adj" fmla="val 12632"/>
            </a:avLst>
          </a:prstGeom>
          <a:solidFill>
            <a:srgbClr val="F1F1FE"/>
          </a:solidFill>
          <a:ln w="9525">
            <a:solidFill>
              <a:srgbClr val="DCDDF5"/>
            </a:solidFill>
            <a:prstDash val="solid"/>
          </a:ln>
        </p:spPr>
        <p:txBody>
          <a:bodyPr/>
          <a:lstStyle/>
          <a:p>
            <a:endParaRPr lang="en-PH"/>
          </a:p>
        </p:txBody>
      </p:sp>
      <p:sp>
        <p:nvSpPr>
          <p:cNvPr id="7" name="Text 5"/>
          <p:cNvSpPr txBox="1"/>
          <p:nvPr/>
        </p:nvSpPr>
        <p:spPr>
          <a:xfrm>
            <a:off x="777240" y="1463040"/>
            <a:ext cx="10637215" cy="777240"/>
          </a:xfrm>
          <a:prstGeom prst="rect">
            <a:avLst/>
          </a:prstGeom>
          <a:noFill/>
          <a:ln/>
        </p:spPr>
        <p:txBody>
          <a:bodyPr wrap="square" lIns="0" tIns="0" rIns="0" bIns="0" rtlCol="0" anchor="ctr"/>
          <a:lstStyle/>
          <a:p>
            <a:pPr marL="0" indent="0">
              <a:buNone/>
            </a:pPr>
            <a:r>
              <a:rPr lang="en-US" sz="1500" dirty="0">
                <a:solidFill>
                  <a:srgbClr val="1E1B4B"/>
                </a:solidFill>
                <a:latin typeface="Calibri" pitchFamily="34" charset="0"/>
                <a:ea typeface="Calibri" pitchFamily="34" charset="-122"/>
                <a:cs typeface="Calibri" pitchFamily="34" charset="-120"/>
              </a:rPr>
              <a:t>Python offers versatile collections of data types, including </a:t>
            </a:r>
            <a:r>
              <a:rPr lang="en-US" sz="1500" b="1" dirty="0">
                <a:solidFill>
                  <a:srgbClr val="1E1B4B"/>
                </a:solidFill>
                <a:latin typeface="Calibri" pitchFamily="34" charset="0"/>
                <a:ea typeface="Calibri" pitchFamily="34" charset="-122"/>
                <a:cs typeface="Calibri" pitchFamily="34" charset="-120"/>
              </a:rPr>
              <a:t>lists, string, tuples, sets, dictionaries and arrays</a:t>
            </a:r>
            <a:r>
              <a:rPr lang="en-US" sz="1500" dirty="0">
                <a:solidFill>
                  <a:srgbClr val="1E1B4B"/>
                </a:solidFill>
                <a:latin typeface="Calibri" pitchFamily="34" charset="0"/>
                <a:ea typeface="Calibri" pitchFamily="34" charset="-122"/>
                <a:cs typeface="Calibri" pitchFamily="34" charset="-120"/>
              </a:rPr>
              <a:t>. In this section, we will learn about each data types in detail.</a:t>
            </a:r>
            <a:endParaRPr lang="en-US" sz="1500" dirty="0"/>
          </a:p>
        </p:txBody>
      </p:sp>
      <p:sp>
        <p:nvSpPr>
          <p:cNvPr id="8" name="Shape 6"/>
          <p:cNvSpPr/>
          <p:nvPr/>
        </p:nvSpPr>
        <p:spPr>
          <a:xfrm>
            <a:off x="502920" y="2468880"/>
            <a:ext cx="3545738" cy="1828800"/>
          </a:xfrm>
          <a:prstGeom prst="roundRect">
            <a:avLst>
              <a:gd name="adj" fmla="val 6000"/>
            </a:avLst>
          </a:prstGeom>
          <a:solidFill>
            <a:srgbClr val="FFFFFF"/>
          </a:solidFill>
          <a:ln w="9525">
            <a:solidFill>
              <a:srgbClr val="DCDDF5"/>
            </a:solidFill>
            <a:prstDash val="solid"/>
          </a:ln>
          <a:effectLst>
            <a:outerShdw blurRad="127000" dist="25400" dir="5400000" algn="bl" rotWithShape="0">
              <a:srgbClr val="4F46E5">
                <a:alpha val="12000"/>
              </a:srgbClr>
            </a:outerShdw>
          </a:effectLst>
        </p:spPr>
        <p:txBody>
          <a:bodyPr/>
          <a:lstStyle/>
          <a:p>
            <a:endParaRPr lang="en-PH"/>
          </a:p>
        </p:txBody>
      </p:sp>
      <p:sp>
        <p:nvSpPr>
          <p:cNvPr id="9" name="Text 7"/>
          <p:cNvSpPr txBox="1"/>
          <p:nvPr/>
        </p:nvSpPr>
        <p:spPr>
          <a:xfrm>
            <a:off x="704088" y="2606040"/>
            <a:ext cx="3143402" cy="347472"/>
          </a:xfrm>
          <a:prstGeom prst="rect">
            <a:avLst/>
          </a:prstGeom>
          <a:noFill/>
          <a:ln/>
        </p:spPr>
        <p:txBody>
          <a:bodyPr wrap="square" lIns="0" tIns="0" rIns="0" bIns="0" rtlCol="0" anchor="t"/>
          <a:lstStyle/>
          <a:p>
            <a:pPr marL="0" indent="0">
              <a:buNone/>
            </a:pPr>
            <a:r>
              <a:rPr lang="en-US" sz="1600" b="1" dirty="0">
                <a:solidFill>
                  <a:srgbClr val="4F46E5"/>
                </a:solidFill>
                <a:latin typeface="Calibri" pitchFamily="34" charset="0"/>
                <a:ea typeface="Calibri" pitchFamily="34" charset="-122"/>
                <a:cs typeface="Calibri" pitchFamily="34" charset="-120"/>
              </a:rPr>
              <a:t>List</a:t>
            </a:r>
            <a:endParaRPr lang="en-US" sz="1600" dirty="0"/>
          </a:p>
        </p:txBody>
      </p:sp>
      <p:sp>
        <p:nvSpPr>
          <p:cNvPr id="10" name="Shape 8"/>
          <p:cNvSpPr/>
          <p:nvPr/>
        </p:nvSpPr>
        <p:spPr>
          <a:xfrm>
            <a:off x="704088" y="2999232"/>
            <a:ext cx="3143402" cy="402336"/>
          </a:xfrm>
          <a:prstGeom prst="roundRect">
            <a:avLst>
              <a:gd name="adj" fmla="val 13636"/>
            </a:avLst>
          </a:prstGeom>
          <a:solidFill>
            <a:srgbClr val="1F1D36"/>
          </a:solidFill>
          <a:ln w="12700">
            <a:solidFill>
              <a:srgbClr val="1F1D36"/>
            </a:solidFill>
            <a:prstDash val="solid"/>
          </a:ln>
        </p:spPr>
        <p:txBody>
          <a:bodyPr/>
          <a:lstStyle/>
          <a:p>
            <a:endParaRPr lang="en-PH"/>
          </a:p>
        </p:txBody>
      </p:sp>
      <p:sp>
        <p:nvSpPr>
          <p:cNvPr id="11" name="Text 9"/>
          <p:cNvSpPr txBox="1"/>
          <p:nvPr/>
        </p:nvSpPr>
        <p:spPr>
          <a:xfrm>
            <a:off x="813816" y="2999232"/>
            <a:ext cx="2997098" cy="402336"/>
          </a:xfrm>
          <a:prstGeom prst="rect">
            <a:avLst/>
          </a:prstGeom>
          <a:noFill/>
          <a:ln/>
        </p:spPr>
        <p:txBody>
          <a:bodyPr wrap="square" lIns="0" tIns="0" rIns="0" bIns="0" rtlCol="0" anchor="ctr"/>
          <a:lstStyle/>
          <a:p>
            <a:pPr marL="0" indent="0">
              <a:buNone/>
            </a:pPr>
            <a:r>
              <a:rPr lang="en-US" sz="1150" dirty="0">
                <a:solidFill>
                  <a:srgbClr val="E4E4F0"/>
                </a:solidFill>
                <a:latin typeface="Courier New" pitchFamily="34" charset="0"/>
                <a:ea typeface="Courier New" pitchFamily="34" charset="-122"/>
                <a:cs typeface="Courier New" pitchFamily="34" charset="-120"/>
              </a:rPr>
              <a:t>[</a:t>
            </a:r>
            <a:r>
              <a:rPr lang="en-US" sz="1150" dirty="0">
                <a:solidFill>
                  <a:srgbClr val="FAB387"/>
                </a:solidFill>
                <a:latin typeface="Courier New" pitchFamily="34" charset="0"/>
                <a:ea typeface="Courier New" pitchFamily="34" charset="-122"/>
                <a:cs typeface="Courier New" pitchFamily="34" charset="-120"/>
              </a:rPr>
              <a:t>1</a:t>
            </a:r>
            <a:r>
              <a:rPr lang="en-US" sz="1150" dirty="0">
                <a:solidFill>
                  <a:srgbClr val="E4E4F0"/>
                </a:solidFill>
                <a:latin typeface="Courier New" pitchFamily="34" charset="0"/>
                <a:ea typeface="Courier New" pitchFamily="34" charset="-122"/>
                <a:cs typeface="Courier New" pitchFamily="34" charset="-120"/>
              </a:rPr>
              <a:t>, </a:t>
            </a:r>
            <a:r>
              <a:rPr lang="en-US" sz="1150" dirty="0">
                <a:solidFill>
                  <a:srgbClr val="FAB387"/>
                </a:solidFill>
                <a:latin typeface="Courier New" pitchFamily="34" charset="0"/>
                <a:ea typeface="Courier New" pitchFamily="34" charset="-122"/>
                <a:cs typeface="Courier New" pitchFamily="34" charset="-120"/>
              </a:rPr>
              <a:t>2</a:t>
            </a:r>
            <a:r>
              <a:rPr lang="en-US" sz="1150" dirty="0">
                <a:solidFill>
                  <a:srgbClr val="E4E4F0"/>
                </a:solidFill>
                <a:latin typeface="Courier New" pitchFamily="34" charset="0"/>
                <a:ea typeface="Courier New" pitchFamily="34" charset="-122"/>
                <a:cs typeface="Courier New" pitchFamily="34" charset="-120"/>
              </a:rPr>
              <a:t>, </a:t>
            </a:r>
            <a:r>
              <a:rPr lang="en-US" sz="1150" dirty="0">
                <a:solidFill>
                  <a:srgbClr val="FAB387"/>
                </a:solidFill>
                <a:latin typeface="Courier New" pitchFamily="34" charset="0"/>
                <a:ea typeface="Courier New" pitchFamily="34" charset="-122"/>
                <a:cs typeface="Courier New" pitchFamily="34" charset="-120"/>
              </a:rPr>
              <a:t>3</a:t>
            </a:r>
            <a:r>
              <a:rPr lang="en-US" sz="1150" dirty="0">
                <a:solidFill>
                  <a:srgbClr val="E4E4F0"/>
                </a:solidFill>
                <a:latin typeface="Courier New" pitchFamily="34" charset="0"/>
                <a:ea typeface="Courier New" pitchFamily="34" charset="-122"/>
                <a:cs typeface="Courier New" pitchFamily="34" charset="-120"/>
              </a:rPr>
              <a:t>]</a:t>
            </a:r>
            <a:endParaRPr lang="en-US" sz="1150" dirty="0"/>
          </a:p>
        </p:txBody>
      </p:sp>
      <p:sp>
        <p:nvSpPr>
          <p:cNvPr id="12" name="Text 10"/>
          <p:cNvSpPr txBox="1"/>
          <p:nvPr/>
        </p:nvSpPr>
        <p:spPr>
          <a:xfrm>
            <a:off x="704088" y="3474720"/>
            <a:ext cx="3143402" cy="292608"/>
          </a:xfrm>
          <a:prstGeom prst="rect">
            <a:avLst/>
          </a:prstGeom>
          <a:noFill/>
          <a:ln/>
        </p:spPr>
        <p:txBody>
          <a:bodyPr wrap="square" lIns="0" tIns="0" rIns="0" bIns="0" rtlCol="0" anchor="t"/>
          <a:lstStyle/>
          <a:p>
            <a:pPr marL="0" indent="0">
              <a:buNone/>
            </a:pPr>
            <a:r>
              <a:rPr lang="en-US" sz="1200" b="1" dirty="0">
                <a:solidFill>
                  <a:srgbClr val="1E1B4B"/>
                </a:solidFill>
                <a:latin typeface="Calibri" pitchFamily="34" charset="0"/>
                <a:ea typeface="Calibri" pitchFamily="34" charset="-122"/>
                <a:cs typeface="Calibri" pitchFamily="34" charset="-120"/>
              </a:rPr>
              <a:t>Ordered · mutable · allows duplicates</a:t>
            </a:r>
            <a:endParaRPr lang="en-US" sz="1200" dirty="0"/>
          </a:p>
        </p:txBody>
      </p:sp>
      <p:sp>
        <p:nvSpPr>
          <p:cNvPr id="13" name="Text 11"/>
          <p:cNvSpPr txBox="1"/>
          <p:nvPr/>
        </p:nvSpPr>
        <p:spPr>
          <a:xfrm>
            <a:off x="704088" y="3776472"/>
            <a:ext cx="3143402" cy="411480"/>
          </a:xfrm>
          <a:prstGeom prst="rect">
            <a:avLst/>
          </a:prstGeom>
          <a:noFill/>
          <a:ln/>
        </p:spPr>
        <p:txBody>
          <a:bodyPr wrap="square" lIns="0" tIns="0" rIns="0" bIns="0" rtlCol="0" anchor="t"/>
          <a:lstStyle/>
          <a:p>
            <a:pPr marL="0" indent="0">
              <a:buNone/>
            </a:pPr>
            <a:r>
              <a:rPr lang="en-US" sz="1150" dirty="0">
                <a:solidFill>
                  <a:srgbClr val="5B5F7A"/>
                </a:solidFill>
                <a:latin typeface="Calibri" pitchFamily="34" charset="0"/>
                <a:ea typeface="Calibri" pitchFamily="34" charset="-122"/>
                <a:cs typeface="Calibri" pitchFamily="34" charset="-120"/>
              </a:rPr>
              <a:t>Use for: Everyday collections that grow and change.</a:t>
            </a:r>
            <a:endParaRPr lang="en-US" sz="1150" dirty="0"/>
          </a:p>
        </p:txBody>
      </p:sp>
      <p:sp>
        <p:nvSpPr>
          <p:cNvPr id="14" name="Shape 12"/>
          <p:cNvSpPr/>
          <p:nvPr/>
        </p:nvSpPr>
        <p:spPr>
          <a:xfrm>
            <a:off x="4322978" y="2468880"/>
            <a:ext cx="3545738" cy="1828800"/>
          </a:xfrm>
          <a:prstGeom prst="roundRect">
            <a:avLst>
              <a:gd name="adj" fmla="val 6000"/>
            </a:avLst>
          </a:prstGeom>
          <a:solidFill>
            <a:srgbClr val="FFFFFF"/>
          </a:solidFill>
          <a:ln w="9525">
            <a:solidFill>
              <a:srgbClr val="DCDDF5"/>
            </a:solidFill>
            <a:prstDash val="solid"/>
          </a:ln>
          <a:effectLst>
            <a:outerShdw blurRad="127000" dist="25400" dir="5400000" algn="bl" rotWithShape="0">
              <a:srgbClr val="4F46E5">
                <a:alpha val="12000"/>
              </a:srgbClr>
            </a:outerShdw>
          </a:effectLst>
        </p:spPr>
        <p:txBody>
          <a:bodyPr/>
          <a:lstStyle/>
          <a:p>
            <a:endParaRPr lang="en-PH"/>
          </a:p>
        </p:txBody>
      </p:sp>
      <p:sp>
        <p:nvSpPr>
          <p:cNvPr id="15" name="Text 13"/>
          <p:cNvSpPr txBox="1"/>
          <p:nvPr/>
        </p:nvSpPr>
        <p:spPr>
          <a:xfrm>
            <a:off x="4524146" y="2606040"/>
            <a:ext cx="3143402" cy="347472"/>
          </a:xfrm>
          <a:prstGeom prst="rect">
            <a:avLst/>
          </a:prstGeom>
          <a:noFill/>
          <a:ln/>
        </p:spPr>
        <p:txBody>
          <a:bodyPr wrap="square" lIns="0" tIns="0" rIns="0" bIns="0" rtlCol="0" anchor="t"/>
          <a:lstStyle/>
          <a:p>
            <a:pPr marL="0" indent="0">
              <a:buNone/>
            </a:pPr>
            <a:r>
              <a:rPr lang="en-US" sz="1600" b="1" dirty="0">
                <a:solidFill>
                  <a:srgbClr val="C8559F"/>
                </a:solidFill>
                <a:latin typeface="Calibri" pitchFamily="34" charset="0"/>
                <a:ea typeface="Calibri" pitchFamily="34" charset="-122"/>
                <a:cs typeface="Calibri" pitchFamily="34" charset="-120"/>
              </a:rPr>
              <a:t>String</a:t>
            </a:r>
            <a:endParaRPr lang="en-US" sz="1600" dirty="0"/>
          </a:p>
        </p:txBody>
      </p:sp>
      <p:sp>
        <p:nvSpPr>
          <p:cNvPr id="16" name="Shape 14"/>
          <p:cNvSpPr/>
          <p:nvPr/>
        </p:nvSpPr>
        <p:spPr>
          <a:xfrm>
            <a:off x="4524146" y="2999232"/>
            <a:ext cx="3143402" cy="402336"/>
          </a:xfrm>
          <a:prstGeom prst="roundRect">
            <a:avLst>
              <a:gd name="adj" fmla="val 13636"/>
            </a:avLst>
          </a:prstGeom>
          <a:solidFill>
            <a:srgbClr val="1F1D36"/>
          </a:solidFill>
          <a:ln w="12700">
            <a:solidFill>
              <a:srgbClr val="1F1D36"/>
            </a:solidFill>
            <a:prstDash val="solid"/>
          </a:ln>
        </p:spPr>
        <p:txBody>
          <a:bodyPr/>
          <a:lstStyle/>
          <a:p>
            <a:endParaRPr lang="en-PH"/>
          </a:p>
        </p:txBody>
      </p:sp>
      <p:sp>
        <p:nvSpPr>
          <p:cNvPr id="17" name="Text 15"/>
          <p:cNvSpPr txBox="1"/>
          <p:nvPr/>
        </p:nvSpPr>
        <p:spPr>
          <a:xfrm>
            <a:off x="4633874" y="2999232"/>
            <a:ext cx="2997098" cy="402336"/>
          </a:xfrm>
          <a:prstGeom prst="rect">
            <a:avLst/>
          </a:prstGeom>
          <a:noFill/>
          <a:ln/>
        </p:spPr>
        <p:txBody>
          <a:bodyPr wrap="square" lIns="0" tIns="0" rIns="0" bIns="0" rtlCol="0" anchor="ctr"/>
          <a:lstStyle/>
          <a:p>
            <a:pPr marL="0" indent="0">
              <a:buNone/>
            </a:pPr>
            <a:r>
              <a:rPr lang="en-US" sz="1150" dirty="0">
                <a:solidFill>
                  <a:srgbClr val="A6E3A1"/>
                </a:solidFill>
                <a:latin typeface="Courier New" pitchFamily="34" charset="0"/>
                <a:ea typeface="Courier New" pitchFamily="34" charset="-122"/>
                <a:cs typeface="Courier New" pitchFamily="34" charset="-120"/>
              </a:rPr>
              <a:t>"Hello"</a:t>
            </a:r>
            <a:endParaRPr lang="en-US" sz="1150" dirty="0"/>
          </a:p>
        </p:txBody>
      </p:sp>
      <p:sp>
        <p:nvSpPr>
          <p:cNvPr id="18" name="Text 16"/>
          <p:cNvSpPr txBox="1"/>
          <p:nvPr/>
        </p:nvSpPr>
        <p:spPr>
          <a:xfrm>
            <a:off x="4524146" y="3474720"/>
            <a:ext cx="3143402" cy="292608"/>
          </a:xfrm>
          <a:prstGeom prst="rect">
            <a:avLst/>
          </a:prstGeom>
          <a:noFill/>
          <a:ln/>
        </p:spPr>
        <p:txBody>
          <a:bodyPr wrap="square" lIns="0" tIns="0" rIns="0" bIns="0" rtlCol="0" anchor="t"/>
          <a:lstStyle/>
          <a:p>
            <a:pPr marL="0" indent="0">
              <a:buNone/>
            </a:pPr>
            <a:r>
              <a:rPr lang="en-US" sz="1200" b="1" dirty="0">
                <a:solidFill>
                  <a:srgbClr val="1E1B4B"/>
                </a:solidFill>
                <a:latin typeface="Calibri" pitchFamily="34" charset="0"/>
                <a:ea typeface="Calibri" pitchFamily="34" charset="-122"/>
                <a:cs typeface="Calibri" pitchFamily="34" charset="-120"/>
              </a:rPr>
              <a:t>Ordered · immutable sequence of characters</a:t>
            </a:r>
            <a:endParaRPr lang="en-US" sz="1200" dirty="0"/>
          </a:p>
        </p:txBody>
      </p:sp>
      <p:sp>
        <p:nvSpPr>
          <p:cNvPr id="19" name="Text 17"/>
          <p:cNvSpPr txBox="1"/>
          <p:nvPr/>
        </p:nvSpPr>
        <p:spPr>
          <a:xfrm>
            <a:off x="4524146" y="3776472"/>
            <a:ext cx="3143402" cy="411480"/>
          </a:xfrm>
          <a:prstGeom prst="rect">
            <a:avLst/>
          </a:prstGeom>
          <a:noFill/>
          <a:ln/>
        </p:spPr>
        <p:txBody>
          <a:bodyPr wrap="square" lIns="0" tIns="0" rIns="0" bIns="0" rtlCol="0" anchor="t"/>
          <a:lstStyle/>
          <a:p>
            <a:pPr marL="0" indent="0">
              <a:buNone/>
            </a:pPr>
            <a:r>
              <a:rPr lang="en-US" sz="1150" dirty="0">
                <a:solidFill>
                  <a:srgbClr val="5B5F7A"/>
                </a:solidFill>
                <a:latin typeface="Calibri" pitchFamily="34" charset="0"/>
                <a:ea typeface="Calibri" pitchFamily="34" charset="-122"/>
                <a:cs typeface="Calibri" pitchFamily="34" charset="-120"/>
              </a:rPr>
              <a:t>Use for: Names, messages and any text.</a:t>
            </a:r>
            <a:endParaRPr lang="en-US" sz="1150" dirty="0"/>
          </a:p>
        </p:txBody>
      </p:sp>
      <p:sp>
        <p:nvSpPr>
          <p:cNvPr id="20" name="Shape 18"/>
          <p:cNvSpPr/>
          <p:nvPr/>
        </p:nvSpPr>
        <p:spPr>
          <a:xfrm>
            <a:off x="8143037" y="2468880"/>
            <a:ext cx="3545738" cy="1828800"/>
          </a:xfrm>
          <a:prstGeom prst="roundRect">
            <a:avLst>
              <a:gd name="adj" fmla="val 6000"/>
            </a:avLst>
          </a:prstGeom>
          <a:solidFill>
            <a:srgbClr val="FFFFFF"/>
          </a:solidFill>
          <a:ln w="9525">
            <a:solidFill>
              <a:srgbClr val="DCDDF5"/>
            </a:solidFill>
            <a:prstDash val="solid"/>
          </a:ln>
          <a:effectLst>
            <a:outerShdw blurRad="127000" dist="25400" dir="5400000" algn="bl" rotWithShape="0">
              <a:srgbClr val="4F46E5">
                <a:alpha val="12000"/>
              </a:srgbClr>
            </a:outerShdw>
          </a:effectLst>
        </p:spPr>
        <p:txBody>
          <a:bodyPr/>
          <a:lstStyle/>
          <a:p>
            <a:endParaRPr lang="en-PH"/>
          </a:p>
        </p:txBody>
      </p:sp>
      <p:sp>
        <p:nvSpPr>
          <p:cNvPr id="21" name="Text 19"/>
          <p:cNvSpPr txBox="1"/>
          <p:nvPr/>
        </p:nvSpPr>
        <p:spPr>
          <a:xfrm>
            <a:off x="8344205" y="2606040"/>
            <a:ext cx="3143402" cy="347472"/>
          </a:xfrm>
          <a:prstGeom prst="rect">
            <a:avLst/>
          </a:prstGeom>
          <a:noFill/>
          <a:ln/>
        </p:spPr>
        <p:txBody>
          <a:bodyPr wrap="square" lIns="0" tIns="0" rIns="0" bIns="0" rtlCol="0" anchor="t"/>
          <a:lstStyle/>
          <a:p>
            <a:pPr marL="0" indent="0">
              <a:buNone/>
            </a:pPr>
            <a:r>
              <a:rPr lang="en-US" sz="1600" b="1" dirty="0">
                <a:solidFill>
                  <a:srgbClr val="4F46E5"/>
                </a:solidFill>
                <a:latin typeface="Calibri" pitchFamily="34" charset="0"/>
                <a:ea typeface="Calibri" pitchFamily="34" charset="-122"/>
                <a:cs typeface="Calibri" pitchFamily="34" charset="-120"/>
              </a:rPr>
              <a:t>Tuple</a:t>
            </a:r>
            <a:endParaRPr lang="en-US" sz="1600" dirty="0"/>
          </a:p>
        </p:txBody>
      </p:sp>
      <p:sp>
        <p:nvSpPr>
          <p:cNvPr id="22" name="Shape 20"/>
          <p:cNvSpPr/>
          <p:nvPr/>
        </p:nvSpPr>
        <p:spPr>
          <a:xfrm>
            <a:off x="8344205" y="2999232"/>
            <a:ext cx="3143402" cy="402336"/>
          </a:xfrm>
          <a:prstGeom prst="roundRect">
            <a:avLst>
              <a:gd name="adj" fmla="val 13636"/>
            </a:avLst>
          </a:prstGeom>
          <a:solidFill>
            <a:srgbClr val="1F1D36"/>
          </a:solidFill>
          <a:ln w="12700">
            <a:solidFill>
              <a:srgbClr val="1F1D36"/>
            </a:solidFill>
            <a:prstDash val="solid"/>
          </a:ln>
        </p:spPr>
        <p:txBody>
          <a:bodyPr/>
          <a:lstStyle/>
          <a:p>
            <a:endParaRPr lang="en-PH"/>
          </a:p>
        </p:txBody>
      </p:sp>
      <p:sp>
        <p:nvSpPr>
          <p:cNvPr id="23" name="Text 21"/>
          <p:cNvSpPr txBox="1"/>
          <p:nvPr/>
        </p:nvSpPr>
        <p:spPr>
          <a:xfrm>
            <a:off x="8453933" y="2999232"/>
            <a:ext cx="2997098" cy="402336"/>
          </a:xfrm>
          <a:prstGeom prst="rect">
            <a:avLst/>
          </a:prstGeom>
          <a:noFill/>
          <a:ln/>
        </p:spPr>
        <p:txBody>
          <a:bodyPr wrap="square" lIns="0" tIns="0" rIns="0" bIns="0" rtlCol="0" anchor="ctr"/>
          <a:lstStyle/>
          <a:p>
            <a:pPr marL="0" indent="0">
              <a:buNone/>
            </a:pPr>
            <a:r>
              <a:rPr lang="en-US" sz="1150" dirty="0">
                <a:solidFill>
                  <a:srgbClr val="E4E4F0"/>
                </a:solidFill>
                <a:latin typeface="Courier New" pitchFamily="34" charset="0"/>
                <a:ea typeface="Courier New" pitchFamily="34" charset="-122"/>
                <a:cs typeface="Courier New" pitchFamily="34" charset="-120"/>
              </a:rPr>
              <a:t>(</a:t>
            </a:r>
            <a:r>
              <a:rPr lang="en-US" sz="1150" dirty="0">
                <a:solidFill>
                  <a:srgbClr val="FAB387"/>
                </a:solidFill>
                <a:latin typeface="Courier New" pitchFamily="34" charset="0"/>
                <a:ea typeface="Courier New" pitchFamily="34" charset="-122"/>
                <a:cs typeface="Courier New" pitchFamily="34" charset="-120"/>
              </a:rPr>
              <a:t>1</a:t>
            </a:r>
            <a:r>
              <a:rPr lang="en-US" sz="1150" dirty="0">
                <a:solidFill>
                  <a:srgbClr val="E4E4F0"/>
                </a:solidFill>
                <a:latin typeface="Courier New" pitchFamily="34" charset="0"/>
                <a:ea typeface="Courier New" pitchFamily="34" charset="-122"/>
                <a:cs typeface="Courier New" pitchFamily="34" charset="-120"/>
              </a:rPr>
              <a:t>, </a:t>
            </a:r>
            <a:r>
              <a:rPr lang="en-US" sz="1150" dirty="0">
                <a:solidFill>
                  <a:srgbClr val="FAB387"/>
                </a:solidFill>
                <a:latin typeface="Courier New" pitchFamily="34" charset="0"/>
                <a:ea typeface="Courier New" pitchFamily="34" charset="-122"/>
                <a:cs typeface="Courier New" pitchFamily="34" charset="-120"/>
              </a:rPr>
              <a:t>2</a:t>
            </a:r>
            <a:r>
              <a:rPr lang="en-US" sz="1150" dirty="0">
                <a:solidFill>
                  <a:srgbClr val="E4E4F0"/>
                </a:solidFill>
                <a:latin typeface="Courier New" pitchFamily="34" charset="0"/>
                <a:ea typeface="Courier New" pitchFamily="34" charset="-122"/>
                <a:cs typeface="Courier New" pitchFamily="34" charset="-120"/>
              </a:rPr>
              <a:t>, </a:t>
            </a:r>
            <a:r>
              <a:rPr lang="en-US" sz="1150" dirty="0">
                <a:solidFill>
                  <a:srgbClr val="FAB387"/>
                </a:solidFill>
                <a:latin typeface="Courier New" pitchFamily="34" charset="0"/>
                <a:ea typeface="Courier New" pitchFamily="34" charset="-122"/>
                <a:cs typeface="Courier New" pitchFamily="34" charset="-120"/>
              </a:rPr>
              <a:t>3</a:t>
            </a:r>
            <a:r>
              <a:rPr lang="en-US" sz="1150" dirty="0">
                <a:solidFill>
                  <a:srgbClr val="E4E4F0"/>
                </a:solidFill>
                <a:latin typeface="Courier New" pitchFamily="34" charset="0"/>
                <a:ea typeface="Courier New" pitchFamily="34" charset="-122"/>
                <a:cs typeface="Courier New" pitchFamily="34" charset="-120"/>
              </a:rPr>
              <a:t>)</a:t>
            </a:r>
            <a:endParaRPr lang="en-US" sz="1150" dirty="0"/>
          </a:p>
        </p:txBody>
      </p:sp>
      <p:sp>
        <p:nvSpPr>
          <p:cNvPr id="24" name="Text 22"/>
          <p:cNvSpPr txBox="1"/>
          <p:nvPr/>
        </p:nvSpPr>
        <p:spPr>
          <a:xfrm>
            <a:off x="8344205" y="3474720"/>
            <a:ext cx="3143402" cy="292608"/>
          </a:xfrm>
          <a:prstGeom prst="rect">
            <a:avLst/>
          </a:prstGeom>
          <a:noFill/>
          <a:ln/>
        </p:spPr>
        <p:txBody>
          <a:bodyPr wrap="square" lIns="0" tIns="0" rIns="0" bIns="0" rtlCol="0" anchor="t"/>
          <a:lstStyle/>
          <a:p>
            <a:pPr marL="0" indent="0">
              <a:buNone/>
            </a:pPr>
            <a:r>
              <a:rPr lang="en-US" sz="1200" b="1" dirty="0">
                <a:solidFill>
                  <a:srgbClr val="1E1B4B"/>
                </a:solidFill>
                <a:latin typeface="Calibri" pitchFamily="34" charset="0"/>
                <a:ea typeface="Calibri" pitchFamily="34" charset="-122"/>
                <a:cs typeface="Calibri" pitchFamily="34" charset="-120"/>
              </a:rPr>
              <a:t>Ordered · immutable · allows duplicates</a:t>
            </a:r>
            <a:endParaRPr lang="en-US" sz="1200" dirty="0"/>
          </a:p>
        </p:txBody>
      </p:sp>
      <p:sp>
        <p:nvSpPr>
          <p:cNvPr id="25" name="Text 23"/>
          <p:cNvSpPr txBox="1"/>
          <p:nvPr/>
        </p:nvSpPr>
        <p:spPr>
          <a:xfrm>
            <a:off x="8344205" y="3776472"/>
            <a:ext cx="3143402" cy="411480"/>
          </a:xfrm>
          <a:prstGeom prst="rect">
            <a:avLst/>
          </a:prstGeom>
          <a:noFill/>
          <a:ln/>
        </p:spPr>
        <p:txBody>
          <a:bodyPr wrap="square" lIns="0" tIns="0" rIns="0" bIns="0" rtlCol="0" anchor="t"/>
          <a:lstStyle/>
          <a:p>
            <a:pPr marL="0" indent="0">
              <a:buNone/>
            </a:pPr>
            <a:r>
              <a:rPr lang="en-US" sz="1150" dirty="0">
                <a:solidFill>
                  <a:srgbClr val="5B5F7A"/>
                </a:solidFill>
                <a:latin typeface="Calibri" pitchFamily="34" charset="0"/>
                <a:ea typeface="Calibri" pitchFamily="34" charset="-122"/>
                <a:cs typeface="Calibri" pitchFamily="34" charset="-120"/>
              </a:rPr>
              <a:t>Use for: Fixed records like coordinates.</a:t>
            </a:r>
            <a:endParaRPr lang="en-US" sz="1150" dirty="0"/>
          </a:p>
        </p:txBody>
      </p:sp>
      <p:sp>
        <p:nvSpPr>
          <p:cNvPr id="26" name="Shape 24"/>
          <p:cNvSpPr/>
          <p:nvPr/>
        </p:nvSpPr>
        <p:spPr>
          <a:xfrm>
            <a:off x="502920" y="4480560"/>
            <a:ext cx="3545738" cy="1828800"/>
          </a:xfrm>
          <a:prstGeom prst="roundRect">
            <a:avLst>
              <a:gd name="adj" fmla="val 6000"/>
            </a:avLst>
          </a:prstGeom>
          <a:solidFill>
            <a:srgbClr val="FFFFFF"/>
          </a:solidFill>
          <a:ln w="9525">
            <a:solidFill>
              <a:srgbClr val="DCDDF5"/>
            </a:solidFill>
            <a:prstDash val="solid"/>
          </a:ln>
          <a:effectLst>
            <a:outerShdw blurRad="127000" dist="25400" dir="5400000" algn="bl" rotWithShape="0">
              <a:srgbClr val="4F46E5">
                <a:alpha val="12000"/>
              </a:srgbClr>
            </a:outerShdw>
          </a:effectLst>
        </p:spPr>
        <p:txBody>
          <a:bodyPr/>
          <a:lstStyle/>
          <a:p>
            <a:endParaRPr lang="en-PH"/>
          </a:p>
        </p:txBody>
      </p:sp>
      <p:sp>
        <p:nvSpPr>
          <p:cNvPr id="27" name="Text 25"/>
          <p:cNvSpPr txBox="1"/>
          <p:nvPr/>
        </p:nvSpPr>
        <p:spPr>
          <a:xfrm>
            <a:off x="704088" y="4617720"/>
            <a:ext cx="3143402" cy="347472"/>
          </a:xfrm>
          <a:prstGeom prst="rect">
            <a:avLst/>
          </a:prstGeom>
          <a:noFill/>
          <a:ln/>
        </p:spPr>
        <p:txBody>
          <a:bodyPr wrap="square" lIns="0" tIns="0" rIns="0" bIns="0" rtlCol="0" anchor="t"/>
          <a:lstStyle/>
          <a:p>
            <a:pPr marL="0" indent="0">
              <a:buNone/>
            </a:pPr>
            <a:r>
              <a:rPr lang="en-US" sz="1600" b="1" dirty="0">
                <a:solidFill>
                  <a:srgbClr val="C8559F"/>
                </a:solidFill>
                <a:latin typeface="Calibri" pitchFamily="34" charset="0"/>
                <a:ea typeface="Calibri" pitchFamily="34" charset="-122"/>
                <a:cs typeface="Calibri" pitchFamily="34" charset="-120"/>
              </a:rPr>
              <a:t>Set</a:t>
            </a:r>
            <a:endParaRPr lang="en-US" sz="1600" dirty="0"/>
          </a:p>
        </p:txBody>
      </p:sp>
      <p:sp>
        <p:nvSpPr>
          <p:cNvPr id="28" name="Shape 26"/>
          <p:cNvSpPr/>
          <p:nvPr/>
        </p:nvSpPr>
        <p:spPr>
          <a:xfrm>
            <a:off x="704088" y="5010912"/>
            <a:ext cx="3143402" cy="402336"/>
          </a:xfrm>
          <a:prstGeom prst="roundRect">
            <a:avLst>
              <a:gd name="adj" fmla="val 13636"/>
            </a:avLst>
          </a:prstGeom>
          <a:solidFill>
            <a:srgbClr val="1F1D36"/>
          </a:solidFill>
          <a:ln w="12700">
            <a:solidFill>
              <a:srgbClr val="1F1D36"/>
            </a:solidFill>
            <a:prstDash val="solid"/>
          </a:ln>
        </p:spPr>
        <p:txBody>
          <a:bodyPr/>
          <a:lstStyle/>
          <a:p>
            <a:endParaRPr lang="en-PH"/>
          </a:p>
        </p:txBody>
      </p:sp>
      <p:sp>
        <p:nvSpPr>
          <p:cNvPr id="29" name="Text 27"/>
          <p:cNvSpPr txBox="1"/>
          <p:nvPr/>
        </p:nvSpPr>
        <p:spPr>
          <a:xfrm>
            <a:off x="813816" y="5010912"/>
            <a:ext cx="2997098" cy="402336"/>
          </a:xfrm>
          <a:prstGeom prst="rect">
            <a:avLst/>
          </a:prstGeom>
          <a:noFill/>
          <a:ln/>
        </p:spPr>
        <p:txBody>
          <a:bodyPr wrap="square" lIns="0" tIns="0" rIns="0" bIns="0" rtlCol="0" anchor="ctr"/>
          <a:lstStyle/>
          <a:p>
            <a:pPr marL="0" indent="0">
              <a:buNone/>
            </a:pPr>
            <a:r>
              <a:rPr lang="en-US" sz="1150" dirty="0">
                <a:solidFill>
                  <a:srgbClr val="E4E4F0"/>
                </a:solidFill>
                <a:latin typeface="Courier New" pitchFamily="34" charset="0"/>
                <a:ea typeface="Courier New" pitchFamily="34" charset="-122"/>
                <a:cs typeface="Courier New" pitchFamily="34" charset="-120"/>
              </a:rPr>
              <a:t>{</a:t>
            </a:r>
            <a:r>
              <a:rPr lang="en-US" sz="1150" dirty="0">
                <a:solidFill>
                  <a:srgbClr val="FAB387"/>
                </a:solidFill>
                <a:latin typeface="Courier New" pitchFamily="34" charset="0"/>
                <a:ea typeface="Courier New" pitchFamily="34" charset="-122"/>
                <a:cs typeface="Courier New" pitchFamily="34" charset="-120"/>
              </a:rPr>
              <a:t>1</a:t>
            </a:r>
            <a:r>
              <a:rPr lang="en-US" sz="1150" dirty="0">
                <a:solidFill>
                  <a:srgbClr val="E4E4F0"/>
                </a:solidFill>
                <a:latin typeface="Courier New" pitchFamily="34" charset="0"/>
                <a:ea typeface="Courier New" pitchFamily="34" charset="-122"/>
                <a:cs typeface="Courier New" pitchFamily="34" charset="-120"/>
              </a:rPr>
              <a:t>, </a:t>
            </a:r>
            <a:r>
              <a:rPr lang="en-US" sz="1150" dirty="0">
                <a:solidFill>
                  <a:srgbClr val="FAB387"/>
                </a:solidFill>
                <a:latin typeface="Courier New" pitchFamily="34" charset="0"/>
                <a:ea typeface="Courier New" pitchFamily="34" charset="-122"/>
                <a:cs typeface="Courier New" pitchFamily="34" charset="-120"/>
              </a:rPr>
              <a:t>2</a:t>
            </a:r>
            <a:r>
              <a:rPr lang="en-US" sz="1150" dirty="0">
                <a:solidFill>
                  <a:srgbClr val="E4E4F0"/>
                </a:solidFill>
                <a:latin typeface="Courier New" pitchFamily="34" charset="0"/>
                <a:ea typeface="Courier New" pitchFamily="34" charset="-122"/>
                <a:cs typeface="Courier New" pitchFamily="34" charset="-120"/>
              </a:rPr>
              <a:t>, </a:t>
            </a:r>
            <a:r>
              <a:rPr lang="en-US" sz="1150" dirty="0">
                <a:solidFill>
                  <a:srgbClr val="FAB387"/>
                </a:solidFill>
                <a:latin typeface="Courier New" pitchFamily="34" charset="0"/>
                <a:ea typeface="Courier New" pitchFamily="34" charset="-122"/>
                <a:cs typeface="Courier New" pitchFamily="34" charset="-120"/>
              </a:rPr>
              <a:t>3</a:t>
            </a:r>
            <a:r>
              <a:rPr lang="en-US" sz="1150" dirty="0">
                <a:solidFill>
                  <a:srgbClr val="E4E4F0"/>
                </a:solidFill>
                <a:latin typeface="Courier New" pitchFamily="34" charset="0"/>
                <a:ea typeface="Courier New" pitchFamily="34" charset="-122"/>
                <a:cs typeface="Courier New" pitchFamily="34" charset="-120"/>
              </a:rPr>
              <a:t>}</a:t>
            </a:r>
            <a:endParaRPr lang="en-US" sz="1150" dirty="0"/>
          </a:p>
        </p:txBody>
      </p:sp>
      <p:sp>
        <p:nvSpPr>
          <p:cNvPr id="30" name="Text 28"/>
          <p:cNvSpPr txBox="1"/>
          <p:nvPr/>
        </p:nvSpPr>
        <p:spPr>
          <a:xfrm>
            <a:off x="704088" y="5486400"/>
            <a:ext cx="3143402" cy="292608"/>
          </a:xfrm>
          <a:prstGeom prst="rect">
            <a:avLst/>
          </a:prstGeom>
          <a:noFill/>
          <a:ln/>
        </p:spPr>
        <p:txBody>
          <a:bodyPr wrap="square" lIns="0" tIns="0" rIns="0" bIns="0" rtlCol="0" anchor="t"/>
          <a:lstStyle/>
          <a:p>
            <a:pPr marL="0" indent="0">
              <a:buNone/>
            </a:pPr>
            <a:r>
              <a:rPr lang="en-US" sz="1200" b="1" dirty="0">
                <a:solidFill>
                  <a:srgbClr val="1E1B4B"/>
                </a:solidFill>
                <a:latin typeface="Calibri" pitchFamily="34" charset="0"/>
                <a:ea typeface="Calibri" pitchFamily="34" charset="-122"/>
                <a:cs typeface="Calibri" pitchFamily="34" charset="-120"/>
              </a:rPr>
              <a:t>Unordered · unique items · mutable</a:t>
            </a:r>
            <a:endParaRPr lang="en-US" sz="1200" dirty="0"/>
          </a:p>
        </p:txBody>
      </p:sp>
      <p:sp>
        <p:nvSpPr>
          <p:cNvPr id="31" name="Text 29"/>
          <p:cNvSpPr txBox="1"/>
          <p:nvPr/>
        </p:nvSpPr>
        <p:spPr>
          <a:xfrm>
            <a:off x="704088" y="5788152"/>
            <a:ext cx="3143402" cy="411480"/>
          </a:xfrm>
          <a:prstGeom prst="rect">
            <a:avLst/>
          </a:prstGeom>
          <a:noFill/>
          <a:ln/>
        </p:spPr>
        <p:txBody>
          <a:bodyPr wrap="square" lIns="0" tIns="0" rIns="0" bIns="0" rtlCol="0" anchor="t"/>
          <a:lstStyle/>
          <a:p>
            <a:pPr marL="0" indent="0">
              <a:buNone/>
            </a:pPr>
            <a:r>
              <a:rPr lang="en-US" sz="1150" dirty="0">
                <a:solidFill>
                  <a:srgbClr val="5B5F7A"/>
                </a:solidFill>
                <a:latin typeface="Calibri" pitchFamily="34" charset="0"/>
                <a:ea typeface="Calibri" pitchFamily="34" charset="-122"/>
                <a:cs typeface="Calibri" pitchFamily="34" charset="-120"/>
              </a:rPr>
              <a:t>Use for: Removing duplicates, fast membership tests.</a:t>
            </a:r>
            <a:endParaRPr lang="en-US" sz="1150" dirty="0"/>
          </a:p>
        </p:txBody>
      </p:sp>
      <p:sp>
        <p:nvSpPr>
          <p:cNvPr id="32" name="Shape 30"/>
          <p:cNvSpPr/>
          <p:nvPr/>
        </p:nvSpPr>
        <p:spPr>
          <a:xfrm>
            <a:off x="4322978" y="4480560"/>
            <a:ext cx="3545738" cy="1828800"/>
          </a:xfrm>
          <a:prstGeom prst="roundRect">
            <a:avLst>
              <a:gd name="adj" fmla="val 6000"/>
            </a:avLst>
          </a:prstGeom>
          <a:solidFill>
            <a:srgbClr val="FFFFFF"/>
          </a:solidFill>
          <a:ln w="9525">
            <a:solidFill>
              <a:srgbClr val="DCDDF5"/>
            </a:solidFill>
            <a:prstDash val="solid"/>
          </a:ln>
          <a:effectLst>
            <a:outerShdw blurRad="127000" dist="25400" dir="5400000" algn="bl" rotWithShape="0">
              <a:srgbClr val="4F46E5">
                <a:alpha val="12000"/>
              </a:srgbClr>
            </a:outerShdw>
          </a:effectLst>
        </p:spPr>
        <p:txBody>
          <a:bodyPr/>
          <a:lstStyle/>
          <a:p>
            <a:endParaRPr lang="en-PH"/>
          </a:p>
        </p:txBody>
      </p:sp>
      <p:sp>
        <p:nvSpPr>
          <p:cNvPr id="33" name="Text 31"/>
          <p:cNvSpPr txBox="1"/>
          <p:nvPr/>
        </p:nvSpPr>
        <p:spPr>
          <a:xfrm>
            <a:off x="4524146" y="4617720"/>
            <a:ext cx="3143402" cy="347472"/>
          </a:xfrm>
          <a:prstGeom prst="rect">
            <a:avLst/>
          </a:prstGeom>
          <a:noFill/>
          <a:ln/>
        </p:spPr>
        <p:txBody>
          <a:bodyPr wrap="square" lIns="0" tIns="0" rIns="0" bIns="0" rtlCol="0" anchor="t"/>
          <a:lstStyle/>
          <a:p>
            <a:pPr marL="0" indent="0">
              <a:buNone/>
            </a:pPr>
            <a:r>
              <a:rPr lang="en-US" sz="1600" b="1" dirty="0">
                <a:solidFill>
                  <a:srgbClr val="4F46E5"/>
                </a:solidFill>
                <a:latin typeface="Calibri" pitchFamily="34" charset="0"/>
                <a:ea typeface="Calibri" pitchFamily="34" charset="-122"/>
                <a:cs typeface="Calibri" pitchFamily="34" charset="-120"/>
              </a:rPr>
              <a:t>Dictionary</a:t>
            </a:r>
            <a:endParaRPr lang="en-US" sz="1600" dirty="0"/>
          </a:p>
        </p:txBody>
      </p:sp>
      <p:sp>
        <p:nvSpPr>
          <p:cNvPr id="34" name="Shape 32"/>
          <p:cNvSpPr/>
          <p:nvPr/>
        </p:nvSpPr>
        <p:spPr>
          <a:xfrm>
            <a:off x="4524146" y="5010912"/>
            <a:ext cx="3143402" cy="402336"/>
          </a:xfrm>
          <a:prstGeom prst="roundRect">
            <a:avLst>
              <a:gd name="adj" fmla="val 13636"/>
            </a:avLst>
          </a:prstGeom>
          <a:solidFill>
            <a:srgbClr val="1F1D36"/>
          </a:solidFill>
          <a:ln w="12700">
            <a:solidFill>
              <a:srgbClr val="1F1D36"/>
            </a:solidFill>
            <a:prstDash val="solid"/>
          </a:ln>
        </p:spPr>
        <p:txBody>
          <a:bodyPr/>
          <a:lstStyle/>
          <a:p>
            <a:endParaRPr lang="en-PH"/>
          </a:p>
        </p:txBody>
      </p:sp>
      <p:sp>
        <p:nvSpPr>
          <p:cNvPr id="35" name="Text 33"/>
          <p:cNvSpPr txBox="1"/>
          <p:nvPr/>
        </p:nvSpPr>
        <p:spPr>
          <a:xfrm>
            <a:off x="4633874" y="5010912"/>
            <a:ext cx="2997098" cy="402336"/>
          </a:xfrm>
          <a:prstGeom prst="rect">
            <a:avLst/>
          </a:prstGeom>
          <a:noFill/>
          <a:ln/>
        </p:spPr>
        <p:txBody>
          <a:bodyPr wrap="square" lIns="0" tIns="0" rIns="0" bIns="0" rtlCol="0" anchor="ctr"/>
          <a:lstStyle/>
          <a:p>
            <a:pPr marL="0" indent="0">
              <a:buNone/>
            </a:pPr>
            <a:r>
              <a:rPr lang="en-US" sz="1150" dirty="0">
                <a:solidFill>
                  <a:srgbClr val="E4E4F0"/>
                </a:solidFill>
                <a:latin typeface="Courier New" pitchFamily="34" charset="0"/>
                <a:ea typeface="Courier New" pitchFamily="34" charset="-122"/>
                <a:cs typeface="Courier New" pitchFamily="34" charset="-120"/>
              </a:rPr>
              <a:t>{</a:t>
            </a:r>
            <a:r>
              <a:rPr lang="en-US" sz="1150" dirty="0">
                <a:solidFill>
                  <a:srgbClr val="A6E3A1"/>
                </a:solidFill>
                <a:latin typeface="Courier New" pitchFamily="34" charset="0"/>
                <a:ea typeface="Courier New" pitchFamily="34" charset="-122"/>
                <a:cs typeface="Courier New" pitchFamily="34" charset="-120"/>
              </a:rPr>
              <a:t>"a"</a:t>
            </a:r>
            <a:r>
              <a:rPr lang="en-US" sz="1150" dirty="0">
                <a:solidFill>
                  <a:srgbClr val="E4E4F0"/>
                </a:solidFill>
                <a:latin typeface="Courier New" pitchFamily="34" charset="0"/>
                <a:ea typeface="Courier New" pitchFamily="34" charset="-122"/>
                <a:cs typeface="Courier New" pitchFamily="34" charset="-120"/>
              </a:rPr>
              <a:t>: </a:t>
            </a:r>
            <a:r>
              <a:rPr lang="en-US" sz="1150" dirty="0">
                <a:solidFill>
                  <a:srgbClr val="FAB387"/>
                </a:solidFill>
                <a:latin typeface="Courier New" pitchFamily="34" charset="0"/>
                <a:ea typeface="Courier New" pitchFamily="34" charset="-122"/>
                <a:cs typeface="Courier New" pitchFamily="34" charset="-120"/>
              </a:rPr>
              <a:t>1</a:t>
            </a:r>
            <a:r>
              <a:rPr lang="en-US" sz="1150" dirty="0">
                <a:solidFill>
                  <a:srgbClr val="E4E4F0"/>
                </a:solidFill>
                <a:latin typeface="Courier New" pitchFamily="34" charset="0"/>
                <a:ea typeface="Courier New" pitchFamily="34" charset="-122"/>
                <a:cs typeface="Courier New" pitchFamily="34" charset="-120"/>
              </a:rPr>
              <a:t>}</a:t>
            </a:r>
            <a:endParaRPr lang="en-US" sz="1150" dirty="0"/>
          </a:p>
        </p:txBody>
      </p:sp>
      <p:sp>
        <p:nvSpPr>
          <p:cNvPr id="36" name="Text 34"/>
          <p:cNvSpPr txBox="1"/>
          <p:nvPr/>
        </p:nvSpPr>
        <p:spPr>
          <a:xfrm>
            <a:off x="4524146" y="5486400"/>
            <a:ext cx="3143402" cy="292608"/>
          </a:xfrm>
          <a:prstGeom prst="rect">
            <a:avLst/>
          </a:prstGeom>
          <a:noFill/>
          <a:ln/>
        </p:spPr>
        <p:txBody>
          <a:bodyPr wrap="square" lIns="0" tIns="0" rIns="0" bIns="0" rtlCol="0" anchor="t"/>
          <a:lstStyle/>
          <a:p>
            <a:pPr marL="0" indent="0">
              <a:buNone/>
            </a:pPr>
            <a:r>
              <a:rPr lang="en-US" sz="1200" b="1" dirty="0">
                <a:solidFill>
                  <a:srgbClr val="1E1B4B"/>
                </a:solidFill>
                <a:latin typeface="Calibri" pitchFamily="34" charset="0"/>
                <a:ea typeface="Calibri" pitchFamily="34" charset="-122"/>
                <a:cs typeface="Calibri" pitchFamily="34" charset="-120"/>
              </a:rPr>
              <a:t>Key-value pairs · unique keys · mutable</a:t>
            </a:r>
            <a:endParaRPr lang="en-US" sz="1200" dirty="0"/>
          </a:p>
        </p:txBody>
      </p:sp>
      <p:sp>
        <p:nvSpPr>
          <p:cNvPr id="37" name="Text 35"/>
          <p:cNvSpPr txBox="1"/>
          <p:nvPr/>
        </p:nvSpPr>
        <p:spPr>
          <a:xfrm>
            <a:off x="4524146" y="5788152"/>
            <a:ext cx="3143402" cy="411480"/>
          </a:xfrm>
          <a:prstGeom prst="rect">
            <a:avLst/>
          </a:prstGeom>
          <a:noFill/>
          <a:ln/>
        </p:spPr>
        <p:txBody>
          <a:bodyPr wrap="square" lIns="0" tIns="0" rIns="0" bIns="0" rtlCol="0" anchor="t"/>
          <a:lstStyle/>
          <a:p>
            <a:pPr marL="0" indent="0">
              <a:buNone/>
            </a:pPr>
            <a:r>
              <a:rPr lang="en-US" sz="1150" dirty="0">
                <a:solidFill>
                  <a:srgbClr val="5B5F7A"/>
                </a:solidFill>
                <a:latin typeface="Calibri" pitchFamily="34" charset="0"/>
                <a:ea typeface="Calibri" pitchFamily="34" charset="-122"/>
                <a:cs typeface="Calibri" pitchFamily="34" charset="-120"/>
              </a:rPr>
              <a:t>Use for: Looking data up by name.</a:t>
            </a:r>
            <a:endParaRPr lang="en-US" sz="1150" dirty="0"/>
          </a:p>
        </p:txBody>
      </p:sp>
      <p:sp>
        <p:nvSpPr>
          <p:cNvPr id="38" name="Shape 36"/>
          <p:cNvSpPr/>
          <p:nvPr/>
        </p:nvSpPr>
        <p:spPr>
          <a:xfrm>
            <a:off x="8143037" y="4480560"/>
            <a:ext cx="3545738" cy="1828800"/>
          </a:xfrm>
          <a:prstGeom prst="roundRect">
            <a:avLst>
              <a:gd name="adj" fmla="val 6000"/>
            </a:avLst>
          </a:prstGeom>
          <a:solidFill>
            <a:srgbClr val="FFFFFF"/>
          </a:solidFill>
          <a:ln w="9525">
            <a:solidFill>
              <a:srgbClr val="DCDDF5"/>
            </a:solidFill>
            <a:prstDash val="solid"/>
          </a:ln>
          <a:effectLst>
            <a:outerShdw blurRad="127000" dist="25400" dir="5400000" algn="bl" rotWithShape="0">
              <a:srgbClr val="4F46E5">
                <a:alpha val="12000"/>
              </a:srgbClr>
            </a:outerShdw>
          </a:effectLst>
        </p:spPr>
        <p:txBody>
          <a:bodyPr/>
          <a:lstStyle/>
          <a:p>
            <a:endParaRPr lang="en-PH"/>
          </a:p>
        </p:txBody>
      </p:sp>
      <p:sp>
        <p:nvSpPr>
          <p:cNvPr id="39" name="Text 37"/>
          <p:cNvSpPr txBox="1"/>
          <p:nvPr/>
        </p:nvSpPr>
        <p:spPr>
          <a:xfrm>
            <a:off x="8344205" y="4617720"/>
            <a:ext cx="3143402" cy="347472"/>
          </a:xfrm>
          <a:prstGeom prst="rect">
            <a:avLst/>
          </a:prstGeom>
          <a:noFill/>
          <a:ln/>
        </p:spPr>
        <p:txBody>
          <a:bodyPr wrap="square" lIns="0" tIns="0" rIns="0" bIns="0" rtlCol="0" anchor="t"/>
          <a:lstStyle/>
          <a:p>
            <a:pPr marL="0" indent="0">
              <a:buNone/>
            </a:pPr>
            <a:r>
              <a:rPr lang="en-US" sz="1600" b="1" dirty="0">
                <a:solidFill>
                  <a:srgbClr val="C8559F"/>
                </a:solidFill>
                <a:latin typeface="Calibri" pitchFamily="34" charset="0"/>
                <a:ea typeface="Calibri" pitchFamily="34" charset="-122"/>
                <a:cs typeface="Calibri" pitchFamily="34" charset="-120"/>
              </a:rPr>
              <a:t>Array</a:t>
            </a:r>
            <a:endParaRPr lang="en-US" sz="1600" dirty="0"/>
          </a:p>
        </p:txBody>
      </p:sp>
      <p:sp>
        <p:nvSpPr>
          <p:cNvPr id="40" name="Shape 38"/>
          <p:cNvSpPr/>
          <p:nvPr/>
        </p:nvSpPr>
        <p:spPr>
          <a:xfrm>
            <a:off x="8344205" y="5010912"/>
            <a:ext cx="3143402" cy="402336"/>
          </a:xfrm>
          <a:prstGeom prst="roundRect">
            <a:avLst>
              <a:gd name="adj" fmla="val 13636"/>
            </a:avLst>
          </a:prstGeom>
          <a:solidFill>
            <a:srgbClr val="1F1D36"/>
          </a:solidFill>
          <a:ln w="12700">
            <a:solidFill>
              <a:srgbClr val="1F1D36"/>
            </a:solidFill>
            <a:prstDash val="solid"/>
          </a:ln>
        </p:spPr>
        <p:txBody>
          <a:bodyPr/>
          <a:lstStyle/>
          <a:p>
            <a:endParaRPr lang="en-PH"/>
          </a:p>
        </p:txBody>
      </p:sp>
      <p:sp>
        <p:nvSpPr>
          <p:cNvPr id="41" name="Text 39"/>
          <p:cNvSpPr txBox="1"/>
          <p:nvPr/>
        </p:nvSpPr>
        <p:spPr>
          <a:xfrm>
            <a:off x="8453933" y="5010912"/>
            <a:ext cx="2997098" cy="402336"/>
          </a:xfrm>
          <a:prstGeom prst="rect">
            <a:avLst/>
          </a:prstGeom>
          <a:noFill/>
          <a:ln/>
        </p:spPr>
        <p:txBody>
          <a:bodyPr wrap="square" lIns="0" tIns="0" rIns="0" bIns="0" rtlCol="0" anchor="ctr"/>
          <a:lstStyle/>
          <a:p>
            <a:pPr marL="0" indent="0">
              <a:buNone/>
            </a:pPr>
            <a:r>
              <a:rPr lang="en-US" sz="1150" dirty="0">
                <a:solidFill>
                  <a:srgbClr val="82AAFF"/>
                </a:solidFill>
                <a:latin typeface="Courier New" pitchFamily="34" charset="0"/>
                <a:ea typeface="Courier New" pitchFamily="34" charset="-122"/>
                <a:cs typeface="Courier New" pitchFamily="34" charset="-120"/>
              </a:rPr>
              <a:t>array</a:t>
            </a:r>
            <a:r>
              <a:rPr lang="en-US" sz="1150" dirty="0">
                <a:solidFill>
                  <a:srgbClr val="E4E4F0"/>
                </a:solidFill>
                <a:latin typeface="Courier New" pitchFamily="34" charset="0"/>
                <a:ea typeface="Courier New" pitchFamily="34" charset="-122"/>
                <a:cs typeface="Courier New" pitchFamily="34" charset="-120"/>
              </a:rPr>
              <a:t>(</a:t>
            </a:r>
            <a:r>
              <a:rPr lang="en-US" sz="1150" dirty="0">
                <a:solidFill>
                  <a:srgbClr val="A6E3A1"/>
                </a:solidFill>
                <a:latin typeface="Courier New" pitchFamily="34" charset="0"/>
                <a:ea typeface="Courier New" pitchFamily="34" charset="-122"/>
                <a:cs typeface="Courier New" pitchFamily="34" charset="-120"/>
              </a:rPr>
              <a:t>'i'</a:t>
            </a:r>
            <a:r>
              <a:rPr lang="en-US" sz="1150" dirty="0">
                <a:solidFill>
                  <a:srgbClr val="E4E4F0"/>
                </a:solidFill>
                <a:latin typeface="Courier New" pitchFamily="34" charset="0"/>
                <a:ea typeface="Courier New" pitchFamily="34" charset="-122"/>
                <a:cs typeface="Courier New" pitchFamily="34" charset="-120"/>
              </a:rPr>
              <a:t>, [</a:t>
            </a:r>
            <a:r>
              <a:rPr lang="en-US" sz="1150" dirty="0">
                <a:solidFill>
                  <a:srgbClr val="FAB387"/>
                </a:solidFill>
                <a:latin typeface="Courier New" pitchFamily="34" charset="0"/>
                <a:ea typeface="Courier New" pitchFamily="34" charset="-122"/>
                <a:cs typeface="Courier New" pitchFamily="34" charset="-120"/>
              </a:rPr>
              <a:t>1</a:t>
            </a:r>
            <a:r>
              <a:rPr lang="en-US" sz="1150" dirty="0">
                <a:solidFill>
                  <a:srgbClr val="E4E4F0"/>
                </a:solidFill>
                <a:latin typeface="Courier New" pitchFamily="34" charset="0"/>
                <a:ea typeface="Courier New" pitchFamily="34" charset="-122"/>
                <a:cs typeface="Courier New" pitchFamily="34" charset="-120"/>
              </a:rPr>
              <a:t>, </a:t>
            </a:r>
            <a:r>
              <a:rPr lang="en-US" sz="1150" dirty="0">
                <a:solidFill>
                  <a:srgbClr val="FAB387"/>
                </a:solidFill>
                <a:latin typeface="Courier New" pitchFamily="34" charset="0"/>
                <a:ea typeface="Courier New" pitchFamily="34" charset="-122"/>
                <a:cs typeface="Courier New" pitchFamily="34" charset="-120"/>
              </a:rPr>
              <a:t>2</a:t>
            </a:r>
            <a:r>
              <a:rPr lang="en-US" sz="1150" dirty="0">
                <a:solidFill>
                  <a:srgbClr val="E4E4F0"/>
                </a:solidFill>
                <a:latin typeface="Courier New" pitchFamily="34" charset="0"/>
                <a:ea typeface="Courier New" pitchFamily="34" charset="-122"/>
                <a:cs typeface="Courier New" pitchFamily="34" charset="-120"/>
              </a:rPr>
              <a:t>, </a:t>
            </a:r>
            <a:r>
              <a:rPr lang="en-US" sz="1150" dirty="0">
                <a:solidFill>
                  <a:srgbClr val="FAB387"/>
                </a:solidFill>
                <a:latin typeface="Courier New" pitchFamily="34" charset="0"/>
                <a:ea typeface="Courier New" pitchFamily="34" charset="-122"/>
                <a:cs typeface="Courier New" pitchFamily="34" charset="-120"/>
              </a:rPr>
              <a:t>3</a:t>
            </a:r>
            <a:r>
              <a:rPr lang="en-US" sz="1150" dirty="0">
                <a:solidFill>
                  <a:srgbClr val="E4E4F0"/>
                </a:solidFill>
                <a:latin typeface="Courier New" pitchFamily="34" charset="0"/>
                <a:ea typeface="Courier New" pitchFamily="34" charset="-122"/>
                <a:cs typeface="Courier New" pitchFamily="34" charset="-120"/>
              </a:rPr>
              <a:t>])</a:t>
            </a:r>
            <a:endParaRPr lang="en-US" sz="1150" dirty="0"/>
          </a:p>
        </p:txBody>
      </p:sp>
      <p:sp>
        <p:nvSpPr>
          <p:cNvPr id="42" name="Text 40"/>
          <p:cNvSpPr txBox="1"/>
          <p:nvPr/>
        </p:nvSpPr>
        <p:spPr>
          <a:xfrm>
            <a:off x="8344205" y="5486400"/>
            <a:ext cx="3143402" cy="292608"/>
          </a:xfrm>
          <a:prstGeom prst="rect">
            <a:avLst/>
          </a:prstGeom>
          <a:noFill/>
          <a:ln/>
        </p:spPr>
        <p:txBody>
          <a:bodyPr wrap="square" lIns="0" tIns="0" rIns="0" bIns="0" rtlCol="0" anchor="t"/>
          <a:lstStyle/>
          <a:p>
            <a:pPr marL="0" indent="0">
              <a:buNone/>
            </a:pPr>
            <a:r>
              <a:rPr lang="en-US" sz="1200" b="1" dirty="0">
                <a:solidFill>
                  <a:srgbClr val="1E1B4B"/>
                </a:solidFill>
                <a:latin typeface="Calibri" pitchFamily="34" charset="0"/>
                <a:ea typeface="Calibri" pitchFamily="34" charset="-122"/>
                <a:cs typeface="Calibri" pitchFamily="34" charset="-120"/>
              </a:rPr>
              <a:t>Same-type items · from the array module</a:t>
            </a:r>
            <a:endParaRPr lang="en-US" sz="1200" dirty="0"/>
          </a:p>
        </p:txBody>
      </p:sp>
      <p:sp>
        <p:nvSpPr>
          <p:cNvPr id="43" name="Text 41"/>
          <p:cNvSpPr txBox="1"/>
          <p:nvPr/>
        </p:nvSpPr>
        <p:spPr>
          <a:xfrm>
            <a:off x="8344205" y="5788152"/>
            <a:ext cx="3143402" cy="411480"/>
          </a:xfrm>
          <a:prstGeom prst="rect">
            <a:avLst/>
          </a:prstGeom>
          <a:noFill/>
          <a:ln/>
        </p:spPr>
        <p:txBody>
          <a:bodyPr wrap="square" lIns="0" tIns="0" rIns="0" bIns="0" rtlCol="0" anchor="t"/>
          <a:lstStyle/>
          <a:p>
            <a:pPr marL="0" indent="0">
              <a:buNone/>
            </a:pPr>
            <a:r>
              <a:rPr lang="en-US" sz="1150" dirty="0">
                <a:solidFill>
                  <a:srgbClr val="5B5F7A"/>
                </a:solidFill>
                <a:latin typeface="Calibri" pitchFamily="34" charset="0"/>
                <a:ea typeface="Calibri" pitchFamily="34" charset="-122"/>
                <a:cs typeface="Calibri" pitchFamily="34" charset="-120"/>
              </a:rPr>
              <a:t>Use for: Large lists of numbers of one type.</a:t>
            </a:r>
            <a:endParaRPr lang="en-US" sz="11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02920" y="310896"/>
            <a:ext cx="8229600" cy="237744"/>
          </a:xfrm>
          <a:prstGeom prst="rect">
            <a:avLst/>
          </a:prstGeom>
          <a:noFill/>
          <a:ln/>
        </p:spPr>
        <p:txBody>
          <a:bodyPr wrap="square" lIns="0" tIns="0" rIns="0" bIns="0" rtlCol="0" anchor="t"/>
          <a:lstStyle/>
          <a:p>
            <a:pPr marL="0" indent="0">
              <a:buNone/>
            </a:pPr>
            <a:r>
              <a:rPr lang="en-US" sz="1050" b="1" kern="0" spc="200" dirty="0">
                <a:solidFill>
                  <a:srgbClr val="C8559F"/>
                </a:solidFill>
                <a:latin typeface="Calibri" pitchFamily="34" charset="0"/>
                <a:ea typeface="Calibri" pitchFamily="34" charset="-122"/>
                <a:cs typeface="Calibri" pitchFamily="34" charset="-120"/>
              </a:rPr>
              <a:t>DATA STRUCTURE IN PYTHON</a:t>
            </a:r>
            <a:endParaRPr lang="en-US" sz="1050" dirty="0"/>
          </a:p>
        </p:txBody>
      </p:sp>
      <p:sp>
        <p:nvSpPr>
          <p:cNvPr id="3" name="Text 1"/>
          <p:cNvSpPr txBox="1"/>
          <p:nvPr/>
        </p:nvSpPr>
        <p:spPr>
          <a:xfrm>
            <a:off x="502920" y="530352"/>
            <a:ext cx="10241280" cy="640080"/>
          </a:xfrm>
          <a:prstGeom prst="rect">
            <a:avLst/>
          </a:prstGeom>
          <a:noFill/>
          <a:ln/>
        </p:spPr>
        <p:txBody>
          <a:bodyPr wrap="square" lIns="0" tIns="0" rIns="0" bIns="0" rtlCol="0" anchor="ctr"/>
          <a:lstStyle/>
          <a:p>
            <a:pPr marL="0" indent="0">
              <a:buNone/>
            </a:pPr>
            <a:r>
              <a:rPr lang="en-US" sz="2800" b="1" dirty="0">
                <a:solidFill>
                  <a:srgbClr val="1E1B4B"/>
                </a:solidFill>
                <a:latin typeface="Calibri" pitchFamily="34" charset="0"/>
                <a:ea typeface="Calibri" pitchFamily="34" charset="-122"/>
                <a:cs typeface="Calibri" pitchFamily="34" charset="-120"/>
              </a:rPr>
              <a:t>Python String</a:t>
            </a:r>
            <a:endParaRPr lang="en-US" sz="2800" dirty="0"/>
          </a:p>
        </p:txBody>
      </p:sp>
      <p:sp>
        <p:nvSpPr>
          <p:cNvPr id="4" name="Text 2"/>
          <p:cNvSpPr txBox="1"/>
          <p:nvPr/>
        </p:nvSpPr>
        <p:spPr>
          <a:xfrm>
            <a:off x="502920" y="6446520"/>
            <a:ext cx="5486400" cy="228600"/>
          </a:xfrm>
          <a:prstGeom prst="rect">
            <a:avLst/>
          </a:prstGeom>
          <a:noFill/>
          <a:ln/>
        </p:spPr>
        <p:txBody>
          <a:bodyPr wrap="square" lIns="0" tIns="0" rIns="0" bIns="0" rtlCol="0" anchor="t"/>
          <a:lstStyle/>
          <a:p>
            <a:pPr marL="0" indent="0">
              <a:buNone/>
            </a:pPr>
            <a:r>
              <a:rPr lang="en-US" sz="900" dirty="0">
                <a:solidFill>
                  <a:srgbClr val="5B5F7A"/>
                </a:solidFill>
                <a:latin typeface="Calibri" pitchFamily="34" charset="0"/>
                <a:ea typeface="Calibri" pitchFamily="34" charset="-122"/>
                <a:cs typeface="Calibri" pitchFamily="34" charset="-120"/>
              </a:rPr>
              <a:t>Python  ·  Data Structure In Python</a:t>
            </a:r>
            <a:endParaRPr lang="en-US" sz="900" dirty="0"/>
          </a:p>
        </p:txBody>
      </p:sp>
      <p:sp>
        <p:nvSpPr>
          <p:cNvPr id="5" name="Text 3"/>
          <p:cNvSpPr txBox="1"/>
          <p:nvPr/>
        </p:nvSpPr>
        <p:spPr>
          <a:xfrm>
            <a:off x="11140135" y="6446520"/>
            <a:ext cx="548640" cy="228600"/>
          </a:xfrm>
          <a:prstGeom prst="rect">
            <a:avLst/>
          </a:prstGeom>
          <a:noFill/>
          <a:ln/>
        </p:spPr>
        <p:txBody>
          <a:bodyPr wrap="square" lIns="0" tIns="0" rIns="0" bIns="0" rtlCol="0" anchor="t"/>
          <a:lstStyle/>
          <a:p>
            <a:pPr marL="0" indent="0" algn="r">
              <a:buNone/>
            </a:pPr>
            <a:r>
              <a:rPr lang="en-US" sz="900" dirty="0">
                <a:solidFill>
                  <a:srgbClr val="5B5F7A"/>
                </a:solidFill>
                <a:latin typeface="Calibri" pitchFamily="34" charset="0"/>
                <a:ea typeface="Calibri" pitchFamily="34" charset="-122"/>
                <a:cs typeface="Calibri" pitchFamily="34" charset="-120"/>
              </a:rPr>
              <a:t>27</a:t>
            </a:r>
            <a:endParaRPr lang="en-US" sz="900" dirty="0"/>
          </a:p>
        </p:txBody>
      </p:sp>
      <p:sp>
        <p:nvSpPr>
          <p:cNvPr id="6" name="Text 4"/>
          <p:cNvSpPr txBox="1"/>
          <p:nvPr/>
        </p:nvSpPr>
        <p:spPr>
          <a:xfrm>
            <a:off x="502920" y="1417320"/>
            <a:ext cx="5852160" cy="960120"/>
          </a:xfrm>
          <a:prstGeom prst="rect">
            <a:avLst/>
          </a:prstGeom>
          <a:noFill/>
          <a:ln/>
        </p:spPr>
        <p:txBody>
          <a:bodyPr wrap="square" lIns="0" tIns="0" rIns="0" bIns="0" rtlCol="0" anchor="t"/>
          <a:lstStyle/>
          <a:p>
            <a:pPr marL="0" indent="0">
              <a:buNone/>
            </a:pPr>
            <a:r>
              <a:rPr lang="en-US" sz="1500" dirty="0">
                <a:solidFill>
                  <a:srgbClr val="1E1B4B"/>
                </a:solidFill>
                <a:latin typeface="Calibri" pitchFamily="34" charset="0"/>
                <a:ea typeface="Calibri" pitchFamily="34" charset="-122"/>
                <a:cs typeface="Calibri" pitchFamily="34" charset="-120"/>
              </a:rPr>
              <a:t>Strings are sequence of characters written inside quotes. It can include letters, numbers, symbols and spaces. Python does not have a separate character type.</a:t>
            </a:r>
            <a:endParaRPr lang="en-US" sz="1500" dirty="0"/>
          </a:p>
        </p:txBody>
      </p:sp>
      <p:sp>
        <p:nvSpPr>
          <p:cNvPr id="7" name="Shape 5"/>
          <p:cNvSpPr/>
          <p:nvPr/>
        </p:nvSpPr>
        <p:spPr>
          <a:xfrm>
            <a:off x="502920" y="2514600"/>
            <a:ext cx="5852160" cy="777240"/>
          </a:xfrm>
          <a:prstGeom prst="roundRect">
            <a:avLst>
              <a:gd name="adj" fmla="val 14118"/>
            </a:avLst>
          </a:prstGeom>
          <a:solidFill>
            <a:srgbClr val="FFFFFF"/>
          </a:solidFill>
          <a:ln w="9525">
            <a:solidFill>
              <a:srgbClr val="DCDDF5"/>
            </a:solidFill>
            <a:prstDash val="solid"/>
          </a:ln>
          <a:effectLst>
            <a:outerShdw blurRad="127000" dist="25400" dir="5400000" algn="bl" rotWithShape="0">
              <a:srgbClr val="4F46E5">
                <a:alpha val="12000"/>
              </a:srgbClr>
            </a:outerShdw>
          </a:effectLst>
        </p:spPr>
        <p:txBody>
          <a:bodyPr/>
          <a:lstStyle/>
          <a:p>
            <a:endParaRPr lang="en-PH"/>
          </a:p>
        </p:txBody>
      </p:sp>
      <p:sp>
        <p:nvSpPr>
          <p:cNvPr id="8" name="Shape 6"/>
          <p:cNvSpPr/>
          <p:nvPr/>
        </p:nvSpPr>
        <p:spPr>
          <a:xfrm>
            <a:off x="685800" y="2697480"/>
            <a:ext cx="402336" cy="402336"/>
          </a:xfrm>
          <a:prstGeom prst="ellipse">
            <a:avLst/>
          </a:prstGeom>
          <a:solidFill>
            <a:srgbClr val="4F46E5"/>
          </a:solidFill>
          <a:ln w="12700">
            <a:solidFill>
              <a:srgbClr val="4F46E5"/>
            </a:solidFill>
            <a:prstDash val="solid"/>
          </a:ln>
        </p:spPr>
        <p:txBody>
          <a:bodyPr/>
          <a:lstStyle/>
          <a:p>
            <a:endParaRPr lang="en-PH"/>
          </a:p>
        </p:txBody>
      </p:sp>
      <p:sp>
        <p:nvSpPr>
          <p:cNvPr id="9" name="Text 7"/>
          <p:cNvSpPr txBox="1"/>
          <p:nvPr/>
        </p:nvSpPr>
        <p:spPr>
          <a:xfrm>
            <a:off x="685800" y="2697480"/>
            <a:ext cx="402336" cy="402336"/>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0" name="Text 8"/>
          <p:cNvSpPr txBox="1"/>
          <p:nvPr/>
        </p:nvSpPr>
        <p:spPr>
          <a:xfrm>
            <a:off x="1234440" y="2560320"/>
            <a:ext cx="4937760" cy="685800"/>
          </a:xfrm>
          <a:prstGeom prst="rect">
            <a:avLst/>
          </a:prstGeom>
          <a:noFill/>
          <a:ln/>
        </p:spPr>
        <p:txBody>
          <a:bodyPr wrap="square" lIns="0" tIns="0" rIns="0" bIns="0" rtlCol="0" anchor="ctr"/>
          <a:lstStyle/>
          <a:p>
            <a:pPr marL="0" indent="0">
              <a:buNone/>
            </a:pPr>
            <a:r>
              <a:rPr lang="en-US" sz="1350" dirty="0">
                <a:solidFill>
                  <a:srgbClr val="1E1B4B"/>
                </a:solidFill>
                <a:latin typeface="Calibri" pitchFamily="34" charset="0"/>
                <a:ea typeface="Calibri" pitchFamily="34" charset="-122"/>
                <a:cs typeface="Calibri" pitchFamily="34" charset="-120"/>
              </a:rPr>
              <a:t>A single character is treated as a string of length one.</a:t>
            </a:r>
            <a:endParaRPr lang="en-US" sz="1350" dirty="0"/>
          </a:p>
        </p:txBody>
      </p:sp>
      <p:sp>
        <p:nvSpPr>
          <p:cNvPr id="11" name="Shape 9"/>
          <p:cNvSpPr/>
          <p:nvPr/>
        </p:nvSpPr>
        <p:spPr>
          <a:xfrm>
            <a:off x="502920" y="3410712"/>
            <a:ext cx="5852160" cy="777240"/>
          </a:xfrm>
          <a:prstGeom prst="roundRect">
            <a:avLst>
              <a:gd name="adj" fmla="val 14118"/>
            </a:avLst>
          </a:prstGeom>
          <a:solidFill>
            <a:srgbClr val="FFFFFF"/>
          </a:solidFill>
          <a:ln w="9525">
            <a:solidFill>
              <a:srgbClr val="DCDDF5"/>
            </a:solidFill>
            <a:prstDash val="solid"/>
          </a:ln>
          <a:effectLst>
            <a:outerShdw blurRad="127000" dist="25400" dir="5400000" algn="bl" rotWithShape="0">
              <a:srgbClr val="4F46E5">
                <a:alpha val="12000"/>
              </a:srgbClr>
            </a:outerShdw>
          </a:effectLst>
        </p:spPr>
        <p:txBody>
          <a:bodyPr/>
          <a:lstStyle/>
          <a:p>
            <a:endParaRPr lang="en-PH"/>
          </a:p>
        </p:txBody>
      </p:sp>
      <p:sp>
        <p:nvSpPr>
          <p:cNvPr id="12" name="Shape 10"/>
          <p:cNvSpPr/>
          <p:nvPr/>
        </p:nvSpPr>
        <p:spPr>
          <a:xfrm>
            <a:off x="685800" y="3593592"/>
            <a:ext cx="402336" cy="402336"/>
          </a:xfrm>
          <a:prstGeom prst="ellipse">
            <a:avLst/>
          </a:prstGeom>
          <a:solidFill>
            <a:srgbClr val="C8559F"/>
          </a:solidFill>
          <a:ln w="12700">
            <a:solidFill>
              <a:srgbClr val="C8559F"/>
            </a:solidFill>
            <a:prstDash val="solid"/>
          </a:ln>
        </p:spPr>
        <p:txBody>
          <a:bodyPr/>
          <a:lstStyle/>
          <a:p>
            <a:endParaRPr lang="en-PH"/>
          </a:p>
        </p:txBody>
      </p:sp>
      <p:sp>
        <p:nvSpPr>
          <p:cNvPr id="13" name="Text 11"/>
          <p:cNvSpPr txBox="1"/>
          <p:nvPr/>
        </p:nvSpPr>
        <p:spPr>
          <a:xfrm>
            <a:off x="685800" y="3593592"/>
            <a:ext cx="402336" cy="402336"/>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4" name="Text 12"/>
          <p:cNvSpPr txBox="1"/>
          <p:nvPr/>
        </p:nvSpPr>
        <p:spPr>
          <a:xfrm>
            <a:off x="1234440" y="3456432"/>
            <a:ext cx="4937760" cy="685800"/>
          </a:xfrm>
          <a:prstGeom prst="rect">
            <a:avLst/>
          </a:prstGeom>
          <a:noFill/>
          <a:ln/>
        </p:spPr>
        <p:txBody>
          <a:bodyPr wrap="square" lIns="0" tIns="0" rIns="0" bIns="0" rtlCol="0" anchor="ctr"/>
          <a:lstStyle/>
          <a:p>
            <a:pPr marL="0" indent="0">
              <a:buNone/>
            </a:pPr>
            <a:r>
              <a:rPr lang="en-US" sz="1350" dirty="0">
                <a:solidFill>
                  <a:srgbClr val="1E1B4B"/>
                </a:solidFill>
                <a:latin typeface="Calibri" pitchFamily="34" charset="0"/>
                <a:ea typeface="Calibri" pitchFamily="34" charset="-122"/>
                <a:cs typeface="Calibri" pitchFamily="34" charset="-120"/>
              </a:rPr>
              <a:t>Strings are commonly used for text handling and manipulation.</a:t>
            </a:r>
            <a:endParaRPr lang="en-US" sz="1350" dirty="0"/>
          </a:p>
        </p:txBody>
      </p:sp>
      <p:sp>
        <p:nvSpPr>
          <p:cNvPr id="15" name="Shape 13"/>
          <p:cNvSpPr/>
          <p:nvPr/>
        </p:nvSpPr>
        <p:spPr>
          <a:xfrm>
            <a:off x="6675120" y="1417320"/>
            <a:ext cx="5013655" cy="1509522"/>
          </a:xfrm>
          <a:prstGeom prst="roundRect">
            <a:avLst>
              <a:gd name="adj" fmla="val 6058"/>
            </a:avLst>
          </a:prstGeom>
          <a:solidFill>
            <a:srgbClr val="1F1D36"/>
          </a:solidFill>
          <a:ln w="12700">
            <a:solidFill>
              <a:srgbClr val="1F1D36"/>
            </a:solidFill>
            <a:prstDash val="solid"/>
          </a:ln>
        </p:spPr>
        <p:txBody>
          <a:bodyPr/>
          <a:lstStyle/>
          <a:p>
            <a:endParaRPr lang="en-PH"/>
          </a:p>
        </p:txBody>
      </p:sp>
      <p:sp>
        <p:nvSpPr>
          <p:cNvPr id="16" name="Text 14"/>
          <p:cNvSpPr txBox="1"/>
          <p:nvPr/>
        </p:nvSpPr>
        <p:spPr>
          <a:xfrm>
            <a:off x="6839712" y="1499616"/>
            <a:ext cx="4684471" cy="201168"/>
          </a:xfrm>
          <a:prstGeom prst="rect">
            <a:avLst/>
          </a:prstGeom>
          <a:noFill/>
          <a:ln/>
        </p:spPr>
        <p:txBody>
          <a:bodyPr wrap="square" lIns="0" tIns="0" rIns="0" bIns="0" rtlCol="0" anchor="ctr"/>
          <a:lstStyle/>
          <a:p>
            <a:pPr marL="0" indent="0">
              <a:buNone/>
            </a:pPr>
            <a:r>
              <a:rPr lang="en-US" sz="900" b="1" dirty="0">
                <a:solidFill>
                  <a:srgbClr val="8A8FB5"/>
                </a:solidFill>
                <a:latin typeface="Calibri" pitchFamily="34" charset="0"/>
                <a:ea typeface="Calibri" pitchFamily="34" charset="-122"/>
                <a:cs typeface="Calibri" pitchFamily="34" charset="-120"/>
              </a:rPr>
              <a:t>&lt;/&gt;  Python</a:t>
            </a:r>
            <a:endParaRPr lang="en-US" sz="900" dirty="0"/>
          </a:p>
        </p:txBody>
      </p:sp>
      <p:sp>
        <p:nvSpPr>
          <p:cNvPr id="17" name="Text 15"/>
          <p:cNvSpPr txBox="1"/>
          <p:nvPr/>
        </p:nvSpPr>
        <p:spPr>
          <a:xfrm>
            <a:off x="6839712" y="1746504"/>
            <a:ext cx="4739335" cy="1125474"/>
          </a:xfrm>
          <a:prstGeom prst="rect">
            <a:avLst/>
          </a:prstGeom>
          <a:noFill/>
          <a:ln/>
        </p:spPr>
        <p:txBody>
          <a:bodyPr wrap="square" lIns="0" tIns="0" rIns="0" bIns="0" rtlCol="0" anchor="t"/>
          <a:lstStyle/>
          <a:p>
            <a:pPr marL="0" indent="0">
              <a:buNone/>
            </a:pPr>
            <a:r>
              <a:rPr lang="en-US" sz="1150" dirty="0">
                <a:solidFill>
                  <a:srgbClr val="E4E4F0"/>
                </a:solidFill>
                <a:latin typeface="Courier New" pitchFamily="34" charset="0"/>
                <a:ea typeface="Courier New" pitchFamily="34" charset="-122"/>
                <a:cs typeface="Courier New" pitchFamily="34" charset="-120"/>
              </a:rPr>
              <a:t>s = </a:t>
            </a:r>
            <a:r>
              <a:rPr lang="en-US" sz="1150" dirty="0">
                <a:solidFill>
                  <a:srgbClr val="A6E3A1"/>
                </a:solidFill>
                <a:latin typeface="Courier New" pitchFamily="34" charset="0"/>
                <a:ea typeface="Courier New" pitchFamily="34" charset="-122"/>
                <a:cs typeface="Courier New" pitchFamily="34" charset="-120"/>
              </a:rPr>
              <a:t>"Hello, World!"</a:t>
            </a:r>
            <a:endParaRPr lang="en-US" sz="1150" dirty="0"/>
          </a:p>
          <a:p>
            <a:pPr marL="0" indent="0">
              <a:buNone/>
            </a:pPr>
            <a:r>
              <a:rPr lang="en-US" sz="1150" dirty="0">
                <a:solidFill>
                  <a:srgbClr val="E4E4F0"/>
                </a:solidFill>
                <a:latin typeface="Courier New" pitchFamily="34" charset="0"/>
                <a:ea typeface="Courier New" pitchFamily="34" charset="-122"/>
                <a:cs typeface="Courier New" pitchFamily="34" charset="-120"/>
              </a:rPr>
              <a:t> </a:t>
            </a:r>
            <a:endParaRPr lang="en-US" sz="1150" dirty="0"/>
          </a:p>
          <a:p>
            <a:pPr marL="0" indent="0">
              <a:buNone/>
            </a:pPr>
            <a:r>
              <a:rPr lang="en-US" sz="1150" dirty="0">
                <a:solidFill>
                  <a:srgbClr val="82AAFF"/>
                </a:solidFill>
                <a:latin typeface="Courier New" pitchFamily="34" charset="0"/>
                <a:ea typeface="Courier New" pitchFamily="34" charset="-122"/>
                <a:cs typeface="Courier New" pitchFamily="34" charset="-120"/>
              </a:rPr>
              <a:t>print</a:t>
            </a:r>
            <a:r>
              <a:rPr lang="en-US" sz="1150" dirty="0">
                <a:solidFill>
                  <a:srgbClr val="E4E4F0"/>
                </a:solidFill>
                <a:latin typeface="Courier New" pitchFamily="34" charset="0"/>
                <a:ea typeface="Courier New" pitchFamily="34" charset="-122"/>
                <a:cs typeface="Courier New" pitchFamily="34" charset="-120"/>
              </a:rPr>
              <a:t>(s[</a:t>
            </a:r>
            <a:r>
              <a:rPr lang="en-US" sz="1150" dirty="0">
                <a:solidFill>
                  <a:srgbClr val="FAB387"/>
                </a:solidFill>
                <a:latin typeface="Courier New" pitchFamily="34" charset="0"/>
                <a:ea typeface="Courier New" pitchFamily="34" charset="-122"/>
                <a:cs typeface="Courier New" pitchFamily="34" charset="-120"/>
              </a:rPr>
              <a:t>0</a:t>
            </a:r>
            <a:r>
              <a:rPr lang="en-US" sz="1150" dirty="0">
                <a:solidFill>
                  <a:srgbClr val="E4E4F0"/>
                </a:solidFill>
                <a:latin typeface="Courier New" pitchFamily="34" charset="0"/>
                <a:ea typeface="Courier New" pitchFamily="34" charset="-122"/>
                <a:cs typeface="Courier New" pitchFamily="34" charset="-120"/>
              </a:rPr>
              <a:t>])        </a:t>
            </a:r>
            <a:r>
              <a:rPr lang="en-US" sz="1150" i="1" dirty="0">
                <a:solidFill>
                  <a:srgbClr val="8A8FB5"/>
                </a:solidFill>
                <a:latin typeface="Courier New" pitchFamily="34" charset="0"/>
                <a:ea typeface="Courier New" pitchFamily="34" charset="-122"/>
                <a:cs typeface="Courier New" pitchFamily="34" charset="-120"/>
              </a:rPr>
              <a:t># first character</a:t>
            </a:r>
            <a:endParaRPr lang="en-US" sz="1150" dirty="0"/>
          </a:p>
          <a:p>
            <a:pPr marL="0" indent="0">
              <a:buNone/>
            </a:pPr>
            <a:r>
              <a:rPr lang="en-US" sz="1150" dirty="0">
                <a:solidFill>
                  <a:srgbClr val="82AAFF"/>
                </a:solidFill>
                <a:latin typeface="Courier New" pitchFamily="34" charset="0"/>
                <a:ea typeface="Courier New" pitchFamily="34" charset="-122"/>
                <a:cs typeface="Courier New" pitchFamily="34" charset="-120"/>
              </a:rPr>
              <a:t>print</a:t>
            </a:r>
            <a:r>
              <a:rPr lang="en-US" sz="1150" dirty="0">
                <a:solidFill>
                  <a:srgbClr val="E4E4F0"/>
                </a:solidFill>
                <a:latin typeface="Courier New" pitchFamily="34" charset="0"/>
                <a:ea typeface="Courier New" pitchFamily="34" charset="-122"/>
                <a:cs typeface="Courier New" pitchFamily="34" charset="-120"/>
              </a:rPr>
              <a:t>(</a:t>
            </a:r>
            <a:r>
              <a:rPr lang="en-US" sz="1150" dirty="0">
                <a:solidFill>
                  <a:srgbClr val="82AAFF"/>
                </a:solidFill>
                <a:latin typeface="Courier New" pitchFamily="34" charset="0"/>
                <a:ea typeface="Courier New" pitchFamily="34" charset="-122"/>
                <a:cs typeface="Courier New" pitchFamily="34" charset="-120"/>
              </a:rPr>
              <a:t>len</a:t>
            </a:r>
            <a:r>
              <a:rPr lang="en-US" sz="1150" dirty="0">
                <a:solidFill>
                  <a:srgbClr val="E4E4F0"/>
                </a:solidFill>
                <a:latin typeface="Courier New" pitchFamily="34" charset="0"/>
                <a:ea typeface="Courier New" pitchFamily="34" charset="-122"/>
                <a:cs typeface="Courier New" pitchFamily="34" charset="-120"/>
              </a:rPr>
              <a:t>(s))      </a:t>
            </a:r>
            <a:r>
              <a:rPr lang="en-US" sz="1150" i="1" dirty="0">
                <a:solidFill>
                  <a:srgbClr val="8A8FB5"/>
                </a:solidFill>
                <a:latin typeface="Courier New" pitchFamily="34" charset="0"/>
                <a:ea typeface="Courier New" pitchFamily="34" charset="-122"/>
                <a:cs typeface="Courier New" pitchFamily="34" charset="-120"/>
              </a:rPr>
              <a:t># number of characters</a:t>
            </a:r>
            <a:endParaRPr lang="en-US" sz="1150" dirty="0"/>
          </a:p>
          <a:p>
            <a:pPr marL="0" indent="0">
              <a:buNone/>
            </a:pPr>
            <a:r>
              <a:rPr lang="en-US" sz="1150" dirty="0">
                <a:solidFill>
                  <a:srgbClr val="82AAFF"/>
                </a:solidFill>
                <a:latin typeface="Courier New" pitchFamily="34" charset="0"/>
                <a:ea typeface="Courier New" pitchFamily="34" charset="-122"/>
                <a:cs typeface="Courier New" pitchFamily="34" charset="-120"/>
              </a:rPr>
              <a:t>print</a:t>
            </a:r>
            <a:r>
              <a:rPr lang="en-US" sz="1150" dirty="0">
                <a:solidFill>
                  <a:srgbClr val="E4E4F0"/>
                </a:solidFill>
                <a:latin typeface="Courier New" pitchFamily="34" charset="0"/>
                <a:ea typeface="Courier New" pitchFamily="34" charset="-122"/>
                <a:cs typeface="Courier New" pitchFamily="34" charset="-120"/>
              </a:rPr>
              <a:t>(s.</a:t>
            </a:r>
            <a:r>
              <a:rPr lang="en-US" sz="1150" dirty="0">
                <a:solidFill>
                  <a:srgbClr val="89DCEB"/>
                </a:solidFill>
                <a:latin typeface="Courier New" pitchFamily="34" charset="0"/>
                <a:ea typeface="Courier New" pitchFamily="34" charset="-122"/>
                <a:cs typeface="Courier New" pitchFamily="34" charset="-120"/>
              </a:rPr>
              <a:t>upper</a:t>
            </a:r>
            <a:r>
              <a:rPr lang="en-US" sz="1150" dirty="0">
                <a:solidFill>
                  <a:srgbClr val="E4E4F0"/>
                </a:solidFill>
                <a:latin typeface="Courier New" pitchFamily="34" charset="0"/>
                <a:ea typeface="Courier New" pitchFamily="34" charset="-122"/>
                <a:cs typeface="Courier New" pitchFamily="34" charset="-120"/>
              </a:rPr>
              <a:t>())   </a:t>
            </a:r>
            <a:r>
              <a:rPr lang="en-US" sz="1150" i="1" dirty="0">
                <a:solidFill>
                  <a:srgbClr val="8A8FB5"/>
                </a:solidFill>
                <a:latin typeface="Courier New" pitchFamily="34" charset="0"/>
                <a:ea typeface="Courier New" pitchFamily="34" charset="-122"/>
                <a:cs typeface="Courier New" pitchFamily="34" charset="-120"/>
              </a:rPr>
              <a:t># text manipulation</a:t>
            </a:r>
            <a:endParaRPr lang="en-US" sz="1150" dirty="0"/>
          </a:p>
          <a:p>
            <a:pPr marL="0" indent="0">
              <a:buNone/>
            </a:pPr>
            <a:r>
              <a:rPr lang="en-US" sz="1150" dirty="0">
                <a:solidFill>
                  <a:srgbClr val="82AAFF"/>
                </a:solidFill>
                <a:latin typeface="Courier New" pitchFamily="34" charset="0"/>
                <a:ea typeface="Courier New" pitchFamily="34" charset="-122"/>
                <a:cs typeface="Courier New" pitchFamily="34" charset="-120"/>
              </a:rPr>
              <a:t>print</a:t>
            </a:r>
            <a:r>
              <a:rPr lang="en-US" sz="1150" dirty="0">
                <a:solidFill>
                  <a:srgbClr val="E4E4F0"/>
                </a:solidFill>
                <a:latin typeface="Courier New" pitchFamily="34" charset="0"/>
                <a:ea typeface="Courier New" pitchFamily="34" charset="-122"/>
                <a:cs typeface="Courier New" pitchFamily="34" charset="-120"/>
              </a:rPr>
              <a:t>(</a:t>
            </a:r>
            <a:r>
              <a:rPr lang="en-US" sz="1150" dirty="0">
                <a:solidFill>
                  <a:srgbClr val="82AAFF"/>
                </a:solidFill>
                <a:latin typeface="Courier New" pitchFamily="34" charset="0"/>
                <a:ea typeface="Courier New" pitchFamily="34" charset="-122"/>
                <a:cs typeface="Courier New" pitchFamily="34" charset="-120"/>
              </a:rPr>
              <a:t>type</a:t>
            </a:r>
            <a:r>
              <a:rPr lang="en-US" sz="1150" dirty="0">
                <a:solidFill>
                  <a:srgbClr val="E4E4F0"/>
                </a:solidFill>
                <a:latin typeface="Courier New" pitchFamily="34" charset="0"/>
                <a:ea typeface="Courier New" pitchFamily="34" charset="-122"/>
                <a:cs typeface="Courier New" pitchFamily="34" charset="-120"/>
              </a:rPr>
              <a:t>(s[</a:t>
            </a:r>
            <a:r>
              <a:rPr lang="en-US" sz="1150" dirty="0">
                <a:solidFill>
                  <a:srgbClr val="FAB387"/>
                </a:solidFill>
                <a:latin typeface="Courier New" pitchFamily="34" charset="0"/>
                <a:ea typeface="Courier New" pitchFamily="34" charset="-122"/>
                <a:cs typeface="Courier New" pitchFamily="34" charset="-120"/>
              </a:rPr>
              <a:t>0</a:t>
            </a:r>
            <a:r>
              <a:rPr lang="en-US" sz="1150" dirty="0">
                <a:solidFill>
                  <a:srgbClr val="E4E4F0"/>
                </a:solidFill>
                <a:latin typeface="Courier New" pitchFamily="34" charset="0"/>
                <a:ea typeface="Courier New" pitchFamily="34" charset="-122"/>
                <a:cs typeface="Courier New" pitchFamily="34" charset="-120"/>
              </a:rPr>
              <a:t>]))  </a:t>
            </a:r>
            <a:r>
              <a:rPr lang="en-US" sz="1150" i="1" dirty="0">
                <a:solidFill>
                  <a:srgbClr val="8A8FB5"/>
                </a:solidFill>
                <a:latin typeface="Courier New" pitchFamily="34" charset="0"/>
                <a:ea typeface="Courier New" pitchFamily="34" charset="-122"/>
                <a:cs typeface="Courier New" pitchFamily="34" charset="-120"/>
              </a:rPr>
              <a:t># a character is a str</a:t>
            </a:r>
            <a:endParaRPr lang="en-US" sz="1150" dirty="0"/>
          </a:p>
        </p:txBody>
      </p:sp>
      <p:sp>
        <p:nvSpPr>
          <p:cNvPr id="18" name="Shape 16"/>
          <p:cNvSpPr/>
          <p:nvPr/>
        </p:nvSpPr>
        <p:spPr>
          <a:xfrm>
            <a:off x="6675120" y="3036570"/>
            <a:ext cx="5013655" cy="1109980"/>
          </a:xfrm>
          <a:prstGeom prst="roundRect">
            <a:avLst>
              <a:gd name="adj" fmla="val 8238"/>
            </a:avLst>
          </a:prstGeom>
          <a:solidFill>
            <a:srgbClr val="F6F6FF"/>
          </a:solidFill>
          <a:ln w="9525">
            <a:solidFill>
              <a:srgbClr val="DCDDF5"/>
            </a:solidFill>
            <a:prstDash val="solid"/>
          </a:ln>
        </p:spPr>
        <p:txBody>
          <a:bodyPr/>
          <a:lstStyle/>
          <a:p>
            <a:endParaRPr lang="en-PH"/>
          </a:p>
        </p:txBody>
      </p:sp>
      <p:sp>
        <p:nvSpPr>
          <p:cNvPr id="19" name="Text 17"/>
          <p:cNvSpPr txBox="1"/>
          <p:nvPr/>
        </p:nvSpPr>
        <p:spPr>
          <a:xfrm>
            <a:off x="6821424" y="3109722"/>
            <a:ext cx="4739335" cy="182880"/>
          </a:xfrm>
          <a:prstGeom prst="rect">
            <a:avLst/>
          </a:prstGeom>
          <a:noFill/>
          <a:ln/>
        </p:spPr>
        <p:txBody>
          <a:bodyPr wrap="square" lIns="0" tIns="0" rIns="0" bIns="0" rtlCol="0" anchor="ctr"/>
          <a:lstStyle/>
          <a:p>
            <a:pPr marL="0" indent="0">
              <a:buNone/>
            </a:pPr>
            <a:r>
              <a:rPr lang="en-US" sz="850" b="1" kern="0" spc="150" dirty="0">
                <a:solidFill>
                  <a:srgbClr val="4F46E5"/>
                </a:solidFill>
                <a:latin typeface="Calibri" pitchFamily="34" charset="0"/>
                <a:ea typeface="Calibri" pitchFamily="34" charset="-122"/>
                <a:cs typeface="Calibri" pitchFamily="34" charset="-120"/>
              </a:rPr>
              <a:t>OUTPUT</a:t>
            </a:r>
            <a:endParaRPr lang="en-US" sz="850" dirty="0"/>
          </a:p>
        </p:txBody>
      </p:sp>
      <p:sp>
        <p:nvSpPr>
          <p:cNvPr id="20" name="Text 18"/>
          <p:cNvSpPr txBox="1"/>
          <p:nvPr/>
        </p:nvSpPr>
        <p:spPr>
          <a:xfrm>
            <a:off x="6821424" y="3329178"/>
            <a:ext cx="4775911" cy="780796"/>
          </a:xfrm>
          <a:prstGeom prst="rect">
            <a:avLst/>
          </a:prstGeom>
          <a:noFill/>
          <a:ln/>
        </p:spPr>
        <p:txBody>
          <a:bodyPr wrap="square" lIns="0" tIns="0" rIns="0" bIns="0" rtlCol="0" anchor="t"/>
          <a:lstStyle/>
          <a:p>
            <a:pPr marL="0" indent="0">
              <a:buNone/>
            </a:pPr>
            <a:r>
              <a:rPr lang="en-US" sz="1150" dirty="0">
                <a:solidFill>
                  <a:srgbClr val="1E1B4B"/>
                </a:solidFill>
                <a:latin typeface="Courier New" pitchFamily="34" charset="0"/>
                <a:ea typeface="Courier New" pitchFamily="34" charset="-122"/>
                <a:cs typeface="Courier New" pitchFamily="34" charset="-120"/>
              </a:rPr>
              <a:t>H</a:t>
            </a:r>
            <a:endParaRPr lang="en-US" sz="1150" dirty="0"/>
          </a:p>
          <a:p>
            <a:pPr marL="0" indent="0">
              <a:buNone/>
            </a:pPr>
            <a:r>
              <a:rPr lang="en-US" sz="1150" dirty="0">
                <a:solidFill>
                  <a:srgbClr val="1E1B4B"/>
                </a:solidFill>
                <a:latin typeface="Courier New" pitchFamily="34" charset="0"/>
                <a:ea typeface="Courier New" pitchFamily="34" charset="-122"/>
                <a:cs typeface="Courier New" pitchFamily="34" charset="-120"/>
              </a:rPr>
              <a:t>13</a:t>
            </a:r>
            <a:endParaRPr lang="en-US" sz="1150" dirty="0"/>
          </a:p>
          <a:p>
            <a:pPr marL="0" indent="0">
              <a:buNone/>
            </a:pPr>
            <a:r>
              <a:rPr lang="en-US" sz="1150" dirty="0">
                <a:solidFill>
                  <a:srgbClr val="1E1B4B"/>
                </a:solidFill>
                <a:latin typeface="Courier New" pitchFamily="34" charset="0"/>
                <a:ea typeface="Courier New" pitchFamily="34" charset="-122"/>
                <a:cs typeface="Courier New" pitchFamily="34" charset="-120"/>
              </a:rPr>
              <a:t>HELLO, WORLD!</a:t>
            </a:r>
            <a:endParaRPr lang="en-US" sz="1150" dirty="0"/>
          </a:p>
          <a:p>
            <a:pPr marL="0" indent="0">
              <a:buNone/>
            </a:pPr>
            <a:r>
              <a:rPr lang="en-US" sz="1150" dirty="0">
                <a:solidFill>
                  <a:srgbClr val="1E1B4B"/>
                </a:solidFill>
                <a:latin typeface="Courier New" pitchFamily="34" charset="0"/>
                <a:ea typeface="Courier New" pitchFamily="34" charset="-122"/>
                <a:cs typeface="Courier New" pitchFamily="34" charset="-120"/>
              </a:rPr>
              <a:t>&lt;class 'str'&gt;</a:t>
            </a:r>
            <a:endParaRPr lang="en-US" sz="1150" dirty="0"/>
          </a:p>
        </p:txBody>
      </p:sp>
      <p:sp>
        <p:nvSpPr>
          <p:cNvPr id="21" name="Shape 19"/>
          <p:cNvSpPr/>
          <p:nvPr/>
        </p:nvSpPr>
        <p:spPr>
          <a:xfrm>
            <a:off x="502920" y="4443984"/>
            <a:ext cx="5852160" cy="1773936"/>
          </a:xfrm>
          <a:prstGeom prst="roundRect">
            <a:avLst>
              <a:gd name="adj" fmla="val 6186"/>
            </a:avLst>
          </a:prstGeom>
          <a:solidFill>
            <a:srgbClr val="F1F1FE"/>
          </a:solidFill>
          <a:ln w="9525">
            <a:solidFill>
              <a:srgbClr val="DCDDF5"/>
            </a:solidFill>
            <a:prstDash val="solid"/>
          </a:ln>
        </p:spPr>
        <p:txBody>
          <a:bodyPr/>
          <a:lstStyle/>
          <a:p>
            <a:endParaRPr lang="en-PH"/>
          </a:p>
        </p:txBody>
      </p:sp>
      <p:sp>
        <p:nvSpPr>
          <p:cNvPr id="22" name="Text 20"/>
          <p:cNvSpPr txBox="1"/>
          <p:nvPr/>
        </p:nvSpPr>
        <p:spPr>
          <a:xfrm>
            <a:off x="731520" y="4535424"/>
            <a:ext cx="5394960" cy="274320"/>
          </a:xfrm>
          <a:prstGeom prst="rect">
            <a:avLst/>
          </a:prstGeom>
          <a:noFill/>
          <a:ln/>
        </p:spPr>
        <p:txBody>
          <a:bodyPr wrap="square" lIns="0" tIns="0" rIns="0" bIns="0" rtlCol="0" anchor="t"/>
          <a:lstStyle/>
          <a:p>
            <a:pPr marL="0" indent="0">
              <a:buNone/>
            </a:pPr>
            <a:r>
              <a:rPr lang="en-US" sz="1250" b="1" dirty="0">
                <a:solidFill>
                  <a:srgbClr val="1E1B4B"/>
                </a:solidFill>
                <a:latin typeface="Calibri" pitchFamily="34" charset="0"/>
                <a:ea typeface="Calibri" pitchFamily="34" charset="-122"/>
                <a:cs typeface="Calibri" pitchFamily="34" charset="-120"/>
              </a:rPr>
              <a:t>Each character has an index</a:t>
            </a:r>
            <a:endParaRPr lang="en-US" sz="1250" dirty="0"/>
          </a:p>
        </p:txBody>
      </p:sp>
      <p:sp>
        <p:nvSpPr>
          <p:cNvPr id="23" name="Shape 21"/>
          <p:cNvSpPr/>
          <p:nvPr/>
        </p:nvSpPr>
        <p:spPr>
          <a:xfrm>
            <a:off x="731520" y="4882896"/>
            <a:ext cx="566928" cy="457200"/>
          </a:xfrm>
          <a:prstGeom prst="roundRect">
            <a:avLst>
              <a:gd name="adj" fmla="val 12000"/>
            </a:avLst>
          </a:prstGeom>
          <a:solidFill>
            <a:srgbClr val="4F46E5"/>
          </a:solidFill>
          <a:ln w="12700">
            <a:solidFill>
              <a:srgbClr val="4F46E5"/>
            </a:solidFill>
            <a:prstDash val="solid"/>
          </a:ln>
        </p:spPr>
        <p:txBody>
          <a:bodyPr/>
          <a:lstStyle/>
          <a:p>
            <a:endParaRPr lang="en-PH"/>
          </a:p>
        </p:txBody>
      </p:sp>
      <p:sp>
        <p:nvSpPr>
          <p:cNvPr id="24" name="Text 22"/>
          <p:cNvSpPr txBox="1"/>
          <p:nvPr/>
        </p:nvSpPr>
        <p:spPr>
          <a:xfrm>
            <a:off x="731520" y="4882896"/>
            <a:ext cx="566928"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ourier New" pitchFamily="34" charset="0"/>
                <a:ea typeface="Courier New" pitchFamily="34" charset="-122"/>
                <a:cs typeface="Courier New" pitchFamily="34" charset="-120"/>
              </a:rPr>
              <a:t>H</a:t>
            </a:r>
            <a:endParaRPr lang="en-US" sz="1500" dirty="0"/>
          </a:p>
        </p:txBody>
      </p:sp>
      <p:sp>
        <p:nvSpPr>
          <p:cNvPr id="25" name="Text 23"/>
          <p:cNvSpPr txBox="1"/>
          <p:nvPr/>
        </p:nvSpPr>
        <p:spPr>
          <a:xfrm>
            <a:off x="731520" y="5376672"/>
            <a:ext cx="566928" cy="201168"/>
          </a:xfrm>
          <a:prstGeom prst="rect">
            <a:avLst/>
          </a:prstGeom>
          <a:noFill/>
          <a:ln/>
        </p:spPr>
        <p:txBody>
          <a:bodyPr wrap="square" lIns="0" tIns="0" rIns="0" bIns="0" rtlCol="0" anchor="t"/>
          <a:lstStyle/>
          <a:p>
            <a:pPr marL="0" indent="0" algn="ctr">
              <a:buNone/>
            </a:pPr>
            <a:r>
              <a:rPr lang="en-US" sz="950" dirty="0">
                <a:solidFill>
                  <a:srgbClr val="5B5F7A"/>
                </a:solidFill>
                <a:latin typeface="Calibri" pitchFamily="34" charset="0"/>
                <a:ea typeface="Calibri" pitchFamily="34" charset="-122"/>
                <a:cs typeface="Calibri" pitchFamily="34" charset="-120"/>
              </a:rPr>
              <a:t>0</a:t>
            </a:r>
            <a:endParaRPr lang="en-US" sz="950" dirty="0"/>
          </a:p>
        </p:txBody>
      </p:sp>
      <p:sp>
        <p:nvSpPr>
          <p:cNvPr id="26" name="Shape 24"/>
          <p:cNvSpPr/>
          <p:nvPr/>
        </p:nvSpPr>
        <p:spPr>
          <a:xfrm>
            <a:off x="1371600" y="4882896"/>
            <a:ext cx="566928" cy="457200"/>
          </a:xfrm>
          <a:prstGeom prst="roundRect">
            <a:avLst>
              <a:gd name="adj" fmla="val 12000"/>
            </a:avLst>
          </a:prstGeom>
          <a:solidFill>
            <a:srgbClr val="FFFFFF"/>
          </a:solidFill>
          <a:ln w="12700">
            <a:solidFill>
              <a:srgbClr val="DCDDF5"/>
            </a:solidFill>
            <a:prstDash val="solid"/>
          </a:ln>
        </p:spPr>
        <p:txBody>
          <a:bodyPr/>
          <a:lstStyle/>
          <a:p>
            <a:endParaRPr lang="en-PH"/>
          </a:p>
        </p:txBody>
      </p:sp>
      <p:sp>
        <p:nvSpPr>
          <p:cNvPr id="27" name="Text 25"/>
          <p:cNvSpPr txBox="1"/>
          <p:nvPr/>
        </p:nvSpPr>
        <p:spPr>
          <a:xfrm>
            <a:off x="1371600" y="4882896"/>
            <a:ext cx="566928" cy="457200"/>
          </a:xfrm>
          <a:prstGeom prst="rect">
            <a:avLst/>
          </a:prstGeom>
          <a:noFill/>
          <a:ln/>
        </p:spPr>
        <p:txBody>
          <a:bodyPr wrap="square" lIns="0" tIns="0" rIns="0" bIns="0" rtlCol="0" anchor="ctr"/>
          <a:lstStyle/>
          <a:p>
            <a:pPr marL="0" indent="0" algn="ctr">
              <a:buNone/>
            </a:pPr>
            <a:r>
              <a:rPr lang="en-US" sz="1500" b="1" dirty="0">
                <a:solidFill>
                  <a:srgbClr val="1E1B4B"/>
                </a:solidFill>
                <a:latin typeface="Courier New" pitchFamily="34" charset="0"/>
                <a:ea typeface="Courier New" pitchFamily="34" charset="-122"/>
                <a:cs typeface="Courier New" pitchFamily="34" charset="-120"/>
              </a:rPr>
              <a:t>e</a:t>
            </a:r>
            <a:endParaRPr lang="en-US" sz="1500" dirty="0"/>
          </a:p>
        </p:txBody>
      </p:sp>
      <p:sp>
        <p:nvSpPr>
          <p:cNvPr id="28" name="Text 26"/>
          <p:cNvSpPr txBox="1"/>
          <p:nvPr/>
        </p:nvSpPr>
        <p:spPr>
          <a:xfrm>
            <a:off x="1371600" y="5376672"/>
            <a:ext cx="566928" cy="201168"/>
          </a:xfrm>
          <a:prstGeom prst="rect">
            <a:avLst/>
          </a:prstGeom>
          <a:noFill/>
          <a:ln/>
        </p:spPr>
        <p:txBody>
          <a:bodyPr wrap="square" lIns="0" tIns="0" rIns="0" bIns="0" rtlCol="0" anchor="t"/>
          <a:lstStyle/>
          <a:p>
            <a:pPr marL="0" indent="0" algn="ctr">
              <a:buNone/>
            </a:pPr>
            <a:r>
              <a:rPr lang="en-US" sz="950" dirty="0">
                <a:solidFill>
                  <a:srgbClr val="5B5F7A"/>
                </a:solidFill>
                <a:latin typeface="Calibri" pitchFamily="34" charset="0"/>
                <a:ea typeface="Calibri" pitchFamily="34" charset="-122"/>
                <a:cs typeface="Calibri" pitchFamily="34" charset="-120"/>
              </a:rPr>
              <a:t>1</a:t>
            </a:r>
            <a:endParaRPr lang="en-US" sz="950" dirty="0"/>
          </a:p>
        </p:txBody>
      </p:sp>
      <p:sp>
        <p:nvSpPr>
          <p:cNvPr id="29" name="Shape 27"/>
          <p:cNvSpPr/>
          <p:nvPr/>
        </p:nvSpPr>
        <p:spPr>
          <a:xfrm>
            <a:off x="2011680" y="4882896"/>
            <a:ext cx="566928" cy="457200"/>
          </a:xfrm>
          <a:prstGeom prst="roundRect">
            <a:avLst>
              <a:gd name="adj" fmla="val 12000"/>
            </a:avLst>
          </a:prstGeom>
          <a:solidFill>
            <a:srgbClr val="FFFFFF"/>
          </a:solidFill>
          <a:ln w="12700">
            <a:solidFill>
              <a:srgbClr val="DCDDF5"/>
            </a:solidFill>
            <a:prstDash val="solid"/>
          </a:ln>
        </p:spPr>
        <p:txBody>
          <a:bodyPr/>
          <a:lstStyle/>
          <a:p>
            <a:endParaRPr lang="en-PH"/>
          </a:p>
        </p:txBody>
      </p:sp>
      <p:sp>
        <p:nvSpPr>
          <p:cNvPr id="30" name="Text 28"/>
          <p:cNvSpPr txBox="1"/>
          <p:nvPr/>
        </p:nvSpPr>
        <p:spPr>
          <a:xfrm>
            <a:off x="2011680" y="4882896"/>
            <a:ext cx="566928" cy="457200"/>
          </a:xfrm>
          <a:prstGeom prst="rect">
            <a:avLst/>
          </a:prstGeom>
          <a:noFill/>
          <a:ln/>
        </p:spPr>
        <p:txBody>
          <a:bodyPr wrap="square" lIns="0" tIns="0" rIns="0" bIns="0" rtlCol="0" anchor="ctr"/>
          <a:lstStyle/>
          <a:p>
            <a:pPr marL="0" indent="0" algn="ctr">
              <a:buNone/>
            </a:pPr>
            <a:r>
              <a:rPr lang="en-US" sz="1500" b="1" dirty="0">
                <a:solidFill>
                  <a:srgbClr val="1E1B4B"/>
                </a:solidFill>
                <a:latin typeface="Courier New" pitchFamily="34" charset="0"/>
                <a:ea typeface="Courier New" pitchFamily="34" charset="-122"/>
                <a:cs typeface="Courier New" pitchFamily="34" charset="-120"/>
              </a:rPr>
              <a:t>l</a:t>
            </a:r>
            <a:endParaRPr lang="en-US" sz="1500" dirty="0"/>
          </a:p>
        </p:txBody>
      </p:sp>
      <p:sp>
        <p:nvSpPr>
          <p:cNvPr id="31" name="Text 29"/>
          <p:cNvSpPr txBox="1"/>
          <p:nvPr/>
        </p:nvSpPr>
        <p:spPr>
          <a:xfrm>
            <a:off x="2011680" y="5376672"/>
            <a:ext cx="566928" cy="201168"/>
          </a:xfrm>
          <a:prstGeom prst="rect">
            <a:avLst/>
          </a:prstGeom>
          <a:noFill/>
          <a:ln/>
        </p:spPr>
        <p:txBody>
          <a:bodyPr wrap="square" lIns="0" tIns="0" rIns="0" bIns="0" rtlCol="0" anchor="t"/>
          <a:lstStyle/>
          <a:p>
            <a:pPr marL="0" indent="0" algn="ctr">
              <a:buNone/>
            </a:pPr>
            <a:r>
              <a:rPr lang="en-US" sz="950" dirty="0">
                <a:solidFill>
                  <a:srgbClr val="5B5F7A"/>
                </a:solidFill>
                <a:latin typeface="Calibri" pitchFamily="34" charset="0"/>
                <a:ea typeface="Calibri" pitchFamily="34" charset="-122"/>
                <a:cs typeface="Calibri" pitchFamily="34" charset="-120"/>
              </a:rPr>
              <a:t>2</a:t>
            </a:r>
            <a:endParaRPr lang="en-US" sz="950" dirty="0"/>
          </a:p>
        </p:txBody>
      </p:sp>
      <p:sp>
        <p:nvSpPr>
          <p:cNvPr id="32" name="Shape 30"/>
          <p:cNvSpPr/>
          <p:nvPr/>
        </p:nvSpPr>
        <p:spPr>
          <a:xfrm>
            <a:off x="2651760" y="4882896"/>
            <a:ext cx="566928" cy="457200"/>
          </a:xfrm>
          <a:prstGeom prst="roundRect">
            <a:avLst>
              <a:gd name="adj" fmla="val 12000"/>
            </a:avLst>
          </a:prstGeom>
          <a:solidFill>
            <a:srgbClr val="FFFFFF"/>
          </a:solidFill>
          <a:ln w="12700">
            <a:solidFill>
              <a:srgbClr val="DCDDF5"/>
            </a:solidFill>
            <a:prstDash val="solid"/>
          </a:ln>
        </p:spPr>
        <p:txBody>
          <a:bodyPr/>
          <a:lstStyle/>
          <a:p>
            <a:endParaRPr lang="en-PH"/>
          </a:p>
        </p:txBody>
      </p:sp>
      <p:sp>
        <p:nvSpPr>
          <p:cNvPr id="33" name="Text 31"/>
          <p:cNvSpPr txBox="1"/>
          <p:nvPr/>
        </p:nvSpPr>
        <p:spPr>
          <a:xfrm>
            <a:off x="2651760" y="4882896"/>
            <a:ext cx="566928" cy="457200"/>
          </a:xfrm>
          <a:prstGeom prst="rect">
            <a:avLst/>
          </a:prstGeom>
          <a:noFill/>
          <a:ln/>
        </p:spPr>
        <p:txBody>
          <a:bodyPr wrap="square" lIns="0" tIns="0" rIns="0" bIns="0" rtlCol="0" anchor="ctr"/>
          <a:lstStyle/>
          <a:p>
            <a:pPr marL="0" indent="0" algn="ctr">
              <a:buNone/>
            </a:pPr>
            <a:r>
              <a:rPr lang="en-US" sz="1500" b="1" dirty="0">
                <a:solidFill>
                  <a:srgbClr val="1E1B4B"/>
                </a:solidFill>
                <a:latin typeface="Courier New" pitchFamily="34" charset="0"/>
                <a:ea typeface="Courier New" pitchFamily="34" charset="-122"/>
                <a:cs typeface="Courier New" pitchFamily="34" charset="-120"/>
              </a:rPr>
              <a:t>l</a:t>
            </a:r>
            <a:endParaRPr lang="en-US" sz="1500" dirty="0"/>
          </a:p>
        </p:txBody>
      </p:sp>
      <p:sp>
        <p:nvSpPr>
          <p:cNvPr id="34" name="Text 32"/>
          <p:cNvSpPr txBox="1"/>
          <p:nvPr/>
        </p:nvSpPr>
        <p:spPr>
          <a:xfrm>
            <a:off x="2651760" y="5376672"/>
            <a:ext cx="566928" cy="201168"/>
          </a:xfrm>
          <a:prstGeom prst="rect">
            <a:avLst/>
          </a:prstGeom>
          <a:noFill/>
          <a:ln/>
        </p:spPr>
        <p:txBody>
          <a:bodyPr wrap="square" lIns="0" tIns="0" rIns="0" bIns="0" rtlCol="0" anchor="t"/>
          <a:lstStyle/>
          <a:p>
            <a:pPr marL="0" indent="0" algn="ctr">
              <a:buNone/>
            </a:pPr>
            <a:r>
              <a:rPr lang="en-US" sz="950" dirty="0">
                <a:solidFill>
                  <a:srgbClr val="5B5F7A"/>
                </a:solidFill>
                <a:latin typeface="Calibri" pitchFamily="34" charset="0"/>
                <a:ea typeface="Calibri" pitchFamily="34" charset="-122"/>
                <a:cs typeface="Calibri" pitchFamily="34" charset="-120"/>
              </a:rPr>
              <a:t>3</a:t>
            </a:r>
            <a:endParaRPr lang="en-US" sz="950" dirty="0"/>
          </a:p>
        </p:txBody>
      </p:sp>
      <p:sp>
        <p:nvSpPr>
          <p:cNvPr id="35" name="Shape 33"/>
          <p:cNvSpPr/>
          <p:nvPr/>
        </p:nvSpPr>
        <p:spPr>
          <a:xfrm>
            <a:off x="3291840" y="4882896"/>
            <a:ext cx="566928" cy="457200"/>
          </a:xfrm>
          <a:prstGeom prst="roundRect">
            <a:avLst>
              <a:gd name="adj" fmla="val 12000"/>
            </a:avLst>
          </a:prstGeom>
          <a:solidFill>
            <a:srgbClr val="FFFFFF"/>
          </a:solidFill>
          <a:ln w="12700">
            <a:solidFill>
              <a:srgbClr val="DCDDF5"/>
            </a:solidFill>
            <a:prstDash val="solid"/>
          </a:ln>
        </p:spPr>
        <p:txBody>
          <a:bodyPr/>
          <a:lstStyle/>
          <a:p>
            <a:endParaRPr lang="en-PH"/>
          </a:p>
        </p:txBody>
      </p:sp>
      <p:sp>
        <p:nvSpPr>
          <p:cNvPr id="36" name="Text 34"/>
          <p:cNvSpPr txBox="1"/>
          <p:nvPr/>
        </p:nvSpPr>
        <p:spPr>
          <a:xfrm>
            <a:off x="3291840" y="4882896"/>
            <a:ext cx="566928" cy="457200"/>
          </a:xfrm>
          <a:prstGeom prst="rect">
            <a:avLst/>
          </a:prstGeom>
          <a:noFill/>
          <a:ln/>
        </p:spPr>
        <p:txBody>
          <a:bodyPr wrap="square" lIns="0" tIns="0" rIns="0" bIns="0" rtlCol="0" anchor="ctr"/>
          <a:lstStyle/>
          <a:p>
            <a:pPr marL="0" indent="0" algn="ctr">
              <a:buNone/>
            </a:pPr>
            <a:r>
              <a:rPr lang="en-US" sz="1500" b="1" dirty="0">
                <a:solidFill>
                  <a:srgbClr val="1E1B4B"/>
                </a:solidFill>
                <a:latin typeface="Courier New" pitchFamily="34" charset="0"/>
                <a:ea typeface="Courier New" pitchFamily="34" charset="-122"/>
                <a:cs typeface="Courier New" pitchFamily="34" charset="-120"/>
              </a:rPr>
              <a:t>o</a:t>
            </a:r>
            <a:endParaRPr lang="en-US" sz="1500" dirty="0"/>
          </a:p>
        </p:txBody>
      </p:sp>
      <p:sp>
        <p:nvSpPr>
          <p:cNvPr id="37" name="Text 35"/>
          <p:cNvSpPr txBox="1"/>
          <p:nvPr/>
        </p:nvSpPr>
        <p:spPr>
          <a:xfrm>
            <a:off x="3291840" y="5376672"/>
            <a:ext cx="566928" cy="201168"/>
          </a:xfrm>
          <a:prstGeom prst="rect">
            <a:avLst/>
          </a:prstGeom>
          <a:noFill/>
          <a:ln/>
        </p:spPr>
        <p:txBody>
          <a:bodyPr wrap="square" lIns="0" tIns="0" rIns="0" bIns="0" rtlCol="0" anchor="t"/>
          <a:lstStyle/>
          <a:p>
            <a:pPr marL="0" indent="0" algn="ctr">
              <a:buNone/>
            </a:pPr>
            <a:r>
              <a:rPr lang="en-US" sz="950" dirty="0">
                <a:solidFill>
                  <a:srgbClr val="5B5F7A"/>
                </a:solidFill>
                <a:latin typeface="Calibri" pitchFamily="34" charset="0"/>
                <a:ea typeface="Calibri" pitchFamily="34" charset="-122"/>
                <a:cs typeface="Calibri" pitchFamily="34" charset="-120"/>
              </a:rPr>
              <a:t>4</a:t>
            </a:r>
            <a:endParaRPr lang="en-US" sz="950" dirty="0"/>
          </a:p>
        </p:txBody>
      </p:sp>
      <p:sp>
        <p:nvSpPr>
          <p:cNvPr id="38" name="Text 36"/>
          <p:cNvSpPr txBox="1"/>
          <p:nvPr/>
        </p:nvSpPr>
        <p:spPr>
          <a:xfrm>
            <a:off x="4114800" y="4882896"/>
            <a:ext cx="2194560" cy="457200"/>
          </a:xfrm>
          <a:prstGeom prst="rect">
            <a:avLst/>
          </a:prstGeom>
          <a:noFill/>
          <a:ln/>
        </p:spPr>
        <p:txBody>
          <a:bodyPr wrap="square" lIns="0" tIns="0" rIns="0" bIns="0" rtlCol="0" anchor="ctr"/>
          <a:lstStyle/>
          <a:p>
            <a:pPr marL="0" indent="0">
              <a:buNone/>
            </a:pPr>
            <a:r>
              <a:rPr lang="en-US" sz="1300" b="1" dirty="0">
                <a:solidFill>
                  <a:srgbClr val="4F46E5"/>
                </a:solidFill>
                <a:latin typeface="Courier New" pitchFamily="34" charset="0"/>
                <a:ea typeface="Courier New" pitchFamily="34" charset="-122"/>
                <a:cs typeface="Courier New" pitchFamily="34" charset="-120"/>
              </a:rPr>
              <a:t>s[0] → "H"</a:t>
            </a:r>
            <a:endParaRPr lang="en-US" sz="1300" dirty="0"/>
          </a:p>
        </p:txBody>
      </p:sp>
      <p:sp>
        <p:nvSpPr>
          <p:cNvPr id="39" name="Text 37"/>
          <p:cNvSpPr txBox="1"/>
          <p:nvPr/>
        </p:nvSpPr>
        <p:spPr>
          <a:xfrm>
            <a:off x="6675120" y="4329430"/>
            <a:ext cx="5013655" cy="228600"/>
          </a:xfrm>
          <a:prstGeom prst="rect">
            <a:avLst/>
          </a:prstGeom>
          <a:noFill/>
          <a:ln/>
        </p:spPr>
        <p:txBody>
          <a:bodyPr wrap="square" lIns="0" tIns="0" rIns="0" bIns="0" rtlCol="0" anchor="t"/>
          <a:lstStyle/>
          <a:p>
            <a:pPr marL="0" indent="0">
              <a:buNone/>
            </a:pPr>
            <a:r>
              <a:rPr lang="en-US" sz="1050" b="1" kern="0" spc="200" dirty="0">
                <a:solidFill>
                  <a:srgbClr val="C8559F"/>
                </a:solidFill>
                <a:latin typeface="Calibri" pitchFamily="34" charset="0"/>
                <a:ea typeface="Calibri" pitchFamily="34" charset="-122"/>
                <a:cs typeface="Calibri" pitchFamily="34" charset="-120"/>
              </a:rPr>
              <a:t>STRING METHODS</a:t>
            </a:r>
            <a:endParaRPr lang="en-US" sz="1050" dirty="0"/>
          </a:p>
        </p:txBody>
      </p:sp>
      <p:sp>
        <p:nvSpPr>
          <p:cNvPr id="40" name="Shape 38"/>
          <p:cNvSpPr/>
          <p:nvPr/>
        </p:nvSpPr>
        <p:spPr>
          <a:xfrm>
            <a:off x="6675120" y="4649470"/>
            <a:ext cx="1518818" cy="292608"/>
          </a:xfrm>
          <a:prstGeom prst="roundRect">
            <a:avLst>
              <a:gd name="adj" fmla="val 50000"/>
            </a:avLst>
          </a:prstGeom>
          <a:solidFill>
            <a:srgbClr val="E8E8FD"/>
          </a:solidFill>
          <a:ln w="12700">
            <a:solidFill>
              <a:srgbClr val="E8E8FD"/>
            </a:solidFill>
            <a:prstDash val="solid"/>
          </a:ln>
        </p:spPr>
        <p:txBody>
          <a:bodyPr/>
          <a:lstStyle/>
          <a:p>
            <a:endParaRPr lang="en-PH"/>
          </a:p>
        </p:txBody>
      </p:sp>
      <p:sp>
        <p:nvSpPr>
          <p:cNvPr id="41" name="Text 39"/>
          <p:cNvSpPr txBox="1"/>
          <p:nvPr/>
        </p:nvSpPr>
        <p:spPr>
          <a:xfrm>
            <a:off x="6675120" y="4649470"/>
            <a:ext cx="1518818" cy="292608"/>
          </a:xfrm>
          <a:prstGeom prst="rect">
            <a:avLst/>
          </a:prstGeom>
          <a:noFill/>
          <a:ln/>
        </p:spPr>
        <p:txBody>
          <a:bodyPr wrap="square" lIns="0" tIns="0" rIns="0" bIns="0" rtlCol="0" anchor="ctr"/>
          <a:lstStyle/>
          <a:p>
            <a:pPr marL="0" indent="0" algn="ctr">
              <a:buNone/>
            </a:pPr>
            <a:r>
              <a:rPr lang="en-US" sz="1050" dirty="0">
                <a:solidFill>
                  <a:srgbClr val="4F46E5"/>
                </a:solidFill>
                <a:latin typeface="Courier New" pitchFamily="34" charset="0"/>
                <a:ea typeface="Courier New" pitchFamily="34" charset="-122"/>
                <a:cs typeface="Courier New" pitchFamily="34" charset="-120"/>
              </a:rPr>
              <a:t>upper()</a:t>
            </a:r>
            <a:endParaRPr lang="en-US" sz="1050" dirty="0"/>
          </a:p>
        </p:txBody>
      </p:sp>
      <p:sp>
        <p:nvSpPr>
          <p:cNvPr id="42" name="Shape 40"/>
          <p:cNvSpPr/>
          <p:nvPr/>
        </p:nvSpPr>
        <p:spPr>
          <a:xfrm>
            <a:off x="8422538" y="4649470"/>
            <a:ext cx="1518818" cy="292608"/>
          </a:xfrm>
          <a:prstGeom prst="roundRect">
            <a:avLst>
              <a:gd name="adj" fmla="val 50000"/>
            </a:avLst>
          </a:prstGeom>
          <a:solidFill>
            <a:srgbClr val="E8E8FD"/>
          </a:solidFill>
          <a:ln w="12700">
            <a:solidFill>
              <a:srgbClr val="E8E8FD"/>
            </a:solidFill>
            <a:prstDash val="solid"/>
          </a:ln>
        </p:spPr>
        <p:txBody>
          <a:bodyPr/>
          <a:lstStyle/>
          <a:p>
            <a:endParaRPr lang="en-PH"/>
          </a:p>
        </p:txBody>
      </p:sp>
      <p:sp>
        <p:nvSpPr>
          <p:cNvPr id="43" name="Text 41"/>
          <p:cNvSpPr txBox="1"/>
          <p:nvPr/>
        </p:nvSpPr>
        <p:spPr>
          <a:xfrm>
            <a:off x="8422538" y="4649470"/>
            <a:ext cx="1518818" cy="292608"/>
          </a:xfrm>
          <a:prstGeom prst="rect">
            <a:avLst/>
          </a:prstGeom>
          <a:noFill/>
          <a:ln/>
        </p:spPr>
        <p:txBody>
          <a:bodyPr wrap="square" lIns="0" tIns="0" rIns="0" bIns="0" rtlCol="0" anchor="ctr"/>
          <a:lstStyle/>
          <a:p>
            <a:pPr marL="0" indent="0" algn="ctr">
              <a:buNone/>
            </a:pPr>
            <a:r>
              <a:rPr lang="en-US" sz="1050" dirty="0">
                <a:solidFill>
                  <a:srgbClr val="4F46E5"/>
                </a:solidFill>
                <a:latin typeface="Courier New" pitchFamily="34" charset="0"/>
                <a:ea typeface="Courier New" pitchFamily="34" charset="-122"/>
                <a:cs typeface="Courier New" pitchFamily="34" charset="-120"/>
              </a:rPr>
              <a:t>lower()</a:t>
            </a:r>
            <a:endParaRPr lang="en-US" sz="1050" dirty="0"/>
          </a:p>
        </p:txBody>
      </p:sp>
      <p:sp>
        <p:nvSpPr>
          <p:cNvPr id="44" name="Shape 42"/>
          <p:cNvSpPr/>
          <p:nvPr/>
        </p:nvSpPr>
        <p:spPr>
          <a:xfrm>
            <a:off x="10169957" y="4649470"/>
            <a:ext cx="1518818" cy="292608"/>
          </a:xfrm>
          <a:prstGeom prst="roundRect">
            <a:avLst>
              <a:gd name="adj" fmla="val 50000"/>
            </a:avLst>
          </a:prstGeom>
          <a:solidFill>
            <a:srgbClr val="E8E8FD"/>
          </a:solidFill>
          <a:ln w="12700">
            <a:solidFill>
              <a:srgbClr val="E8E8FD"/>
            </a:solidFill>
            <a:prstDash val="solid"/>
          </a:ln>
        </p:spPr>
        <p:txBody>
          <a:bodyPr/>
          <a:lstStyle/>
          <a:p>
            <a:endParaRPr lang="en-PH"/>
          </a:p>
        </p:txBody>
      </p:sp>
      <p:sp>
        <p:nvSpPr>
          <p:cNvPr id="45" name="Text 43"/>
          <p:cNvSpPr txBox="1"/>
          <p:nvPr/>
        </p:nvSpPr>
        <p:spPr>
          <a:xfrm>
            <a:off x="10169957" y="4649470"/>
            <a:ext cx="1518818" cy="292608"/>
          </a:xfrm>
          <a:prstGeom prst="rect">
            <a:avLst/>
          </a:prstGeom>
          <a:noFill/>
          <a:ln/>
        </p:spPr>
        <p:txBody>
          <a:bodyPr wrap="square" lIns="0" tIns="0" rIns="0" bIns="0" rtlCol="0" anchor="ctr"/>
          <a:lstStyle/>
          <a:p>
            <a:pPr marL="0" indent="0" algn="ctr">
              <a:buNone/>
            </a:pPr>
            <a:r>
              <a:rPr lang="en-US" sz="1050" dirty="0">
                <a:solidFill>
                  <a:srgbClr val="4F46E5"/>
                </a:solidFill>
                <a:latin typeface="Courier New" pitchFamily="34" charset="0"/>
                <a:ea typeface="Courier New" pitchFamily="34" charset="-122"/>
                <a:cs typeface="Courier New" pitchFamily="34" charset="-120"/>
              </a:rPr>
              <a:t>strip()</a:t>
            </a:r>
            <a:endParaRPr lang="en-US" sz="1050" dirty="0"/>
          </a:p>
        </p:txBody>
      </p:sp>
      <p:sp>
        <p:nvSpPr>
          <p:cNvPr id="46" name="Shape 44"/>
          <p:cNvSpPr/>
          <p:nvPr/>
        </p:nvSpPr>
        <p:spPr>
          <a:xfrm>
            <a:off x="6675120" y="5033518"/>
            <a:ext cx="1518818" cy="292608"/>
          </a:xfrm>
          <a:prstGeom prst="roundRect">
            <a:avLst>
              <a:gd name="adj" fmla="val 50000"/>
            </a:avLst>
          </a:prstGeom>
          <a:solidFill>
            <a:srgbClr val="E8E8FD"/>
          </a:solidFill>
          <a:ln w="12700">
            <a:solidFill>
              <a:srgbClr val="E8E8FD"/>
            </a:solidFill>
            <a:prstDash val="solid"/>
          </a:ln>
        </p:spPr>
        <p:txBody>
          <a:bodyPr/>
          <a:lstStyle/>
          <a:p>
            <a:endParaRPr lang="en-PH"/>
          </a:p>
        </p:txBody>
      </p:sp>
      <p:sp>
        <p:nvSpPr>
          <p:cNvPr id="47" name="Text 45"/>
          <p:cNvSpPr txBox="1"/>
          <p:nvPr/>
        </p:nvSpPr>
        <p:spPr>
          <a:xfrm>
            <a:off x="6675120" y="5033518"/>
            <a:ext cx="1518818" cy="292608"/>
          </a:xfrm>
          <a:prstGeom prst="rect">
            <a:avLst/>
          </a:prstGeom>
          <a:noFill/>
          <a:ln/>
        </p:spPr>
        <p:txBody>
          <a:bodyPr wrap="square" lIns="0" tIns="0" rIns="0" bIns="0" rtlCol="0" anchor="ctr"/>
          <a:lstStyle/>
          <a:p>
            <a:pPr marL="0" indent="0" algn="ctr">
              <a:buNone/>
            </a:pPr>
            <a:r>
              <a:rPr lang="en-US" sz="1050" dirty="0">
                <a:solidFill>
                  <a:srgbClr val="4F46E5"/>
                </a:solidFill>
                <a:latin typeface="Courier New" pitchFamily="34" charset="0"/>
                <a:ea typeface="Courier New" pitchFamily="34" charset="-122"/>
                <a:cs typeface="Courier New" pitchFamily="34" charset="-120"/>
              </a:rPr>
              <a:t>replace()</a:t>
            </a:r>
            <a:endParaRPr lang="en-US" sz="1050" dirty="0"/>
          </a:p>
        </p:txBody>
      </p:sp>
      <p:sp>
        <p:nvSpPr>
          <p:cNvPr id="48" name="Shape 46"/>
          <p:cNvSpPr/>
          <p:nvPr/>
        </p:nvSpPr>
        <p:spPr>
          <a:xfrm>
            <a:off x="8422538" y="5033518"/>
            <a:ext cx="1518818" cy="292608"/>
          </a:xfrm>
          <a:prstGeom prst="roundRect">
            <a:avLst>
              <a:gd name="adj" fmla="val 50000"/>
            </a:avLst>
          </a:prstGeom>
          <a:solidFill>
            <a:srgbClr val="E8E8FD"/>
          </a:solidFill>
          <a:ln w="12700">
            <a:solidFill>
              <a:srgbClr val="E8E8FD"/>
            </a:solidFill>
            <a:prstDash val="solid"/>
          </a:ln>
        </p:spPr>
        <p:txBody>
          <a:bodyPr/>
          <a:lstStyle/>
          <a:p>
            <a:endParaRPr lang="en-PH"/>
          </a:p>
        </p:txBody>
      </p:sp>
      <p:sp>
        <p:nvSpPr>
          <p:cNvPr id="49" name="Text 47"/>
          <p:cNvSpPr txBox="1"/>
          <p:nvPr/>
        </p:nvSpPr>
        <p:spPr>
          <a:xfrm>
            <a:off x="8422538" y="5033518"/>
            <a:ext cx="1518818" cy="292608"/>
          </a:xfrm>
          <a:prstGeom prst="rect">
            <a:avLst/>
          </a:prstGeom>
          <a:noFill/>
          <a:ln/>
        </p:spPr>
        <p:txBody>
          <a:bodyPr wrap="square" lIns="0" tIns="0" rIns="0" bIns="0" rtlCol="0" anchor="ctr"/>
          <a:lstStyle/>
          <a:p>
            <a:pPr marL="0" indent="0" algn="ctr">
              <a:buNone/>
            </a:pPr>
            <a:r>
              <a:rPr lang="en-US" sz="1050" dirty="0">
                <a:solidFill>
                  <a:srgbClr val="4F46E5"/>
                </a:solidFill>
                <a:latin typeface="Courier New" pitchFamily="34" charset="0"/>
                <a:ea typeface="Courier New" pitchFamily="34" charset="-122"/>
                <a:cs typeface="Courier New" pitchFamily="34" charset="-120"/>
              </a:rPr>
              <a:t>split()</a:t>
            </a:r>
            <a:endParaRPr lang="en-US" sz="1050" dirty="0"/>
          </a:p>
        </p:txBody>
      </p:sp>
      <p:sp>
        <p:nvSpPr>
          <p:cNvPr id="50" name="Shape 48"/>
          <p:cNvSpPr/>
          <p:nvPr/>
        </p:nvSpPr>
        <p:spPr>
          <a:xfrm>
            <a:off x="10169957" y="5033518"/>
            <a:ext cx="1518818" cy="292608"/>
          </a:xfrm>
          <a:prstGeom prst="roundRect">
            <a:avLst>
              <a:gd name="adj" fmla="val 50000"/>
            </a:avLst>
          </a:prstGeom>
          <a:solidFill>
            <a:srgbClr val="E8E8FD"/>
          </a:solidFill>
          <a:ln w="12700">
            <a:solidFill>
              <a:srgbClr val="E8E8FD"/>
            </a:solidFill>
            <a:prstDash val="solid"/>
          </a:ln>
        </p:spPr>
        <p:txBody>
          <a:bodyPr/>
          <a:lstStyle/>
          <a:p>
            <a:endParaRPr lang="en-PH"/>
          </a:p>
        </p:txBody>
      </p:sp>
      <p:sp>
        <p:nvSpPr>
          <p:cNvPr id="51" name="Text 49"/>
          <p:cNvSpPr txBox="1"/>
          <p:nvPr/>
        </p:nvSpPr>
        <p:spPr>
          <a:xfrm>
            <a:off x="10169957" y="5033518"/>
            <a:ext cx="1518818" cy="292608"/>
          </a:xfrm>
          <a:prstGeom prst="rect">
            <a:avLst/>
          </a:prstGeom>
          <a:noFill/>
          <a:ln/>
        </p:spPr>
        <p:txBody>
          <a:bodyPr wrap="square" lIns="0" tIns="0" rIns="0" bIns="0" rtlCol="0" anchor="ctr"/>
          <a:lstStyle/>
          <a:p>
            <a:pPr marL="0" indent="0" algn="ctr">
              <a:buNone/>
            </a:pPr>
            <a:r>
              <a:rPr lang="en-US" sz="1050" dirty="0">
                <a:solidFill>
                  <a:srgbClr val="4F46E5"/>
                </a:solidFill>
                <a:latin typeface="Courier New" pitchFamily="34" charset="0"/>
                <a:ea typeface="Courier New" pitchFamily="34" charset="-122"/>
                <a:cs typeface="Courier New" pitchFamily="34" charset="-120"/>
              </a:rPr>
              <a:t>find()</a:t>
            </a:r>
            <a:endParaRPr lang="en-US" sz="10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02920" y="310896"/>
            <a:ext cx="8229600" cy="237744"/>
          </a:xfrm>
          <a:prstGeom prst="rect">
            <a:avLst/>
          </a:prstGeom>
          <a:noFill/>
          <a:ln/>
        </p:spPr>
        <p:txBody>
          <a:bodyPr wrap="square" lIns="0" tIns="0" rIns="0" bIns="0" rtlCol="0" anchor="t"/>
          <a:lstStyle/>
          <a:p>
            <a:pPr marL="0" indent="0">
              <a:buNone/>
            </a:pPr>
            <a:r>
              <a:rPr lang="en-US" sz="1050" b="1" kern="0" spc="200" dirty="0">
                <a:solidFill>
                  <a:srgbClr val="C8559F"/>
                </a:solidFill>
                <a:latin typeface="Calibri" pitchFamily="34" charset="0"/>
                <a:ea typeface="Calibri" pitchFamily="34" charset="-122"/>
                <a:cs typeface="Calibri" pitchFamily="34" charset="-120"/>
              </a:rPr>
              <a:t>DATA STRUCTURE IN PYTHON</a:t>
            </a:r>
            <a:endParaRPr lang="en-US" sz="1050" dirty="0"/>
          </a:p>
        </p:txBody>
      </p:sp>
      <p:sp>
        <p:nvSpPr>
          <p:cNvPr id="3" name="Text 1"/>
          <p:cNvSpPr txBox="1"/>
          <p:nvPr/>
        </p:nvSpPr>
        <p:spPr>
          <a:xfrm>
            <a:off x="502920" y="530352"/>
            <a:ext cx="10241280" cy="640080"/>
          </a:xfrm>
          <a:prstGeom prst="rect">
            <a:avLst/>
          </a:prstGeom>
          <a:noFill/>
          <a:ln/>
        </p:spPr>
        <p:txBody>
          <a:bodyPr wrap="square" lIns="0" tIns="0" rIns="0" bIns="0" rtlCol="0" anchor="ctr"/>
          <a:lstStyle/>
          <a:p>
            <a:pPr marL="0" indent="0">
              <a:buNone/>
            </a:pPr>
            <a:r>
              <a:rPr lang="en-US" sz="2800" b="1" dirty="0">
                <a:solidFill>
                  <a:srgbClr val="1E1B4B"/>
                </a:solidFill>
                <a:latin typeface="Calibri" pitchFamily="34" charset="0"/>
                <a:ea typeface="Calibri" pitchFamily="34" charset="-122"/>
                <a:cs typeface="Calibri" pitchFamily="34" charset="-120"/>
              </a:rPr>
              <a:t>Python List</a:t>
            </a:r>
            <a:endParaRPr lang="en-US" sz="2800" dirty="0"/>
          </a:p>
        </p:txBody>
      </p:sp>
      <p:sp>
        <p:nvSpPr>
          <p:cNvPr id="4" name="Text 2"/>
          <p:cNvSpPr txBox="1"/>
          <p:nvPr/>
        </p:nvSpPr>
        <p:spPr>
          <a:xfrm>
            <a:off x="502920" y="6446520"/>
            <a:ext cx="5486400" cy="228600"/>
          </a:xfrm>
          <a:prstGeom prst="rect">
            <a:avLst/>
          </a:prstGeom>
          <a:noFill/>
          <a:ln/>
        </p:spPr>
        <p:txBody>
          <a:bodyPr wrap="square" lIns="0" tIns="0" rIns="0" bIns="0" rtlCol="0" anchor="t"/>
          <a:lstStyle/>
          <a:p>
            <a:pPr marL="0" indent="0">
              <a:buNone/>
            </a:pPr>
            <a:r>
              <a:rPr lang="en-US" sz="900" dirty="0">
                <a:solidFill>
                  <a:srgbClr val="5B5F7A"/>
                </a:solidFill>
                <a:latin typeface="Calibri" pitchFamily="34" charset="0"/>
                <a:ea typeface="Calibri" pitchFamily="34" charset="-122"/>
                <a:cs typeface="Calibri" pitchFamily="34" charset="-120"/>
              </a:rPr>
              <a:t>Python  ·  Data Structure In Python</a:t>
            </a:r>
            <a:endParaRPr lang="en-US" sz="900" dirty="0"/>
          </a:p>
        </p:txBody>
      </p:sp>
      <p:sp>
        <p:nvSpPr>
          <p:cNvPr id="5" name="Text 3"/>
          <p:cNvSpPr txBox="1"/>
          <p:nvPr/>
        </p:nvSpPr>
        <p:spPr>
          <a:xfrm>
            <a:off x="11140135" y="6446520"/>
            <a:ext cx="548640" cy="228600"/>
          </a:xfrm>
          <a:prstGeom prst="rect">
            <a:avLst/>
          </a:prstGeom>
          <a:noFill/>
          <a:ln/>
        </p:spPr>
        <p:txBody>
          <a:bodyPr wrap="square" lIns="0" tIns="0" rIns="0" bIns="0" rtlCol="0" anchor="t"/>
          <a:lstStyle/>
          <a:p>
            <a:pPr marL="0" indent="0" algn="r">
              <a:buNone/>
            </a:pPr>
            <a:r>
              <a:rPr lang="en-US" sz="900" dirty="0">
                <a:solidFill>
                  <a:srgbClr val="5B5F7A"/>
                </a:solidFill>
                <a:latin typeface="Calibri" pitchFamily="34" charset="0"/>
                <a:ea typeface="Calibri" pitchFamily="34" charset="-122"/>
                <a:cs typeface="Calibri" pitchFamily="34" charset="-120"/>
              </a:rPr>
              <a:t>28</a:t>
            </a:r>
            <a:endParaRPr lang="en-US" sz="900" dirty="0"/>
          </a:p>
        </p:txBody>
      </p:sp>
      <p:sp>
        <p:nvSpPr>
          <p:cNvPr id="6" name="Text 4"/>
          <p:cNvSpPr txBox="1"/>
          <p:nvPr/>
        </p:nvSpPr>
        <p:spPr>
          <a:xfrm>
            <a:off x="502920" y="1417320"/>
            <a:ext cx="5852160" cy="731520"/>
          </a:xfrm>
          <a:prstGeom prst="rect">
            <a:avLst/>
          </a:prstGeom>
          <a:noFill/>
          <a:ln/>
        </p:spPr>
        <p:txBody>
          <a:bodyPr wrap="square" lIns="0" tIns="0" rIns="0" bIns="0" rtlCol="0" anchor="t"/>
          <a:lstStyle/>
          <a:p>
            <a:pPr marL="0" indent="0">
              <a:buNone/>
            </a:pPr>
            <a:r>
              <a:rPr lang="en-US" sz="1500" dirty="0">
                <a:solidFill>
                  <a:srgbClr val="1E1B4B"/>
                </a:solidFill>
                <a:latin typeface="Calibri" pitchFamily="34" charset="0"/>
                <a:ea typeface="Calibri" pitchFamily="34" charset="-122"/>
                <a:cs typeface="Calibri" pitchFamily="34" charset="-120"/>
              </a:rPr>
              <a:t>List is a built-in data structure used to store an ordered collection of items. They are </a:t>
            </a:r>
            <a:r>
              <a:rPr lang="en-US" sz="1500" b="1" dirty="0">
                <a:solidFill>
                  <a:srgbClr val="1E1B4B"/>
                </a:solidFill>
                <a:latin typeface="Calibri" pitchFamily="34" charset="0"/>
                <a:ea typeface="Calibri" pitchFamily="34" charset="-122"/>
                <a:cs typeface="Calibri" pitchFamily="34" charset="-120"/>
              </a:rPr>
              <a:t>dynamic, resizable</a:t>
            </a:r>
            <a:r>
              <a:rPr lang="en-US" sz="1500" dirty="0">
                <a:solidFill>
                  <a:srgbClr val="1E1B4B"/>
                </a:solidFill>
                <a:latin typeface="Calibri" pitchFamily="34" charset="0"/>
                <a:ea typeface="Calibri" pitchFamily="34" charset="-122"/>
                <a:cs typeface="Calibri" pitchFamily="34" charset="-120"/>
              </a:rPr>
              <a:t> and capable of storing </a:t>
            </a:r>
            <a:r>
              <a:rPr lang="en-US" sz="1500" b="1" dirty="0">
                <a:solidFill>
                  <a:srgbClr val="1E1B4B"/>
                </a:solidFill>
                <a:latin typeface="Calibri" pitchFamily="34" charset="0"/>
                <a:ea typeface="Calibri" pitchFamily="34" charset="-122"/>
                <a:cs typeface="Calibri" pitchFamily="34" charset="-120"/>
              </a:rPr>
              <a:t>multiple data types</a:t>
            </a:r>
            <a:r>
              <a:rPr lang="en-US" sz="1500" dirty="0">
                <a:solidFill>
                  <a:srgbClr val="1E1B4B"/>
                </a:solidFill>
                <a:latin typeface="Calibri" pitchFamily="34" charset="0"/>
                <a:ea typeface="Calibri" pitchFamily="34" charset="-122"/>
                <a:cs typeface="Calibri" pitchFamily="34" charset="-120"/>
              </a:rPr>
              <a:t>.</a:t>
            </a:r>
            <a:endParaRPr lang="en-US" sz="1500" dirty="0"/>
          </a:p>
        </p:txBody>
      </p:sp>
      <p:sp>
        <p:nvSpPr>
          <p:cNvPr id="7" name="Shape 5"/>
          <p:cNvSpPr/>
          <p:nvPr/>
        </p:nvSpPr>
        <p:spPr>
          <a:xfrm>
            <a:off x="502920" y="2286000"/>
            <a:ext cx="5852160" cy="777240"/>
          </a:xfrm>
          <a:prstGeom prst="roundRect">
            <a:avLst>
              <a:gd name="adj" fmla="val 14118"/>
            </a:avLst>
          </a:prstGeom>
          <a:solidFill>
            <a:srgbClr val="FFFFFF"/>
          </a:solidFill>
          <a:ln w="9525">
            <a:solidFill>
              <a:srgbClr val="DCDDF5"/>
            </a:solidFill>
            <a:prstDash val="solid"/>
          </a:ln>
          <a:effectLst>
            <a:outerShdw blurRad="127000" dist="25400" dir="5400000" algn="bl" rotWithShape="0">
              <a:srgbClr val="4F46E5">
                <a:alpha val="12000"/>
              </a:srgbClr>
            </a:outerShdw>
          </a:effectLst>
        </p:spPr>
        <p:txBody>
          <a:bodyPr/>
          <a:lstStyle/>
          <a:p>
            <a:endParaRPr lang="en-PH"/>
          </a:p>
        </p:txBody>
      </p:sp>
      <p:sp>
        <p:nvSpPr>
          <p:cNvPr id="8" name="Shape 6"/>
          <p:cNvSpPr/>
          <p:nvPr/>
        </p:nvSpPr>
        <p:spPr>
          <a:xfrm>
            <a:off x="685800" y="2468880"/>
            <a:ext cx="402336" cy="402336"/>
          </a:xfrm>
          <a:prstGeom prst="ellipse">
            <a:avLst/>
          </a:prstGeom>
          <a:solidFill>
            <a:srgbClr val="4F46E5"/>
          </a:solidFill>
          <a:ln w="12700">
            <a:solidFill>
              <a:srgbClr val="4F46E5"/>
            </a:solidFill>
            <a:prstDash val="solid"/>
          </a:ln>
        </p:spPr>
        <p:txBody>
          <a:bodyPr/>
          <a:lstStyle/>
          <a:p>
            <a:endParaRPr lang="en-PH"/>
          </a:p>
        </p:txBody>
      </p:sp>
      <p:sp>
        <p:nvSpPr>
          <p:cNvPr id="9" name="Text 7"/>
          <p:cNvSpPr txBox="1"/>
          <p:nvPr/>
        </p:nvSpPr>
        <p:spPr>
          <a:xfrm>
            <a:off x="685800" y="2468880"/>
            <a:ext cx="402336" cy="402336"/>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0" name="Text 8"/>
          <p:cNvSpPr txBox="1"/>
          <p:nvPr/>
        </p:nvSpPr>
        <p:spPr>
          <a:xfrm>
            <a:off x="1234440" y="2331720"/>
            <a:ext cx="4937760" cy="685800"/>
          </a:xfrm>
          <a:prstGeom prst="rect">
            <a:avLst/>
          </a:prstGeom>
          <a:noFill/>
          <a:ln/>
        </p:spPr>
        <p:txBody>
          <a:bodyPr wrap="square" lIns="0" tIns="0" rIns="0" bIns="0" rtlCol="0" anchor="ctr"/>
          <a:lstStyle/>
          <a:p>
            <a:pPr marL="0" indent="0">
              <a:buNone/>
            </a:pPr>
            <a:r>
              <a:rPr lang="en-US" sz="1350" b="1" dirty="0">
                <a:solidFill>
                  <a:srgbClr val="1E1B4B"/>
                </a:solidFill>
                <a:latin typeface="Calibri" pitchFamily="34" charset="0"/>
                <a:ea typeface="Calibri" pitchFamily="34" charset="-122"/>
                <a:cs typeface="Calibri" pitchFamily="34" charset="-120"/>
              </a:rPr>
              <a:t>Mutable:</a:t>
            </a:r>
            <a:r>
              <a:rPr lang="en-US" sz="1350" dirty="0">
                <a:solidFill>
                  <a:srgbClr val="1E1B4B"/>
                </a:solidFill>
                <a:latin typeface="Calibri" pitchFamily="34" charset="0"/>
                <a:ea typeface="Calibri" pitchFamily="34" charset="-122"/>
                <a:cs typeface="Calibri" pitchFamily="34" charset="-120"/>
              </a:rPr>
              <a:t> list elements can be changed, updated, added, or removed after the list is created.</a:t>
            </a:r>
            <a:endParaRPr lang="en-US" sz="1350" dirty="0"/>
          </a:p>
        </p:txBody>
      </p:sp>
      <p:sp>
        <p:nvSpPr>
          <p:cNvPr id="11" name="Shape 9"/>
          <p:cNvSpPr/>
          <p:nvPr/>
        </p:nvSpPr>
        <p:spPr>
          <a:xfrm>
            <a:off x="502920" y="3182112"/>
            <a:ext cx="5852160" cy="777240"/>
          </a:xfrm>
          <a:prstGeom prst="roundRect">
            <a:avLst>
              <a:gd name="adj" fmla="val 14118"/>
            </a:avLst>
          </a:prstGeom>
          <a:solidFill>
            <a:srgbClr val="FFFFFF"/>
          </a:solidFill>
          <a:ln w="9525">
            <a:solidFill>
              <a:srgbClr val="DCDDF5"/>
            </a:solidFill>
            <a:prstDash val="solid"/>
          </a:ln>
          <a:effectLst>
            <a:outerShdw blurRad="127000" dist="25400" dir="5400000" algn="bl" rotWithShape="0">
              <a:srgbClr val="4F46E5">
                <a:alpha val="12000"/>
              </a:srgbClr>
            </a:outerShdw>
          </a:effectLst>
        </p:spPr>
        <p:txBody>
          <a:bodyPr/>
          <a:lstStyle/>
          <a:p>
            <a:endParaRPr lang="en-PH"/>
          </a:p>
        </p:txBody>
      </p:sp>
      <p:sp>
        <p:nvSpPr>
          <p:cNvPr id="12" name="Shape 10"/>
          <p:cNvSpPr/>
          <p:nvPr/>
        </p:nvSpPr>
        <p:spPr>
          <a:xfrm>
            <a:off x="685800" y="3364992"/>
            <a:ext cx="402336" cy="402336"/>
          </a:xfrm>
          <a:prstGeom prst="ellipse">
            <a:avLst/>
          </a:prstGeom>
          <a:solidFill>
            <a:srgbClr val="C8559F"/>
          </a:solidFill>
          <a:ln w="12700">
            <a:solidFill>
              <a:srgbClr val="C8559F"/>
            </a:solidFill>
            <a:prstDash val="solid"/>
          </a:ln>
        </p:spPr>
        <p:txBody>
          <a:bodyPr/>
          <a:lstStyle/>
          <a:p>
            <a:endParaRPr lang="en-PH"/>
          </a:p>
        </p:txBody>
      </p:sp>
      <p:sp>
        <p:nvSpPr>
          <p:cNvPr id="13" name="Text 11"/>
          <p:cNvSpPr txBox="1"/>
          <p:nvPr/>
        </p:nvSpPr>
        <p:spPr>
          <a:xfrm>
            <a:off x="685800" y="3364992"/>
            <a:ext cx="402336" cy="402336"/>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4" name="Text 12"/>
          <p:cNvSpPr txBox="1"/>
          <p:nvPr/>
        </p:nvSpPr>
        <p:spPr>
          <a:xfrm>
            <a:off x="1234440" y="3227832"/>
            <a:ext cx="4937760" cy="685800"/>
          </a:xfrm>
          <a:prstGeom prst="rect">
            <a:avLst/>
          </a:prstGeom>
          <a:noFill/>
          <a:ln/>
        </p:spPr>
        <p:txBody>
          <a:bodyPr wrap="square" lIns="0" tIns="0" rIns="0" bIns="0" rtlCol="0" anchor="ctr"/>
          <a:lstStyle/>
          <a:p>
            <a:pPr marL="0" indent="0">
              <a:buNone/>
            </a:pPr>
            <a:r>
              <a:rPr lang="en-US" sz="1350" b="1" dirty="0">
                <a:solidFill>
                  <a:srgbClr val="1E1B4B"/>
                </a:solidFill>
                <a:latin typeface="Calibri" pitchFamily="34" charset="0"/>
                <a:ea typeface="Calibri" pitchFamily="34" charset="-122"/>
                <a:cs typeface="Calibri" pitchFamily="34" charset="-120"/>
              </a:rPr>
              <a:t>Ordered:</a:t>
            </a:r>
            <a:r>
              <a:rPr lang="en-US" sz="1350" dirty="0">
                <a:solidFill>
                  <a:srgbClr val="1E1B4B"/>
                </a:solidFill>
                <a:latin typeface="Calibri" pitchFamily="34" charset="0"/>
                <a:ea typeface="Calibri" pitchFamily="34" charset="-122"/>
                <a:cs typeface="Calibri" pitchFamily="34" charset="-120"/>
              </a:rPr>
              <a:t> elements maintain the order in which they are inserted.</a:t>
            </a:r>
            <a:endParaRPr lang="en-US" sz="1350" dirty="0"/>
          </a:p>
        </p:txBody>
      </p:sp>
      <p:sp>
        <p:nvSpPr>
          <p:cNvPr id="15" name="Shape 13"/>
          <p:cNvSpPr/>
          <p:nvPr/>
        </p:nvSpPr>
        <p:spPr>
          <a:xfrm>
            <a:off x="502920" y="4078224"/>
            <a:ext cx="5852160" cy="777240"/>
          </a:xfrm>
          <a:prstGeom prst="roundRect">
            <a:avLst>
              <a:gd name="adj" fmla="val 14118"/>
            </a:avLst>
          </a:prstGeom>
          <a:solidFill>
            <a:srgbClr val="FFFFFF"/>
          </a:solidFill>
          <a:ln w="9525">
            <a:solidFill>
              <a:srgbClr val="DCDDF5"/>
            </a:solidFill>
            <a:prstDash val="solid"/>
          </a:ln>
          <a:effectLst>
            <a:outerShdw blurRad="127000" dist="25400" dir="5400000" algn="bl" rotWithShape="0">
              <a:srgbClr val="4F46E5">
                <a:alpha val="12000"/>
              </a:srgbClr>
            </a:outerShdw>
          </a:effectLst>
        </p:spPr>
        <p:txBody>
          <a:bodyPr/>
          <a:lstStyle/>
          <a:p>
            <a:endParaRPr lang="en-PH"/>
          </a:p>
        </p:txBody>
      </p:sp>
      <p:sp>
        <p:nvSpPr>
          <p:cNvPr id="16" name="Shape 14"/>
          <p:cNvSpPr/>
          <p:nvPr/>
        </p:nvSpPr>
        <p:spPr>
          <a:xfrm>
            <a:off x="685800" y="4261104"/>
            <a:ext cx="402336" cy="402336"/>
          </a:xfrm>
          <a:prstGeom prst="ellipse">
            <a:avLst/>
          </a:prstGeom>
          <a:solidFill>
            <a:srgbClr val="4F46E5"/>
          </a:solidFill>
          <a:ln w="12700">
            <a:solidFill>
              <a:srgbClr val="4F46E5"/>
            </a:solidFill>
            <a:prstDash val="solid"/>
          </a:ln>
        </p:spPr>
        <p:txBody>
          <a:bodyPr/>
          <a:lstStyle/>
          <a:p>
            <a:endParaRPr lang="en-PH"/>
          </a:p>
        </p:txBody>
      </p:sp>
      <p:sp>
        <p:nvSpPr>
          <p:cNvPr id="17" name="Text 15"/>
          <p:cNvSpPr txBox="1"/>
          <p:nvPr/>
        </p:nvSpPr>
        <p:spPr>
          <a:xfrm>
            <a:off x="685800" y="4261104"/>
            <a:ext cx="402336" cy="402336"/>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8" name="Text 16"/>
          <p:cNvSpPr txBox="1"/>
          <p:nvPr/>
        </p:nvSpPr>
        <p:spPr>
          <a:xfrm>
            <a:off x="1234440" y="4123944"/>
            <a:ext cx="4937760" cy="685800"/>
          </a:xfrm>
          <a:prstGeom prst="rect">
            <a:avLst/>
          </a:prstGeom>
          <a:noFill/>
          <a:ln/>
        </p:spPr>
        <p:txBody>
          <a:bodyPr wrap="square" lIns="0" tIns="0" rIns="0" bIns="0" rtlCol="0" anchor="ctr"/>
          <a:lstStyle/>
          <a:p>
            <a:pPr marL="0" indent="0">
              <a:buNone/>
            </a:pPr>
            <a:r>
              <a:rPr lang="en-US" sz="1350" b="1" dirty="0">
                <a:solidFill>
                  <a:srgbClr val="1E1B4B"/>
                </a:solidFill>
                <a:latin typeface="Calibri" pitchFamily="34" charset="0"/>
                <a:ea typeface="Calibri" pitchFamily="34" charset="-122"/>
                <a:cs typeface="Calibri" pitchFamily="34" charset="-120"/>
              </a:rPr>
              <a:t>Index-based:</a:t>
            </a:r>
            <a:r>
              <a:rPr lang="en-US" sz="1350" dirty="0">
                <a:solidFill>
                  <a:srgbClr val="1E1B4B"/>
                </a:solidFill>
                <a:latin typeface="Calibri" pitchFamily="34" charset="0"/>
                <a:ea typeface="Calibri" pitchFamily="34" charset="-122"/>
                <a:cs typeface="Calibri" pitchFamily="34" charset="-120"/>
              </a:rPr>
              <a:t> elements are accessed using their position, starting from index 0.</a:t>
            </a:r>
            <a:endParaRPr lang="en-US" sz="1350" dirty="0"/>
          </a:p>
        </p:txBody>
      </p:sp>
      <p:sp>
        <p:nvSpPr>
          <p:cNvPr id="19" name="Shape 17"/>
          <p:cNvSpPr/>
          <p:nvPr/>
        </p:nvSpPr>
        <p:spPr>
          <a:xfrm>
            <a:off x="6675120" y="1417320"/>
            <a:ext cx="5013655" cy="1681861"/>
          </a:xfrm>
          <a:prstGeom prst="roundRect">
            <a:avLst>
              <a:gd name="adj" fmla="val 5437"/>
            </a:avLst>
          </a:prstGeom>
          <a:solidFill>
            <a:srgbClr val="1F1D36"/>
          </a:solidFill>
          <a:ln w="12700">
            <a:solidFill>
              <a:srgbClr val="1F1D36"/>
            </a:solidFill>
            <a:prstDash val="solid"/>
          </a:ln>
        </p:spPr>
        <p:txBody>
          <a:bodyPr/>
          <a:lstStyle/>
          <a:p>
            <a:endParaRPr lang="en-PH"/>
          </a:p>
        </p:txBody>
      </p:sp>
      <p:sp>
        <p:nvSpPr>
          <p:cNvPr id="20" name="Text 18"/>
          <p:cNvSpPr txBox="1"/>
          <p:nvPr/>
        </p:nvSpPr>
        <p:spPr>
          <a:xfrm>
            <a:off x="6839712" y="1499616"/>
            <a:ext cx="4684471" cy="201168"/>
          </a:xfrm>
          <a:prstGeom prst="rect">
            <a:avLst/>
          </a:prstGeom>
          <a:noFill/>
          <a:ln/>
        </p:spPr>
        <p:txBody>
          <a:bodyPr wrap="square" lIns="0" tIns="0" rIns="0" bIns="0" rtlCol="0" anchor="ctr"/>
          <a:lstStyle/>
          <a:p>
            <a:pPr marL="0" indent="0">
              <a:buNone/>
            </a:pPr>
            <a:r>
              <a:rPr lang="en-US" sz="900" b="1" dirty="0">
                <a:solidFill>
                  <a:srgbClr val="8A8FB5"/>
                </a:solidFill>
                <a:latin typeface="Calibri" pitchFamily="34" charset="0"/>
                <a:ea typeface="Calibri" pitchFamily="34" charset="-122"/>
                <a:cs typeface="Calibri" pitchFamily="34" charset="-120"/>
              </a:rPr>
              <a:t>&lt;/&gt;  Python</a:t>
            </a:r>
            <a:endParaRPr lang="en-US" sz="900" dirty="0"/>
          </a:p>
        </p:txBody>
      </p:sp>
      <p:sp>
        <p:nvSpPr>
          <p:cNvPr id="21" name="Text 19"/>
          <p:cNvSpPr txBox="1"/>
          <p:nvPr/>
        </p:nvSpPr>
        <p:spPr>
          <a:xfrm>
            <a:off x="6839712" y="1746504"/>
            <a:ext cx="4739335" cy="1297813"/>
          </a:xfrm>
          <a:prstGeom prst="rect">
            <a:avLst/>
          </a:prstGeom>
          <a:noFill/>
          <a:ln/>
        </p:spPr>
        <p:txBody>
          <a:bodyPr wrap="square" lIns="0" tIns="0" rIns="0" bIns="0" rtlCol="0" anchor="t"/>
          <a:lstStyle/>
          <a:p>
            <a:pPr marL="0" indent="0">
              <a:buNone/>
            </a:pPr>
            <a:r>
              <a:rPr lang="en-US" sz="1150" dirty="0">
                <a:solidFill>
                  <a:srgbClr val="E4E4F0"/>
                </a:solidFill>
                <a:latin typeface="Courier New" pitchFamily="34" charset="0"/>
                <a:ea typeface="Courier New" pitchFamily="34" charset="-122"/>
                <a:cs typeface="Courier New" pitchFamily="34" charset="-120"/>
              </a:rPr>
              <a:t>items = [</a:t>
            </a:r>
            <a:r>
              <a:rPr lang="en-US" sz="1150" dirty="0">
                <a:solidFill>
                  <a:srgbClr val="FAB387"/>
                </a:solidFill>
                <a:latin typeface="Courier New" pitchFamily="34" charset="0"/>
                <a:ea typeface="Courier New" pitchFamily="34" charset="-122"/>
                <a:cs typeface="Courier New" pitchFamily="34" charset="-120"/>
              </a:rPr>
              <a:t>10</a:t>
            </a:r>
            <a:r>
              <a:rPr lang="en-US" sz="1150" dirty="0">
                <a:solidFill>
                  <a:srgbClr val="E4E4F0"/>
                </a:solidFill>
                <a:latin typeface="Courier New" pitchFamily="34" charset="0"/>
                <a:ea typeface="Courier New" pitchFamily="34" charset="-122"/>
                <a:cs typeface="Courier New" pitchFamily="34" charset="-120"/>
              </a:rPr>
              <a:t>, </a:t>
            </a:r>
            <a:r>
              <a:rPr lang="en-US" sz="1150" dirty="0">
                <a:solidFill>
                  <a:srgbClr val="A6E3A1"/>
                </a:solidFill>
                <a:latin typeface="Courier New" pitchFamily="34" charset="0"/>
                <a:ea typeface="Courier New" pitchFamily="34" charset="-122"/>
                <a:cs typeface="Courier New" pitchFamily="34" charset="-120"/>
              </a:rPr>
              <a:t>"two"</a:t>
            </a:r>
            <a:r>
              <a:rPr lang="en-US" sz="1150" dirty="0">
                <a:solidFill>
                  <a:srgbClr val="E4E4F0"/>
                </a:solidFill>
                <a:latin typeface="Courier New" pitchFamily="34" charset="0"/>
                <a:ea typeface="Courier New" pitchFamily="34" charset="-122"/>
                <a:cs typeface="Courier New" pitchFamily="34" charset="-120"/>
              </a:rPr>
              <a:t>, </a:t>
            </a:r>
            <a:r>
              <a:rPr lang="en-US" sz="1150" dirty="0">
                <a:solidFill>
                  <a:srgbClr val="FAB387"/>
                </a:solidFill>
                <a:latin typeface="Courier New" pitchFamily="34" charset="0"/>
                <a:ea typeface="Courier New" pitchFamily="34" charset="-122"/>
                <a:cs typeface="Courier New" pitchFamily="34" charset="-120"/>
              </a:rPr>
              <a:t>3.0</a:t>
            </a:r>
            <a:r>
              <a:rPr lang="en-US" sz="1150" dirty="0">
                <a:solidFill>
                  <a:srgbClr val="E4E4F0"/>
                </a:solidFill>
                <a:latin typeface="Courier New" pitchFamily="34" charset="0"/>
                <a:ea typeface="Courier New" pitchFamily="34" charset="-122"/>
                <a:cs typeface="Courier New" pitchFamily="34" charset="-120"/>
              </a:rPr>
              <a:t>]  </a:t>
            </a:r>
            <a:r>
              <a:rPr lang="en-US" sz="1150" i="1" dirty="0">
                <a:solidFill>
                  <a:srgbClr val="8A8FB5"/>
                </a:solidFill>
                <a:latin typeface="Courier New" pitchFamily="34" charset="0"/>
                <a:ea typeface="Courier New" pitchFamily="34" charset="-122"/>
                <a:cs typeface="Courier New" pitchFamily="34" charset="-120"/>
              </a:rPr>
              <a:t># multiple data types</a:t>
            </a:r>
            <a:endParaRPr lang="en-US" sz="1150" dirty="0"/>
          </a:p>
          <a:p>
            <a:pPr marL="0" indent="0">
              <a:buNone/>
            </a:pPr>
            <a:r>
              <a:rPr lang="en-US" sz="1150" dirty="0">
                <a:solidFill>
                  <a:srgbClr val="E4E4F0"/>
                </a:solidFill>
                <a:latin typeface="Courier New" pitchFamily="34" charset="0"/>
                <a:ea typeface="Courier New" pitchFamily="34" charset="-122"/>
                <a:cs typeface="Courier New" pitchFamily="34" charset="-120"/>
              </a:rPr>
              <a:t> </a:t>
            </a:r>
            <a:endParaRPr lang="en-US" sz="1150" dirty="0"/>
          </a:p>
          <a:p>
            <a:pPr marL="0" indent="0">
              <a:buNone/>
            </a:pPr>
            <a:r>
              <a:rPr lang="en-US" sz="1150" dirty="0">
                <a:solidFill>
                  <a:srgbClr val="E4E4F0"/>
                </a:solidFill>
                <a:latin typeface="Courier New" pitchFamily="34" charset="0"/>
                <a:ea typeface="Courier New" pitchFamily="34" charset="-122"/>
                <a:cs typeface="Courier New" pitchFamily="34" charset="-120"/>
              </a:rPr>
              <a:t>items.</a:t>
            </a:r>
            <a:r>
              <a:rPr lang="en-US" sz="1150" dirty="0">
                <a:solidFill>
                  <a:srgbClr val="89DCEB"/>
                </a:solidFill>
                <a:latin typeface="Courier New" pitchFamily="34" charset="0"/>
                <a:ea typeface="Courier New" pitchFamily="34" charset="-122"/>
                <a:cs typeface="Courier New" pitchFamily="34" charset="-120"/>
              </a:rPr>
              <a:t>append</a:t>
            </a:r>
            <a:r>
              <a:rPr lang="en-US" sz="1150" dirty="0">
                <a:solidFill>
                  <a:srgbClr val="E4E4F0"/>
                </a:solidFill>
                <a:latin typeface="Courier New" pitchFamily="34" charset="0"/>
                <a:ea typeface="Courier New" pitchFamily="34" charset="-122"/>
                <a:cs typeface="Courier New" pitchFamily="34" charset="-120"/>
              </a:rPr>
              <a:t>(</a:t>
            </a:r>
            <a:r>
              <a:rPr lang="en-US" sz="1150" dirty="0">
                <a:solidFill>
                  <a:srgbClr val="FAB387"/>
                </a:solidFill>
                <a:latin typeface="Courier New" pitchFamily="34" charset="0"/>
                <a:ea typeface="Courier New" pitchFamily="34" charset="-122"/>
                <a:cs typeface="Courier New" pitchFamily="34" charset="-120"/>
              </a:rPr>
              <a:t>4</a:t>
            </a:r>
            <a:r>
              <a:rPr lang="en-US" sz="1150" dirty="0">
                <a:solidFill>
                  <a:srgbClr val="E4E4F0"/>
                </a:solidFill>
                <a:latin typeface="Courier New" pitchFamily="34" charset="0"/>
                <a:ea typeface="Courier New" pitchFamily="34" charset="-122"/>
                <a:cs typeface="Courier New" pitchFamily="34" charset="-120"/>
              </a:rPr>
              <a:t>)           </a:t>
            </a:r>
            <a:r>
              <a:rPr lang="en-US" sz="1150" i="1" dirty="0">
                <a:solidFill>
                  <a:srgbClr val="8A8FB5"/>
                </a:solidFill>
                <a:latin typeface="Courier New" pitchFamily="34" charset="0"/>
                <a:ea typeface="Courier New" pitchFamily="34" charset="-122"/>
                <a:cs typeface="Courier New" pitchFamily="34" charset="-120"/>
              </a:rPr>
              <a:t># add</a:t>
            </a:r>
            <a:endParaRPr lang="en-US" sz="1150" dirty="0"/>
          </a:p>
          <a:p>
            <a:pPr marL="0" indent="0">
              <a:buNone/>
            </a:pPr>
            <a:r>
              <a:rPr lang="en-US" sz="1150" dirty="0">
                <a:solidFill>
                  <a:srgbClr val="E4E4F0"/>
                </a:solidFill>
                <a:latin typeface="Courier New" pitchFamily="34" charset="0"/>
                <a:ea typeface="Courier New" pitchFamily="34" charset="-122"/>
                <a:cs typeface="Courier New" pitchFamily="34" charset="-120"/>
              </a:rPr>
              <a:t>items[</a:t>
            </a:r>
            <a:r>
              <a:rPr lang="en-US" sz="1150" dirty="0">
                <a:solidFill>
                  <a:srgbClr val="FAB387"/>
                </a:solidFill>
                <a:latin typeface="Courier New" pitchFamily="34" charset="0"/>
                <a:ea typeface="Courier New" pitchFamily="34" charset="-122"/>
                <a:cs typeface="Courier New" pitchFamily="34" charset="-120"/>
              </a:rPr>
              <a:t>0</a:t>
            </a:r>
            <a:r>
              <a:rPr lang="en-US" sz="1150" dirty="0">
                <a:solidFill>
                  <a:srgbClr val="E4E4F0"/>
                </a:solidFill>
                <a:latin typeface="Courier New" pitchFamily="34" charset="0"/>
                <a:ea typeface="Courier New" pitchFamily="34" charset="-122"/>
                <a:cs typeface="Courier New" pitchFamily="34" charset="-120"/>
              </a:rPr>
              <a:t>] = </a:t>
            </a:r>
            <a:r>
              <a:rPr lang="en-US" sz="1150" dirty="0">
                <a:solidFill>
                  <a:srgbClr val="FAB387"/>
                </a:solidFill>
                <a:latin typeface="Courier New" pitchFamily="34" charset="0"/>
                <a:ea typeface="Courier New" pitchFamily="34" charset="-122"/>
                <a:cs typeface="Courier New" pitchFamily="34" charset="-120"/>
              </a:rPr>
              <a:t>99</a:t>
            </a:r>
            <a:r>
              <a:rPr lang="en-US" sz="1150" dirty="0">
                <a:solidFill>
                  <a:srgbClr val="E4E4F0"/>
                </a:solidFill>
                <a:latin typeface="Courier New" pitchFamily="34" charset="0"/>
                <a:ea typeface="Courier New" pitchFamily="34" charset="-122"/>
                <a:cs typeface="Courier New" pitchFamily="34" charset="-120"/>
              </a:rPr>
              <a:t>             </a:t>
            </a:r>
            <a:r>
              <a:rPr lang="en-US" sz="1150" i="1" dirty="0">
                <a:solidFill>
                  <a:srgbClr val="8A8FB5"/>
                </a:solidFill>
                <a:latin typeface="Courier New" pitchFamily="34" charset="0"/>
                <a:ea typeface="Courier New" pitchFamily="34" charset="-122"/>
                <a:cs typeface="Courier New" pitchFamily="34" charset="-120"/>
              </a:rPr>
              <a:t># change</a:t>
            </a:r>
            <a:endParaRPr lang="en-US" sz="1150" dirty="0"/>
          </a:p>
          <a:p>
            <a:pPr marL="0" indent="0">
              <a:buNone/>
            </a:pPr>
            <a:r>
              <a:rPr lang="en-US" sz="1150" dirty="0">
                <a:solidFill>
                  <a:srgbClr val="E4E4F0"/>
                </a:solidFill>
                <a:latin typeface="Courier New" pitchFamily="34" charset="0"/>
                <a:ea typeface="Courier New" pitchFamily="34" charset="-122"/>
                <a:cs typeface="Courier New" pitchFamily="34" charset="-120"/>
              </a:rPr>
              <a:t>items.</a:t>
            </a:r>
            <a:r>
              <a:rPr lang="en-US" sz="1150" dirty="0">
                <a:solidFill>
                  <a:srgbClr val="89DCEB"/>
                </a:solidFill>
                <a:latin typeface="Courier New" pitchFamily="34" charset="0"/>
                <a:ea typeface="Courier New" pitchFamily="34" charset="-122"/>
                <a:cs typeface="Courier New" pitchFamily="34" charset="-120"/>
              </a:rPr>
              <a:t>remove</a:t>
            </a:r>
            <a:r>
              <a:rPr lang="en-US" sz="1150" dirty="0">
                <a:solidFill>
                  <a:srgbClr val="E4E4F0"/>
                </a:solidFill>
                <a:latin typeface="Courier New" pitchFamily="34" charset="0"/>
                <a:ea typeface="Courier New" pitchFamily="34" charset="-122"/>
                <a:cs typeface="Courier New" pitchFamily="34" charset="-120"/>
              </a:rPr>
              <a:t>(</a:t>
            </a:r>
            <a:r>
              <a:rPr lang="en-US" sz="1150" dirty="0">
                <a:solidFill>
                  <a:srgbClr val="A6E3A1"/>
                </a:solidFill>
                <a:latin typeface="Courier New" pitchFamily="34" charset="0"/>
                <a:ea typeface="Courier New" pitchFamily="34" charset="-122"/>
                <a:cs typeface="Courier New" pitchFamily="34" charset="-120"/>
              </a:rPr>
              <a:t>"two"</a:t>
            </a:r>
            <a:r>
              <a:rPr lang="en-US" sz="1150" dirty="0">
                <a:solidFill>
                  <a:srgbClr val="E4E4F0"/>
                </a:solidFill>
                <a:latin typeface="Courier New" pitchFamily="34" charset="0"/>
                <a:ea typeface="Courier New" pitchFamily="34" charset="-122"/>
                <a:cs typeface="Courier New" pitchFamily="34" charset="-120"/>
              </a:rPr>
              <a:t>)       </a:t>
            </a:r>
            <a:r>
              <a:rPr lang="en-US" sz="1150" i="1" dirty="0">
                <a:solidFill>
                  <a:srgbClr val="8A8FB5"/>
                </a:solidFill>
                <a:latin typeface="Courier New" pitchFamily="34" charset="0"/>
                <a:ea typeface="Courier New" pitchFamily="34" charset="-122"/>
                <a:cs typeface="Courier New" pitchFamily="34" charset="-120"/>
              </a:rPr>
              <a:t># remove</a:t>
            </a:r>
            <a:endParaRPr lang="en-US" sz="1150" dirty="0"/>
          </a:p>
          <a:p>
            <a:pPr marL="0" indent="0">
              <a:buNone/>
            </a:pPr>
            <a:r>
              <a:rPr lang="en-US" sz="1150" dirty="0">
                <a:solidFill>
                  <a:srgbClr val="82AAFF"/>
                </a:solidFill>
                <a:latin typeface="Courier New" pitchFamily="34" charset="0"/>
                <a:ea typeface="Courier New" pitchFamily="34" charset="-122"/>
                <a:cs typeface="Courier New" pitchFamily="34" charset="-120"/>
              </a:rPr>
              <a:t>print</a:t>
            </a:r>
            <a:r>
              <a:rPr lang="en-US" sz="1150" dirty="0">
                <a:solidFill>
                  <a:srgbClr val="E4E4F0"/>
                </a:solidFill>
                <a:latin typeface="Courier New" pitchFamily="34" charset="0"/>
                <a:ea typeface="Courier New" pitchFamily="34" charset="-122"/>
                <a:cs typeface="Courier New" pitchFamily="34" charset="-120"/>
              </a:rPr>
              <a:t>(items)</a:t>
            </a:r>
            <a:endParaRPr lang="en-US" sz="1150" dirty="0"/>
          </a:p>
          <a:p>
            <a:pPr marL="0" indent="0">
              <a:buNone/>
            </a:pPr>
            <a:r>
              <a:rPr lang="en-US" sz="1150" dirty="0">
                <a:solidFill>
                  <a:srgbClr val="82AAFF"/>
                </a:solidFill>
                <a:latin typeface="Courier New" pitchFamily="34" charset="0"/>
                <a:ea typeface="Courier New" pitchFamily="34" charset="-122"/>
                <a:cs typeface="Courier New" pitchFamily="34" charset="-120"/>
              </a:rPr>
              <a:t>print</a:t>
            </a:r>
            <a:r>
              <a:rPr lang="en-US" sz="1150" dirty="0">
                <a:solidFill>
                  <a:srgbClr val="E4E4F0"/>
                </a:solidFill>
                <a:latin typeface="Courier New" pitchFamily="34" charset="0"/>
                <a:ea typeface="Courier New" pitchFamily="34" charset="-122"/>
                <a:cs typeface="Courier New" pitchFamily="34" charset="-120"/>
              </a:rPr>
              <a:t>(items[</a:t>
            </a:r>
            <a:r>
              <a:rPr lang="en-US" sz="1150" dirty="0">
                <a:solidFill>
                  <a:srgbClr val="FAB387"/>
                </a:solidFill>
                <a:latin typeface="Courier New" pitchFamily="34" charset="0"/>
                <a:ea typeface="Courier New" pitchFamily="34" charset="-122"/>
                <a:cs typeface="Courier New" pitchFamily="34" charset="-120"/>
              </a:rPr>
              <a:t>0</a:t>
            </a:r>
            <a:r>
              <a:rPr lang="en-US" sz="1150" dirty="0">
                <a:solidFill>
                  <a:srgbClr val="E4E4F0"/>
                </a:solidFill>
                <a:latin typeface="Courier New" pitchFamily="34" charset="0"/>
                <a:ea typeface="Courier New" pitchFamily="34" charset="-122"/>
                <a:cs typeface="Courier New" pitchFamily="34" charset="-120"/>
              </a:rPr>
              <a:t>])</a:t>
            </a:r>
            <a:endParaRPr lang="en-US" sz="1150" dirty="0"/>
          </a:p>
        </p:txBody>
      </p:sp>
      <p:sp>
        <p:nvSpPr>
          <p:cNvPr id="22" name="Shape 20"/>
          <p:cNvSpPr/>
          <p:nvPr/>
        </p:nvSpPr>
        <p:spPr>
          <a:xfrm>
            <a:off x="6675120" y="3208909"/>
            <a:ext cx="5013655" cy="765302"/>
          </a:xfrm>
          <a:prstGeom prst="roundRect">
            <a:avLst>
              <a:gd name="adj" fmla="val 11948"/>
            </a:avLst>
          </a:prstGeom>
          <a:solidFill>
            <a:srgbClr val="F6F6FF"/>
          </a:solidFill>
          <a:ln w="9525">
            <a:solidFill>
              <a:srgbClr val="DCDDF5"/>
            </a:solidFill>
            <a:prstDash val="solid"/>
          </a:ln>
        </p:spPr>
        <p:txBody>
          <a:bodyPr/>
          <a:lstStyle/>
          <a:p>
            <a:endParaRPr lang="en-PH"/>
          </a:p>
        </p:txBody>
      </p:sp>
      <p:sp>
        <p:nvSpPr>
          <p:cNvPr id="23" name="Text 21"/>
          <p:cNvSpPr txBox="1"/>
          <p:nvPr/>
        </p:nvSpPr>
        <p:spPr>
          <a:xfrm>
            <a:off x="6821424" y="3282061"/>
            <a:ext cx="4739335" cy="182880"/>
          </a:xfrm>
          <a:prstGeom prst="rect">
            <a:avLst/>
          </a:prstGeom>
          <a:noFill/>
          <a:ln/>
        </p:spPr>
        <p:txBody>
          <a:bodyPr wrap="square" lIns="0" tIns="0" rIns="0" bIns="0" rtlCol="0" anchor="ctr"/>
          <a:lstStyle/>
          <a:p>
            <a:pPr marL="0" indent="0">
              <a:buNone/>
            </a:pPr>
            <a:r>
              <a:rPr lang="en-US" sz="850" b="1" kern="0" spc="150" dirty="0">
                <a:solidFill>
                  <a:srgbClr val="4F46E5"/>
                </a:solidFill>
                <a:latin typeface="Calibri" pitchFamily="34" charset="0"/>
                <a:ea typeface="Calibri" pitchFamily="34" charset="-122"/>
                <a:cs typeface="Calibri" pitchFamily="34" charset="-120"/>
              </a:rPr>
              <a:t>OUTPUT</a:t>
            </a:r>
            <a:endParaRPr lang="en-US" sz="850" dirty="0"/>
          </a:p>
        </p:txBody>
      </p:sp>
      <p:sp>
        <p:nvSpPr>
          <p:cNvPr id="24" name="Text 22"/>
          <p:cNvSpPr txBox="1"/>
          <p:nvPr/>
        </p:nvSpPr>
        <p:spPr>
          <a:xfrm>
            <a:off x="6821424" y="3501517"/>
            <a:ext cx="4775911" cy="436118"/>
          </a:xfrm>
          <a:prstGeom prst="rect">
            <a:avLst/>
          </a:prstGeom>
          <a:noFill/>
          <a:ln/>
        </p:spPr>
        <p:txBody>
          <a:bodyPr wrap="square" lIns="0" tIns="0" rIns="0" bIns="0" rtlCol="0" anchor="t"/>
          <a:lstStyle/>
          <a:p>
            <a:pPr marL="0" indent="0">
              <a:buNone/>
            </a:pPr>
            <a:r>
              <a:rPr lang="en-US" sz="1150" dirty="0">
                <a:solidFill>
                  <a:srgbClr val="1E1B4B"/>
                </a:solidFill>
                <a:latin typeface="Courier New" pitchFamily="34" charset="0"/>
                <a:ea typeface="Courier New" pitchFamily="34" charset="-122"/>
                <a:cs typeface="Courier New" pitchFamily="34" charset="-120"/>
              </a:rPr>
              <a:t>[99, 3.0, 4]</a:t>
            </a:r>
            <a:endParaRPr lang="en-US" sz="1150" dirty="0"/>
          </a:p>
          <a:p>
            <a:pPr marL="0" indent="0">
              <a:buNone/>
            </a:pPr>
            <a:r>
              <a:rPr lang="en-US" sz="1150" dirty="0">
                <a:solidFill>
                  <a:srgbClr val="1E1B4B"/>
                </a:solidFill>
                <a:latin typeface="Courier New" pitchFamily="34" charset="0"/>
                <a:ea typeface="Courier New" pitchFamily="34" charset="-122"/>
                <a:cs typeface="Courier New" pitchFamily="34" charset="-120"/>
              </a:rPr>
              <a:t>99</a:t>
            </a:r>
            <a:endParaRPr lang="en-US" sz="1150" dirty="0"/>
          </a:p>
        </p:txBody>
      </p:sp>
      <p:sp>
        <p:nvSpPr>
          <p:cNvPr id="25" name="Shape 23"/>
          <p:cNvSpPr/>
          <p:nvPr/>
        </p:nvSpPr>
        <p:spPr>
          <a:xfrm>
            <a:off x="502920" y="5111496"/>
            <a:ext cx="5852160" cy="1106424"/>
          </a:xfrm>
          <a:prstGeom prst="roundRect">
            <a:avLst>
              <a:gd name="adj" fmla="val 9917"/>
            </a:avLst>
          </a:prstGeom>
          <a:solidFill>
            <a:srgbClr val="F1F1FE"/>
          </a:solidFill>
          <a:ln w="9525">
            <a:solidFill>
              <a:srgbClr val="DCDDF5"/>
            </a:solidFill>
            <a:prstDash val="solid"/>
          </a:ln>
        </p:spPr>
        <p:txBody>
          <a:bodyPr/>
          <a:lstStyle/>
          <a:p>
            <a:endParaRPr lang="en-PH"/>
          </a:p>
        </p:txBody>
      </p:sp>
      <p:sp>
        <p:nvSpPr>
          <p:cNvPr id="26" name="Text 24"/>
          <p:cNvSpPr txBox="1"/>
          <p:nvPr/>
        </p:nvSpPr>
        <p:spPr>
          <a:xfrm>
            <a:off x="731520" y="5157216"/>
            <a:ext cx="5394960" cy="969264"/>
          </a:xfrm>
          <a:prstGeom prst="rect">
            <a:avLst/>
          </a:prstGeom>
          <a:noFill/>
          <a:ln/>
        </p:spPr>
        <p:txBody>
          <a:bodyPr wrap="square" lIns="0" tIns="0" rIns="0" bIns="0" rtlCol="0" anchor="ctr"/>
          <a:lstStyle/>
          <a:p>
            <a:pPr marL="0" indent="0">
              <a:spcAft>
                <a:spcPts val="600"/>
              </a:spcAft>
              <a:buNone/>
            </a:pPr>
            <a:r>
              <a:rPr lang="en-US" sz="1300" b="1" dirty="0">
                <a:solidFill>
                  <a:srgbClr val="1E1B4B"/>
                </a:solidFill>
                <a:latin typeface="Calibri" pitchFamily="34" charset="0"/>
                <a:ea typeface="Calibri" pitchFamily="34" charset="-122"/>
                <a:cs typeface="Calibri" pitchFamily="34" charset="-120"/>
              </a:rPr>
              <a:t>Negative indexes</a:t>
            </a:r>
            <a:r>
              <a:rPr lang="en-US" sz="1300" dirty="0">
                <a:solidFill>
                  <a:srgbClr val="1E1B4B"/>
                </a:solidFill>
                <a:latin typeface="Calibri" pitchFamily="34" charset="0"/>
                <a:ea typeface="Calibri" pitchFamily="34" charset="-122"/>
                <a:cs typeface="Calibri" pitchFamily="34" charset="-120"/>
              </a:rPr>
              <a:t> count from the end: </a:t>
            </a:r>
            <a:r>
              <a:rPr lang="en-US" sz="1300" dirty="0">
                <a:solidFill>
                  <a:srgbClr val="4F46E5"/>
                </a:solidFill>
                <a:latin typeface="Courier New" pitchFamily="34" charset="0"/>
                <a:ea typeface="Courier New" pitchFamily="34" charset="-122"/>
                <a:cs typeface="Courier New" pitchFamily="34" charset="-120"/>
              </a:rPr>
              <a:t>items[-1]</a:t>
            </a:r>
            <a:r>
              <a:rPr lang="en-US" sz="1300" dirty="0">
                <a:solidFill>
                  <a:srgbClr val="1E1B4B"/>
                </a:solidFill>
                <a:latin typeface="Calibri" pitchFamily="34" charset="0"/>
                <a:ea typeface="Calibri" pitchFamily="34" charset="-122"/>
                <a:cs typeface="Calibri" pitchFamily="34" charset="-120"/>
              </a:rPr>
              <a:t> returns the last item and </a:t>
            </a:r>
            <a:r>
              <a:rPr lang="en-US" sz="1300" dirty="0">
                <a:solidFill>
                  <a:srgbClr val="4F46E5"/>
                </a:solidFill>
                <a:latin typeface="Courier New" pitchFamily="34" charset="0"/>
                <a:ea typeface="Courier New" pitchFamily="34" charset="-122"/>
                <a:cs typeface="Courier New" pitchFamily="34" charset="-120"/>
              </a:rPr>
              <a:t>items[-2]</a:t>
            </a:r>
            <a:r>
              <a:rPr lang="en-US" sz="1300" dirty="0">
                <a:solidFill>
                  <a:srgbClr val="1E1B4B"/>
                </a:solidFill>
                <a:latin typeface="Calibri" pitchFamily="34" charset="0"/>
                <a:ea typeface="Calibri" pitchFamily="34" charset="-122"/>
                <a:cs typeface="Calibri" pitchFamily="34" charset="-120"/>
              </a:rPr>
              <a:t> the one before it.</a:t>
            </a:r>
            <a:endParaRPr lang="en-US" sz="1300" dirty="0"/>
          </a:p>
          <a:p>
            <a:pPr marL="0" indent="0">
              <a:spcAft>
                <a:spcPts val="600"/>
              </a:spcAft>
              <a:buNone/>
            </a:pPr>
            <a:r>
              <a:rPr lang="en-US" sz="1300" b="1" dirty="0">
                <a:solidFill>
                  <a:srgbClr val="1E1B4B"/>
                </a:solidFill>
                <a:latin typeface="Calibri" pitchFamily="34" charset="0"/>
                <a:ea typeface="Calibri" pitchFamily="34" charset="-122"/>
                <a:cs typeface="Calibri" pitchFamily="34" charset="-120"/>
              </a:rPr>
              <a:t>Lists can grow and shrink</a:t>
            </a:r>
            <a:r>
              <a:rPr lang="en-US" sz="1300" dirty="0">
                <a:solidFill>
                  <a:srgbClr val="1E1B4B"/>
                </a:solidFill>
                <a:latin typeface="Calibri" pitchFamily="34" charset="0"/>
                <a:ea typeface="Calibri" pitchFamily="34" charset="-122"/>
                <a:cs typeface="Calibri" pitchFamily="34" charset="-120"/>
              </a:rPr>
              <a:t> — no fixed size needs to be declared.</a:t>
            </a:r>
            <a:endParaRPr lang="en-US" sz="1300" dirty="0"/>
          </a:p>
        </p:txBody>
      </p:sp>
      <p:sp>
        <p:nvSpPr>
          <p:cNvPr id="27" name="Text 25"/>
          <p:cNvSpPr txBox="1"/>
          <p:nvPr/>
        </p:nvSpPr>
        <p:spPr>
          <a:xfrm>
            <a:off x="6675120" y="4157091"/>
            <a:ext cx="5013655" cy="228600"/>
          </a:xfrm>
          <a:prstGeom prst="rect">
            <a:avLst/>
          </a:prstGeom>
          <a:noFill/>
          <a:ln/>
        </p:spPr>
        <p:txBody>
          <a:bodyPr wrap="square" lIns="0" tIns="0" rIns="0" bIns="0" rtlCol="0" anchor="t"/>
          <a:lstStyle/>
          <a:p>
            <a:pPr marL="0" indent="0">
              <a:buNone/>
            </a:pPr>
            <a:r>
              <a:rPr lang="en-US" sz="1050" b="1" kern="0" spc="200" dirty="0">
                <a:solidFill>
                  <a:srgbClr val="C8559F"/>
                </a:solidFill>
                <a:latin typeface="Calibri" pitchFamily="34" charset="0"/>
                <a:ea typeface="Calibri" pitchFamily="34" charset="-122"/>
                <a:cs typeface="Calibri" pitchFamily="34" charset="-120"/>
              </a:rPr>
              <a:t>COMMON LIST METHODS</a:t>
            </a:r>
            <a:endParaRPr lang="en-US" sz="1050" dirty="0"/>
          </a:p>
        </p:txBody>
      </p:sp>
      <p:sp>
        <p:nvSpPr>
          <p:cNvPr id="28" name="Shape 26"/>
          <p:cNvSpPr/>
          <p:nvPr/>
        </p:nvSpPr>
        <p:spPr>
          <a:xfrm>
            <a:off x="6675120" y="4477131"/>
            <a:ext cx="1549298" cy="621792"/>
          </a:xfrm>
          <a:prstGeom prst="roundRect">
            <a:avLst>
              <a:gd name="adj" fmla="val 11765"/>
            </a:avLst>
          </a:prstGeom>
          <a:solidFill>
            <a:srgbClr val="F1F1FE"/>
          </a:solidFill>
          <a:ln w="9525">
            <a:solidFill>
              <a:srgbClr val="DCDDF5"/>
            </a:solidFill>
            <a:prstDash val="solid"/>
          </a:ln>
        </p:spPr>
        <p:txBody>
          <a:bodyPr/>
          <a:lstStyle/>
          <a:p>
            <a:endParaRPr lang="en-PH"/>
          </a:p>
        </p:txBody>
      </p:sp>
      <p:sp>
        <p:nvSpPr>
          <p:cNvPr id="29" name="Text 27"/>
          <p:cNvSpPr txBox="1"/>
          <p:nvPr/>
        </p:nvSpPr>
        <p:spPr>
          <a:xfrm>
            <a:off x="6784848" y="4531995"/>
            <a:ext cx="1329842" cy="256032"/>
          </a:xfrm>
          <a:prstGeom prst="rect">
            <a:avLst/>
          </a:prstGeom>
          <a:noFill/>
          <a:ln/>
        </p:spPr>
        <p:txBody>
          <a:bodyPr wrap="square" lIns="0" tIns="0" rIns="0" bIns="0" rtlCol="0" anchor="t"/>
          <a:lstStyle/>
          <a:p>
            <a:pPr marL="0" indent="0">
              <a:buNone/>
            </a:pPr>
            <a:r>
              <a:rPr lang="en-US" sz="1100" b="1" dirty="0">
                <a:solidFill>
                  <a:srgbClr val="4F46E5"/>
                </a:solidFill>
                <a:latin typeface="Courier New" pitchFamily="34" charset="0"/>
                <a:ea typeface="Courier New" pitchFamily="34" charset="-122"/>
                <a:cs typeface="Courier New" pitchFamily="34" charset="-120"/>
              </a:rPr>
              <a:t>append()</a:t>
            </a:r>
            <a:endParaRPr lang="en-US" sz="1100" dirty="0"/>
          </a:p>
        </p:txBody>
      </p:sp>
      <p:sp>
        <p:nvSpPr>
          <p:cNvPr id="30" name="Text 28"/>
          <p:cNvSpPr txBox="1"/>
          <p:nvPr/>
        </p:nvSpPr>
        <p:spPr>
          <a:xfrm>
            <a:off x="6784848" y="4797171"/>
            <a:ext cx="1329842" cy="237744"/>
          </a:xfrm>
          <a:prstGeom prst="rect">
            <a:avLst/>
          </a:prstGeom>
          <a:noFill/>
          <a:ln/>
        </p:spPr>
        <p:txBody>
          <a:bodyPr wrap="square" lIns="0" tIns="0" rIns="0" bIns="0" rtlCol="0" anchor="t"/>
          <a:lstStyle/>
          <a:p>
            <a:pPr marL="0" indent="0">
              <a:buNone/>
            </a:pPr>
            <a:r>
              <a:rPr lang="en-US" sz="1050" dirty="0">
                <a:solidFill>
                  <a:srgbClr val="5B5F7A"/>
                </a:solidFill>
                <a:latin typeface="Calibri" pitchFamily="34" charset="0"/>
                <a:ea typeface="Calibri" pitchFamily="34" charset="-122"/>
                <a:cs typeface="Calibri" pitchFamily="34" charset="-120"/>
              </a:rPr>
              <a:t>add to end</a:t>
            </a:r>
            <a:endParaRPr lang="en-US" sz="1050" dirty="0"/>
          </a:p>
        </p:txBody>
      </p:sp>
      <p:sp>
        <p:nvSpPr>
          <p:cNvPr id="31" name="Shape 29"/>
          <p:cNvSpPr/>
          <p:nvPr/>
        </p:nvSpPr>
        <p:spPr>
          <a:xfrm>
            <a:off x="8407298" y="4477131"/>
            <a:ext cx="1549298" cy="621792"/>
          </a:xfrm>
          <a:prstGeom prst="roundRect">
            <a:avLst>
              <a:gd name="adj" fmla="val 11765"/>
            </a:avLst>
          </a:prstGeom>
          <a:solidFill>
            <a:srgbClr val="F1F1FE"/>
          </a:solidFill>
          <a:ln w="9525">
            <a:solidFill>
              <a:srgbClr val="DCDDF5"/>
            </a:solidFill>
            <a:prstDash val="solid"/>
          </a:ln>
        </p:spPr>
        <p:txBody>
          <a:bodyPr/>
          <a:lstStyle/>
          <a:p>
            <a:endParaRPr lang="en-PH"/>
          </a:p>
        </p:txBody>
      </p:sp>
      <p:sp>
        <p:nvSpPr>
          <p:cNvPr id="32" name="Text 30"/>
          <p:cNvSpPr txBox="1"/>
          <p:nvPr/>
        </p:nvSpPr>
        <p:spPr>
          <a:xfrm>
            <a:off x="8517026" y="4531995"/>
            <a:ext cx="1329842" cy="256032"/>
          </a:xfrm>
          <a:prstGeom prst="rect">
            <a:avLst/>
          </a:prstGeom>
          <a:noFill/>
          <a:ln/>
        </p:spPr>
        <p:txBody>
          <a:bodyPr wrap="square" lIns="0" tIns="0" rIns="0" bIns="0" rtlCol="0" anchor="t"/>
          <a:lstStyle/>
          <a:p>
            <a:pPr marL="0" indent="0">
              <a:buNone/>
            </a:pPr>
            <a:r>
              <a:rPr lang="en-US" sz="1100" b="1" dirty="0">
                <a:solidFill>
                  <a:srgbClr val="4F46E5"/>
                </a:solidFill>
                <a:latin typeface="Courier New" pitchFamily="34" charset="0"/>
                <a:ea typeface="Courier New" pitchFamily="34" charset="-122"/>
                <a:cs typeface="Courier New" pitchFamily="34" charset="-120"/>
              </a:rPr>
              <a:t>insert()</a:t>
            </a:r>
            <a:endParaRPr lang="en-US" sz="1100" dirty="0"/>
          </a:p>
        </p:txBody>
      </p:sp>
      <p:sp>
        <p:nvSpPr>
          <p:cNvPr id="33" name="Text 31"/>
          <p:cNvSpPr txBox="1"/>
          <p:nvPr/>
        </p:nvSpPr>
        <p:spPr>
          <a:xfrm>
            <a:off x="8517026" y="4797171"/>
            <a:ext cx="1329842" cy="237744"/>
          </a:xfrm>
          <a:prstGeom prst="rect">
            <a:avLst/>
          </a:prstGeom>
          <a:noFill/>
          <a:ln/>
        </p:spPr>
        <p:txBody>
          <a:bodyPr wrap="square" lIns="0" tIns="0" rIns="0" bIns="0" rtlCol="0" anchor="t"/>
          <a:lstStyle/>
          <a:p>
            <a:pPr marL="0" indent="0">
              <a:buNone/>
            </a:pPr>
            <a:r>
              <a:rPr lang="en-US" sz="1050" dirty="0">
                <a:solidFill>
                  <a:srgbClr val="5B5F7A"/>
                </a:solidFill>
                <a:latin typeface="Calibri" pitchFamily="34" charset="0"/>
                <a:ea typeface="Calibri" pitchFamily="34" charset="-122"/>
                <a:cs typeface="Calibri" pitchFamily="34" charset="-120"/>
              </a:rPr>
              <a:t>add at index</a:t>
            </a:r>
            <a:endParaRPr lang="en-US" sz="1050" dirty="0"/>
          </a:p>
        </p:txBody>
      </p:sp>
      <p:sp>
        <p:nvSpPr>
          <p:cNvPr id="34" name="Shape 32"/>
          <p:cNvSpPr/>
          <p:nvPr/>
        </p:nvSpPr>
        <p:spPr>
          <a:xfrm>
            <a:off x="10139477" y="4477131"/>
            <a:ext cx="1549298" cy="621792"/>
          </a:xfrm>
          <a:prstGeom prst="roundRect">
            <a:avLst>
              <a:gd name="adj" fmla="val 11765"/>
            </a:avLst>
          </a:prstGeom>
          <a:solidFill>
            <a:srgbClr val="F1F1FE"/>
          </a:solidFill>
          <a:ln w="9525">
            <a:solidFill>
              <a:srgbClr val="DCDDF5"/>
            </a:solidFill>
            <a:prstDash val="solid"/>
          </a:ln>
        </p:spPr>
        <p:txBody>
          <a:bodyPr/>
          <a:lstStyle/>
          <a:p>
            <a:endParaRPr lang="en-PH"/>
          </a:p>
        </p:txBody>
      </p:sp>
      <p:sp>
        <p:nvSpPr>
          <p:cNvPr id="35" name="Text 33"/>
          <p:cNvSpPr txBox="1"/>
          <p:nvPr/>
        </p:nvSpPr>
        <p:spPr>
          <a:xfrm>
            <a:off x="10249205" y="4531995"/>
            <a:ext cx="1329842" cy="256032"/>
          </a:xfrm>
          <a:prstGeom prst="rect">
            <a:avLst/>
          </a:prstGeom>
          <a:noFill/>
          <a:ln/>
        </p:spPr>
        <p:txBody>
          <a:bodyPr wrap="square" lIns="0" tIns="0" rIns="0" bIns="0" rtlCol="0" anchor="t"/>
          <a:lstStyle/>
          <a:p>
            <a:pPr marL="0" indent="0">
              <a:buNone/>
            </a:pPr>
            <a:r>
              <a:rPr lang="en-US" sz="1100" b="1" dirty="0">
                <a:solidFill>
                  <a:srgbClr val="4F46E5"/>
                </a:solidFill>
                <a:latin typeface="Courier New" pitchFamily="34" charset="0"/>
                <a:ea typeface="Courier New" pitchFamily="34" charset="-122"/>
                <a:cs typeface="Courier New" pitchFamily="34" charset="-120"/>
              </a:rPr>
              <a:t>remove()</a:t>
            </a:r>
            <a:endParaRPr lang="en-US" sz="1100" dirty="0"/>
          </a:p>
        </p:txBody>
      </p:sp>
      <p:sp>
        <p:nvSpPr>
          <p:cNvPr id="36" name="Text 34"/>
          <p:cNvSpPr txBox="1"/>
          <p:nvPr/>
        </p:nvSpPr>
        <p:spPr>
          <a:xfrm>
            <a:off x="10249205" y="4797171"/>
            <a:ext cx="1329842" cy="237744"/>
          </a:xfrm>
          <a:prstGeom prst="rect">
            <a:avLst/>
          </a:prstGeom>
          <a:noFill/>
          <a:ln/>
        </p:spPr>
        <p:txBody>
          <a:bodyPr wrap="square" lIns="0" tIns="0" rIns="0" bIns="0" rtlCol="0" anchor="t"/>
          <a:lstStyle/>
          <a:p>
            <a:pPr marL="0" indent="0">
              <a:buNone/>
            </a:pPr>
            <a:r>
              <a:rPr lang="en-US" sz="1050" dirty="0">
                <a:solidFill>
                  <a:srgbClr val="5B5F7A"/>
                </a:solidFill>
                <a:latin typeface="Calibri" pitchFamily="34" charset="0"/>
                <a:ea typeface="Calibri" pitchFamily="34" charset="-122"/>
                <a:cs typeface="Calibri" pitchFamily="34" charset="-120"/>
              </a:rPr>
              <a:t>delete by value</a:t>
            </a:r>
            <a:endParaRPr lang="en-US" sz="1050" dirty="0"/>
          </a:p>
        </p:txBody>
      </p:sp>
      <p:sp>
        <p:nvSpPr>
          <p:cNvPr id="37" name="Shape 35"/>
          <p:cNvSpPr/>
          <p:nvPr/>
        </p:nvSpPr>
        <p:spPr>
          <a:xfrm>
            <a:off x="6675120" y="5190363"/>
            <a:ext cx="1549298" cy="621792"/>
          </a:xfrm>
          <a:prstGeom prst="roundRect">
            <a:avLst>
              <a:gd name="adj" fmla="val 11765"/>
            </a:avLst>
          </a:prstGeom>
          <a:solidFill>
            <a:srgbClr val="F1F1FE"/>
          </a:solidFill>
          <a:ln w="9525">
            <a:solidFill>
              <a:srgbClr val="DCDDF5"/>
            </a:solidFill>
            <a:prstDash val="solid"/>
          </a:ln>
        </p:spPr>
        <p:txBody>
          <a:bodyPr/>
          <a:lstStyle/>
          <a:p>
            <a:endParaRPr lang="en-PH"/>
          </a:p>
        </p:txBody>
      </p:sp>
      <p:sp>
        <p:nvSpPr>
          <p:cNvPr id="38" name="Text 36"/>
          <p:cNvSpPr txBox="1"/>
          <p:nvPr/>
        </p:nvSpPr>
        <p:spPr>
          <a:xfrm>
            <a:off x="6784848" y="5245227"/>
            <a:ext cx="1329842" cy="256032"/>
          </a:xfrm>
          <a:prstGeom prst="rect">
            <a:avLst/>
          </a:prstGeom>
          <a:noFill/>
          <a:ln/>
        </p:spPr>
        <p:txBody>
          <a:bodyPr wrap="square" lIns="0" tIns="0" rIns="0" bIns="0" rtlCol="0" anchor="t"/>
          <a:lstStyle/>
          <a:p>
            <a:pPr marL="0" indent="0">
              <a:buNone/>
            </a:pPr>
            <a:r>
              <a:rPr lang="en-US" sz="1100" b="1" dirty="0">
                <a:solidFill>
                  <a:srgbClr val="4F46E5"/>
                </a:solidFill>
                <a:latin typeface="Courier New" pitchFamily="34" charset="0"/>
                <a:ea typeface="Courier New" pitchFamily="34" charset="-122"/>
                <a:cs typeface="Courier New" pitchFamily="34" charset="-120"/>
              </a:rPr>
              <a:t>pop()</a:t>
            </a:r>
            <a:endParaRPr lang="en-US" sz="1100" dirty="0"/>
          </a:p>
        </p:txBody>
      </p:sp>
      <p:sp>
        <p:nvSpPr>
          <p:cNvPr id="39" name="Text 37"/>
          <p:cNvSpPr txBox="1"/>
          <p:nvPr/>
        </p:nvSpPr>
        <p:spPr>
          <a:xfrm>
            <a:off x="6784848" y="5510403"/>
            <a:ext cx="1329842" cy="237744"/>
          </a:xfrm>
          <a:prstGeom prst="rect">
            <a:avLst/>
          </a:prstGeom>
          <a:noFill/>
          <a:ln/>
        </p:spPr>
        <p:txBody>
          <a:bodyPr wrap="square" lIns="0" tIns="0" rIns="0" bIns="0" rtlCol="0" anchor="t"/>
          <a:lstStyle/>
          <a:p>
            <a:pPr marL="0" indent="0">
              <a:buNone/>
            </a:pPr>
            <a:r>
              <a:rPr lang="en-US" sz="1050" dirty="0">
                <a:solidFill>
                  <a:srgbClr val="5B5F7A"/>
                </a:solidFill>
                <a:latin typeface="Calibri" pitchFamily="34" charset="0"/>
                <a:ea typeface="Calibri" pitchFamily="34" charset="-122"/>
                <a:cs typeface="Calibri" pitchFamily="34" charset="-120"/>
              </a:rPr>
              <a:t>delete by index</a:t>
            </a:r>
            <a:endParaRPr lang="en-US" sz="1050" dirty="0"/>
          </a:p>
        </p:txBody>
      </p:sp>
      <p:sp>
        <p:nvSpPr>
          <p:cNvPr id="40" name="Shape 38"/>
          <p:cNvSpPr/>
          <p:nvPr/>
        </p:nvSpPr>
        <p:spPr>
          <a:xfrm>
            <a:off x="8407298" y="5190363"/>
            <a:ext cx="1549298" cy="621792"/>
          </a:xfrm>
          <a:prstGeom prst="roundRect">
            <a:avLst>
              <a:gd name="adj" fmla="val 11765"/>
            </a:avLst>
          </a:prstGeom>
          <a:solidFill>
            <a:srgbClr val="F1F1FE"/>
          </a:solidFill>
          <a:ln w="9525">
            <a:solidFill>
              <a:srgbClr val="DCDDF5"/>
            </a:solidFill>
            <a:prstDash val="solid"/>
          </a:ln>
        </p:spPr>
        <p:txBody>
          <a:bodyPr/>
          <a:lstStyle/>
          <a:p>
            <a:endParaRPr lang="en-PH"/>
          </a:p>
        </p:txBody>
      </p:sp>
      <p:sp>
        <p:nvSpPr>
          <p:cNvPr id="41" name="Text 39"/>
          <p:cNvSpPr txBox="1"/>
          <p:nvPr/>
        </p:nvSpPr>
        <p:spPr>
          <a:xfrm>
            <a:off x="8517026" y="5245227"/>
            <a:ext cx="1329842" cy="256032"/>
          </a:xfrm>
          <a:prstGeom prst="rect">
            <a:avLst/>
          </a:prstGeom>
          <a:noFill/>
          <a:ln/>
        </p:spPr>
        <p:txBody>
          <a:bodyPr wrap="square" lIns="0" tIns="0" rIns="0" bIns="0" rtlCol="0" anchor="t"/>
          <a:lstStyle/>
          <a:p>
            <a:pPr marL="0" indent="0">
              <a:buNone/>
            </a:pPr>
            <a:r>
              <a:rPr lang="en-US" sz="1100" b="1" dirty="0">
                <a:solidFill>
                  <a:srgbClr val="4F46E5"/>
                </a:solidFill>
                <a:latin typeface="Courier New" pitchFamily="34" charset="0"/>
                <a:ea typeface="Courier New" pitchFamily="34" charset="-122"/>
                <a:cs typeface="Courier New" pitchFamily="34" charset="-120"/>
              </a:rPr>
              <a:t>sort()</a:t>
            </a:r>
            <a:endParaRPr lang="en-US" sz="1100" dirty="0"/>
          </a:p>
        </p:txBody>
      </p:sp>
      <p:sp>
        <p:nvSpPr>
          <p:cNvPr id="42" name="Text 40"/>
          <p:cNvSpPr txBox="1"/>
          <p:nvPr/>
        </p:nvSpPr>
        <p:spPr>
          <a:xfrm>
            <a:off x="8517026" y="5510403"/>
            <a:ext cx="1329842" cy="237744"/>
          </a:xfrm>
          <a:prstGeom prst="rect">
            <a:avLst/>
          </a:prstGeom>
          <a:noFill/>
          <a:ln/>
        </p:spPr>
        <p:txBody>
          <a:bodyPr wrap="square" lIns="0" tIns="0" rIns="0" bIns="0" rtlCol="0" anchor="t"/>
          <a:lstStyle/>
          <a:p>
            <a:pPr marL="0" indent="0">
              <a:buNone/>
            </a:pPr>
            <a:r>
              <a:rPr lang="en-US" sz="1050" dirty="0">
                <a:solidFill>
                  <a:srgbClr val="5B5F7A"/>
                </a:solidFill>
                <a:latin typeface="Calibri" pitchFamily="34" charset="0"/>
                <a:ea typeface="Calibri" pitchFamily="34" charset="-122"/>
                <a:cs typeface="Calibri" pitchFamily="34" charset="-120"/>
              </a:rPr>
              <a:t>sort in place</a:t>
            </a:r>
            <a:endParaRPr lang="en-US" sz="1050" dirty="0"/>
          </a:p>
        </p:txBody>
      </p:sp>
      <p:sp>
        <p:nvSpPr>
          <p:cNvPr id="43" name="Shape 41"/>
          <p:cNvSpPr/>
          <p:nvPr/>
        </p:nvSpPr>
        <p:spPr>
          <a:xfrm>
            <a:off x="10139477" y="5190363"/>
            <a:ext cx="1549298" cy="621792"/>
          </a:xfrm>
          <a:prstGeom prst="roundRect">
            <a:avLst>
              <a:gd name="adj" fmla="val 11765"/>
            </a:avLst>
          </a:prstGeom>
          <a:solidFill>
            <a:srgbClr val="F1F1FE"/>
          </a:solidFill>
          <a:ln w="9525">
            <a:solidFill>
              <a:srgbClr val="DCDDF5"/>
            </a:solidFill>
            <a:prstDash val="solid"/>
          </a:ln>
        </p:spPr>
        <p:txBody>
          <a:bodyPr/>
          <a:lstStyle/>
          <a:p>
            <a:endParaRPr lang="en-PH"/>
          </a:p>
        </p:txBody>
      </p:sp>
      <p:sp>
        <p:nvSpPr>
          <p:cNvPr id="44" name="Text 42"/>
          <p:cNvSpPr txBox="1"/>
          <p:nvPr/>
        </p:nvSpPr>
        <p:spPr>
          <a:xfrm>
            <a:off x="10249205" y="5245227"/>
            <a:ext cx="1329842" cy="256032"/>
          </a:xfrm>
          <a:prstGeom prst="rect">
            <a:avLst/>
          </a:prstGeom>
          <a:noFill/>
          <a:ln/>
        </p:spPr>
        <p:txBody>
          <a:bodyPr wrap="square" lIns="0" tIns="0" rIns="0" bIns="0" rtlCol="0" anchor="t"/>
          <a:lstStyle/>
          <a:p>
            <a:pPr marL="0" indent="0">
              <a:buNone/>
            </a:pPr>
            <a:r>
              <a:rPr lang="en-US" sz="1100" b="1" dirty="0">
                <a:solidFill>
                  <a:srgbClr val="4F46E5"/>
                </a:solidFill>
                <a:latin typeface="Courier New" pitchFamily="34" charset="0"/>
                <a:ea typeface="Courier New" pitchFamily="34" charset="-122"/>
                <a:cs typeface="Courier New" pitchFamily="34" charset="-120"/>
              </a:rPr>
              <a:t>len()</a:t>
            </a:r>
            <a:endParaRPr lang="en-US" sz="1100" dirty="0"/>
          </a:p>
        </p:txBody>
      </p:sp>
      <p:sp>
        <p:nvSpPr>
          <p:cNvPr id="45" name="Text 43"/>
          <p:cNvSpPr txBox="1"/>
          <p:nvPr/>
        </p:nvSpPr>
        <p:spPr>
          <a:xfrm>
            <a:off x="10249205" y="5510403"/>
            <a:ext cx="1329842" cy="237744"/>
          </a:xfrm>
          <a:prstGeom prst="rect">
            <a:avLst/>
          </a:prstGeom>
          <a:noFill/>
          <a:ln/>
        </p:spPr>
        <p:txBody>
          <a:bodyPr wrap="square" lIns="0" tIns="0" rIns="0" bIns="0" rtlCol="0" anchor="t"/>
          <a:lstStyle/>
          <a:p>
            <a:pPr marL="0" indent="0">
              <a:buNone/>
            </a:pPr>
            <a:r>
              <a:rPr lang="en-US" sz="1050" dirty="0">
                <a:solidFill>
                  <a:srgbClr val="5B5F7A"/>
                </a:solidFill>
                <a:latin typeface="Calibri" pitchFamily="34" charset="0"/>
                <a:ea typeface="Calibri" pitchFamily="34" charset="-122"/>
                <a:cs typeface="Calibri" pitchFamily="34" charset="-120"/>
              </a:rPr>
              <a:t>count items</a:t>
            </a:r>
            <a:endParaRPr lang="en-US" sz="10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02920" y="310896"/>
            <a:ext cx="8229600" cy="237744"/>
          </a:xfrm>
          <a:prstGeom prst="rect">
            <a:avLst/>
          </a:prstGeom>
          <a:noFill/>
          <a:ln/>
        </p:spPr>
        <p:txBody>
          <a:bodyPr wrap="square" lIns="0" tIns="0" rIns="0" bIns="0" rtlCol="0" anchor="t"/>
          <a:lstStyle/>
          <a:p>
            <a:pPr marL="0" indent="0">
              <a:buNone/>
            </a:pPr>
            <a:r>
              <a:rPr lang="en-US" sz="1050" b="1" kern="0" spc="200" dirty="0">
                <a:solidFill>
                  <a:srgbClr val="C8559F"/>
                </a:solidFill>
                <a:latin typeface="Calibri" pitchFamily="34" charset="0"/>
                <a:ea typeface="Calibri" pitchFamily="34" charset="-122"/>
                <a:cs typeface="Calibri" pitchFamily="34" charset="-120"/>
              </a:rPr>
              <a:t>DATA STRUCTURE IN PYTHON</a:t>
            </a:r>
            <a:endParaRPr lang="en-US" sz="1050" dirty="0"/>
          </a:p>
        </p:txBody>
      </p:sp>
      <p:sp>
        <p:nvSpPr>
          <p:cNvPr id="3" name="Text 1"/>
          <p:cNvSpPr txBox="1"/>
          <p:nvPr/>
        </p:nvSpPr>
        <p:spPr>
          <a:xfrm>
            <a:off x="502920" y="530352"/>
            <a:ext cx="10241280" cy="640080"/>
          </a:xfrm>
          <a:prstGeom prst="rect">
            <a:avLst/>
          </a:prstGeom>
          <a:noFill/>
          <a:ln/>
        </p:spPr>
        <p:txBody>
          <a:bodyPr wrap="square" lIns="0" tIns="0" rIns="0" bIns="0" rtlCol="0" anchor="ctr"/>
          <a:lstStyle/>
          <a:p>
            <a:pPr marL="0" indent="0">
              <a:buNone/>
            </a:pPr>
            <a:r>
              <a:rPr lang="en-US" sz="2800" b="1" dirty="0">
                <a:solidFill>
                  <a:srgbClr val="1E1B4B"/>
                </a:solidFill>
                <a:latin typeface="Calibri" pitchFamily="34" charset="0"/>
                <a:ea typeface="Calibri" pitchFamily="34" charset="-122"/>
                <a:cs typeface="Calibri" pitchFamily="34" charset="-120"/>
              </a:rPr>
              <a:t>Python Tuples</a:t>
            </a:r>
            <a:endParaRPr lang="en-US" sz="2800" dirty="0"/>
          </a:p>
        </p:txBody>
      </p:sp>
      <p:sp>
        <p:nvSpPr>
          <p:cNvPr id="4" name="Text 2"/>
          <p:cNvSpPr txBox="1"/>
          <p:nvPr/>
        </p:nvSpPr>
        <p:spPr>
          <a:xfrm>
            <a:off x="502920" y="6446520"/>
            <a:ext cx="5486400" cy="228600"/>
          </a:xfrm>
          <a:prstGeom prst="rect">
            <a:avLst/>
          </a:prstGeom>
          <a:noFill/>
          <a:ln/>
        </p:spPr>
        <p:txBody>
          <a:bodyPr wrap="square" lIns="0" tIns="0" rIns="0" bIns="0" rtlCol="0" anchor="t"/>
          <a:lstStyle/>
          <a:p>
            <a:pPr marL="0" indent="0">
              <a:buNone/>
            </a:pPr>
            <a:r>
              <a:rPr lang="en-US" sz="900" dirty="0">
                <a:solidFill>
                  <a:srgbClr val="5B5F7A"/>
                </a:solidFill>
                <a:latin typeface="Calibri" pitchFamily="34" charset="0"/>
                <a:ea typeface="Calibri" pitchFamily="34" charset="-122"/>
                <a:cs typeface="Calibri" pitchFamily="34" charset="-120"/>
              </a:rPr>
              <a:t>Python  ·  Data Structure In Python</a:t>
            </a:r>
            <a:endParaRPr lang="en-US" sz="900" dirty="0"/>
          </a:p>
        </p:txBody>
      </p:sp>
      <p:sp>
        <p:nvSpPr>
          <p:cNvPr id="5" name="Text 3"/>
          <p:cNvSpPr txBox="1"/>
          <p:nvPr/>
        </p:nvSpPr>
        <p:spPr>
          <a:xfrm>
            <a:off x="11140135" y="6446520"/>
            <a:ext cx="548640" cy="228600"/>
          </a:xfrm>
          <a:prstGeom prst="rect">
            <a:avLst/>
          </a:prstGeom>
          <a:noFill/>
          <a:ln/>
        </p:spPr>
        <p:txBody>
          <a:bodyPr wrap="square" lIns="0" tIns="0" rIns="0" bIns="0" rtlCol="0" anchor="t"/>
          <a:lstStyle/>
          <a:p>
            <a:pPr marL="0" indent="0" algn="r">
              <a:buNone/>
            </a:pPr>
            <a:r>
              <a:rPr lang="en-US" sz="900" dirty="0">
                <a:solidFill>
                  <a:srgbClr val="5B5F7A"/>
                </a:solidFill>
                <a:latin typeface="Calibri" pitchFamily="34" charset="0"/>
                <a:ea typeface="Calibri" pitchFamily="34" charset="-122"/>
                <a:cs typeface="Calibri" pitchFamily="34" charset="-120"/>
              </a:rPr>
              <a:t>29</a:t>
            </a:r>
            <a:endParaRPr lang="en-US" sz="900" dirty="0"/>
          </a:p>
        </p:txBody>
      </p:sp>
      <p:sp>
        <p:nvSpPr>
          <p:cNvPr id="6" name="Text 4"/>
          <p:cNvSpPr txBox="1"/>
          <p:nvPr/>
        </p:nvSpPr>
        <p:spPr>
          <a:xfrm>
            <a:off x="502920" y="1417320"/>
            <a:ext cx="5852160" cy="365760"/>
          </a:xfrm>
          <a:prstGeom prst="rect">
            <a:avLst/>
          </a:prstGeom>
          <a:noFill/>
          <a:ln/>
        </p:spPr>
        <p:txBody>
          <a:bodyPr wrap="square" lIns="0" tIns="0" rIns="0" bIns="0" rtlCol="0" anchor="t"/>
          <a:lstStyle/>
          <a:p>
            <a:pPr marL="0" indent="0">
              <a:buNone/>
            </a:pPr>
            <a:r>
              <a:rPr lang="en-US" sz="1500" dirty="0">
                <a:solidFill>
                  <a:srgbClr val="1E1B4B"/>
                </a:solidFill>
                <a:latin typeface="Calibri" pitchFamily="34" charset="0"/>
                <a:ea typeface="Calibri" pitchFamily="34" charset="-122"/>
                <a:cs typeface="Calibri" pitchFamily="34" charset="-120"/>
              </a:rPr>
              <a:t>A tuple is an </a:t>
            </a:r>
            <a:r>
              <a:rPr lang="en-US" sz="1500" b="1" dirty="0">
                <a:solidFill>
                  <a:srgbClr val="1E1B4B"/>
                </a:solidFill>
                <a:latin typeface="Calibri" pitchFamily="34" charset="0"/>
                <a:ea typeface="Calibri" pitchFamily="34" charset="-122"/>
                <a:cs typeface="Calibri" pitchFamily="34" charset="-120"/>
              </a:rPr>
              <a:t>immutable ordered collection</a:t>
            </a:r>
            <a:r>
              <a:rPr lang="en-US" sz="1500" dirty="0">
                <a:solidFill>
                  <a:srgbClr val="1E1B4B"/>
                </a:solidFill>
                <a:latin typeface="Calibri" pitchFamily="34" charset="0"/>
                <a:ea typeface="Calibri" pitchFamily="34" charset="-122"/>
                <a:cs typeface="Calibri" pitchFamily="34" charset="-120"/>
              </a:rPr>
              <a:t> of elements.</a:t>
            </a:r>
            <a:endParaRPr lang="en-US" sz="1500" dirty="0"/>
          </a:p>
        </p:txBody>
      </p:sp>
      <p:sp>
        <p:nvSpPr>
          <p:cNvPr id="7" name="Shape 5"/>
          <p:cNvSpPr/>
          <p:nvPr/>
        </p:nvSpPr>
        <p:spPr>
          <a:xfrm>
            <a:off x="502920" y="1920240"/>
            <a:ext cx="5852160" cy="777240"/>
          </a:xfrm>
          <a:prstGeom prst="roundRect">
            <a:avLst>
              <a:gd name="adj" fmla="val 14118"/>
            </a:avLst>
          </a:prstGeom>
          <a:solidFill>
            <a:srgbClr val="FFFFFF"/>
          </a:solidFill>
          <a:ln w="9525">
            <a:solidFill>
              <a:srgbClr val="DCDDF5"/>
            </a:solidFill>
            <a:prstDash val="solid"/>
          </a:ln>
          <a:effectLst>
            <a:outerShdw blurRad="127000" dist="25400" dir="5400000" algn="bl" rotWithShape="0">
              <a:srgbClr val="4F46E5">
                <a:alpha val="12000"/>
              </a:srgbClr>
            </a:outerShdw>
          </a:effectLst>
        </p:spPr>
        <p:txBody>
          <a:bodyPr/>
          <a:lstStyle/>
          <a:p>
            <a:endParaRPr lang="en-PH"/>
          </a:p>
        </p:txBody>
      </p:sp>
      <p:sp>
        <p:nvSpPr>
          <p:cNvPr id="8" name="Shape 6"/>
          <p:cNvSpPr/>
          <p:nvPr/>
        </p:nvSpPr>
        <p:spPr>
          <a:xfrm>
            <a:off x="685800" y="2103120"/>
            <a:ext cx="402336" cy="402336"/>
          </a:xfrm>
          <a:prstGeom prst="ellipse">
            <a:avLst/>
          </a:prstGeom>
          <a:solidFill>
            <a:srgbClr val="4F46E5"/>
          </a:solidFill>
          <a:ln w="12700">
            <a:solidFill>
              <a:srgbClr val="4F46E5"/>
            </a:solidFill>
            <a:prstDash val="solid"/>
          </a:ln>
        </p:spPr>
        <p:txBody>
          <a:bodyPr/>
          <a:lstStyle/>
          <a:p>
            <a:endParaRPr lang="en-PH"/>
          </a:p>
        </p:txBody>
      </p:sp>
      <p:sp>
        <p:nvSpPr>
          <p:cNvPr id="9" name="Text 7"/>
          <p:cNvSpPr txBox="1"/>
          <p:nvPr/>
        </p:nvSpPr>
        <p:spPr>
          <a:xfrm>
            <a:off x="685800" y="2103120"/>
            <a:ext cx="402336" cy="402336"/>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0" name="Text 8"/>
          <p:cNvSpPr txBox="1"/>
          <p:nvPr/>
        </p:nvSpPr>
        <p:spPr>
          <a:xfrm>
            <a:off x="1234440" y="1965960"/>
            <a:ext cx="4937760" cy="685800"/>
          </a:xfrm>
          <a:prstGeom prst="rect">
            <a:avLst/>
          </a:prstGeom>
          <a:noFill/>
          <a:ln/>
        </p:spPr>
        <p:txBody>
          <a:bodyPr wrap="square" lIns="0" tIns="0" rIns="0" bIns="0" rtlCol="0" anchor="ctr"/>
          <a:lstStyle/>
          <a:p>
            <a:pPr marL="0" indent="0">
              <a:buNone/>
            </a:pPr>
            <a:r>
              <a:rPr lang="en-US" sz="1350" dirty="0">
                <a:solidFill>
                  <a:srgbClr val="1E1B4B"/>
                </a:solidFill>
                <a:latin typeface="Calibri" pitchFamily="34" charset="0"/>
                <a:ea typeface="Calibri" pitchFamily="34" charset="-122"/>
                <a:cs typeface="Calibri" pitchFamily="34" charset="-120"/>
              </a:rPr>
              <a:t>Tuples are similar to lists, but unlike lists, they cannot be changed after their creation.</a:t>
            </a:r>
            <a:endParaRPr lang="en-US" sz="1350" dirty="0"/>
          </a:p>
        </p:txBody>
      </p:sp>
      <p:sp>
        <p:nvSpPr>
          <p:cNvPr id="11" name="Shape 9"/>
          <p:cNvSpPr/>
          <p:nvPr/>
        </p:nvSpPr>
        <p:spPr>
          <a:xfrm>
            <a:off x="502920" y="2816352"/>
            <a:ext cx="5852160" cy="777240"/>
          </a:xfrm>
          <a:prstGeom prst="roundRect">
            <a:avLst>
              <a:gd name="adj" fmla="val 14118"/>
            </a:avLst>
          </a:prstGeom>
          <a:solidFill>
            <a:srgbClr val="FFFFFF"/>
          </a:solidFill>
          <a:ln w="9525">
            <a:solidFill>
              <a:srgbClr val="DCDDF5"/>
            </a:solidFill>
            <a:prstDash val="solid"/>
          </a:ln>
          <a:effectLst>
            <a:outerShdw blurRad="127000" dist="25400" dir="5400000" algn="bl" rotWithShape="0">
              <a:srgbClr val="4F46E5">
                <a:alpha val="12000"/>
              </a:srgbClr>
            </a:outerShdw>
          </a:effectLst>
        </p:spPr>
        <p:txBody>
          <a:bodyPr/>
          <a:lstStyle/>
          <a:p>
            <a:endParaRPr lang="en-PH"/>
          </a:p>
        </p:txBody>
      </p:sp>
      <p:sp>
        <p:nvSpPr>
          <p:cNvPr id="12" name="Shape 10"/>
          <p:cNvSpPr/>
          <p:nvPr/>
        </p:nvSpPr>
        <p:spPr>
          <a:xfrm>
            <a:off x="685800" y="2999232"/>
            <a:ext cx="402336" cy="402336"/>
          </a:xfrm>
          <a:prstGeom prst="ellipse">
            <a:avLst/>
          </a:prstGeom>
          <a:solidFill>
            <a:srgbClr val="C8559F"/>
          </a:solidFill>
          <a:ln w="12700">
            <a:solidFill>
              <a:srgbClr val="C8559F"/>
            </a:solidFill>
            <a:prstDash val="solid"/>
          </a:ln>
        </p:spPr>
        <p:txBody>
          <a:bodyPr/>
          <a:lstStyle/>
          <a:p>
            <a:endParaRPr lang="en-PH"/>
          </a:p>
        </p:txBody>
      </p:sp>
      <p:sp>
        <p:nvSpPr>
          <p:cNvPr id="13" name="Text 11"/>
          <p:cNvSpPr txBox="1"/>
          <p:nvPr/>
        </p:nvSpPr>
        <p:spPr>
          <a:xfrm>
            <a:off x="685800" y="2999232"/>
            <a:ext cx="402336" cy="402336"/>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4" name="Text 12"/>
          <p:cNvSpPr txBox="1"/>
          <p:nvPr/>
        </p:nvSpPr>
        <p:spPr>
          <a:xfrm>
            <a:off x="1234440" y="2862072"/>
            <a:ext cx="4937760" cy="685800"/>
          </a:xfrm>
          <a:prstGeom prst="rect">
            <a:avLst/>
          </a:prstGeom>
          <a:noFill/>
          <a:ln/>
        </p:spPr>
        <p:txBody>
          <a:bodyPr wrap="square" lIns="0" tIns="0" rIns="0" bIns="0" rtlCol="0" anchor="ctr"/>
          <a:lstStyle/>
          <a:p>
            <a:pPr marL="0" indent="0">
              <a:buNone/>
            </a:pPr>
            <a:r>
              <a:rPr lang="en-US" sz="1350" dirty="0">
                <a:solidFill>
                  <a:srgbClr val="1E1B4B"/>
                </a:solidFill>
                <a:latin typeface="Calibri" pitchFamily="34" charset="0"/>
                <a:ea typeface="Calibri" pitchFamily="34" charset="-122"/>
                <a:cs typeface="Calibri" pitchFamily="34" charset="-120"/>
              </a:rPr>
              <a:t>Can hold elements of different data types.</a:t>
            </a:r>
            <a:endParaRPr lang="en-US" sz="1350" dirty="0"/>
          </a:p>
        </p:txBody>
      </p:sp>
      <p:sp>
        <p:nvSpPr>
          <p:cNvPr id="15" name="Shape 13"/>
          <p:cNvSpPr/>
          <p:nvPr/>
        </p:nvSpPr>
        <p:spPr>
          <a:xfrm>
            <a:off x="502920" y="3712464"/>
            <a:ext cx="5852160" cy="777240"/>
          </a:xfrm>
          <a:prstGeom prst="roundRect">
            <a:avLst>
              <a:gd name="adj" fmla="val 14118"/>
            </a:avLst>
          </a:prstGeom>
          <a:solidFill>
            <a:srgbClr val="FFFFFF"/>
          </a:solidFill>
          <a:ln w="9525">
            <a:solidFill>
              <a:srgbClr val="DCDDF5"/>
            </a:solidFill>
            <a:prstDash val="solid"/>
          </a:ln>
          <a:effectLst>
            <a:outerShdw blurRad="127000" dist="25400" dir="5400000" algn="bl" rotWithShape="0">
              <a:srgbClr val="4F46E5">
                <a:alpha val="12000"/>
              </a:srgbClr>
            </a:outerShdw>
          </a:effectLst>
        </p:spPr>
        <p:txBody>
          <a:bodyPr/>
          <a:lstStyle/>
          <a:p>
            <a:endParaRPr lang="en-PH"/>
          </a:p>
        </p:txBody>
      </p:sp>
      <p:sp>
        <p:nvSpPr>
          <p:cNvPr id="16" name="Shape 14"/>
          <p:cNvSpPr/>
          <p:nvPr/>
        </p:nvSpPr>
        <p:spPr>
          <a:xfrm>
            <a:off x="685800" y="3895344"/>
            <a:ext cx="402336" cy="402336"/>
          </a:xfrm>
          <a:prstGeom prst="ellipse">
            <a:avLst/>
          </a:prstGeom>
          <a:solidFill>
            <a:srgbClr val="4F46E5"/>
          </a:solidFill>
          <a:ln w="12700">
            <a:solidFill>
              <a:srgbClr val="4F46E5"/>
            </a:solidFill>
            <a:prstDash val="solid"/>
          </a:ln>
        </p:spPr>
        <p:txBody>
          <a:bodyPr/>
          <a:lstStyle/>
          <a:p>
            <a:endParaRPr lang="en-PH"/>
          </a:p>
        </p:txBody>
      </p:sp>
      <p:sp>
        <p:nvSpPr>
          <p:cNvPr id="17" name="Text 15"/>
          <p:cNvSpPr txBox="1"/>
          <p:nvPr/>
        </p:nvSpPr>
        <p:spPr>
          <a:xfrm>
            <a:off x="685800" y="3895344"/>
            <a:ext cx="402336" cy="402336"/>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8" name="Text 16"/>
          <p:cNvSpPr txBox="1"/>
          <p:nvPr/>
        </p:nvSpPr>
        <p:spPr>
          <a:xfrm>
            <a:off x="1234440" y="3758184"/>
            <a:ext cx="4937760" cy="685800"/>
          </a:xfrm>
          <a:prstGeom prst="rect">
            <a:avLst/>
          </a:prstGeom>
          <a:noFill/>
          <a:ln/>
        </p:spPr>
        <p:txBody>
          <a:bodyPr wrap="square" lIns="0" tIns="0" rIns="0" bIns="0" rtlCol="0" anchor="ctr"/>
          <a:lstStyle/>
          <a:p>
            <a:pPr marL="0" indent="0">
              <a:buNone/>
            </a:pPr>
            <a:r>
              <a:rPr lang="en-US" sz="1350" dirty="0">
                <a:solidFill>
                  <a:srgbClr val="1E1B4B"/>
                </a:solidFill>
                <a:latin typeface="Calibri" pitchFamily="34" charset="0"/>
                <a:ea typeface="Calibri" pitchFamily="34" charset="-122"/>
                <a:cs typeface="Calibri" pitchFamily="34" charset="-120"/>
              </a:rPr>
              <a:t>These are ordered, heterogeneous and immutable.</a:t>
            </a:r>
            <a:endParaRPr lang="en-US" sz="1350" dirty="0"/>
          </a:p>
        </p:txBody>
      </p:sp>
      <p:sp>
        <p:nvSpPr>
          <p:cNvPr id="19" name="Shape 17"/>
          <p:cNvSpPr/>
          <p:nvPr/>
        </p:nvSpPr>
        <p:spPr>
          <a:xfrm>
            <a:off x="6675120" y="1417320"/>
            <a:ext cx="5013655" cy="1509522"/>
          </a:xfrm>
          <a:prstGeom prst="roundRect">
            <a:avLst>
              <a:gd name="adj" fmla="val 6058"/>
            </a:avLst>
          </a:prstGeom>
          <a:solidFill>
            <a:srgbClr val="1F1D36"/>
          </a:solidFill>
          <a:ln w="12700">
            <a:solidFill>
              <a:srgbClr val="1F1D36"/>
            </a:solidFill>
            <a:prstDash val="solid"/>
          </a:ln>
        </p:spPr>
        <p:txBody>
          <a:bodyPr/>
          <a:lstStyle/>
          <a:p>
            <a:endParaRPr lang="en-PH"/>
          </a:p>
        </p:txBody>
      </p:sp>
      <p:sp>
        <p:nvSpPr>
          <p:cNvPr id="20" name="Text 18"/>
          <p:cNvSpPr txBox="1"/>
          <p:nvPr/>
        </p:nvSpPr>
        <p:spPr>
          <a:xfrm>
            <a:off x="6839712" y="1499616"/>
            <a:ext cx="4684471" cy="201168"/>
          </a:xfrm>
          <a:prstGeom prst="rect">
            <a:avLst/>
          </a:prstGeom>
          <a:noFill/>
          <a:ln/>
        </p:spPr>
        <p:txBody>
          <a:bodyPr wrap="square" lIns="0" tIns="0" rIns="0" bIns="0" rtlCol="0" anchor="ctr"/>
          <a:lstStyle/>
          <a:p>
            <a:pPr marL="0" indent="0">
              <a:buNone/>
            </a:pPr>
            <a:r>
              <a:rPr lang="en-US" sz="900" b="1" dirty="0">
                <a:solidFill>
                  <a:srgbClr val="8A8FB5"/>
                </a:solidFill>
                <a:latin typeface="Calibri" pitchFamily="34" charset="0"/>
                <a:ea typeface="Calibri" pitchFamily="34" charset="-122"/>
                <a:cs typeface="Calibri" pitchFamily="34" charset="-120"/>
              </a:rPr>
              <a:t>&lt;/&gt;  Python</a:t>
            </a:r>
            <a:endParaRPr lang="en-US" sz="900" dirty="0"/>
          </a:p>
        </p:txBody>
      </p:sp>
      <p:sp>
        <p:nvSpPr>
          <p:cNvPr id="21" name="Text 19"/>
          <p:cNvSpPr txBox="1"/>
          <p:nvPr/>
        </p:nvSpPr>
        <p:spPr>
          <a:xfrm>
            <a:off x="6839712" y="1746504"/>
            <a:ext cx="4739335" cy="1125474"/>
          </a:xfrm>
          <a:prstGeom prst="rect">
            <a:avLst/>
          </a:prstGeom>
          <a:noFill/>
          <a:ln/>
        </p:spPr>
        <p:txBody>
          <a:bodyPr wrap="square" lIns="0" tIns="0" rIns="0" bIns="0" rtlCol="0" anchor="t"/>
          <a:lstStyle/>
          <a:p>
            <a:pPr marL="0" indent="0">
              <a:buNone/>
            </a:pPr>
            <a:r>
              <a:rPr lang="en-US" sz="1150" dirty="0">
                <a:solidFill>
                  <a:srgbClr val="E4E4F0"/>
                </a:solidFill>
                <a:latin typeface="Courier New" pitchFamily="34" charset="0"/>
                <a:ea typeface="Courier New" pitchFamily="34" charset="-122"/>
                <a:cs typeface="Courier New" pitchFamily="34" charset="-120"/>
              </a:rPr>
              <a:t>person = (</a:t>
            </a:r>
            <a:r>
              <a:rPr lang="en-US" sz="1150" dirty="0">
                <a:solidFill>
                  <a:srgbClr val="A6E3A1"/>
                </a:solidFill>
                <a:latin typeface="Courier New" pitchFamily="34" charset="0"/>
                <a:ea typeface="Courier New" pitchFamily="34" charset="-122"/>
                <a:cs typeface="Courier New" pitchFamily="34" charset="-120"/>
              </a:rPr>
              <a:t>"Jake"</a:t>
            </a:r>
            <a:r>
              <a:rPr lang="en-US" sz="1150" dirty="0">
                <a:solidFill>
                  <a:srgbClr val="E4E4F0"/>
                </a:solidFill>
                <a:latin typeface="Courier New" pitchFamily="34" charset="0"/>
                <a:ea typeface="Courier New" pitchFamily="34" charset="-122"/>
                <a:cs typeface="Courier New" pitchFamily="34" charset="-120"/>
              </a:rPr>
              <a:t>, </a:t>
            </a:r>
            <a:r>
              <a:rPr lang="en-US" sz="1150" dirty="0">
                <a:solidFill>
                  <a:srgbClr val="FAB387"/>
                </a:solidFill>
                <a:latin typeface="Courier New" pitchFamily="34" charset="0"/>
                <a:ea typeface="Courier New" pitchFamily="34" charset="-122"/>
                <a:cs typeface="Courier New" pitchFamily="34" charset="-120"/>
              </a:rPr>
              <a:t>22</a:t>
            </a:r>
            <a:r>
              <a:rPr lang="en-US" sz="1150" dirty="0">
                <a:solidFill>
                  <a:srgbClr val="E4E4F0"/>
                </a:solidFill>
                <a:latin typeface="Courier New" pitchFamily="34" charset="0"/>
                <a:ea typeface="Courier New" pitchFamily="34" charset="-122"/>
                <a:cs typeface="Courier New" pitchFamily="34" charset="-120"/>
              </a:rPr>
              <a:t>, </a:t>
            </a:r>
            <a:r>
              <a:rPr lang="en-US" sz="1150" dirty="0">
                <a:solidFill>
                  <a:srgbClr val="D3A6FF"/>
                </a:solidFill>
                <a:latin typeface="Courier New" pitchFamily="34" charset="0"/>
                <a:ea typeface="Courier New" pitchFamily="34" charset="-122"/>
                <a:cs typeface="Courier New" pitchFamily="34" charset="-120"/>
              </a:rPr>
              <a:t>True</a:t>
            </a:r>
            <a:r>
              <a:rPr lang="en-US" sz="1150" dirty="0">
                <a:solidFill>
                  <a:srgbClr val="E4E4F0"/>
                </a:solidFill>
                <a:latin typeface="Courier New" pitchFamily="34" charset="0"/>
                <a:ea typeface="Courier New" pitchFamily="34" charset="-122"/>
                <a:cs typeface="Courier New" pitchFamily="34" charset="-120"/>
              </a:rPr>
              <a:t>)  </a:t>
            </a:r>
            <a:r>
              <a:rPr lang="en-US" sz="1150" i="1" dirty="0">
                <a:solidFill>
                  <a:srgbClr val="8A8FB5"/>
                </a:solidFill>
                <a:latin typeface="Courier New" pitchFamily="34" charset="0"/>
                <a:ea typeface="Courier New" pitchFamily="34" charset="-122"/>
                <a:cs typeface="Courier New" pitchFamily="34" charset="-120"/>
              </a:rPr>
              <a:t># different data types</a:t>
            </a:r>
            <a:endParaRPr lang="en-US" sz="1150" dirty="0"/>
          </a:p>
          <a:p>
            <a:pPr marL="0" indent="0">
              <a:buNone/>
            </a:pPr>
            <a:r>
              <a:rPr lang="en-US" sz="1150" dirty="0">
                <a:solidFill>
                  <a:srgbClr val="E4E4F0"/>
                </a:solidFill>
                <a:latin typeface="Courier New" pitchFamily="34" charset="0"/>
                <a:ea typeface="Courier New" pitchFamily="34" charset="-122"/>
                <a:cs typeface="Courier New" pitchFamily="34" charset="-120"/>
              </a:rPr>
              <a:t> </a:t>
            </a:r>
            <a:endParaRPr lang="en-US" sz="1150" dirty="0"/>
          </a:p>
          <a:p>
            <a:pPr marL="0" indent="0">
              <a:buNone/>
            </a:pPr>
            <a:r>
              <a:rPr lang="en-US" sz="1150" dirty="0">
                <a:solidFill>
                  <a:srgbClr val="82AAFF"/>
                </a:solidFill>
                <a:latin typeface="Courier New" pitchFamily="34" charset="0"/>
                <a:ea typeface="Courier New" pitchFamily="34" charset="-122"/>
                <a:cs typeface="Courier New" pitchFamily="34" charset="-120"/>
              </a:rPr>
              <a:t>print</a:t>
            </a:r>
            <a:r>
              <a:rPr lang="en-US" sz="1150" dirty="0">
                <a:solidFill>
                  <a:srgbClr val="E4E4F0"/>
                </a:solidFill>
                <a:latin typeface="Courier New" pitchFamily="34" charset="0"/>
                <a:ea typeface="Courier New" pitchFamily="34" charset="-122"/>
                <a:cs typeface="Courier New" pitchFamily="34" charset="-120"/>
              </a:rPr>
              <a:t>(person[</a:t>
            </a:r>
            <a:r>
              <a:rPr lang="en-US" sz="1150" dirty="0">
                <a:solidFill>
                  <a:srgbClr val="FAB387"/>
                </a:solidFill>
                <a:latin typeface="Courier New" pitchFamily="34" charset="0"/>
                <a:ea typeface="Courier New" pitchFamily="34" charset="-122"/>
                <a:cs typeface="Courier New" pitchFamily="34" charset="-120"/>
              </a:rPr>
              <a:t>0</a:t>
            </a:r>
            <a:r>
              <a:rPr lang="en-US" sz="1150" dirty="0">
                <a:solidFill>
                  <a:srgbClr val="E4E4F0"/>
                </a:solidFill>
                <a:latin typeface="Courier New" pitchFamily="34" charset="0"/>
                <a:ea typeface="Courier New" pitchFamily="34" charset="-122"/>
                <a:cs typeface="Courier New" pitchFamily="34" charset="-120"/>
              </a:rPr>
              <a:t>])</a:t>
            </a:r>
            <a:endParaRPr lang="en-US" sz="1150" dirty="0"/>
          </a:p>
          <a:p>
            <a:pPr marL="0" indent="0">
              <a:buNone/>
            </a:pPr>
            <a:r>
              <a:rPr lang="en-US" sz="1150" dirty="0">
                <a:solidFill>
                  <a:srgbClr val="82AAFF"/>
                </a:solidFill>
                <a:latin typeface="Courier New" pitchFamily="34" charset="0"/>
                <a:ea typeface="Courier New" pitchFamily="34" charset="-122"/>
                <a:cs typeface="Courier New" pitchFamily="34" charset="-120"/>
              </a:rPr>
              <a:t>print</a:t>
            </a:r>
            <a:r>
              <a:rPr lang="en-US" sz="1150" dirty="0">
                <a:solidFill>
                  <a:srgbClr val="E4E4F0"/>
                </a:solidFill>
                <a:latin typeface="Courier New" pitchFamily="34" charset="0"/>
                <a:ea typeface="Courier New" pitchFamily="34" charset="-122"/>
                <a:cs typeface="Courier New" pitchFamily="34" charset="-120"/>
              </a:rPr>
              <a:t>(</a:t>
            </a:r>
            <a:r>
              <a:rPr lang="en-US" sz="1150" dirty="0">
                <a:solidFill>
                  <a:srgbClr val="82AAFF"/>
                </a:solidFill>
                <a:latin typeface="Courier New" pitchFamily="34" charset="0"/>
                <a:ea typeface="Courier New" pitchFamily="34" charset="-122"/>
                <a:cs typeface="Courier New" pitchFamily="34" charset="-120"/>
              </a:rPr>
              <a:t>len</a:t>
            </a:r>
            <a:r>
              <a:rPr lang="en-US" sz="1150" dirty="0">
                <a:solidFill>
                  <a:srgbClr val="E4E4F0"/>
                </a:solidFill>
                <a:latin typeface="Courier New" pitchFamily="34" charset="0"/>
                <a:ea typeface="Courier New" pitchFamily="34" charset="-122"/>
                <a:cs typeface="Courier New" pitchFamily="34" charset="-120"/>
              </a:rPr>
              <a:t>(person))</a:t>
            </a:r>
            <a:endParaRPr lang="en-US" sz="1150" dirty="0"/>
          </a:p>
          <a:p>
            <a:pPr marL="0" indent="0">
              <a:buNone/>
            </a:pPr>
            <a:r>
              <a:rPr lang="en-US" sz="1150" dirty="0">
                <a:solidFill>
                  <a:srgbClr val="82AAFF"/>
                </a:solidFill>
                <a:latin typeface="Courier New" pitchFamily="34" charset="0"/>
                <a:ea typeface="Courier New" pitchFamily="34" charset="-122"/>
                <a:cs typeface="Courier New" pitchFamily="34" charset="-120"/>
              </a:rPr>
              <a:t>print</a:t>
            </a:r>
            <a:r>
              <a:rPr lang="en-US" sz="1150" dirty="0">
                <a:solidFill>
                  <a:srgbClr val="E4E4F0"/>
                </a:solidFill>
                <a:latin typeface="Courier New" pitchFamily="34" charset="0"/>
                <a:ea typeface="Courier New" pitchFamily="34" charset="-122"/>
                <a:cs typeface="Courier New" pitchFamily="34" charset="-120"/>
              </a:rPr>
              <a:t>(person.</a:t>
            </a:r>
            <a:r>
              <a:rPr lang="en-US" sz="1150" dirty="0">
                <a:solidFill>
                  <a:srgbClr val="89DCEB"/>
                </a:solidFill>
                <a:latin typeface="Courier New" pitchFamily="34" charset="0"/>
                <a:ea typeface="Courier New" pitchFamily="34" charset="-122"/>
                <a:cs typeface="Courier New" pitchFamily="34" charset="-120"/>
              </a:rPr>
              <a:t>count</a:t>
            </a:r>
            <a:r>
              <a:rPr lang="en-US" sz="1150" dirty="0">
                <a:solidFill>
                  <a:srgbClr val="E4E4F0"/>
                </a:solidFill>
                <a:latin typeface="Courier New" pitchFamily="34" charset="0"/>
                <a:ea typeface="Courier New" pitchFamily="34" charset="-122"/>
                <a:cs typeface="Courier New" pitchFamily="34" charset="-120"/>
              </a:rPr>
              <a:t>(</a:t>
            </a:r>
            <a:r>
              <a:rPr lang="en-US" sz="1150" dirty="0">
                <a:solidFill>
                  <a:srgbClr val="FAB387"/>
                </a:solidFill>
                <a:latin typeface="Courier New" pitchFamily="34" charset="0"/>
                <a:ea typeface="Courier New" pitchFamily="34" charset="-122"/>
                <a:cs typeface="Courier New" pitchFamily="34" charset="-120"/>
              </a:rPr>
              <a:t>22</a:t>
            </a:r>
            <a:r>
              <a:rPr lang="en-US" sz="1150" dirty="0">
                <a:solidFill>
                  <a:srgbClr val="E4E4F0"/>
                </a:solidFill>
                <a:latin typeface="Courier New" pitchFamily="34" charset="0"/>
                <a:ea typeface="Courier New" pitchFamily="34" charset="-122"/>
                <a:cs typeface="Courier New" pitchFamily="34" charset="-120"/>
              </a:rPr>
              <a:t>))</a:t>
            </a:r>
            <a:endParaRPr lang="en-US" sz="1150" dirty="0"/>
          </a:p>
          <a:p>
            <a:pPr marL="0" indent="0">
              <a:buNone/>
            </a:pPr>
            <a:r>
              <a:rPr lang="en-US" sz="1150" dirty="0">
                <a:solidFill>
                  <a:srgbClr val="E4E4F0"/>
                </a:solidFill>
                <a:latin typeface="Courier New" pitchFamily="34" charset="0"/>
                <a:ea typeface="Courier New" pitchFamily="34" charset="-122"/>
                <a:cs typeface="Courier New" pitchFamily="34" charset="-120"/>
              </a:rPr>
              <a:t>person[</a:t>
            </a:r>
            <a:r>
              <a:rPr lang="en-US" sz="1150" dirty="0">
                <a:solidFill>
                  <a:srgbClr val="FAB387"/>
                </a:solidFill>
                <a:latin typeface="Courier New" pitchFamily="34" charset="0"/>
                <a:ea typeface="Courier New" pitchFamily="34" charset="-122"/>
                <a:cs typeface="Courier New" pitchFamily="34" charset="-120"/>
              </a:rPr>
              <a:t>1</a:t>
            </a:r>
            <a:r>
              <a:rPr lang="en-US" sz="1150" dirty="0">
                <a:solidFill>
                  <a:srgbClr val="E4E4F0"/>
                </a:solidFill>
                <a:latin typeface="Courier New" pitchFamily="34" charset="0"/>
                <a:ea typeface="Courier New" pitchFamily="34" charset="-122"/>
                <a:cs typeface="Courier New" pitchFamily="34" charset="-120"/>
              </a:rPr>
              <a:t>] = </a:t>
            </a:r>
            <a:r>
              <a:rPr lang="en-US" sz="1150" dirty="0">
                <a:solidFill>
                  <a:srgbClr val="FAB387"/>
                </a:solidFill>
                <a:latin typeface="Courier New" pitchFamily="34" charset="0"/>
                <a:ea typeface="Courier New" pitchFamily="34" charset="-122"/>
                <a:cs typeface="Courier New" pitchFamily="34" charset="-120"/>
              </a:rPr>
              <a:t>23</a:t>
            </a:r>
            <a:endParaRPr lang="en-US" sz="1150" dirty="0"/>
          </a:p>
        </p:txBody>
      </p:sp>
      <p:sp>
        <p:nvSpPr>
          <p:cNvPr id="22" name="Shape 20"/>
          <p:cNvSpPr/>
          <p:nvPr/>
        </p:nvSpPr>
        <p:spPr>
          <a:xfrm>
            <a:off x="6675120" y="3036570"/>
            <a:ext cx="5013655" cy="1282319"/>
          </a:xfrm>
          <a:prstGeom prst="roundRect">
            <a:avLst>
              <a:gd name="adj" fmla="val 7131"/>
            </a:avLst>
          </a:prstGeom>
          <a:solidFill>
            <a:srgbClr val="F6F6FF"/>
          </a:solidFill>
          <a:ln w="9525">
            <a:solidFill>
              <a:srgbClr val="DCDDF5"/>
            </a:solidFill>
            <a:prstDash val="solid"/>
          </a:ln>
        </p:spPr>
        <p:txBody>
          <a:bodyPr/>
          <a:lstStyle/>
          <a:p>
            <a:endParaRPr lang="en-PH"/>
          </a:p>
        </p:txBody>
      </p:sp>
      <p:sp>
        <p:nvSpPr>
          <p:cNvPr id="23" name="Text 21"/>
          <p:cNvSpPr txBox="1"/>
          <p:nvPr/>
        </p:nvSpPr>
        <p:spPr>
          <a:xfrm>
            <a:off x="6821424" y="3109722"/>
            <a:ext cx="4739335" cy="182880"/>
          </a:xfrm>
          <a:prstGeom prst="rect">
            <a:avLst/>
          </a:prstGeom>
          <a:noFill/>
          <a:ln/>
        </p:spPr>
        <p:txBody>
          <a:bodyPr wrap="square" lIns="0" tIns="0" rIns="0" bIns="0" rtlCol="0" anchor="ctr"/>
          <a:lstStyle/>
          <a:p>
            <a:pPr marL="0" indent="0">
              <a:buNone/>
            </a:pPr>
            <a:r>
              <a:rPr lang="en-US" sz="850" b="1" kern="0" spc="150" dirty="0">
                <a:solidFill>
                  <a:srgbClr val="4F46E5"/>
                </a:solidFill>
                <a:latin typeface="Calibri" pitchFamily="34" charset="0"/>
                <a:ea typeface="Calibri" pitchFamily="34" charset="-122"/>
                <a:cs typeface="Calibri" pitchFamily="34" charset="-120"/>
              </a:rPr>
              <a:t>OUTPUT</a:t>
            </a:r>
            <a:endParaRPr lang="en-US" sz="850" dirty="0"/>
          </a:p>
        </p:txBody>
      </p:sp>
      <p:sp>
        <p:nvSpPr>
          <p:cNvPr id="24" name="Text 22"/>
          <p:cNvSpPr txBox="1"/>
          <p:nvPr/>
        </p:nvSpPr>
        <p:spPr>
          <a:xfrm>
            <a:off x="6821424" y="3329178"/>
            <a:ext cx="4775911" cy="953135"/>
          </a:xfrm>
          <a:prstGeom prst="rect">
            <a:avLst/>
          </a:prstGeom>
          <a:noFill/>
          <a:ln/>
        </p:spPr>
        <p:txBody>
          <a:bodyPr wrap="square" lIns="0" tIns="0" rIns="0" bIns="0" rtlCol="0" anchor="t"/>
          <a:lstStyle/>
          <a:p>
            <a:pPr marL="0" indent="0">
              <a:buNone/>
            </a:pPr>
            <a:r>
              <a:rPr lang="en-US" sz="1150" dirty="0">
                <a:solidFill>
                  <a:srgbClr val="1E1B4B"/>
                </a:solidFill>
                <a:latin typeface="Courier New" pitchFamily="34" charset="0"/>
                <a:ea typeface="Courier New" pitchFamily="34" charset="-122"/>
                <a:cs typeface="Courier New" pitchFamily="34" charset="-120"/>
              </a:rPr>
              <a:t>Jake</a:t>
            </a:r>
            <a:endParaRPr lang="en-US" sz="1150" dirty="0"/>
          </a:p>
          <a:p>
            <a:pPr marL="0" indent="0">
              <a:buNone/>
            </a:pPr>
            <a:r>
              <a:rPr lang="en-US" sz="1150" dirty="0">
                <a:solidFill>
                  <a:srgbClr val="1E1B4B"/>
                </a:solidFill>
                <a:latin typeface="Courier New" pitchFamily="34" charset="0"/>
                <a:ea typeface="Courier New" pitchFamily="34" charset="-122"/>
                <a:cs typeface="Courier New" pitchFamily="34" charset="-120"/>
              </a:rPr>
              <a:t>3</a:t>
            </a:r>
            <a:endParaRPr lang="en-US" sz="1150" dirty="0"/>
          </a:p>
          <a:p>
            <a:pPr marL="0" indent="0">
              <a:buNone/>
            </a:pPr>
            <a:r>
              <a:rPr lang="en-US" sz="1150" dirty="0">
                <a:solidFill>
                  <a:srgbClr val="1E1B4B"/>
                </a:solidFill>
                <a:latin typeface="Courier New" pitchFamily="34" charset="0"/>
                <a:ea typeface="Courier New" pitchFamily="34" charset="-122"/>
                <a:cs typeface="Courier New" pitchFamily="34" charset="-120"/>
              </a:rPr>
              <a:t>1</a:t>
            </a:r>
            <a:endParaRPr lang="en-US" sz="1150" dirty="0"/>
          </a:p>
          <a:p>
            <a:pPr marL="0" indent="0">
              <a:buNone/>
            </a:pPr>
            <a:r>
              <a:rPr lang="en-US" sz="1150" dirty="0">
                <a:solidFill>
                  <a:srgbClr val="C0392B"/>
                </a:solidFill>
                <a:latin typeface="Courier New" pitchFamily="34" charset="0"/>
                <a:ea typeface="Courier New" pitchFamily="34" charset="-122"/>
                <a:cs typeface="Courier New" pitchFamily="34" charset="-120"/>
              </a:rPr>
              <a:t>TypeError: 'tuple' object does not support</a:t>
            </a:r>
            <a:endParaRPr lang="en-US" sz="1150" dirty="0"/>
          </a:p>
          <a:p>
            <a:pPr marL="0" indent="0">
              <a:buNone/>
            </a:pPr>
            <a:r>
              <a:rPr lang="en-US" sz="1150" dirty="0">
                <a:solidFill>
                  <a:srgbClr val="1E1B4B"/>
                </a:solidFill>
                <a:latin typeface="Courier New" pitchFamily="34" charset="0"/>
                <a:ea typeface="Courier New" pitchFamily="34" charset="-122"/>
                <a:cs typeface="Courier New" pitchFamily="34" charset="-120"/>
              </a:rPr>
              <a:t>item assignment</a:t>
            </a:r>
            <a:endParaRPr lang="en-US" sz="1150" dirty="0"/>
          </a:p>
        </p:txBody>
      </p:sp>
      <p:sp>
        <p:nvSpPr>
          <p:cNvPr id="25" name="Text 23"/>
          <p:cNvSpPr txBox="1"/>
          <p:nvPr/>
        </p:nvSpPr>
        <p:spPr>
          <a:xfrm>
            <a:off x="6675120" y="4501769"/>
            <a:ext cx="5013655" cy="228600"/>
          </a:xfrm>
          <a:prstGeom prst="rect">
            <a:avLst/>
          </a:prstGeom>
          <a:noFill/>
          <a:ln/>
        </p:spPr>
        <p:txBody>
          <a:bodyPr wrap="square" lIns="0" tIns="0" rIns="0" bIns="0" rtlCol="0" anchor="t"/>
          <a:lstStyle/>
          <a:p>
            <a:pPr marL="0" indent="0">
              <a:buNone/>
            </a:pPr>
            <a:r>
              <a:rPr lang="en-US" sz="1050" b="1" kern="0" spc="200" dirty="0">
                <a:solidFill>
                  <a:srgbClr val="C8559F"/>
                </a:solidFill>
                <a:latin typeface="Calibri" pitchFamily="34" charset="0"/>
                <a:ea typeface="Calibri" pitchFamily="34" charset="-122"/>
                <a:cs typeface="Calibri" pitchFamily="34" charset="-120"/>
              </a:rPr>
              <a:t>ONLY TWO TUPLE METHODS</a:t>
            </a:r>
            <a:endParaRPr lang="en-US" sz="1050" dirty="0"/>
          </a:p>
        </p:txBody>
      </p:sp>
      <p:sp>
        <p:nvSpPr>
          <p:cNvPr id="26" name="Shape 24"/>
          <p:cNvSpPr/>
          <p:nvPr/>
        </p:nvSpPr>
        <p:spPr>
          <a:xfrm>
            <a:off x="6675120" y="4821809"/>
            <a:ext cx="2415388" cy="621792"/>
          </a:xfrm>
          <a:prstGeom prst="roundRect">
            <a:avLst>
              <a:gd name="adj" fmla="val 11765"/>
            </a:avLst>
          </a:prstGeom>
          <a:solidFill>
            <a:srgbClr val="F1F1FE"/>
          </a:solidFill>
          <a:ln w="9525">
            <a:solidFill>
              <a:srgbClr val="DCDDF5"/>
            </a:solidFill>
            <a:prstDash val="solid"/>
          </a:ln>
        </p:spPr>
        <p:txBody>
          <a:bodyPr/>
          <a:lstStyle/>
          <a:p>
            <a:endParaRPr lang="en-PH"/>
          </a:p>
        </p:txBody>
      </p:sp>
      <p:sp>
        <p:nvSpPr>
          <p:cNvPr id="27" name="Text 25"/>
          <p:cNvSpPr txBox="1"/>
          <p:nvPr/>
        </p:nvSpPr>
        <p:spPr>
          <a:xfrm>
            <a:off x="6784848" y="4876673"/>
            <a:ext cx="2195932" cy="256032"/>
          </a:xfrm>
          <a:prstGeom prst="rect">
            <a:avLst/>
          </a:prstGeom>
          <a:noFill/>
          <a:ln/>
        </p:spPr>
        <p:txBody>
          <a:bodyPr wrap="square" lIns="0" tIns="0" rIns="0" bIns="0" rtlCol="0" anchor="t"/>
          <a:lstStyle/>
          <a:p>
            <a:pPr marL="0" indent="0">
              <a:buNone/>
            </a:pPr>
            <a:r>
              <a:rPr lang="en-US" sz="1100" b="1" dirty="0">
                <a:solidFill>
                  <a:srgbClr val="4F46E5"/>
                </a:solidFill>
                <a:latin typeface="Courier New" pitchFamily="34" charset="0"/>
                <a:ea typeface="Courier New" pitchFamily="34" charset="-122"/>
                <a:cs typeface="Courier New" pitchFamily="34" charset="-120"/>
              </a:rPr>
              <a:t>count(x)</a:t>
            </a:r>
            <a:endParaRPr lang="en-US" sz="1100" dirty="0"/>
          </a:p>
        </p:txBody>
      </p:sp>
      <p:sp>
        <p:nvSpPr>
          <p:cNvPr id="28" name="Text 26"/>
          <p:cNvSpPr txBox="1"/>
          <p:nvPr/>
        </p:nvSpPr>
        <p:spPr>
          <a:xfrm>
            <a:off x="6784848" y="5141849"/>
            <a:ext cx="2195932" cy="237744"/>
          </a:xfrm>
          <a:prstGeom prst="rect">
            <a:avLst/>
          </a:prstGeom>
          <a:noFill/>
          <a:ln/>
        </p:spPr>
        <p:txBody>
          <a:bodyPr wrap="square" lIns="0" tIns="0" rIns="0" bIns="0" rtlCol="0" anchor="t"/>
          <a:lstStyle/>
          <a:p>
            <a:pPr marL="0" indent="0">
              <a:buNone/>
            </a:pPr>
            <a:r>
              <a:rPr lang="en-US" sz="1050" dirty="0">
                <a:solidFill>
                  <a:srgbClr val="5B5F7A"/>
                </a:solidFill>
                <a:latin typeface="Calibri" pitchFamily="34" charset="0"/>
                <a:ea typeface="Calibri" pitchFamily="34" charset="-122"/>
                <a:cs typeface="Calibri" pitchFamily="34" charset="-120"/>
              </a:rPr>
              <a:t>how many times x appears</a:t>
            </a:r>
            <a:endParaRPr lang="en-US" sz="1050" dirty="0"/>
          </a:p>
        </p:txBody>
      </p:sp>
      <p:sp>
        <p:nvSpPr>
          <p:cNvPr id="29" name="Shape 27"/>
          <p:cNvSpPr/>
          <p:nvPr/>
        </p:nvSpPr>
        <p:spPr>
          <a:xfrm>
            <a:off x="9273388" y="4821809"/>
            <a:ext cx="2415388" cy="621792"/>
          </a:xfrm>
          <a:prstGeom prst="roundRect">
            <a:avLst>
              <a:gd name="adj" fmla="val 11765"/>
            </a:avLst>
          </a:prstGeom>
          <a:solidFill>
            <a:srgbClr val="F1F1FE"/>
          </a:solidFill>
          <a:ln w="9525">
            <a:solidFill>
              <a:srgbClr val="DCDDF5"/>
            </a:solidFill>
            <a:prstDash val="solid"/>
          </a:ln>
        </p:spPr>
        <p:txBody>
          <a:bodyPr/>
          <a:lstStyle/>
          <a:p>
            <a:endParaRPr lang="en-PH"/>
          </a:p>
        </p:txBody>
      </p:sp>
      <p:sp>
        <p:nvSpPr>
          <p:cNvPr id="30" name="Text 28"/>
          <p:cNvSpPr txBox="1"/>
          <p:nvPr/>
        </p:nvSpPr>
        <p:spPr>
          <a:xfrm>
            <a:off x="9383116" y="4876673"/>
            <a:ext cx="2195932" cy="256032"/>
          </a:xfrm>
          <a:prstGeom prst="rect">
            <a:avLst/>
          </a:prstGeom>
          <a:noFill/>
          <a:ln/>
        </p:spPr>
        <p:txBody>
          <a:bodyPr wrap="square" lIns="0" tIns="0" rIns="0" bIns="0" rtlCol="0" anchor="t"/>
          <a:lstStyle/>
          <a:p>
            <a:pPr marL="0" indent="0">
              <a:buNone/>
            </a:pPr>
            <a:r>
              <a:rPr lang="en-US" sz="1100" b="1" dirty="0">
                <a:solidFill>
                  <a:srgbClr val="4F46E5"/>
                </a:solidFill>
                <a:latin typeface="Courier New" pitchFamily="34" charset="0"/>
                <a:ea typeface="Courier New" pitchFamily="34" charset="-122"/>
                <a:cs typeface="Courier New" pitchFamily="34" charset="-120"/>
              </a:rPr>
              <a:t>index(x)</a:t>
            </a:r>
            <a:endParaRPr lang="en-US" sz="1100" dirty="0"/>
          </a:p>
        </p:txBody>
      </p:sp>
      <p:sp>
        <p:nvSpPr>
          <p:cNvPr id="31" name="Text 29"/>
          <p:cNvSpPr txBox="1"/>
          <p:nvPr/>
        </p:nvSpPr>
        <p:spPr>
          <a:xfrm>
            <a:off x="9383116" y="5141849"/>
            <a:ext cx="2195932" cy="237744"/>
          </a:xfrm>
          <a:prstGeom prst="rect">
            <a:avLst/>
          </a:prstGeom>
          <a:noFill/>
          <a:ln/>
        </p:spPr>
        <p:txBody>
          <a:bodyPr wrap="square" lIns="0" tIns="0" rIns="0" bIns="0" rtlCol="0" anchor="t"/>
          <a:lstStyle/>
          <a:p>
            <a:pPr marL="0" indent="0">
              <a:buNone/>
            </a:pPr>
            <a:r>
              <a:rPr lang="en-US" sz="1050" dirty="0">
                <a:solidFill>
                  <a:srgbClr val="5B5F7A"/>
                </a:solidFill>
                <a:latin typeface="Calibri" pitchFamily="34" charset="0"/>
                <a:ea typeface="Calibri" pitchFamily="34" charset="-122"/>
                <a:cs typeface="Calibri" pitchFamily="34" charset="-120"/>
              </a:rPr>
              <a:t>position of the first x</a:t>
            </a:r>
            <a:endParaRPr lang="en-US" sz="1050" dirty="0"/>
          </a:p>
        </p:txBody>
      </p:sp>
      <p:sp>
        <p:nvSpPr>
          <p:cNvPr id="32" name="Shape 30"/>
          <p:cNvSpPr/>
          <p:nvPr/>
        </p:nvSpPr>
        <p:spPr>
          <a:xfrm>
            <a:off x="6675120" y="5599049"/>
            <a:ext cx="5013655" cy="618871"/>
          </a:xfrm>
          <a:prstGeom prst="roundRect">
            <a:avLst>
              <a:gd name="adj" fmla="val 17730"/>
            </a:avLst>
          </a:prstGeom>
          <a:solidFill>
            <a:srgbClr val="F1F1FE"/>
          </a:solidFill>
          <a:ln w="9525">
            <a:solidFill>
              <a:srgbClr val="DCDDF5"/>
            </a:solidFill>
            <a:prstDash val="solid"/>
          </a:ln>
        </p:spPr>
        <p:txBody>
          <a:bodyPr/>
          <a:lstStyle/>
          <a:p>
            <a:endParaRPr lang="en-PH"/>
          </a:p>
        </p:txBody>
      </p:sp>
      <p:sp>
        <p:nvSpPr>
          <p:cNvPr id="33" name="Text 31"/>
          <p:cNvSpPr txBox="1"/>
          <p:nvPr/>
        </p:nvSpPr>
        <p:spPr>
          <a:xfrm>
            <a:off x="6903720" y="5644769"/>
            <a:ext cx="4556455" cy="527431"/>
          </a:xfrm>
          <a:prstGeom prst="rect">
            <a:avLst/>
          </a:prstGeom>
          <a:noFill/>
          <a:ln/>
        </p:spPr>
        <p:txBody>
          <a:bodyPr wrap="square" lIns="0" tIns="0" rIns="0" bIns="0" rtlCol="0" anchor="ctr"/>
          <a:lstStyle/>
          <a:p>
            <a:pPr marL="0" indent="0">
              <a:buNone/>
            </a:pPr>
            <a:r>
              <a:rPr lang="en-US" sz="1250" b="1" dirty="0">
                <a:solidFill>
                  <a:srgbClr val="1E1B4B"/>
                </a:solidFill>
                <a:latin typeface="Calibri" pitchFamily="34" charset="0"/>
                <a:ea typeface="Calibri" pitchFamily="34" charset="-122"/>
                <a:cs typeface="Calibri" pitchFamily="34" charset="-120"/>
              </a:rPr>
              <a:t>One-item tuple:</a:t>
            </a:r>
            <a:r>
              <a:rPr lang="en-US" sz="1250" dirty="0">
                <a:solidFill>
                  <a:srgbClr val="1E1B4B"/>
                </a:solidFill>
                <a:latin typeface="Calibri" pitchFamily="34" charset="0"/>
                <a:ea typeface="Calibri" pitchFamily="34" charset="-122"/>
                <a:cs typeface="Calibri" pitchFamily="34" charset="-120"/>
              </a:rPr>
              <a:t> add a trailing comma — </a:t>
            </a:r>
            <a:r>
              <a:rPr lang="en-US" sz="1250" dirty="0">
                <a:solidFill>
                  <a:srgbClr val="4F46E5"/>
                </a:solidFill>
                <a:latin typeface="Courier New" pitchFamily="34" charset="0"/>
                <a:ea typeface="Courier New" pitchFamily="34" charset="-122"/>
                <a:cs typeface="Courier New" pitchFamily="34" charset="-120"/>
              </a:rPr>
              <a:t>(5,)</a:t>
            </a:r>
            <a:r>
              <a:rPr lang="en-US" sz="1250" dirty="0">
                <a:solidFill>
                  <a:srgbClr val="1E1B4B"/>
                </a:solidFill>
                <a:latin typeface="Calibri" pitchFamily="34" charset="0"/>
                <a:ea typeface="Calibri" pitchFamily="34" charset="-122"/>
                <a:cs typeface="Calibri" pitchFamily="34" charset="-120"/>
              </a:rPr>
              <a:t> is a tuple, but </a:t>
            </a:r>
            <a:r>
              <a:rPr lang="en-US" sz="1250" dirty="0">
                <a:solidFill>
                  <a:srgbClr val="4F46E5"/>
                </a:solidFill>
                <a:latin typeface="Courier New" pitchFamily="34" charset="0"/>
                <a:ea typeface="Courier New" pitchFamily="34" charset="-122"/>
                <a:cs typeface="Courier New" pitchFamily="34" charset="-120"/>
              </a:rPr>
              <a:t>(5)</a:t>
            </a:r>
            <a:r>
              <a:rPr lang="en-US" sz="1250" dirty="0">
                <a:solidFill>
                  <a:srgbClr val="1E1B4B"/>
                </a:solidFill>
                <a:latin typeface="Calibri" pitchFamily="34" charset="0"/>
                <a:ea typeface="Calibri" pitchFamily="34" charset="-122"/>
                <a:cs typeface="Calibri" pitchFamily="34" charset="-120"/>
              </a:rPr>
              <a:t> is just the number 5.</a:t>
            </a:r>
            <a:endParaRPr lang="en-US" sz="1250" dirty="0"/>
          </a:p>
        </p:txBody>
      </p:sp>
      <p:sp>
        <p:nvSpPr>
          <p:cNvPr id="34" name="Text 32"/>
          <p:cNvSpPr txBox="1"/>
          <p:nvPr/>
        </p:nvSpPr>
        <p:spPr>
          <a:xfrm>
            <a:off x="502920" y="4791456"/>
            <a:ext cx="5852160" cy="228600"/>
          </a:xfrm>
          <a:prstGeom prst="rect">
            <a:avLst/>
          </a:prstGeom>
          <a:noFill/>
          <a:ln/>
        </p:spPr>
        <p:txBody>
          <a:bodyPr wrap="square" lIns="0" tIns="0" rIns="0" bIns="0" rtlCol="0" anchor="t"/>
          <a:lstStyle/>
          <a:p>
            <a:pPr marL="0" indent="0">
              <a:buNone/>
            </a:pPr>
            <a:r>
              <a:rPr lang="en-US" sz="1050" b="1" kern="0" spc="200" dirty="0">
                <a:solidFill>
                  <a:srgbClr val="C8559F"/>
                </a:solidFill>
                <a:latin typeface="Calibri" pitchFamily="34" charset="0"/>
                <a:ea typeface="Calibri" pitchFamily="34" charset="-122"/>
                <a:cs typeface="Calibri" pitchFamily="34" charset="-120"/>
              </a:rPr>
              <a:t>TUPLE UNPACKING</a:t>
            </a:r>
            <a:endParaRPr lang="en-US" sz="1050" dirty="0"/>
          </a:p>
        </p:txBody>
      </p:sp>
      <p:sp>
        <p:nvSpPr>
          <p:cNvPr id="35" name="Shape 33"/>
          <p:cNvSpPr/>
          <p:nvPr/>
        </p:nvSpPr>
        <p:spPr>
          <a:xfrm>
            <a:off x="502920" y="5111496"/>
            <a:ext cx="3628339" cy="914400"/>
          </a:xfrm>
          <a:prstGeom prst="roundRect">
            <a:avLst>
              <a:gd name="adj" fmla="val 10000"/>
            </a:avLst>
          </a:prstGeom>
          <a:solidFill>
            <a:srgbClr val="1F1D36"/>
          </a:solidFill>
          <a:ln w="12700">
            <a:solidFill>
              <a:srgbClr val="1F1D36"/>
            </a:solidFill>
            <a:prstDash val="solid"/>
          </a:ln>
        </p:spPr>
        <p:txBody>
          <a:bodyPr/>
          <a:lstStyle/>
          <a:p>
            <a:endParaRPr lang="en-PH"/>
          </a:p>
        </p:txBody>
      </p:sp>
      <p:sp>
        <p:nvSpPr>
          <p:cNvPr id="36" name="Text 34"/>
          <p:cNvSpPr txBox="1"/>
          <p:nvPr/>
        </p:nvSpPr>
        <p:spPr>
          <a:xfrm>
            <a:off x="667512" y="5193792"/>
            <a:ext cx="3299155" cy="201168"/>
          </a:xfrm>
          <a:prstGeom prst="rect">
            <a:avLst/>
          </a:prstGeom>
          <a:noFill/>
          <a:ln/>
        </p:spPr>
        <p:txBody>
          <a:bodyPr wrap="square" lIns="0" tIns="0" rIns="0" bIns="0" rtlCol="0" anchor="ctr"/>
          <a:lstStyle/>
          <a:p>
            <a:pPr marL="0" indent="0">
              <a:buNone/>
            </a:pPr>
            <a:r>
              <a:rPr lang="en-US" sz="900" b="1" dirty="0">
                <a:solidFill>
                  <a:srgbClr val="8A8FB5"/>
                </a:solidFill>
                <a:latin typeface="Calibri" pitchFamily="34" charset="0"/>
                <a:ea typeface="Calibri" pitchFamily="34" charset="-122"/>
                <a:cs typeface="Calibri" pitchFamily="34" charset="-120"/>
              </a:rPr>
              <a:t>&lt;/&gt;  Python</a:t>
            </a:r>
            <a:endParaRPr lang="en-US" sz="900" dirty="0"/>
          </a:p>
        </p:txBody>
      </p:sp>
      <p:sp>
        <p:nvSpPr>
          <p:cNvPr id="37" name="Text 35"/>
          <p:cNvSpPr txBox="1"/>
          <p:nvPr/>
        </p:nvSpPr>
        <p:spPr>
          <a:xfrm>
            <a:off x="667512" y="5440680"/>
            <a:ext cx="3354019" cy="530352"/>
          </a:xfrm>
          <a:prstGeom prst="rect">
            <a:avLst/>
          </a:prstGeom>
          <a:noFill/>
          <a:ln/>
        </p:spPr>
        <p:txBody>
          <a:bodyPr wrap="square" lIns="0" tIns="0" rIns="0" bIns="0" rtlCol="0" anchor="t"/>
          <a:lstStyle/>
          <a:p>
            <a:pPr marL="0" indent="0">
              <a:buNone/>
            </a:pPr>
            <a:r>
              <a:rPr lang="en-US" sz="1150" dirty="0">
                <a:solidFill>
                  <a:srgbClr val="E4E4F0"/>
                </a:solidFill>
                <a:latin typeface="Courier New" pitchFamily="34" charset="0"/>
                <a:ea typeface="Courier New" pitchFamily="34" charset="-122"/>
                <a:cs typeface="Courier New" pitchFamily="34" charset="-120"/>
              </a:rPr>
              <a:t>name, age, active = person</a:t>
            </a:r>
            <a:endParaRPr lang="en-US" sz="1150" dirty="0"/>
          </a:p>
          <a:p>
            <a:pPr marL="0" indent="0">
              <a:buNone/>
            </a:pPr>
            <a:r>
              <a:rPr lang="en-US" sz="1150" dirty="0">
                <a:solidFill>
                  <a:srgbClr val="82AAFF"/>
                </a:solidFill>
                <a:latin typeface="Courier New" pitchFamily="34" charset="0"/>
                <a:ea typeface="Courier New" pitchFamily="34" charset="-122"/>
                <a:cs typeface="Courier New" pitchFamily="34" charset="-120"/>
              </a:rPr>
              <a:t>print</a:t>
            </a:r>
            <a:r>
              <a:rPr lang="en-US" sz="1150" dirty="0">
                <a:solidFill>
                  <a:srgbClr val="E4E4F0"/>
                </a:solidFill>
                <a:latin typeface="Courier New" pitchFamily="34" charset="0"/>
                <a:ea typeface="Courier New" pitchFamily="34" charset="-122"/>
                <a:cs typeface="Courier New" pitchFamily="34" charset="-120"/>
              </a:rPr>
              <a:t>(name, age)</a:t>
            </a:r>
            <a:endParaRPr lang="en-US" sz="1150" dirty="0"/>
          </a:p>
        </p:txBody>
      </p:sp>
      <p:sp>
        <p:nvSpPr>
          <p:cNvPr id="38" name="Shape 36"/>
          <p:cNvSpPr/>
          <p:nvPr/>
        </p:nvSpPr>
        <p:spPr>
          <a:xfrm>
            <a:off x="4268419" y="5111496"/>
            <a:ext cx="2086661" cy="914400"/>
          </a:xfrm>
          <a:prstGeom prst="roundRect">
            <a:avLst>
              <a:gd name="adj" fmla="val 10000"/>
            </a:avLst>
          </a:prstGeom>
          <a:solidFill>
            <a:srgbClr val="F6F6FF"/>
          </a:solidFill>
          <a:ln w="9525">
            <a:solidFill>
              <a:srgbClr val="DCDDF5"/>
            </a:solidFill>
            <a:prstDash val="solid"/>
          </a:ln>
        </p:spPr>
        <p:txBody>
          <a:bodyPr/>
          <a:lstStyle/>
          <a:p>
            <a:endParaRPr lang="en-PH"/>
          </a:p>
        </p:txBody>
      </p:sp>
      <p:sp>
        <p:nvSpPr>
          <p:cNvPr id="39" name="Text 37"/>
          <p:cNvSpPr txBox="1"/>
          <p:nvPr/>
        </p:nvSpPr>
        <p:spPr>
          <a:xfrm>
            <a:off x="4414723" y="5184648"/>
            <a:ext cx="1812341" cy="182880"/>
          </a:xfrm>
          <a:prstGeom prst="rect">
            <a:avLst/>
          </a:prstGeom>
          <a:noFill/>
          <a:ln/>
        </p:spPr>
        <p:txBody>
          <a:bodyPr wrap="square" lIns="0" tIns="0" rIns="0" bIns="0" rtlCol="0" anchor="ctr"/>
          <a:lstStyle/>
          <a:p>
            <a:pPr marL="0" indent="0">
              <a:buNone/>
            </a:pPr>
            <a:r>
              <a:rPr lang="en-US" sz="850" b="1" kern="0" spc="150" dirty="0">
                <a:solidFill>
                  <a:srgbClr val="4F46E5"/>
                </a:solidFill>
                <a:latin typeface="Calibri" pitchFamily="34" charset="0"/>
                <a:ea typeface="Calibri" pitchFamily="34" charset="-122"/>
                <a:cs typeface="Calibri" pitchFamily="34" charset="-120"/>
              </a:rPr>
              <a:t>OUTPUT</a:t>
            </a:r>
            <a:endParaRPr lang="en-US" sz="850" dirty="0"/>
          </a:p>
        </p:txBody>
      </p:sp>
      <p:sp>
        <p:nvSpPr>
          <p:cNvPr id="40" name="Text 38"/>
          <p:cNvSpPr txBox="1"/>
          <p:nvPr/>
        </p:nvSpPr>
        <p:spPr>
          <a:xfrm>
            <a:off x="4414723" y="5404104"/>
            <a:ext cx="1848917" cy="585216"/>
          </a:xfrm>
          <a:prstGeom prst="rect">
            <a:avLst/>
          </a:prstGeom>
          <a:noFill/>
          <a:ln/>
        </p:spPr>
        <p:txBody>
          <a:bodyPr wrap="square" lIns="0" tIns="0" rIns="0" bIns="0" rtlCol="0" anchor="t"/>
          <a:lstStyle/>
          <a:p>
            <a:pPr marL="0" indent="0">
              <a:buNone/>
            </a:pPr>
            <a:r>
              <a:rPr lang="en-US" sz="1200" dirty="0">
                <a:solidFill>
                  <a:srgbClr val="1E1B4B"/>
                </a:solidFill>
                <a:latin typeface="Courier New" pitchFamily="34" charset="0"/>
                <a:ea typeface="Courier New" pitchFamily="34" charset="-122"/>
                <a:cs typeface="Courier New" pitchFamily="34" charset="-120"/>
              </a:rPr>
              <a:t>Jake 22</a:t>
            </a:r>
            <a:endParaRPr lang="en-US" sz="1200" dirty="0"/>
          </a:p>
        </p:txBody>
      </p:sp>
      <p:sp>
        <p:nvSpPr>
          <p:cNvPr id="41" name="Text 39"/>
          <p:cNvSpPr txBox="1"/>
          <p:nvPr/>
        </p:nvSpPr>
        <p:spPr>
          <a:xfrm>
            <a:off x="502920" y="6117336"/>
            <a:ext cx="5852160" cy="274320"/>
          </a:xfrm>
          <a:prstGeom prst="rect">
            <a:avLst/>
          </a:prstGeom>
          <a:noFill/>
          <a:ln/>
        </p:spPr>
        <p:txBody>
          <a:bodyPr wrap="square" lIns="0" tIns="0" rIns="0" bIns="0" rtlCol="0" anchor="t"/>
          <a:lstStyle/>
          <a:p>
            <a:pPr marL="0" indent="0">
              <a:buNone/>
            </a:pPr>
            <a:r>
              <a:rPr lang="en-US" sz="1150" i="1" dirty="0">
                <a:solidFill>
                  <a:srgbClr val="5B5F7A"/>
                </a:solidFill>
                <a:latin typeface="Calibri" pitchFamily="34" charset="0"/>
                <a:ea typeface="Calibri" pitchFamily="34" charset="-122"/>
                <a:cs typeface="Calibri" pitchFamily="34" charset="-120"/>
              </a:rPr>
              <a:t>Each value is assigned to a variable in the same order.</a:t>
            </a:r>
            <a:endParaRPr lang="en-US" sz="11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02920" y="411480"/>
            <a:ext cx="5486400" cy="274320"/>
          </a:xfrm>
          <a:prstGeom prst="rect">
            <a:avLst/>
          </a:prstGeom>
          <a:noFill/>
          <a:ln/>
        </p:spPr>
        <p:txBody>
          <a:bodyPr wrap="square" lIns="0" tIns="0" rIns="0" bIns="0" rtlCol="0" anchor="t"/>
          <a:lstStyle/>
          <a:p>
            <a:pPr marL="0" indent="0">
              <a:buNone/>
            </a:pPr>
            <a:r>
              <a:rPr lang="en-US" sz="1200" b="1" kern="0" spc="300" dirty="0">
                <a:solidFill>
                  <a:srgbClr val="F0A8DD"/>
                </a:solidFill>
                <a:latin typeface="Calibri" pitchFamily="34" charset="0"/>
                <a:ea typeface="Calibri" pitchFamily="34" charset="-122"/>
                <a:cs typeface="Calibri" pitchFamily="34" charset="-120"/>
              </a:rPr>
              <a:t>MODULE RECAP</a:t>
            </a:r>
            <a:endParaRPr lang="en-US" sz="1200" dirty="0"/>
          </a:p>
        </p:txBody>
      </p:sp>
      <p:sp>
        <p:nvSpPr>
          <p:cNvPr id="3" name="Text 1"/>
          <p:cNvSpPr txBox="1"/>
          <p:nvPr/>
        </p:nvSpPr>
        <p:spPr>
          <a:xfrm>
            <a:off x="502920" y="685800"/>
            <a:ext cx="10058400" cy="640080"/>
          </a:xfrm>
          <a:prstGeom prst="rect">
            <a:avLst/>
          </a:prstGeom>
          <a:noFill/>
          <a:ln/>
        </p:spPr>
        <p:txBody>
          <a:bodyPr wrap="square" lIns="0" tIns="0" rIns="0" bIns="0" rtlCol="0" anchor="ctr"/>
          <a:lstStyle/>
          <a:p>
            <a:pPr marL="0" indent="0">
              <a:buNone/>
            </a:pPr>
            <a:r>
              <a:rPr lang="en-US" sz="3000" b="1" dirty="0">
                <a:solidFill>
                  <a:srgbClr val="FFFFFF"/>
                </a:solidFill>
                <a:latin typeface="Calibri" pitchFamily="34" charset="0"/>
                <a:ea typeface="Calibri" pitchFamily="34" charset="-122"/>
                <a:cs typeface="Calibri" pitchFamily="34" charset="-120"/>
              </a:rPr>
              <a:t>Python collections at a glance</a:t>
            </a:r>
            <a:endParaRPr lang="en-US" sz="3000" dirty="0"/>
          </a:p>
        </p:txBody>
      </p:sp>
      <p:graphicFrame>
        <p:nvGraphicFramePr>
          <p:cNvPr id="31" name="Table 0"/>
          <p:cNvGraphicFramePr>
            <a:graphicFrameLocks noGrp="1"/>
          </p:cNvGraphicFramePr>
          <p:nvPr>
            <p:extLst>
              <p:ext uri="{D42A27DB-BD31-4B8C-83A1-F6EECF244321}">
                <p14:modId xmlns:p14="http://schemas.microsoft.com/office/powerpoint/2010/main" val="1579011935"/>
              </p:ext>
            </p:extLst>
          </p:nvPr>
        </p:nvGraphicFramePr>
        <p:xfrm>
          <a:off x="502920" y="1508760"/>
          <a:ext cx="11183112" cy="3621024"/>
        </p:xfrm>
        <a:graphic>
          <a:graphicData uri="http://schemas.openxmlformats.org/drawingml/2006/table">
            <a:tbl>
              <a:tblPr/>
              <a:tblGrid>
                <a:gridCol w="1737360">
                  <a:extLst>
                    <a:ext uri="{9D8B030D-6E8A-4147-A177-3AD203B41FA5}">
                      <a16:colId xmlns:a16="http://schemas.microsoft.com/office/drawing/2014/main" val="20000"/>
                    </a:ext>
                  </a:extLst>
                </a:gridCol>
                <a:gridCol w="1920240">
                  <a:extLst>
                    <a:ext uri="{9D8B030D-6E8A-4147-A177-3AD203B41FA5}">
                      <a16:colId xmlns:a16="http://schemas.microsoft.com/office/drawing/2014/main" val="20001"/>
                    </a:ext>
                  </a:extLst>
                </a:gridCol>
                <a:gridCol w="1783080">
                  <a:extLst>
                    <a:ext uri="{9D8B030D-6E8A-4147-A177-3AD203B41FA5}">
                      <a16:colId xmlns:a16="http://schemas.microsoft.com/office/drawing/2014/main" val="20002"/>
                    </a:ext>
                  </a:extLst>
                </a:gridCol>
                <a:gridCol w="1371600">
                  <a:extLst>
                    <a:ext uri="{9D8B030D-6E8A-4147-A177-3AD203B41FA5}">
                      <a16:colId xmlns:a16="http://schemas.microsoft.com/office/drawing/2014/main" val="20003"/>
                    </a:ext>
                  </a:extLst>
                </a:gridCol>
                <a:gridCol w="1783080">
                  <a:extLst>
                    <a:ext uri="{9D8B030D-6E8A-4147-A177-3AD203B41FA5}">
                      <a16:colId xmlns:a16="http://schemas.microsoft.com/office/drawing/2014/main" val="20004"/>
                    </a:ext>
                  </a:extLst>
                </a:gridCol>
                <a:gridCol w="2587752">
                  <a:extLst>
                    <a:ext uri="{9D8B030D-6E8A-4147-A177-3AD203B41FA5}">
                      <a16:colId xmlns:a16="http://schemas.microsoft.com/office/drawing/2014/main" val="20005"/>
                    </a:ext>
                  </a:extLst>
                </a:gridCol>
              </a:tblGrid>
              <a:tr h="603504">
                <a:tc>
                  <a:txBody>
                    <a:bodyPr/>
                    <a:lstStyle/>
                    <a:p>
                      <a:pPr marL="0" indent="0">
                        <a:buNone/>
                      </a:pPr>
                      <a:r>
                        <a:rPr lang="en-US" sz="1250" b="1" dirty="0">
                          <a:solidFill>
                            <a:srgbClr val="F0A8DD"/>
                          </a:solidFill>
                          <a:latin typeface="Calibri" pitchFamily="34" charset="0"/>
                          <a:ea typeface="Calibri" pitchFamily="34" charset="-122"/>
                          <a:cs typeface="Calibri" pitchFamily="34" charset="-120"/>
                        </a:rPr>
                        <a:t>Type</a:t>
                      </a:r>
                      <a:endParaRPr lang="en-US" sz="1250" dirty="0">
                        <a:latin typeface="Calibri" charset="0"/>
                        <a:ea typeface="Calibri" charset="0"/>
                        <a:cs typeface="Calibri" charset="0"/>
                      </a:endParaRPr>
                    </a:p>
                  </a:txBody>
                  <a:tcPr marL="146304" marR="146304" marT="0" marB="0" anchor="ctr">
                    <a:lnL w="9525" cap="flat" cmpd="sng" algn="ctr">
                      <a:solidFill>
                        <a:srgbClr val="3B3791"/>
                      </a:solidFill>
                      <a:prstDash val="solid"/>
                      <a:round/>
                      <a:headEnd type="none" w="med" len="med"/>
                      <a:tailEnd type="none" w="med" len="med"/>
                    </a:lnL>
                    <a:lnR w="9525" cap="flat" cmpd="sng" algn="ctr">
                      <a:solidFill>
                        <a:srgbClr val="3B3791"/>
                      </a:solidFill>
                      <a:prstDash val="solid"/>
                      <a:round/>
                      <a:headEnd type="none" w="med" len="med"/>
                      <a:tailEnd type="none" w="med" len="med"/>
                    </a:lnR>
                    <a:lnT w="9525" cap="flat" cmpd="sng" algn="ctr">
                      <a:solidFill>
                        <a:srgbClr val="3B3791"/>
                      </a:solidFill>
                      <a:prstDash val="solid"/>
                      <a:round/>
                      <a:headEnd type="none" w="med" len="med"/>
                      <a:tailEnd type="none" w="med" len="med"/>
                    </a:lnT>
                    <a:lnB w="9525" cap="flat" cmpd="sng" algn="ctr">
                      <a:solidFill>
                        <a:srgbClr val="3B3791"/>
                      </a:solidFill>
                      <a:prstDash val="solid"/>
                      <a:round/>
                      <a:headEnd type="none" w="med" len="med"/>
                      <a:tailEnd type="none" w="med" len="med"/>
                    </a:lnB>
                    <a:solidFill>
                      <a:srgbClr val="2A2766"/>
                    </a:solidFill>
                  </a:tcPr>
                </a:tc>
                <a:tc>
                  <a:txBody>
                    <a:bodyPr/>
                    <a:lstStyle/>
                    <a:p>
                      <a:pPr marL="0" indent="0">
                        <a:buNone/>
                      </a:pPr>
                      <a:r>
                        <a:rPr lang="en-US" sz="1250" b="1" dirty="0">
                          <a:solidFill>
                            <a:srgbClr val="F0A8DD"/>
                          </a:solidFill>
                          <a:latin typeface="Calibri" pitchFamily="34" charset="0"/>
                          <a:ea typeface="Calibri" pitchFamily="34" charset="-122"/>
                          <a:cs typeface="Calibri" pitchFamily="34" charset="-120"/>
                        </a:rPr>
                        <a:t>Syntax</a:t>
                      </a:r>
                      <a:endParaRPr lang="en-US" sz="1250" dirty="0">
                        <a:latin typeface="Calibri" charset="0"/>
                        <a:ea typeface="Calibri" charset="0"/>
                        <a:cs typeface="Calibri" charset="0"/>
                      </a:endParaRPr>
                    </a:p>
                  </a:txBody>
                  <a:tcPr marL="146304" marR="146304" marT="0" marB="0" anchor="ctr">
                    <a:lnL w="9525" cap="flat" cmpd="sng" algn="ctr">
                      <a:solidFill>
                        <a:srgbClr val="3B3791"/>
                      </a:solidFill>
                      <a:prstDash val="solid"/>
                      <a:round/>
                      <a:headEnd type="none" w="med" len="med"/>
                      <a:tailEnd type="none" w="med" len="med"/>
                    </a:lnL>
                    <a:lnR w="9525" cap="flat" cmpd="sng" algn="ctr">
                      <a:solidFill>
                        <a:srgbClr val="3B3791"/>
                      </a:solidFill>
                      <a:prstDash val="solid"/>
                      <a:round/>
                      <a:headEnd type="none" w="med" len="med"/>
                      <a:tailEnd type="none" w="med" len="med"/>
                    </a:lnR>
                    <a:lnT w="9525" cap="flat" cmpd="sng" algn="ctr">
                      <a:solidFill>
                        <a:srgbClr val="3B3791"/>
                      </a:solidFill>
                      <a:prstDash val="solid"/>
                      <a:round/>
                      <a:headEnd type="none" w="med" len="med"/>
                      <a:tailEnd type="none" w="med" len="med"/>
                    </a:lnT>
                    <a:lnB w="9525" cap="flat" cmpd="sng" algn="ctr">
                      <a:solidFill>
                        <a:srgbClr val="3B3791"/>
                      </a:solidFill>
                      <a:prstDash val="solid"/>
                      <a:round/>
                      <a:headEnd type="none" w="med" len="med"/>
                      <a:tailEnd type="none" w="med" len="med"/>
                    </a:lnB>
                    <a:solidFill>
                      <a:srgbClr val="2A2766"/>
                    </a:solidFill>
                  </a:tcPr>
                </a:tc>
                <a:tc>
                  <a:txBody>
                    <a:bodyPr/>
                    <a:lstStyle/>
                    <a:p>
                      <a:pPr marL="0" indent="0">
                        <a:buNone/>
                      </a:pPr>
                      <a:r>
                        <a:rPr lang="en-US" sz="1250" b="1" dirty="0">
                          <a:solidFill>
                            <a:srgbClr val="F0A8DD"/>
                          </a:solidFill>
                          <a:latin typeface="Calibri" pitchFamily="34" charset="0"/>
                          <a:ea typeface="Calibri" pitchFamily="34" charset="-122"/>
                          <a:cs typeface="Calibri" pitchFamily="34" charset="-120"/>
                        </a:rPr>
                        <a:t>Ordered</a:t>
                      </a:r>
                      <a:endParaRPr lang="en-US" sz="1250" dirty="0">
                        <a:latin typeface="Calibri" charset="0"/>
                        <a:ea typeface="Calibri" charset="0"/>
                        <a:cs typeface="Calibri" charset="0"/>
                      </a:endParaRPr>
                    </a:p>
                  </a:txBody>
                  <a:tcPr marL="146304" marR="146304" marT="0" marB="0" anchor="ctr">
                    <a:lnL w="9525" cap="flat" cmpd="sng" algn="ctr">
                      <a:solidFill>
                        <a:srgbClr val="3B3791"/>
                      </a:solidFill>
                      <a:prstDash val="solid"/>
                      <a:round/>
                      <a:headEnd type="none" w="med" len="med"/>
                      <a:tailEnd type="none" w="med" len="med"/>
                    </a:lnL>
                    <a:lnR w="9525" cap="flat" cmpd="sng" algn="ctr">
                      <a:solidFill>
                        <a:srgbClr val="3B3791"/>
                      </a:solidFill>
                      <a:prstDash val="solid"/>
                      <a:round/>
                      <a:headEnd type="none" w="med" len="med"/>
                      <a:tailEnd type="none" w="med" len="med"/>
                    </a:lnR>
                    <a:lnT w="9525" cap="flat" cmpd="sng" algn="ctr">
                      <a:solidFill>
                        <a:srgbClr val="3B3791"/>
                      </a:solidFill>
                      <a:prstDash val="solid"/>
                      <a:round/>
                      <a:headEnd type="none" w="med" len="med"/>
                      <a:tailEnd type="none" w="med" len="med"/>
                    </a:lnT>
                    <a:lnB w="9525" cap="flat" cmpd="sng" algn="ctr">
                      <a:solidFill>
                        <a:srgbClr val="3B3791"/>
                      </a:solidFill>
                      <a:prstDash val="solid"/>
                      <a:round/>
                      <a:headEnd type="none" w="med" len="med"/>
                      <a:tailEnd type="none" w="med" len="med"/>
                    </a:lnB>
                    <a:solidFill>
                      <a:srgbClr val="2A2766"/>
                    </a:solidFill>
                  </a:tcPr>
                </a:tc>
                <a:tc>
                  <a:txBody>
                    <a:bodyPr/>
                    <a:lstStyle/>
                    <a:p>
                      <a:pPr marL="0" indent="0">
                        <a:buNone/>
                      </a:pPr>
                      <a:r>
                        <a:rPr lang="en-US" sz="1250" b="1" dirty="0">
                          <a:solidFill>
                            <a:srgbClr val="F0A8DD"/>
                          </a:solidFill>
                          <a:latin typeface="Calibri" pitchFamily="34" charset="0"/>
                          <a:ea typeface="Calibri" pitchFamily="34" charset="-122"/>
                          <a:cs typeface="Calibri" pitchFamily="34" charset="-120"/>
                        </a:rPr>
                        <a:t>Mutable</a:t>
                      </a:r>
                      <a:endParaRPr lang="en-US" sz="1250" dirty="0">
                        <a:latin typeface="Calibri" charset="0"/>
                        <a:ea typeface="Calibri" charset="0"/>
                        <a:cs typeface="Calibri" charset="0"/>
                      </a:endParaRPr>
                    </a:p>
                  </a:txBody>
                  <a:tcPr marL="146304" marR="146304" marT="0" marB="0" anchor="ctr">
                    <a:lnL w="9525" cap="flat" cmpd="sng" algn="ctr">
                      <a:solidFill>
                        <a:srgbClr val="3B3791"/>
                      </a:solidFill>
                      <a:prstDash val="solid"/>
                      <a:round/>
                      <a:headEnd type="none" w="med" len="med"/>
                      <a:tailEnd type="none" w="med" len="med"/>
                    </a:lnL>
                    <a:lnR w="9525" cap="flat" cmpd="sng" algn="ctr">
                      <a:solidFill>
                        <a:srgbClr val="3B3791"/>
                      </a:solidFill>
                      <a:prstDash val="solid"/>
                      <a:round/>
                      <a:headEnd type="none" w="med" len="med"/>
                      <a:tailEnd type="none" w="med" len="med"/>
                    </a:lnR>
                    <a:lnT w="9525" cap="flat" cmpd="sng" algn="ctr">
                      <a:solidFill>
                        <a:srgbClr val="3B3791"/>
                      </a:solidFill>
                      <a:prstDash val="solid"/>
                      <a:round/>
                      <a:headEnd type="none" w="med" len="med"/>
                      <a:tailEnd type="none" w="med" len="med"/>
                    </a:lnT>
                    <a:lnB w="9525" cap="flat" cmpd="sng" algn="ctr">
                      <a:solidFill>
                        <a:srgbClr val="3B3791"/>
                      </a:solidFill>
                      <a:prstDash val="solid"/>
                      <a:round/>
                      <a:headEnd type="none" w="med" len="med"/>
                      <a:tailEnd type="none" w="med" len="med"/>
                    </a:lnB>
                    <a:solidFill>
                      <a:srgbClr val="2A2766"/>
                    </a:solidFill>
                  </a:tcPr>
                </a:tc>
                <a:tc>
                  <a:txBody>
                    <a:bodyPr/>
                    <a:lstStyle/>
                    <a:p>
                      <a:pPr marL="0" indent="0">
                        <a:buNone/>
                      </a:pPr>
                      <a:r>
                        <a:rPr lang="en-US" sz="1250" b="1" dirty="0">
                          <a:solidFill>
                            <a:srgbClr val="F0A8DD"/>
                          </a:solidFill>
                          <a:latin typeface="Calibri" pitchFamily="34" charset="0"/>
                          <a:ea typeface="Calibri" pitchFamily="34" charset="-122"/>
                          <a:cs typeface="Calibri" pitchFamily="34" charset="-120"/>
                        </a:rPr>
                        <a:t>Duplicates</a:t>
                      </a:r>
                      <a:endParaRPr lang="en-US" sz="1250" dirty="0">
                        <a:latin typeface="Calibri" charset="0"/>
                        <a:ea typeface="Calibri" charset="0"/>
                        <a:cs typeface="Calibri" charset="0"/>
                      </a:endParaRPr>
                    </a:p>
                  </a:txBody>
                  <a:tcPr marL="146304" marR="146304" marT="0" marB="0" anchor="ctr">
                    <a:lnL w="9525" cap="flat" cmpd="sng" algn="ctr">
                      <a:solidFill>
                        <a:srgbClr val="3B3791"/>
                      </a:solidFill>
                      <a:prstDash val="solid"/>
                      <a:round/>
                      <a:headEnd type="none" w="med" len="med"/>
                      <a:tailEnd type="none" w="med" len="med"/>
                    </a:lnL>
                    <a:lnR w="9525" cap="flat" cmpd="sng" algn="ctr">
                      <a:solidFill>
                        <a:srgbClr val="3B3791"/>
                      </a:solidFill>
                      <a:prstDash val="solid"/>
                      <a:round/>
                      <a:headEnd type="none" w="med" len="med"/>
                      <a:tailEnd type="none" w="med" len="med"/>
                    </a:lnR>
                    <a:lnT w="9525" cap="flat" cmpd="sng" algn="ctr">
                      <a:solidFill>
                        <a:srgbClr val="3B3791"/>
                      </a:solidFill>
                      <a:prstDash val="solid"/>
                      <a:round/>
                      <a:headEnd type="none" w="med" len="med"/>
                      <a:tailEnd type="none" w="med" len="med"/>
                    </a:lnT>
                    <a:lnB w="9525" cap="flat" cmpd="sng" algn="ctr">
                      <a:solidFill>
                        <a:srgbClr val="3B3791"/>
                      </a:solidFill>
                      <a:prstDash val="solid"/>
                      <a:round/>
                      <a:headEnd type="none" w="med" len="med"/>
                      <a:tailEnd type="none" w="med" len="med"/>
                    </a:lnB>
                    <a:solidFill>
                      <a:srgbClr val="2A2766"/>
                    </a:solidFill>
                  </a:tcPr>
                </a:tc>
                <a:tc>
                  <a:txBody>
                    <a:bodyPr/>
                    <a:lstStyle/>
                    <a:p>
                      <a:pPr marL="0" indent="0">
                        <a:buNone/>
                      </a:pPr>
                      <a:r>
                        <a:rPr lang="en-US" sz="1250" b="1" dirty="0">
                          <a:solidFill>
                            <a:srgbClr val="F0A8DD"/>
                          </a:solidFill>
                          <a:latin typeface="Calibri" pitchFamily="34" charset="0"/>
                          <a:ea typeface="Calibri" pitchFamily="34" charset="-122"/>
                          <a:cs typeface="Calibri" pitchFamily="34" charset="-120"/>
                        </a:rPr>
                        <a:t>Access by</a:t>
                      </a:r>
                      <a:endParaRPr lang="en-US" sz="1250" dirty="0">
                        <a:latin typeface="Calibri" charset="0"/>
                        <a:ea typeface="Calibri" charset="0"/>
                        <a:cs typeface="Calibri" charset="0"/>
                      </a:endParaRPr>
                    </a:p>
                  </a:txBody>
                  <a:tcPr marL="146304" marR="146304" marT="0" marB="0" anchor="ctr">
                    <a:lnL w="9525" cap="flat" cmpd="sng" algn="ctr">
                      <a:solidFill>
                        <a:srgbClr val="3B3791"/>
                      </a:solidFill>
                      <a:prstDash val="solid"/>
                      <a:round/>
                      <a:headEnd type="none" w="med" len="med"/>
                      <a:tailEnd type="none" w="med" len="med"/>
                    </a:lnL>
                    <a:lnR w="9525" cap="flat" cmpd="sng" algn="ctr">
                      <a:solidFill>
                        <a:srgbClr val="3B3791"/>
                      </a:solidFill>
                      <a:prstDash val="solid"/>
                      <a:round/>
                      <a:headEnd type="none" w="med" len="med"/>
                      <a:tailEnd type="none" w="med" len="med"/>
                    </a:lnR>
                    <a:lnT w="9525" cap="flat" cmpd="sng" algn="ctr">
                      <a:solidFill>
                        <a:srgbClr val="3B3791"/>
                      </a:solidFill>
                      <a:prstDash val="solid"/>
                      <a:round/>
                      <a:headEnd type="none" w="med" len="med"/>
                      <a:tailEnd type="none" w="med" len="med"/>
                    </a:lnT>
                    <a:lnB w="9525" cap="flat" cmpd="sng" algn="ctr">
                      <a:solidFill>
                        <a:srgbClr val="3B3791"/>
                      </a:solidFill>
                      <a:prstDash val="solid"/>
                      <a:round/>
                      <a:headEnd type="none" w="med" len="med"/>
                      <a:tailEnd type="none" w="med" len="med"/>
                    </a:lnB>
                    <a:solidFill>
                      <a:srgbClr val="2A2766"/>
                    </a:solidFill>
                  </a:tcPr>
                </a:tc>
                <a:extLst>
                  <a:ext uri="{0D108BD9-81ED-4DB2-BD59-A6C34878D82A}">
                    <a16:rowId xmlns:a16="http://schemas.microsoft.com/office/drawing/2014/main" val="10000"/>
                  </a:ext>
                </a:extLst>
              </a:tr>
              <a:tr h="603504">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List</a:t>
                      </a:r>
                      <a:endParaRPr lang="en-US" sz="1300" dirty="0">
                        <a:latin typeface="Calibri" charset="0"/>
                        <a:ea typeface="Calibri" charset="0"/>
                        <a:cs typeface="Calibri" charset="0"/>
                      </a:endParaRPr>
                    </a:p>
                  </a:txBody>
                  <a:tcPr marL="146304" marR="146304" marT="0" marB="0" anchor="ctr">
                    <a:lnL w="9525" cap="flat" cmpd="sng" algn="ctr">
                      <a:solidFill>
                        <a:srgbClr val="3B3791"/>
                      </a:solidFill>
                      <a:prstDash val="solid"/>
                      <a:round/>
                      <a:headEnd type="none" w="med" len="med"/>
                      <a:tailEnd type="none" w="med" len="med"/>
                    </a:lnL>
                    <a:lnR w="9525" cap="flat" cmpd="sng" algn="ctr">
                      <a:solidFill>
                        <a:srgbClr val="3B3791"/>
                      </a:solidFill>
                      <a:prstDash val="solid"/>
                      <a:round/>
                      <a:headEnd type="none" w="med" len="med"/>
                      <a:tailEnd type="none" w="med" len="med"/>
                    </a:lnR>
                    <a:lnT w="9525" cap="flat" cmpd="sng" algn="ctr">
                      <a:solidFill>
                        <a:srgbClr val="3B3791"/>
                      </a:solidFill>
                      <a:prstDash val="solid"/>
                      <a:round/>
                      <a:headEnd type="none" w="med" len="med"/>
                      <a:tailEnd type="none" w="med" len="med"/>
                    </a:lnT>
                    <a:lnB w="9525" cap="flat" cmpd="sng" algn="ctr">
                      <a:solidFill>
                        <a:srgbClr val="3B3791"/>
                      </a:solidFill>
                      <a:prstDash val="solid"/>
                      <a:round/>
                      <a:headEnd type="none" w="med" len="med"/>
                      <a:tailEnd type="none" w="med" len="med"/>
                    </a:lnB>
                    <a:solidFill>
                      <a:srgbClr val="1E1B4B"/>
                    </a:solidFill>
                  </a:tcPr>
                </a:tc>
                <a:tc>
                  <a:txBody>
                    <a:bodyPr/>
                    <a:lstStyle/>
                    <a:p>
                      <a:pPr marL="0" indent="0">
                        <a:buNone/>
                      </a:pPr>
                      <a:r>
                        <a:rPr lang="en-US" sz="1300" dirty="0">
                          <a:solidFill>
                            <a:srgbClr val="A6E3A1"/>
                          </a:solidFill>
                          <a:latin typeface="Courier New" pitchFamily="34" charset="0"/>
                          <a:ea typeface="Courier New" pitchFamily="34" charset="-122"/>
                          <a:cs typeface="Courier New" pitchFamily="34" charset="-120"/>
                        </a:rPr>
                        <a:t>[1, 2, 3]</a:t>
                      </a:r>
                      <a:endParaRPr lang="en-US" sz="1300" dirty="0">
                        <a:latin typeface="Courier New" charset="0"/>
                        <a:ea typeface="Courier New" charset="0"/>
                        <a:cs typeface="Courier New" charset="0"/>
                      </a:endParaRPr>
                    </a:p>
                  </a:txBody>
                  <a:tcPr marL="146304" marR="146304" marT="0" marB="0" anchor="ctr">
                    <a:lnL w="9525" cap="flat" cmpd="sng" algn="ctr">
                      <a:solidFill>
                        <a:srgbClr val="3B3791"/>
                      </a:solidFill>
                      <a:prstDash val="solid"/>
                      <a:round/>
                      <a:headEnd type="none" w="med" len="med"/>
                      <a:tailEnd type="none" w="med" len="med"/>
                    </a:lnL>
                    <a:lnR w="9525" cap="flat" cmpd="sng" algn="ctr">
                      <a:solidFill>
                        <a:srgbClr val="3B3791"/>
                      </a:solidFill>
                      <a:prstDash val="solid"/>
                      <a:round/>
                      <a:headEnd type="none" w="med" len="med"/>
                      <a:tailEnd type="none" w="med" len="med"/>
                    </a:lnR>
                    <a:lnT w="9525" cap="flat" cmpd="sng" algn="ctr">
                      <a:solidFill>
                        <a:srgbClr val="3B3791"/>
                      </a:solidFill>
                      <a:prstDash val="solid"/>
                      <a:round/>
                      <a:headEnd type="none" w="med" len="med"/>
                      <a:tailEnd type="none" w="med" len="med"/>
                    </a:lnT>
                    <a:lnB w="9525" cap="flat" cmpd="sng" algn="ctr">
                      <a:solidFill>
                        <a:srgbClr val="3B3791"/>
                      </a:solidFill>
                      <a:prstDash val="solid"/>
                      <a:round/>
                      <a:headEnd type="none" w="med" len="med"/>
                      <a:tailEnd type="none" w="med" len="med"/>
                    </a:lnB>
                    <a:solidFill>
                      <a:srgbClr val="1E1B4B"/>
                    </a:solidFill>
                  </a:tcPr>
                </a:tc>
                <a:tc>
                  <a:txBody>
                    <a:bodyPr/>
                    <a:lstStyle/>
                    <a:p>
                      <a:pPr marL="0" indent="0">
                        <a:buNone/>
                      </a:pPr>
                      <a:r>
                        <a:rPr lang="en-US" sz="1300" dirty="0">
                          <a:solidFill>
                            <a:srgbClr val="E4E4F0"/>
                          </a:solidFill>
                          <a:latin typeface="Calibri" pitchFamily="34" charset="0"/>
                          <a:ea typeface="Calibri" pitchFamily="34" charset="-122"/>
                          <a:cs typeface="Calibri" pitchFamily="34" charset="-120"/>
                        </a:rPr>
                        <a:t>Yes</a:t>
                      </a:r>
                      <a:endParaRPr lang="en-US" sz="1300" dirty="0">
                        <a:latin typeface="Calibri" charset="0"/>
                        <a:ea typeface="Calibri" charset="0"/>
                        <a:cs typeface="Calibri" charset="0"/>
                      </a:endParaRPr>
                    </a:p>
                  </a:txBody>
                  <a:tcPr marL="146304" marR="146304" marT="0" marB="0" anchor="ctr">
                    <a:lnL w="9525" cap="flat" cmpd="sng" algn="ctr">
                      <a:solidFill>
                        <a:srgbClr val="3B3791"/>
                      </a:solidFill>
                      <a:prstDash val="solid"/>
                      <a:round/>
                      <a:headEnd type="none" w="med" len="med"/>
                      <a:tailEnd type="none" w="med" len="med"/>
                    </a:lnL>
                    <a:lnR w="9525" cap="flat" cmpd="sng" algn="ctr">
                      <a:solidFill>
                        <a:srgbClr val="3B3791"/>
                      </a:solidFill>
                      <a:prstDash val="solid"/>
                      <a:round/>
                      <a:headEnd type="none" w="med" len="med"/>
                      <a:tailEnd type="none" w="med" len="med"/>
                    </a:lnR>
                    <a:lnT w="9525" cap="flat" cmpd="sng" algn="ctr">
                      <a:solidFill>
                        <a:srgbClr val="3B3791"/>
                      </a:solidFill>
                      <a:prstDash val="solid"/>
                      <a:round/>
                      <a:headEnd type="none" w="med" len="med"/>
                      <a:tailEnd type="none" w="med" len="med"/>
                    </a:lnT>
                    <a:lnB w="9525" cap="flat" cmpd="sng" algn="ctr">
                      <a:solidFill>
                        <a:srgbClr val="3B3791"/>
                      </a:solidFill>
                      <a:prstDash val="solid"/>
                      <a:round/>
                      <a:headEnd type="none" w="med" len="med"/>
                      <a:tailEnd type="none" w="med" len="med"/>
                    </a:lnB>
                    <a:solidFill>
                      <a:srgbClr val="1E1B4B"/>
                    </a:solidFill>
                  </a:tcPr>
                </a:tc>
                <a:tc>
                  <a:txBody>
                    <a:bodyPr/>
                    <a:lstStyle/>
                    <a:p>
                      <a:pPr marL="0" indent="0">
                        <a:buNone/>
                      </a:pPr>
                      <a:r>
                        <a:rPr lang="en-US" sz="1300" dirty="0">
                          <a:solidFill>
                            <a:srgbClr val="E4E4F0"/>
                          </a:solidFill>
                          <a:latin typeface="Calibri" pitchFamily="34" charset="0"/>
                          <a:ea typeface="Calibri" pitchFamily="34" charset="-122"/>
                          <a:cs typeface="Calibri" pitchFamily="34" charset="-120"/>
                        </a:rPr>
                        <a:t>Yes</a:t>
                      </a:r>
                      <a:endParaRPr lang="en-US" sz="1300" dirty="0">
                        <a:latin typeface="Calibri" charset="0"/>
                        <a:ea typeface="Calibri" charset="0"/>
                        <a:cs typeface="Calibri" charset="0"/>
                      </a:endParaRPr>
                    </a:p>
                  </a:txBody>
                  <a:tcPr marL="146304" marR="146304" marT="0" marB="0" anchor="ctr">
                    <a:lnL w="9525" cap="flat" cmpd="sng" algn="ctr">
                      <a:solidFill>
                        <a:srgbClr val="3B3791"/>
                      </a:solidFill>
                      <a:prstDash val="solid"/>
                      <a:round/>
                      <a:headEnd type="none" w="med" len="med"/>
                      <a:tailEnd type="none" w="med" len="med"/>
                    </a:lnL>
                    <a:lnR w="9525" cap="flat" cmpd="sng" algn="ctr">
                      <a:solidFill>
                        <a:srgbClr val="3B3791"/>
                      </a:solidFill>
                      <a:prstDash val="solid"/>
                      <a:round/>
                      <a:headEnd type="none" w="med" len="med"/>
                      <a:tailEnd type="none" w="med" len="med"/>
                    </a:lnR>
                    <a:lnT w="9525" cap="flat" cmpd="sng" algn="ctr">
                      <a:solidFill>
                        <a:srgbClr val="3B3791"/>
                      </a:solidFill>
                      <a:prstDash val="solid"/>
                      <a:round/>
                      <a:headEnd type="none" w="med" len="med"/>
                      <a:tailEnd type="none" w="med" len="med"/>
                    </a:lnT>
                    <a:lnB w="9525" cap="flat" cmpd="sng" algn="ctr">
                      <a:solidFill>
                        <a:srgbClr val="3B3791"/>
                      </a:solidFill>
                      <a:prstDash val="solid"/>
                      <a:round/>
                      <a:headEnd type="none" w="med" len="med"/>
                      <a:tailEnd type="none" w="med" len="med"/>
                    </a:lnB>
                    <a:solidFill>
                      <a:srgbClr val="1E1B4B"/>
                    </a:solidFill>
                  </a:tcPr>
                </a:tc>
                <a:tc>
                  <a:txBody>
                    <a:bodyPr/>
                    <a:lstStyle/>
                    <a:p>
                      <a:pPr marL="0" indent="0">
                        <a:buNone/>
                      </a:pPr>
                      <a:r>
                        <a:rPr lang="en-US" sz="1300" dirty="0">
                          <a:solidFill>
                            <a:srgbClr val="E4E4F0"/>
                          </a:solidFill>
                          <a:latin typeface="Calibri" pitchFamily="34" charset="0"/>
                          <a:ea typeface="Calibri" pitchFamily="34" charset="-122"/>
                          <a:cs typeface="Calibri" pitchFamily="34" charset="-120"/>
                        </a:rPr>
                        <a:t>Allowed</a:t>
                      </a:r>
                      <a:endParaRPr lang="en-US" sz="1300" dirty="0">
                        <a:latin typeface="Calibri" charset="0"/>
                        <a:ea typeface="Calibri" charset="0"/>
                        <a:cs typeface="Calibri" charset="0"/>
                      </a:endParaRPr>
                    </a:p>
                  </a:txBody>
                  <a:tcPr marL="146304" marR="146304" marT="0" marB="0" anchor="ctr">
                    <a:lnL w="9525" cap="flat" cmpd="sng" algn="ctr">
                      <a:solidFill>
                        <a:srgbClr val="3B3791"/>
                      </a:solidFill>
                      <a:prstDash val="solid"/>
                      <a:round/>
                      <a:headEnd type="none" w="med" len="med"/>
                      <a:tailEnd type="none" w="med" len="med"/>
                    </a:lnL>
                    <a:lnR w="9525" cap="flat" cmpd="sng" algn="ctr">
                      <a:solidFill>
                        <a:srgbClr val="3B3791"/>
                      </a:solidFill>
                      <a:prstDash val="solid"/>
                      <a:round/>
                      <a:headEnd type="none" w="med" len="med"/>
                      <a:tailEnd type="none" w="med" len="med"/>
                    </a:lnR>
                    <a:lnT w="9525" cap="flat" cmpd="sng" algn="ctr">
                      <a:solidFill>
                        <a:srgbClr val="3B3791"/>
                      </a:solidFill>
                      <a:prstDash val="solid"/>
                      <a:round/>
                      <a:headEnd type="none" w="med" len="med"/>
                      <a:tailEnd type="none" w="med" len="med"/>
                    </a:lnT>
                    <a:lnB w="9525" cap="flat" cmpd="sng" algn="ctr">
                      <a:solidFill>
                        <a:srgbClr val="3B3791"/>
                      </a:solidFill>
                      <a:prstDash val="solid"/>
                      <a:round/>
                      <a:headEnd type="none" w="med" len="med"/>
                      <a:tailEnd type="none" w="med" len="med"/>
                    </a:lnB>
                    <a:solidFill>
                      <a:srgbClr val="1E1B4B"/>
                    </a:solidFill>
                  </a:tcPr>
                </a:tc>
                <a:tc>
                  <a:txBody>
                    <a:bodyPr/>
                    <a:lstStyle/>
                    <a:p>
                      <a:pPr marL="0" indent="0">
                        <a:buNone/>
                      </a:pPr>
                      <a:r>
                        <a:rPr lang="en-US" sz="1300" dirty="0">
                          <a:solidFill>
                            <a:srgbClr val="E4E4F0"/>
                          </a:solidFill>
                          <a:latin typeface="Calibri" pitchFamily="34" charset="0"/>
                          <a:ea typeface="Calibri" pitchFamily="34" charset="-122"/>
                          <a:cs typeface="Calibri" pitchFamily="34" charset="-120"/>
                        </a:rPr>
                        <a:t>Index  a[0]</a:t>
                      </a:r>
                      <a:endParaRPr lang="en-US" sz="1300" dirty="0">
                        <a:latin typeface="Calibri" charset="0"/>
                        <a:ea typeface="Calibri" charset="0"/>
                        <a:cs typeface="Calibri" charset="0"/>
                      </a:endParaRPr>
                    </a:p>
                  </a:txBody>
                  <a:tcPr marL="146304" marR="146304" marT="0" marB="0" anchor="ctr">
                    <a:lnL w="9525" cap="flat" cmpd="sng" algn="ctr">
                      <a:solidFill>
                        <a:srgbClr val="3B3791"/>
                      </a:solidFill>
                      <a:prstDash val="solid"/>
                      <a:round/>
                      <a:headEnd type="none" w="med" len="med"/>
                      <a:tailEnd type="none" w="med" len="med"/>
                    </a:lnL>
                    <a:lnR w="9525" cap="flat" cmpd="sng" algn="ctr">
                      <a:solidFill>
                        <a:srgbClr val="3B3791"/>
                      </a:solidFill>
                      <a:prstDash val="solid"/>
                      <a:round/>
                      <a:headEnd type="none" w="med" len="med"/>
                      <a:tailEnd type="none" w="med" len="med"/>
                    </a:lnR>
                    <a:lnT w="9525" cap="flat" cmpd="sng" algn="ctr">
                      <a:solidFill>
                        <a:srgbClr val="3B3791"/>
                      </a:solidFill>
                      <a:prstDash val="solid"/>
                      <a:round/>
                      <a:headEnd type="none" w="med" len="med"/>
                      <a:tailEnd type="none" w="med" len="med"/>
                    </a:lnT>
                    <a:lnB w="9525" cap="flat" cmpd="sng" algn="ctr">
                      <a:solidFill>
                        <a:srgbClr val="3B3791"/>
                      </a:solidFill>
                      <a:prstDash val="solid"/>
                      <a:round/>
                      <a:headEnd type="none" w="med" len="med"/>
                      <a:tailEnd type="none" w="med" len="med"/>
                    </a:lnB>
                    <a:solidFill>
                      <a:srgbClr val="1E1B4B"/>
                    </a:solidFill>
                  </a:tcPr>
                </a:tc>
                <a:extLst>
                  <a:ext uri="{0D108BD9-81ED-4DB2-BD59-A6C34878D82A}">
                    <a16:rowId xmlns:a16="http://schemas.microsoft.com/office/drawing/2014/main" val="10001"/>
                  </a:ext>
                </a:extLst>
              </a:tr>
              <a:tr h="603504">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Tuple</a:t>
                      </a:r>
                      <a:endParaRPr lang="en-US" sz="1300" dirty="0">
                        <a:latin typeface="Calibri" charset="0"/>
                        <a:ea typeface="Calibri" charset="0"/>
                        <a:cs typeface="Calibri" charset="0"/>
                      </a:endParaRPr>
                    </a:p>
                  </a:txBody>
                  <a:tcPr marL="146304" marR="146304" marT="0" marB="0" anchor="ctr">
                    <a:lnL w="9525" cap="flat" cmpd="sng" algn="ctr">
                      <a:solidFill>
                        <a:srgbClr val="3B3791"/>
                      </a:solidFill>
                      <a:prstDash val="solid"/>
                      <a:round/>
                      <a:headEnd type="none" w="med" len="med"/>
                      <a:tailEnd type="none" w="med" len="med"/>
                    </a:lnL>
                    <a:lnR w="9525" cap="flat" cmpd="sng" algn="ctr">
                      <a:solidFill>
                        <a:srgbClr val="3B3791"/>
                      </a:solidFill>
                      <a:prstDash val="solid"/>
                      <a:round/>
                      <a:headEnd type="none" w="med" len="med"/>
                      <a:tailEnd type="none" w="med" len="med"/>
                    </a:lnR>
                    <a:lnT w="9525" cap="flat" cmpd="sng" algn="ctr">
                      <a:solidFill>
                        <a:srgbClr val="3B3791"/>
                      </a:solidFill>
                      <a:prstDash val="solid"/>
                      <a:round/>
                      <a:headEnd type="none" w="med" len="med"/>
                      <a:tailEnd type="none" w="med" len="med"/>
                    </a:lnT>
                    <a:lnB w="9525" cap="flat" cmpd="sng" algn="ctr">
                      <a:solidFill>
                        <a:srgbClr val="3B3791"/>
                      </a:solidFill>
                      <a:prstDash val="solid"/>
                      <a:round/>
                      <a:headEnd type="none" w="med" len="med"/>
                      <a:tailEnd type="none" w="med" len="med"/>
                    </a:lnB>
                    <a:solidFill>
                      <a:srgbClr val="25225C"/>
                    </a:solidFill>
                  </a:tcPr>
                </a:tc>
                <a:tc>
                  <a:txBody>
                    <a:bodyPr/>
                    <a:lstStyle/>
                    <a:p>
                      <a:pPr marL="0" indent="0">
                        <a:buNone/>
                      </a:pPr>
                      <a:r>
                        <a:rPr lang="en-US" sz="1300" dirty="0">
                          <a:solidFill>
                            <a:srgbClr val="A6E3A1"/>
                          </a:solidFill>
                          <a:latin typeface="Courier New" pitchFamily="34" charset="0"/>
                          <a:ea typeface="Courier New" pitchFamily="34" charset="-122"/>
                          <a:cs typeface="Courier New" pitchFamily="34" charset="-120"/>
                        </a:rPr>
                        <a:t>(1, 2, 3)</a:t>
                      </a:r>
                      <a:endParaRPr lang="en-US" sz="1300" dirty="0">
                        <a:latin typeface="Courier New" charset="0"/>
                        <a:ea typeface="Courier New" charset="0"/>
                        <a:cs typeface="Courier New" charset="0"/>
                      </a:endParaRPr>
                    </a:p>
                  </a:txBody>
                  <a:tcPr marL="146304" marR="146304" marT="0" marB="0" anchor="ctr">
                    <a:lnL w="9525" cap="flat" cmpd="sng" algn="ctr">
                      <a:solidFill>
                        <a:srgbClr val="3B3791"/>
                      </a:solidFill>
                      <a:prstDash val="solid"/>
                      <a:round/>
                      <a:headEnd type="none" w="med" len="med"/>
                      <a:tailEnd type="none" w="med" len="med"/>
                    </a:lnL>
                    <a:lnR w="9525" cap="flat" cmpd="sng" algn="ctr">
                      <a:solidFill>
                        <a:srgbClr val="3B3791"/>
                      </a:solidFill>
                      <a:prstDash val="solid"/>
                      <a:round/>
                      <a:headEnd type="none" w="med" len="med"/>
                      <a:tailEnd type="none" w="med" len="med"/>
                    </a:lnR>
                    <a:lnT w="9525" cap="flat" cmpd="sng" algn="ctr">
                      <a:solidFill>
                        <a:srgbClr val="3B3791"/>
                      </a:solidFill>
                      <a:prstDash val="solid"/>
                      <a:round/>
                      <a:headEnd type="none" w="med" len="med"/>
                      <a:tailEnd type="none" w="med" len="med"/>
                    </a:lnT>
                    <a:lnB w="9525" cap="flat" cmpd="sng" algn="ctr">
                      <a:solidFill>
                        <a:srgbClr val="3B3791"/>
                      </a:solidFill>
                      <a:prstDash val="solid"/>
                      <a:round/>
                      <a:headEnd type="none" w="med" len="med"/>
                      <a:tailEnd type="none" w="med" len="med"/>
                    </a:lnB>
                    <a:solidFill>
                      <a:srgbClr val="25225C"/>
                    </a:solidFill>
                  </a:tcPr>
                </a:tc>
                <a:tc>
                  <a:txBody>
                    <a:bodyPr/>
                    <a:lstStyle/>
                    <a:p>
                      <a:pPr marL="0" indent="0">
                        <a:buNone/>
                      </a:pPr>
                      <a:r>
                        <a:rPr lang="en-US" sz="1300" dirty="0">
                          <a:solidFill>
                            <a:srgbClr val="E4E4F0"/>
                          </a:solidFill>
                          <a:latin typeface="Calibri" pitchFamily="34" charset="0"/>
                          <a:ea typeface="Calibri" pitchFamily="34" charset="-122"/>
                          <a:cs typeface="Calibri" pitchFamily="34" charset="-120"/>
                        </a:rPr>
                        <a:t>Yes</a:t>
                      </a:r>
                      <a:endParaRPr lang="en-US" sz="1300" dirty="0">
                        <a:latin typeface="Calibri" charset="0"/>
                        <a:ea typeface="Calibri" charset="0"/>
                        <a:cs typeface="Calibri" charset="0"/>
                      </a:endParaRPr>
                    </a:p>
                  </a:txBody>
                  <a:tcPr marL="146304" marR="146304" marT="0" marB="0" anchor="ctr">
                    <a:lnL w="9525" cap="flat" cmpd="sng" algn="ctr">
                      <a:solidFill>
                        <a:srgbClr val="3B3791"/>
                      </a:solidFill>
                      <a:prstDash val="solid"/>
                      <a:round/>
                      <a:headEnd type="none" w="med" len="med"/>
                      <a:tailEnd type="none" w="med" len="med"/>
                    </a:lnL>
                    <a:lnR w="9525" cap="flat" cmpd="sng" algn="ctr">
                      <a:solidFill>
                        <a:srgbClr val="3B3791"/>
                      </a:solidFill>
                      <a:prstDash val="solid"/>
                      <a:round/>
                      <a:headEnd type="none" w="med" len="med"/>
                      <a:tailEnd type="none" w="med" len="med"/>
                    </a:lnR>
                    <a:lnT w="9525" cap="flat" cmpd="sng" algn="ctr">
                      <a:solidFill>
                        <a:srgbClr val="3B3791"/>
                      </a:solidFill>
                      <a:prstDash val="solid"/>
                      <a:round/>
                      <a:headEnd type="none" w="med" len="med"/>
                      <a:tailEnd type="none" w="med" len="med"/>
                    </a:lnT>
                    <a:lnB w="9525" cap="flat" cmpd="sng" algn="ctr">
                      <a:solidFill>
                        <a:srgbClr val="3B3791"/>
                      </a:solidFill>
                      <a:prstDash val="solid"/>
                      <a:round/>
                      <a:headEnd type="none" w="med" len="med"/>
                      <a:tailEnd type="none" w="med" len="med"/>
                    </a:lnB>
                    <a:solidFill>
                      <a:srgbClr val="25225C"/>
                    </a:solidFill>
                  </a:tcPr>
                </a:tc>
                <a:tc>
                  <a:txBody>
                    <a:bodyPr/>
                    <a:lstStyle/>
                    <a:p>
                      <a:pPr marL="0" indent="0">
                        <a:buNone/>
                      </a:pPr>
                      <a:r>
                        <a:rPr lang="en-US" sz="1300" dirty="0">
                          <a:solidFill>
                            <a:srgbClr val="E4E4F0"/>
                          </a:solidFill>
                          <a:latin typeface="Calibri" pitchFamily="34" charset="0"/>
                          <a:ea typeface="Calibri" pitchFamily="34" charset="-122"/>
                          <a:cs typeface="Calibri" pitchFamily="34" charset="-120"/>
                        </a:rPr>
                        <a:t>No</a:t>
                      </a:r>
                      <a:endParaRPr lang="en-US" sz="1300" dirty="0">
                        <a:latin typeface="Calibri" charset="0"/>
                        <a:ea typeface="Calibri" charset="0"/>
                        <a:cs typeface="Calibri" charset="0"/>
                      </a:endParaRPr>
                    </a:p>
                  </a:txBody>
                  <a:tcPr marL="146304" marR="146304" marT="0" marB="0" anchor="ctr">
                    <a:lnL w="9525" cap="flat" cmpd="sng" algn="ctr">
                      <a:solidFill>
                        <a:srgbClr val="3B3791"/>
                      </a:solidFill>
                      <a:prstDash val="solid"/>
                      <a:round/>
                      <a:headEnd type="none" w="med" len="med"/>
                      <a:tailEnd type="none" w="med" len="med"/>
                    </a:lnL>
                    <a:lnR w="9525" cap="flat" cmpd="sng" algn="ctr">
                      <a:solidFill>
                        <a:srgbClr val="3B3791"/>
                      </a:solidFill>
                      <a:prstDash val="solid"/>
                      <a:round/>
                      <a:headEnd type="none" w="med" len="med"/>
                      <a:tailEnd type="none" w="med" len="med"/>
                    </a:lnR>
                    <a:lnT w="9525" cap="flat" cmpd="sng" algn="ctr">
                      <a:solidFill>
                        <a:srgbClr val="3B3791"/>
                      </a:solidFill>
                      <a:prstDash val="solid"/>
                      <a:round/>
                      <a:headEnd type="none" w="med" len="med"/>
                      <a:tailEnd type="none" w="med" len="med"/>
                    </a:lnT>
                    <a:lnB w="9525" cap="flat" cmpd="sng" algn="ctr">
                      <a:solidFill>
                        <a:srgbClr val="3B3791"/>
                      </a:solidFill>
                      <a:prstDash val="solid"/>
                      <a:round/>
                      <a:headEnd type="none" w="med" len="med"/>
                      <a:tailEnd type="none" w="med" len="med"/>
                    </a:lnB>
                    <a:solidFill>
                      <a:srgbClr val="25225C"/>
                    </a:solidFill>
                  </a:tcPr>
                </a:tc>
                <a:tc>
                  <a:txBody>
                    <a:bodyPr/>
                    <a:lstStyle/>
                    <a:p>
                      <a:pPr marL="0" indent="0">
                        <a:buNone/>
                      </a:pPr>
                      <a:r>
                        <a:rPr lang="en-US" sz="1300" dirty="0">
                          <a:solidFill>
                            <a:srgbClr val="E4E4F0"/>
                          </a:solidFill>
                          <a:latin typeface="Calibri" pitchFamily="34" charset="0"/>
                          <a:ea typeface="Calibri" pitchFamily="34" charset="-122"/>
                          <a:cs typeface="Calibri" pitchFamily="34" charset="-120"/>
                        </a:rPr>
                        <a:t>Allowed</a:t>
                      </a:r>
                      <a:endParaRPr lang="en-US" sz="1300" dirty="0">
                        <a:latin typeface="Calibri" charset="0"/>
                        <a:ea typeface="Calibri" charset="0"/>
                        <a:cs typeface="Calibri" charset="0"/>
                      </a:endParaRPr>
                    </a:p>
                  </a:txBody>
                  <a:tcPr marL="146304" marR="146304" marT="0" marB="0" anchor="ctr">
                    <a:lnL w="9525" cap="flat" cmpd="sng" algn="ctr">
                      <a:solidFill>
                        <a:srgbClr val="3B3791"/>
                      </a:solidFill>
                      <a:prstDash val="solid"/>
                      <a:round/>
                      <a:headEnd type="none" w="med" len="med"/>
                      <a:tailEnd type="none" w="med" len="med"/>
                    </a:lnL>
                    <a:lnR w="9525" cap="flat" cmpd="sng" algn="ctr">
                      <a:solidFill>
                        <a:srgbClr val="3B3791"/>
                      </a:solidFill>
                      <a:prstDash val="solid"/>
                      <a:round/>
                      <a:headEnd type="none" w="med" len="med"/>
                      <a:tailEnd type="none" w="med" len="med"/>
                    </a:lnR>
                    <a:lnT w="9525" cap="flat" cmpd="sng" algn="ctr">
                      <a:solidFill>
                        <a:srgbClr val="3B3791"/>
                      </a:solidFill>
                      <a:prstDash val="solid"/>
                      <a:round/>
                      <a:headEnd type="none" w="med" len="med"/>
                      <a:tailEnd type="none" w="med" len="med"/>
                    </a:lnT>
                    <a:lnB w="9525" cap="flat" cmpd="sng" algn="ctr">
                      <a:solidFill>
                        <a:srgbClr val="3B3791"/>
                      </a:solidFill>
                      <a:prstDash val="solid"/>
                      <a:round/>
                      <a:headEnd type="none" w="med" len="med"/>
                      <a:tailEnd type="none" w="med" len="med"/>
                    </a:lnB>
                    <a:solidFill>
                      <a:srgbClr val="25225C"/>
                    </a:solidFill>
                  </a:tcPr>
                </a:tc>
                <a:tc>
                  <a:txBody>
                    <a:bodyPr/>
                    <a:lstStyle/>
                    <a:p>
                      <a:pPr marL="0" indent="0">
                        <a:buNone/>
                      </a:pPr>
                      <a:r>
                        <a:rPr lang="en-US" sz="1300" dirty="0">
                          <a:solidFill>
                            <a:srgbClr val="E4E4F0"/>
                          </a:solidFill>
                          <a:latin typeface="Calibri" pitchFamily="34" charset="0"/>
                          <a:ea typeface="Calibri" pitchFamily="34" charset="-122"/>
                          <a:cs typeface="Calibri" pitchFamily="34" charset="-120"/>
                        </a:rPr>
                        <a:t>Index  t[0]</a:t>
                      </a:r>
                      <a:endParaRPr lang="en-US" sz="1300" dirty="0">
                        <a:latin typeface="Calibri" charset="0"/>
                        <a:ea typeface="Calibri" charset="0"/>
                        <a:cs typeface="Calibri" charset="0"/>
                      </a:endParaRPr>
                    </a:p>
                  </a:txBody>
                  <a:tcPr marL="146304" marR="146304" marT="0" marB="0" anchor="ctr">
                    <a:lnL w="9525" cap="flat" cmpd="sng" algn="ctr">
                      <a:solidFill>
                        <a:srgbClr val="3B3791"/>
                      </a:solidFill>
                      <a:prstDash val="solid"/>
                      <a:round/>
                      <a:headEnd type="none" w="med" len="med"/>
                      <a:tailEnd type="none" w="med" len="med"/>
                    </a:lnL>
                    <a:lnR w="9525" cap="flat" cmpd="sng" algn="ctr">
                      <a:solidFill>
                        <a:srgbClr val="3B3791"/>
                      </a:solidFill>
                      <a:prstDash val="solid"/>
                      <a:round/>
                      <a:headEnd type="none" w="med" len="med"/>
                      <a:tailEnd type="none" w="med" len="med"/>
                    </a:lnR>
                    <a:lnT w="9525" cap="flat" cmpd="sng" algn="ctr">
                      <a:solidFill>
                        <a:srgbClr val="3B3791"/>
                      </a:solidFill>
                      <a:prstDash val="solid"/>
                      <a:round/>
                      <a:headEnd type="none" w="med" len="med"/>
                      <a:tailEnd type="none" w="med" len="med"/>
                    </a:lnT>
                    <a:lnB w="9525" cap="flat" cmpd="sng" algn="ctr">
                      <a:solidFill>
                        <a:srgbClr val="3B3791"/>
                      </a:solidFill>
                      <a:prstDash val="solid"/>
                      <a:round/>
                      <a:headEnd type="none" w="med" len="med"/>
                      <a:tailEnd type="none" w="med" len="med"/>
                    </a:lnB>
                    <a:solidFill>
                      <a:srgbClr val="25225C"/>
                    </a:solidFill>
                  </a:tcPr>
                </a:tc>
                <a:extLst>
                  <a:ext uri="{0D108BD9-81ED-4DB2-BD59-A6C34878D82A}">
                    <a16:rowId xmlns:a16="http://schemas.microsoft.com/office/drawing/2014/main" val="10002"/>
                  </a:ext>
                </a:extLst>
              </a:tr>
              <a:tr h="603504">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Set</a:t>
                      </a:r>
                      <a:endParaRPr lang="en-US" sz="1300" dirty="0">
                        <a:latin typeface="Calibri" charset="0"/>
                        <a:ea typeface="Calibri" charset="0"/>
                        <a:cs typeface="Calibri" charset="0"/>
                      </a:endParaRPr>
                    </a:p>
                  </a:txBody>
                  <a:tcPr marL="146304" marR="146304" marT="0" marB="0" anchor="ctr">
                    <a:lnL w="9525" cap="flat" cmpd="sng" algn="ctr">
                      <a:solidFill>
                        <a:srgbClr val="3B3791"/>
                      </a:solidFill>
                      <a:prstDash val="solid"/>
                      <a:round/>
                      <a:headEnd type="none" w="med" len="med"/>
                      <a:tailEnd type="none" w="med" len="med"/>
                    </a:lnL>
                    <a:lnR w="9525" cap="flat" cmpd="sng" algn="ctr">
                      <a:solidFill>
                        <a:srgbClr val="3B3791"/>
                      </a:solidFill>
                      <a:prstDash val="solid"/>
                      <a:round/>
                      <a:headEnd type="none" w="med" len="med"/>
                      <a:tailEnd type="none" w="med" len="med"/>
                    </a:lnR>
                    <a:lnT w="9525" cap="flat" cmpd="sng" algn="ctr">
                      <a:solidFill>
                        <a:srgbClr val="3B3791"/>
                      </a:solidFill>
                      <a:prstDash val="solid"/>
                      <a:round/>
                      <a:headEnd type="none" w="med" len="med"/>
                      <a:tailEnd type="none" w="med" len="med"/>
                    </a:lnT>
                    <a:lnB w="9525" cap="flat" cmpd="sng" algn="ctr">
                      <a:solidFill>
                        <a:srgbClr val="3B3791"/>
                      </a:solidFill>
                      <a:prstDash val="solid"/>
                      <a:round/>
                      <a:headEnd type="none" w="med" len="med"/>
                      <a:tailEnd type="none" w="med" len="med"/>
                    </a:lnB>
                    <a:solidFill>
                      <a:srgbClr val="1E1B4B"/>
                    </a:solidFill>
                  </a:tcPr>
                </a:tc>
                <a:tc>
                  <a:txBody>
                    <a:bodyPr/>
                    <a:lstStyle/>
                    <a:p>
                      <a:pPr marL="0" indent="0">
                        <a:buNone/>
                      </a:pPr>
                      <a:r>
                        <a:rPr lang="en-US" sz="1300" dirty="0">
                          <a:solidFill>
                            <a:srgbClr val="A6E3A1"/>
                          </a:solidFill>
                          <a:latin typeface="Courier New" pitchFamily="34" charset="0"/>
                          <a:ea typeface="Courier New" pitchFamily="34" charset="-122"/>
                          <a:cs typeface="Courier New" pitchFamily="34" charset="-120"/>
                        </a:rPr>
                        <a:t>{1, 2, 3}</a:t>
                      </a:r>
                      <a:endParaRPr lang="en-US" sz="1300" dirty="0">
                        <a:latin typeface="Courier New" charset="0"/>
                        <a:ea typeface="Courier New" charset="0"/>
                        <a:cs typeface="Courier New" charset="0"/>
                      </a:endParaRPr>
                    </a:p>
                  </a:txBody>
                  <a:tcPr marL="146304" marR="146304" marT="0" marB="0" anchor="ctr">
                    <a:lnL w="9525" cap="flat" cmpd="sng" algn="ctr">
                      <a:solidFill>
                        <a:srgbClr val="3B3791"/>
                      </a:solidFill>
                      <a:prstDash val="solid"/>
                      <a:round/>
                      <a:headEnd type="none" w="med" len="med"/>
                      <a:tailEnd type="none" w="med" len="med"/>
                    </a:lnL>
                    <a:lnR w="9525" cap="flat" cmpd="sng" algn="ctr">
                      <a:solidFill>
                        <a:srgbClr val="3B3791"/>
                      </a:solidFill>
                      <a:prstDash val="solid"/>
                      <a:round/>
                      <a:headEnd type="none" w="med" len="med"/>
                      <a:tailEnd type="none" w="med" len="med"/>
                    </a:lnR>
                    <a:lnT w="9525" cap="flat" cmpd="sng" algn="ctr">
                      <a:solidFill>
                        <a:srgbClr val="3B3791"/>
                      </a:solidFill>
                      <a:prstDash val="solid"/>
                      <a:round/>
                      <a:headEnd type="none" w="med" len="med"/>
                      <a:tailEnd type="none" w="med" len="med"/>
                    </a:lnT>
                    <a:lnB w="9525" cap="flat" cmpd="sng" algn="ctr">
                      <a:solidFill>
                        <a:srgbClr val="3B3791"/>
                      </a:solidFill>
                      <a:prstDash val="solid"/>
                      <a:round/>
                      <a:headEnd type="none" w="med" len="med"/>
                      <a:tailEnd type="none" w="med" len="med"/>
                    </a:lnB>
                    <a:solidFill>
                      <a:srgbClr val="1E1B4B"/>
                    </a:solidFill>
                  </a:tcPr>
                </a:tc>
                <a:tc>
                  <a:txBody>
                    <a:bodyPr/>
                    <a:lstStyle/>
                    <a:p>
                      <a:pPr marL="0" indent="0">
                        <a:buNone/>
                      </a:pPr>
                      <a:r>
                        <a:rPr lang="en-US" sz="1300" dirty="0">
                          <a:solidFill>
                            <a:srgbClr val="E4E4F0"/>
                          </a:solidFill>
                          <a:latin typeface="Calibri" pitchFamily="34" charset="0"/>
                          <a:ea typeface="Calibri" pitchFamily="34" charset="-122"/>
                          <a:cs typeface="Calibri" pitchFamily="34" charset="-120"/>
                        </a:rPr>
                        <a:t>No</a:t>
                      </a:r>
                      <a:endParaRPr lang="en-US" sz="1300" dirty="0">
                        <a:latin typeface="Calibri" charset="0"/>
                        <a:ea typeface="Calibri" charset="0"/>
                        <a:cs typeface="Calibri" charset="0"/>
                      </a:endParaRPr>
                    </a:p>
                  </a:txBody>
                  <a:tcPr marL="146304" marR="146304" marT="0" marB="0" anchor="ctr">
                    <a:lnL w="9525" cap="flat" cmpd="sng" algn="ctr">
                      <a:solidFill>
                        <a:srgbClr val="3B3791"/>
                      </a:solidFill>
                      <a:prstDash val="solid"/>
                      <a:round/>
                      <a:headEnd type="none" w="med" len="med"/>
                      <a:tailEnd type="none" w="med" len="med"/>
                    </a:lnL>
                    <a:lnR w="9525" cap="flat" cmpd="sng" algn="ctr">
                      <a:solidFill>
                        <a:srgbClr val="3B3791"/>
                      </a:solidFill>
                      <a:prstDash val="solid"/>
                      <a:round/>
                      <a:headEnd type="none" w="med" len="med"/>
                      <a:tailEnd type="none" w="med" len="med"/>
                    </a:lnR>
                    <a:lnT w="9525" cap="flat" cmpd="sng" algn="ctr">
                      <a:solidFill>
                        <a:srgbClr val="3B3791"/>
                      </a:solidFill>
                      <a:prstDash val="solid"/>
                      <a:round/>
                      <a:headEnd type="none" w="med" len="med"/>
                      <a:tailEnd type="none" w="med" len="med"/>
                    </a:lnT>
                    <a:lnB w="9525" cap="flat" cmpd="sng" algn="ctr">
                      <a:solidFill>
                        <a:srgbClr val="3B3791"/>
                      </a:solidFill>
                      <a:prstDash val="solid"/>
                      <a:round/>
                      <a:headEnd type="none" w="med" len="med"/>
                      <a:tailEnd type="none" w="med" len="med"/>
                    </a:lnB>
                    <a:solidFill>
                      <a:srgbClr val="1E1B4B"/>
                    </a:solidFill>
                  </a:tcPr>
                </a:tc>
                <a:tc>
                  <a:txBody>
                    <a:bodyPr/>
                    <a:lstStyle/>
                    <a:p>
                      <a:pPr marL="0" indent="0">
                        <a:buNone/>
                      </a:pPr>
                      <a:r>
                        <a:rPr lang="en-US" sz="1300" dirty="0">
                          <a:solidFill>
                            <a:srgbClr val="E4E4F0"/>
                          </a:solidFill>
                          <a:latin typeface="Calibri" pitchFamily="34" charset="0"/>
                          <a:ea typeface="Calibri" pitchFamily="34" charset="-122"/>
                          <a:cs typeface="Calibri" pitchFamily="34" charset="-120"/>
                        </a:rPr>
                        <a:t>Yes</a:t>
                      </a:r>
                      <a:endParaRPr lang="en-US" sz="1300" dirty="0">
                        <a:latin typeface="Calibri" charset="0"/>
                        <a:ea typeface="Calibri" charset="0"/>
                        <a:cs typeface="Calibri" charset="0"/>
                      </a:endParaRPr>
                    </a:p>
                  </a:txBody>
                  <a:tcPr marL="146304" marR="146304" marT="0" marB="0" anchor="ctr">
                    <a:lnL w="9525" cap="flat" cmpd="sng" algn="ctr">
                      <a:solidFill>
                        <a:srgbClr val="3B3791"/>
                      </a:solidFill>
                      <a:prstDash val="solid"/>
                      <a:round/>
                      <a:headEnd type="none" w="med" len="med"/>
                      <a:tailEnd type="none" w="med" len="med"/>
                    </a:lnL>
                    <a:lnR w="9525" cap="flat" cmpd="sng" algn="ctr">
                      <a:solidFill>
                        <a:srgbClr val="3B3791"/>
                      </a:solidFill>
                      <a:prstDash val="solid"/>
                      <a:round/>
                      <a:headEnd type="none" w="med" len="med"/>
                      <a:tailEnd type="none" w="med" len="med"/>
                    </a:lnR>
                    <a:lnT w="9525" cap="flat" cmpd="sng" algn="ctr">
                      <a:solidFill>
                        <a:srgbClr val="3B3791"/>
                      </a:solidFill>
                      <a:prstDash val="solid"/>
                      <a:round/>
                      <a:headEnd type="none" w="med" len="med"/>
                      <a:tailEnd type="none" w="med" len="med"/>
                    </a:lnT>
                    <a:lnB w="9525" cap="flat" cmpd="sng" algn="ctr">
                      <a:solidFill>
                        <a:srgbClr val="3B3791"/>
                      </a:solidFill>
                      <a:prstDash val="solid"/>
                      <a:round/>
                      <a:headEnd type="none" w="med" len="med"/>
                      <a:tailEnd type="none" w="med" len="med"/>
                    </a:lnB>
                    <a:solidFill>
                      <a:srgbClr val="1E1B4B"/>
                    </a:solidFill>
                  </a:tcPr>
                </a:tc>
                <a:tc>
                  <a:txBody>
                    <a:bodyPr/>
                    <a:lstStyle/>
                    <a:p>
                      <a:pPr marL="0" indent="0">
                        <a:buNone/>
                      </a:pPr>
                      <a:r>
                        <a:rPr lang="en-US" sz="1300" dirty="0">
                          <a:solidFill>
                            <a:srgbClr val="E4E4F0"/>
                          </a:solidFill>
                          <a:latin typeface="Calibri" pitchFamily="34" charset="0"/>
                          <a:ea typeface="Calibri" pitchFamily="34" charset="-122"/>
                          <a:cs typeface="Calibri" pitchFamily="34" charset="-120"/>
                        </a:rPr>
                        <a:t>Removed</a:t>
                      </a:r>
                      <a:endParaRPr lang="en-US" sz="1300" dirty="0">
                        <a:latin typeface="Calibri" charset="0"/>
                        <a:ea typeface="Calibri" charset="0"/>
                        <a:cs typeface="Calibri" charset="0"/>
                      </a:endParaRPr>
                    </a:p>
                  </a:txBody>
                  <a:tcPr marL="146304" marR="146304" marT="0" marB="0" anchor="ctr">
                    <a:lnL w="9525" cap="flat" cmpd="sng" algn="ctr">
                      <a:solidFill>
                        <a:srgbClr val="3B3791"/>
                      </a:solidFill>
                      <a:prstDash val="solid"/>
                      <a:round/>
                      <a:headEnd type="none" w="med" len="med"/>
                      <a:tailEnd type="none" w="med" len="med"/>
                    </a:lnL>
                    <a:lnR w="9525" cap="flat" cmpd="sng" algn="ctr">
                      <a:solidFill>
                        <a:srgbClr val="3B3791"/>
                      </a:solidFill>
                      <a:prstDash val="solid"/>
                      <a:round/>
                      <a:headEnd type="none" w="med" len="med"/>
                      <a:tailEnd type="none" w="med" len="med"/>
                    </a:lnR>
                    <a:lnT w="9525" cap="flat" cmpd="sng" algn="ctr">
                      <a:solidFill>
                        <a:srgbClr val="3B3791"/>
                      </a:solidFill>
                      <a:prstDash val="solid"/>
                      <a:round/>
                      <a:headEnd type="none" w="med" len="med"/>
                      <a:tailEnd type="none" w="med" len="med"/>
                    </a:lnT>
                    <a:lnB w="9525" cap="flat" cmpd="sng" algn="ctr">
                      <a:solidFill>
                        <a:srgbClr val="3B3791"/>
                      </a:solidFill>
                      <a:prstDash val="solid"/>
                      <a:round/>
                      <a:headEnd type="none" w="med" len="med"/>
                      <a:tailEnd type="none" w="med" len="med"/>
                    </a:lnB>
                    <a:solidFill>
                      <a:srgbClr val="1E1B4B"/>
                    </a:solidFill>
                  </a:tcPr>
                </a:tc>
                <a:tc>
                  <a:txBody>
                    <a:bodyPr/>
                    <a:lstStyle/>
                    <a:p>
                      <a:pPr marL="0" indent="0">
                        <a:buNone/>
                      </a:pPr>
                      <a:r>
                        <a:rPr lang="en-US" sz="1300" dirty="0">
                          <a:solidFill>
                            <a:srgbClr val="E4E4F0"/>
                          </a:solidFill>
                          <a:latin typeface="Calibri" pitchFamily="34" charset="0"/>
                          <a:ea typeface="Calibri" pitchFamily="34" charset="-122"/>
                          <a:cs typeface="Calibri" pitchFamily="34" charset="-120"/>
                        </a:rPr>
                        <a:t>Membership  x in s</a:t>
                      </a:r>
                      <a:endParaRPr lang="en-US" sz="1300" dirty="0">
                        <a:latin typeface="Calibri" charset="0"/>
                        <a:ea typeface="Calibri" charset="0"/>
                        <a:cs typeface="Calibri" charset="0"/>
                      </a:endParaRPr>
                    </a:p>
                  </a:txBody>
                  <a:tcPr marL="146304" marR="146304" marT="0" marB="0" anchor="ctr">
                    <a:lnL w="9525" cap="flat" cmpd="sng" algn="ctr">
                      <a:solidFill>
                        <a:srgbClr val="3B3791"/>
                      </a:solidFill>
                      <a:prstDash val="solid"/>
                      <a:round/>
                      <a:headEnd type="none" w="med" len="med"/>
                      <a:tailEnd type="none" w="med" len="med"/>
                    </a:lnL>
                    <a:lnR w="9525" cap="flat" cmpd="sng" algn="ctr">
                      <a:solidFill>
                        <a:srgbClr val="3B3791"/>
                      </a:solidFill>
                      <a:prstDash val="solid"/>
                      <a:round/>
                      <a:headEnd type="none" w="med" len="med"/>
                      <a:tailEnd type="none" w="med" len="med"/>
                    </a:lnR>
                    <a:lnT w="9525" cap="flat" cmpd="sng" algn="ctr">
                      <a:solidFill>
                        <a:srgbClr val="3B3791"/>
                      </a:solidFill>
                      <a:prstDash val="solid"/>
                      <a:round/>
                      <a:headEnd type="none" w="med" len="med"/>
                      <a:tailEnd type="none" w="med" len="med"/>
                    </a:lnT>
                    <a:lnB w="9525" cap="flat" cmpd="sng" algn="ctr">
                      <a:solidFill>
                        <a:srgbClr val="3B3791"/>
                      </a:solidFill>
                      <a:prstDash val="solid"/>
                      <a:round/>
                      <a:headEnd type="none" w="med" len="med"/>
                      <a:tailEnd type="none" w="med" len="med"/>
                    </a:lnB>
                    <a:solidFill>
                      <a:srgbClr val="1E1B4B"/>
                    </a:solidFill>
                  </a:tcPr>
                </a:tc>
                <a:extLst>
                  <a:ext uri="{0D108BD9-81ED-4DB2-BD59-A6C34878D82A}">
                    <a16:rowId xmlns:a16="http://schemas.microsoft.com/office/drawing/2014/main" val="10003"/>
                  </a:ext>
                </a:extLst>
              </a:tr>
              <a:tr h="603504">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Dictionary</a:t>
                      </a:r>
                      <a:endParaRPr lang="en-US" sz="1300" dirty="0">
                        <a:latin typeface="Calibri" charset="0"/>
                        <a:ea typeface="Calibri" charset="0"/>
                        <a:cs typeface="Calibri" charset="0"/>
                      </a:endParaRPr>
                    </a:p>
                  </a:txBody>
                  <a:tcPr marL="146304" marR="146304" marT="0" marB="0" anchor="ctr">
                    <a:lnL w="9525" cap="flat" cmpd="sng" algn="ctr">
                      <a:solidFill>
                        <a:srgbClr val="3B3791"/>
                      </a:solidFill>
                      <a:prstDash val="solid"/>
                      <a:round/>
                      <a:headEnd type="none" w="med" len="med"/>
                      <a:tailEnd type="none" w="med" len="med"/>
                    </a:lnL>
                    <a:lnR w="9525" cap="flat" cmpd="sng" algn="ctr">
                      <a:solidFill>
                        <a:srgbClr val="3B3791"/>
                      </a:solidFill>
                      <a:prstDash val="solid"/>
                      <a:round/>
                      <a:headEnd type="none" w="med" len="med"/>
                      <a:tailEnd type="none" w="med" len="med"/>
                    </a:lnR>
                    <a:lnT w="9525" cap="flat" cmpd="sng" algn="ctr">
                      <a:solidFill>
                        <a:srgbClr val="3B3791"/>
                      </a:solidFill>
                      <a:prstDash val="solid"/>
                      <a:round/>
                      <a:headEnd type="none" w="med" len="med"/>
                      <a:tailEnd type="none" w="med" len="med"/>
                    </a:lnT>
                    <a:lnB w="9525" cap="flat" cmpd="sng" algn="ctr">
                      <a:solidFill>
                        <a:srgbClr val="3B3791"/>
                      </a:solidFill>
                      <a:prstDash val="solid"/>
                      <a:round/>
                      <a:headEnd type="none" w="med" len="med"/>
                      <a:tailEnd type="none" w="med" len="med"/>
                    </a:lnB>
                    <a:solidFill>
                      <a:srgbClr val="25225C"/>
                    </a:solidFill>
                  </a:tcPr>
                </a:tc>
                <a:tc>
                  <a:txBody>
                    <a:bodyPr/>
                    <a:lstStyle/>
                    <a:p>
                      <a:pPr marL="0" indent="0">
                        <a:buNone/>
                      </a:pPr>
                      <a:r>
                        <a:rPr lang="en-US" sz="1300" dirty="0">
                          <a:solidFill>
                            <a:srgbClr val="A6E3A1"/>
                          </a:solidFill>
                          <a:latin typeface="Courier New" pitchFamily="34" charset="0"/>
                          <a:ea typeface="Courier New" pitchFamily="34" charset="-122"/>
                          <a:cs typeface="Courier New" pitchFamily="34" charset="-120"/>
                        </a:rPr>
                        <a:t>{"a": 1}</a:t>
                      </a:r>
                      <a:endParaRPr lang="en-US" sz="1300" dirty="0">
                        <a:latin typeface="Courier New" charset="0"/>
                        <a:ea typeface="Courier New" charset="0"/>
                        <a:cs typeface="Courier New" charset="0"/>
                      </a:endParaRPr>
                    </a:p>
                  </a:txBody>
                  <a:tcPr marL="146304" marR="146304" marT="0" marB="0" anchor="ctr">
                    <a:lnL w="9525" cap="flat" cmpd="sng" algn="ctr">
                      <a:solidFill>
                        <a:srgbClr val="3B3791"/>
                      </a:solidFill>
                      <a:prstDash val="solid"/>
                      <a:round/>
                      <a:headEnd type="none" w="med" len="med"/>
                      <a:tailEnd type="none" w="med" len="med"/>
                    </a:lnL>
                    <a:lnR w="9525" cap="flat" cmpd="sng" algn="ctr">
                      <a:solidFill>
                        <a:srgbClr val="3B3791"/>
                      </a:solidFill>
                      <a:prstDash val="solid"/>
                      <a:round/>
                      <a:headEnd type="none" w="med" len="med"/>
                      <a:tailEnd type="none" w="med" len="med"/>
                    </a:lnR>
                    <a:lnT w="9525" cap="flat" cmpd="sng" algn="ctr">
                      <a:solidFill>
                        <a:srgbClr val="3B3791"/>
                      </a:solidFill>
                      <a:prstDash val="solid"/>
                      <a:round/>
                      <a:headEnd type="none" w="med" len="med"/>
                      <a:tailEnd type="none" w="med" len="med"/>
                    </a:lnT>
                    <a:lnB w="9525" cap="flat" cmpd="sng" algn="ctr">
                      <a:solidFill>
                        <a:srgbClr val="3B3791"/>
                      </a:solidFill>
                      <a:prstDash val="solid"/>
                      <a:round/>
                      <a:headEnd type="none" w="med" len="med"/>
                      <a:tailEnd type="none" w="med" len="med"/>
                    </a:lnB>
                    <a:solidFill>
                      <a:srgbClr val="25225C"/>
                    </a:solidFill>
                  </a:tcPr>
                </a:tc>
                <a:tc>
                  <a:txBody>
                    <a:bodyPr/>
                    <a:lstStyle/>
                    <a:p>
                      <a:pPr marL="0" indent="0">
                        <a:buNone/>
                      </a:pPr>
                      <a:r>
                        <a:rPr lang="en-US" sz="1300" dirty="0">
                          <a:solidFill>
                            <a:srgbClr val="E4E4F0"/>
                          </a:solidFill>
                          <a:latin typeface="Calibri" pitchFamily="34" charset="0"/>
                          <a:ea typeface="Calibri" pitchFamily="34" charset="-122"/>
                          <a:cs typeface="Calibri" pitchFamily="34" charset="-120"/>
                        </a:rPr>
                        <a:t>Insertion order</a:t>
                      </a:r>
                      <a:endParaRPr lang="en-US" sz="1300" dirty="0">
                        <a:latin typeface="Calibri" charset="0"/>
                        <a:ea typeface="Calibri" charset="0"/>
                        <a:cs typeface="Calibri" charset="0"/>
                      </a:endParaRPr>
                    </a:p>
                  </a:txBody>
                  <a:tcPr marL="146304" marR="146304" marT="0" marB="0" anchor="ctr">
                    <a:lnL w="9525" cap="flat" cmpd="sng" algn="ctr">
                      <a:solidFill>
                        <a:srgbClr val="3B3791"/>
                      </a:solidFill>
                      <a:prstDash val="solid"/>
                      <a:round/>
                      <a:headEnd type="none" w="med" len="med"/>
                      <a:tailEnd type="none" w="med" len="med"/>
                    </a:lnL>
                    <a:lnR w="9525" cap="flat" cmpd="sng" algn="ctr">
                      <a:solidFill>
                        <a:srgbClr val="3B3791"/>
                      </a:solidFill>
                      <a:prstDash val="solid"/>
                      <a:round/>
                      <a:headEnd type="none" w="med" len="med"/>
                      <a:tailEnd type="none" w="med" len="med"/>
                    </a:lnR>
                    <a:lnT w="9525" cap="flat" cmpd="sng" algn="ctr">
                      <a:solidFill>
                        <a:srgbClr val="3B3791"/>
                      </a:solidFill>
                      <a:prstDash val="solid"/>
                      <a:round/>
                      <a:headEnd type="none" w="med" len="med"/>
                      <a:tailEnd type="none" w="med" len="med"/>
                    </a:lnT>
                    <a:lnB w="9525" cap="flat" cmpd="sng" algn="ctr">
                      <a:solidFill>
                        <a:srgbClr val="3B3791"/>
                      </a:solidFill>
                      <a:prstDash val="solid"/>
                      <a:round/>
                      <a:headEnd type="none" w="med" len="med"/>
                      <a:tailEnd type="none" w="med" len="med"/>
                    </a:lnB>
                    <a:solidFill>
                      <a:srgbClr val="25225C"/>
                    </a:solidFill>
                  </a:tcPr>
                </a:tc>
                <a:tc>
                  <a:txBody>
                    <a:bodyPr/>
                    <a:lstStyle/>
                    <a:p>
                      <a:pPr marL="0" indent="0">
                        <a:buNone/>
                      </a:pPr>
                      <a:r>
                        <a:rPr lang="en-US" sz="1300" dirty="0">
                          <a:solidFill>
                            <a:srgbClr val="E4E4F0"/>
                          </a:solidFill>
                          <a:latin typeface="Calibri" pitchFamily="34" charset="0"/>
                          <a:ea typeface="Calibri" pitchFamily="34" charset="-122"/>
                          <a:cs typeface="Calibri" pitchFamily="34" charset="-120"/>
                        </a:rPr>
                        <a:t>Yes</a:t>
                      </a:r>
                      <a:endParaRPr lang="en-US" sz="1300" dirty="0">
                        <a:latin typeface="Calibri" charset="0"/>
                        <a:ea typeface="Calibri" charset="0"/>
                        <a:cs typeface="Calibri" charset="0"/>
                      </a:endParaRPr>
                    </a:p>
                  </a:txBody>
                  <a:tcPr marL="146304" marR="146304" marT="0" marB="0" anchor="ctr">
                    <a:lnL w="9525" cap="flat" cmpd="sng" algn="ctr">
                      <a:solidFill>
                        <a:srgbClr val="3B3791"/>
                      </a:solidFill>
                      <a:prstDash val="solid"/>
                      <a:round/>
                      <a:headEnd type="none" w="med" len="med"/>
                      <a:tailEnd type="none" w="med" len="med"/>
                    </a:lnL>
                    <a:lnR w="9525" cap="flat" cmpd="sng" algn="ctr">
                      <a:solidFill>
                        <a:srgbClr val="3B3791"/>
                      </a:solidFill>
                      <a:prstDash val="solid"/>
                      <a:round/>
                      <a:headEnd type="none" w="med" len="med"/>
                      <a:tailEnd type="none" w="med" len="med"/>
                    </a:lnR>
                    <a:lnT w="9525" cap="flat" cmpd="sng" algn="ctr">
                      <a:solidFill>
                        <a:srgbClr val="3B3791"/>
                      </a:solidFill>
                      <a:prstDash val="solid"/>
                      <a:round/>
                      <a:headEnd type="none" w="med" len="med"/>
                      <a:tailEnd type="none" w="med" len="med"/>
                    </a:lnT>
                    <a:lnB w="9525" cap="flat" cmpd="sng" algn="ctr">
                      <a:solidFill>
                        <a:srgbClr val="3B3791"/>
                      </a:solidFill>
                      <a:prstDash val="solid"/>
                      <a:round/>
                      <a:headEnd type="none" w="med" len="med"/>
                      <a:tailEnd type="none" w="med" len="med"/>
                    </a:lnB>
                    <a:solidFill>
                      <a:srgbClr val="25225C"/>
                    </a:solidFill>
                  </a:tcPr>
                </a:tc>
                <a:tc>
                  <a:txBody>
                    <a:bodyPr/>
                    <a:lstStyle/>
                    <a:p>
                      <a:pPr marL="0" indent="0">
                        <a:buNone/>
                      </a:pPr>
                      <a:r>
                        <a:rPr lang="en-US" sz="1300" dirty="0">
                          <a:solidFill>
                            <a:srgbClr val="E4E4F0"/>
                          </a:solidFill>
                          <a:latin typeface="Calibri" pitchFamily="34" charset="0"/>
                          <a:ea typeface="Calibri" pitchFamily="34" charset="-122"/>
                          <a:cs typeface="Calibri" pitchFamily="34" charset="-120"/>
                        </a:rPr>
                        <a:t>Keys unique</a:t>
                      </a:r>
                      <a:endParaRPr lang="en-US" sz="1300" dirty="0">
                        <a:latin typeface="Calibri" charset="0"/>
                        <a:ea typeface="Calibri" charset="0"/>
                        <a:cs typeface="Calibri" charset="0"/>
                      </a:endParaRPr>
                    </a:p>
                  </a:txBody>
                  <a:tcPr marL="146304" marR="146304" marT="0" marB="0" anchor="ctr">
                    <a:lnL w="9525" cap="flat" cmpd="sng" algn="ctr">
                      <a:solidFill>
                        <a:srgbClr val="3B3791"/>
                      </a:solidFill>
                      <a:prstDash val="solid"/>
                      <a:round/>
                      <a:headEnd type="none" w="med" len="med"/>
                      <a:tailEnd type="none" w="med" len="med"/>
                    </a:lnL>
                    <a:lnR w="9525" cap="flat" cmpd="sng" algn="ctr">
                      <a:solidFill>
                        <a:srgbClr val="3B3791"/>
                      </a:solidFill>
                      <a:prstDash val="solid"/>
                      <a:round/>
                      <a:headEnd type="none" w="med" len="med"/>
                      <a:tailEnd type="none" w="med" len="med"/>
                    </a:lnR>
                    <a:lnT w="9525" cap="flat" cmpd="sng" algn="ctr">
                      <a:solidFill>
                        <a:srgbClr val="3B3791"/>
                      </a:solidFill>
                      <a:prstDash val="solid"/>
                      <a:round/>
                      <a:headEnd type="none" w="med" len="med"/>
                      <a:tailEnd type="none" w="med" len="med"/>
                    </a:lnT>
                    <a:lnB w="9525" cap="flat" cmpd="sng" algn="ctr">
                      <a:solidFill>
                        <a:srgbClr val="3B3791"/>
                      </a:solidFill>
                      <a:prstDash val="solid"/>
                      <a:round/>
                      <a:headEnd type="none" w="med" len="med"/>
                      <a:tailEnd type="none" w="med" len="med"/>
                    </a:lnB>
                    <a:solidFill>
                      <a:srgbClr val="25225C"/>
                    </a:solidFill>
                  </a:tcPr>
                </a:tc>
                <a:tc>
                  <a:txBody>
                    <a:bodyPr/>
                    <a:lstStyle/>
                    <a:p>
                      <a:pPr marL="0" indent="0">
                        <a:buNone/>
                      </a:pPr>
                      <a:r>
                        <a:rPr lang="en-US" sz="1300" dirty="0">
                          <a:solidFill>
                            <a:srgbClr val="E4E4F0"/>
                          </a:solidFill>
                          <a:latin typeface="Calibri" pitchFamily="34" charset="0"/>
                          <a:ea typeface="Calibri" pitchFamily="34" charset="-122"/>
                          <a:cs typeface="Calibri" pitchFamily="34" charset="-120"/>
                        </a:rPr>
                        <a:t>Key  d["a"]</a:t>
                      </a:r>
                      <a:endParaRPr lang="en-US" sz="1300" dirty="0">
                        <a:latin typeface="Calibri" charset="0"/>
                        <a:ea typeface="Calibri" charset="0"/>
                        <a:cs typeface="Calibri" charset="0"/>
                      </a:endParaRPr>
                    </a:p>
                  </a:txBody>
                  <a:tcPr marL="146304" marR="146304" marT="0" marB="0" anchor="ctr">
                    <a:lnL w="9525" cap="flat" cmpd="sng" algn="ctr">
                      <a:solidFill>
                        <a:srgbClr val="3B3791"/>
                      </a:solidFill>
                      <a:prstDash val="solid"/>
                      <a:round/>
                      <a:headEnd type="none" w="med" len="med"/>
                      <a:tailEnd type="none" w="med" len="med"/>
                    </a:lnL>
                    <a:lnR w="9525" cap="flat" cmpd="sng" algn="ctr">
                      <a:solidFill>
                        <a:srgbClr val="3B3791"/>
                      </a:solidFill>
                      <a:prstDash val="solid"/>
                      <a:round/>
                      <a:headEnd type="none" w="med" len="med"/>
                      <a:tailEnd type="none" w="med" len="med"/>
                    </a:lnR>
                    <a:lnT w="9525" cap="flat" cmpd="sng" algn="ctr">
                      <a:solidFill>
                        <a:srgbClr val="3B3791"/>
                      </a:solidFill>
                      <a:prstDash val="solid"/>
                      <a:round/>
                      <a:headEnd type="none" w="med" len="med"/>
                      <a:tailEnd type="none" w="med" len="med"/>
                    </a:lnT>
                    <a:lnB w="9525" cap="flat" cmpd="sng" algn="ctr">
                      <a:solidFill>
                        <a:srgbClr val="3B3791"/>
                      </a:solidFill>
                      <a:prstDash val="solid"/>
                      <a:round/>
                      <a:headEnd type="none" w="med" len="med"/>
                      <a:tailEnd type="none" w="med" len="med"/>
                    </a:lnB>
                    <a:solidFill>
                      <a:srgbClr val="25225C"/>
                    </a:solidFill>
                  </a:tcPr>
                </a:tc>
                <a:extLst>
                  <a:ext uri="{0D108BD9-81ED-4DB2-BD59-A6C34878D82A}">
                    <a16:rowId xmlns:a16="http://schemas.microsoft.com/office/drawing/2014/main" val="10004"/>
                  </a:ext>
                </a:extLst>
              </a:tr>
              <a:tr h="603504">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String</a:t>
                      </a:r>
                      <a:endParaRPr lang="en-US" sz="1300" dirty="0">
                        <a:latin typeface="Calibri" charset="0"/>
                        <a:ea typeface="Calibri" charset="0"/>
                        <a:cs typeface="Calibri" charset="0"/>
                      </a:endParaRPr>
                    </a:p>
                  </a:txBody>
                  <a:tcPr marL="146304" marR="146304" marT="0" marB="0" anchor="ctr">
                    <a:lnL w="9525" cap="flat" cmpd="sng" algn="ctr">
                      <a:solidFill>
                        <a:srgbClr val="3B3791"/>
                      </a:solidFill>
                      <a:prstDash val="solid"/>
                      <a:round/>
                      <a:headEnd type="none" w="med" len="med"/>
                      <a:tailEnd type="none" w="med" len="med"/>
                    </a:lnL>
                    <a:lnR w="9525" cap="flat" cmpd="sng" algn="ctr">
                      <a:solidFill>
                        <a:srgbClr val="3B3791"/>
                      </a:solidFill>
                      <a:prstDash val="solid"/>
                      <a:round/>
                      <a:headEnd type="none" w="med" len="med"/>
                      <a:tailEnd type="none" w="med" len="med"/>
                    </a:lnR>
                    <a:lnT w="9525" cap="flat" cmpd="sng" algn="ctr">
                      <a:solidFill>
                        <a:srgbClr val="3B3791"/>
                      </a:solidFill>
                      <a:prstDash val="solid"/>
                      <a:round/>
                      <a:headEnd type="none" w="med" len="med"/>
                      <a:tailEnd type="none" w="med" len="med"/>
                    </a:lnT>
                    <a:lnB w="9525" cap="flat" cmpd="sng" algn="ctr">
                      <a:solidFill>
                        <a:srgbClr val="3B3791"/>
                      </a:solidFill>
                      <a:prstDash val="solid"/>
                      <a:round/>
                      <a:headEnd type="none" w="med" len="med"/>
                      <a:tailEnd type="none" w="med" len="med"/>
                    </a:lnB>
                    <a:solidFill>
                      <a:srgbClr val="1E1B4B"/>
                    </a:solidFill>
                  </a:tcPr>
                </a:tc>
                <a:tc>
                  <a:txBody>
                    <a:bodyPr/>
                    <a:lstStyle/>
                    <a:p>
                      <a:pPr marL="0" indent="0">
                        <a:buNone/>
                      </a:pPr>
                      <a:r>
                        <a:rPr lang="en-US" sz="1300" dirty="0">
                          <a:solidFill>
                            <a:srgbClr val="A6E3A1"/>
                          </a:solidFill>
                          <a:latin typeface="Courier New" pitchFamily="34" charset="0"/>
                          <a:ea typeface="Courier New" pitchFamily="34" charset="-122"/>
                          <a:cs typeface="Courier New" pitchFamily="34" charset="-120"/>
                        </a:rPr>
                        <a:t>"abc"</a:t>
                      </a:r>
                      <a:endParaRPr lang="en-US" sz="1300" dirty="0">
                        <a:latin typeface="Courier New" charset="0"/>
                        <a:ea typeface="Courier New" charset="0"/>
                        <a:cs typeface="Courier New" charset="0"/>
                      </a:endParaRPr>
                    </a:p>
                  </a:txBody>
                  <a:tcPr marL="146304" marR="146304" marT="0" marB="0" anchor="ctr">
                    <a:lnL w="9525" cap="flat" cmpd="sng" algn="ctr">
                      <a:solidFill>
                        <a:srgbClr val="3B3791"/>
                      </a:solidFill>
                      <a:prstDash val="solid"/>
                      <a:round/>
                      <a:headEnd type="none" w="med" len="med"/>
                      <a:tailEnd type="none" w="med" len="med"/>
                    </a:lnL>
                    <a:lnR w="9525" cap="flat" cmpd="sng" algn="ctr">
                      <a:solidFill>
                        <a:srgbClr val="3B3791"/>
                      </a:solidFill>
                      <a:prstDash val="solid"/>
                      <a:round/>
                      <a:headEnd type="none" w="med" len="med"/>
                      <a:tailEnd type="none" w="med" len="med"/>
                    </a:lnR>
                    <a:lnT w="9525" cap="flat" cmpd="sng" algn="ctr">
                      <a:solidFill>
                        <a:srgbClr val="3B3791"/>
                      </a:solidFill>
                      <a:prstDash val="solid"/>
                      <a:round/>
                      <a:headEnd type="none" w="med" len="med"/>
                      <a:tailEnd type="none" w="med" len="med"/>
                    </a:lnT>
                    <a:lnB w="9525" cap="flat" cmpd="sng" algn="ctr">
                      <a:solidFill>
                        <a:srgbClr val="3B3791"/>
                      </a:solidFill>
                      <a:prstDash val="solid"/>
                      <a:round/>
                      <a:headEnd type="none" w="med" len="med"/>
                      <a:tailEnd type="none" w="med" len="med"/>
                    </a:lnB>
                    <a:solidFill>
                      <a:srgbClr val="1E1B4B"/>
                    </a:solidFill>
                  </a:tcPr>
                </a:tc>
                <a:tc>
                  <a:txBody>
                    <a:bodyPr/>
                    <a:lstStyle/>
                    <a:p>
                      <a:pPr marL="0" indent="0">
                        <a:buNone/>
                      </a:pPr>
                      <a:r>
                        <a:rPr lang="en-US" sz="1300" dirty="0">
                          <a:solidFill>
                            <a:srgbClr val="E4E4F0"/>
                          </a:solidFill>
                          <a:latin typeface="Calibri" pitchFamily="34" charset="0"/>
                          <a:ea typeface="Calibri" pitchFamily="34" charset="-122"/>
                          <a:cs typeface="Calibri" pitchFamily="34" charset="-120"/>
                        </a:rPr>
                        <a:t>Yes</a:t>
                      </a:r>
                      <a:endParaRPr lang="en-US" sz="1300" dirty="0">
                        <a:latin typeface="Calibri" charset="0"/>
                        <a:ea typeface="Calibri" charset="0"/>
                        <a:cs typeface="Calibri" charset="0"/>
                      </a:endParaRPr>
                    </a:p>
                  </a:txBody>
                  <a:tcPr marL="146304" marR="146304" marT="0" marB="0" anchor="ctr">
                    <a:lnL w="9525" cap="flat" cmpd="sng" algn="ctr">
                      <a:solidFill>
                        <a:srgbClr val="3B3791"/>
                      </a:solidFill>
                      <a:prstDash val="solid"/>
                      <a:round/>
                      <a:headEnd type="none" w="med" len="med"/>
                      <a:tailEnd type="none" w="med" len="med"/>
                    </a:lnL>
                    <a:lnR w="9525" cap="flat" cmpd="sng" algn="ctr">
                      <a:solidFill>
                        <a:srgbClr val="3B3791"/>
                      </a:solidFill>
                      <a:prstDash val="solid"/>
                      <a:round/>
                      <a:headEnd type="none" w="med" len="med"/>
                      <a:tailEnd type="none" w="med" len="med"/>
                    </a:lnR>
                    <a:lnT w="9525" cap="flat" cmpd="sng" algn="ctr">
                      <a:solidFill>
                        <a:srgbClr val="3B3791"/>
                      </a:solidFill>
                      <a:prstDash val="solid"/>
                      <a:round/>
                      <a:headEnd type="none" w="med" len="med"/>
                      <a:tailEnd type="none" w="med" len="med"/>
                    </a:lnT>
                    <a:lnB w="9525" cap="flat" cmpd="sng" algn="ctr">
                      <a:solidFill>
                        <a:srgbClr val="3B3791"/>
                      </a:solidFill>
                      <a:prstDash val="solid"/>
                      <a:round/>
                      <a:headEnd type="none" w="med" len="med"/>
                      <a:tailEnd type="none" w="med" len="med"/>
                    </a:lnB>
                    <a:solidFill>
                      <a:srgbClr val="1E1B4B"/>
                    </a:solidFill>
                  </a:tcPr>
                </a:tc>
                <a:tc>
                  <a:txBody>
                    <a:bodyPr/>
                    <a:lstStyle/>
                    <a:p>
                      <a:pPr marL="0" indent="0">
                        <a:buNone/>
                      </a:pPr>
                      <a:r>
                        <a:rPr lang="en-US" sz="1300" dirty="0">
                          <a:solidFill>
                            <a:srgbClr val="E4E4F0"/>
                          </a:solidFill>
                          <a:latin typeface="Calibri" pitchFamily="34" charset="0"/>
                          <a:ea typeface="Calibri" pitchFamily="34" charset="-122"/>
                          <a:cs typeface="Calibri" pitchFamily="34" charset="-120"/>
                        </a:rPr>
                        <a:t>No</a:t>
                      </a:r>
                      <a:endParaRPr lang="en-US" sz="1300" dirty="0">
                        <a:latin typeface="Calibri" charset="0"/>
                        <a:ea typeface="Calibri" charset="0"/>
                        <a:cs typeface="Calibri" charset="0"/>
                      </a:endParaRPr>
                    </a:p>
                  </a:txBody>
                  <a:tcPr marL="146304" marR="146304" marT="0" marB="0" anchor="ctr">
                    <a:lnL w="9525" cap="flat" cmpd="sng" algn="ctr">
                      <a:solidFill>
                        <a:srgbClr val="3B3791"/>
                      </a:solidFill>
                      <a:prstDash val="solid"/>
                      <a:round/>
                      <a:headEnd type="none" w="med" len="med"/>
                      <a:tailEnd type="none" w="med" len="med"/>
                    </a:lnL>
                    <a:lnR w="9525" cap="flat" cmpd="sng" algn="ctr">
                      <a:solidFill>
                        <a:srgbClr val="3B3791"/>
                      </a:solidFill>
                      <a:prstDash val="solid"/>
                      <a:round/>
                      <a:headEnd type="none" w="med" len="med"/>
                      <a:tailEnd type="none" w="med" len="med"/>
                    </a:lnR>
                    <a:lnT w="9525" cap="flat" cmpd="sng" algn="ctr">
                      <a:solidFill>
                        <a:srgbClr val="3B3791"/>
                      </a:solidFill>
                      <a:prstDash val="solid"/>
                      <a:round/>
                      <a:headEnd type="none" w="med" len="med"/>
                      <a:tailEnd type="none" w="med" len="med"/>
                    </a:lnT>
                    <a:lnB w="9525" cap="flat" cmpd="sng" algn="ctr">
                      <a:solidFill>
                        <a:srgbClr val="3B3791"/>
                      </a:solidFill>
                      <a:prstDash val="solid"/>
                      <a:round/>
                      <a:headEnd type="none" w="med" len="med"/>
                      <a:tailEnd type="none" w="med" len="med"/>
                    </a:lnB>
                    <a:solidFill>
                      <a:srgbClr val="1E1B4B"/>
                    </a:solidFill>
                  </a:tcPr>
                </a:tc>
                <a:tc>
                  <a:txBody>
                    <a:bodyPr/>
                    <a:lstStyle/>
                    <a:p>
                      <a:pPr marL="0" indent="0">
                        <a:buNone/>
                      </a:pPr>
                      <a:r>
                        <a:rPr lang="en-US" sz="1300" dirty="0">
                          <a:solidFill>
                            <a:srgbClr val="E4E4F0"/>
                          </a:solidFill>
                          <a:latin typeface="Calibri" pitchFamily="34" charset="0"/>
                          <a:ea typeface="Calibri" pitchFamily="34" charset="-122"/>
                          <a:cs typeface="Calibri" pitchFamily="34" charset="-120"/>
                        </a:rPr>
                        <a:t>Allowed</a:t>
                      </a:r>
                      <a:endParaRPr lang="en-US" sz="1300" dirty="0">
                        <a:latin typeface="Calibri" charset="0"/>
                        <a:ea typeface="Calibri" charset="0"/>
                        <a:cs typeface="Calibri" charset="0"/>
                      </a:endParaRPr>
                    </a:p>
                  </a:txBody>
                  <a:tcPr marL="146304" marR="146304" marT="0" marB="0" anchor="ctr">
                    <a:lnL w="9525" cap="flat" cmpd="sng" algn="ctr">
                      <a:solidFill>
                        <a:srgbClr val="3B3791"/>
                      </a:solidFill>
                      <a:prstDash val="solid"/>
                      <a:round/>
                      <a:headEnd type="none" w="med" len="med"/>
                      <a:tailEnd type="none" w="med" len="med"/>
                    </a:lnL>
                    <a:lnR w="9525" cap="flat" cmpd="sng" algn="ctr">
                      <a:solidFill>
                        <a:srgbClr val="3B3791"/>
                      </a:solidFill>
                      <a:prstDash val="solid"/>
                      <a:round/>
                      <a:headEnd type="none" w="med" len="med"/>
                      <a:tailEnd type="none" w="med" len="med"/>
                    </a:lnR>
                    <a:lnT w="9525" cap="flat" cmpd="sng" algn="ctr">
                      <a:solidFill>
                        <a:srgbClr val="3B3791"/>
                      </a:solidFill>
                      <a:prstDash val="solid"/>
                      <a:round/>
                      <a:headEnd type="none" w="med" len="med"/>
                      <a:tailEnd type="none" w="med" len="med"/>
                    </a:lnT>
                    <a:lnB w="9525" cap="flat" cmpd="sng" algn="ctr">
                      <a:solidFill>
                        <a:srgbClr val="3B3791"/>
                      </a:solidFill>
                      <a:prstDash val="solid"/>
                      <a:round/>
                      <a:headEnd type="none" w="med" len="med"/>
                      <a:tailEnd type="none" w="med" len="med"/>
                    </a:lnB>
                    <a:solidFill>
                      <a:srgbClr val="1E1B4B"/>
                    </a:solidFill>
                  </a:tcPr>
                </a:tc>
                <a:tc>
                  <a:txBody>
                    <a:bodyPr/>
                    <a:lstStyle/>
                    <a:p>
                      <a:pPr marL="0" indent="0">
                        <a:buNone/>
                      </a:pPr>
                      <a:r>
                        <a:rPr lang="en-US" sz="1300" dirty="0">
                          <a:solidFill>
                            <a:srgbClr val="E4E4F0"/>
                          </a:solidFill>
                          <a:latin typeface="Calibri" pitchFamily="34" charset="0"/>
                          <a:ea typeface="Calibri" pitchFamily="34" charset="-122"/>
                          <a:cs typeface="Calibri" pitchFamily="34" charset="-120"/>
                        </a:rPr>
                        <a:t>Index  s[0]</a:t>
                      </a:r>
                      <a:endParaRPr lang="en-US" sz="1300" dirty="0">
                        <a:latin typeface="Calibri" charset="0"/>
                        <a:ea typeface="Calibri" charset="0"/>
                        <a:cs typeface="Calibri" charset="0"/>
                      </a:endParaRPr>
                    </a:p>
                  </a:txBody>
                  <a:tcPr marL="146304" marR="146304" marT="0" marB="0" anchor="ctr">
                    <a:lnL w="9525" cap="flat" cmpd="sng" algn="ctr">
                      <a:solidFill>
                        <a:srgbClr val="3B3791"/>
                      </a:solidFill>
                      <a:prstDash val="solid"/>
                      <a:round/>
                      <a:headEnd type="none" w="med" len="med"/>
                      <a:tailEnd type="none" w="med" len="med"/>
                    </a:lnL>
                    <a:lnR w="9525" cap="flat" cmpd="sng" algn="ctr">
                      <a:solidFill>
                        <a:srgbClr val="3B3791"/>
                      </a:solidFill>
                      <a:prstDash val="solid"/>
                      <a:round/>
                      <a:headEnd type="none" w="med" len="med"/>
                      <a:tailEnd type="none" w="med" len="med"/>
                    </a:lnR>
                    <a:lnT w="9525" cap="flat" cmpd="sng" algn="ctr">
                      <a:solidFill>
                        <a:srgbClr val="3B3791"/>
                      </a:solidFill>
                      <a:prstDash val="solid"/>
                      <a:round/>
                      <a:headEnd type="none" w="med" len="med"/>
                      <a:tailEnd type="none" w="med" len="med"/>
                    </a:lnT>
                    <a:lnB w="9525" cap="flat" cmpd="sng" algn="ctr">
                      <a:solidFill>
                        <a:srgbClr val="3B3791"/>
                      </a:solidFill>
                      <a:prstDash val="solid"/>
                      <a:round/>
                      <a:headEnd type="none" w="med" len="med"/>
                      <a:tailEnd type="none" w="med" len="med"/>
                    </a:lnB>
                    <a:solidFill>
                      <a:srgbClr val="1E1B4B"/>
                    </a:solidFill>
                  </a:tcPr>
                </a:tc>
                <a:extLst>
                  <a:ext uri="{0D108BD9-81ED-4DB2-BD59-A6C34878D82A}">
                    <a16:rowId xmlns:a16="http://schemas.microsoft.com/office/drawing/2014/main" val="10005"/>
                  </a:ext>
                </a:extLst>
              </a:tr>
            </a:tbl>
          </a:graphicData>
        </a:graphic>
      </p:graphicFrame>
      <p:sp>
        <p:nvSpPr>
          <p:cNvPr id="5" name="Shape 2"/>
          <p:cNvSpPr/>
          <p:nvPr/>
        </p:nvSpPr>
        <p:spPr>
          <a:xfrm>
            <a:off x="502920" y="5349240"/>
            <a:ext cx="11185855" cy="1097280"/>
          </a:xfrm>
          <a:prstGeom prst="roundRect">
            <a:avLst>
              <a:gd name="adj" fmla="val 11667"/>
            </a:avLst>
          </a:prstGeom>
          <a:solidFill>
            <a:srgbClr val="2A2766"/>
          </a:solidFill>
          <a:ln w="12700">
            <a:solidFill>
              <a:srgbClr val="4A46A0"/>
            </a:solidFill>
            <a:prstDash val="solid"/>
          </a:ln>
        </p:spPr>
        <p:txBody>
          <a:bodyPr/>
          <a:lstStyle/>
          <a:p>
            <a:endParaRPr lang="en-PH"/>
          </a:p>
        </p:txBody>
      </p:sp>
      <p:sp>
        <p:nvSpPr>
          <p:cNvPr id="6" name="Text 3"/>
          <p:cNvSpPr txBox="1"/>
          <p:nvPr/>
        </p:nvSpPr>
        <p:spPr>
          <a:xfrm>
            <a:off x="777240" y="5486400"/>
            <a:ext cx="4572000" cy="228600"/>
          </a:xfrm>
          <a:prstGeom prst="rect">
            <a:avLst/>
          </a:prstGeom>
          <a:noFill/>
          <a:ln/>
        </p:spPr>
        <p:txBody>
          <a:bodyPr wrap="square" lIns="0" tIns="0" rIns="0" bIns="0" rtlCol="0" anchor="t"/>
          <a:lstStyle/>
          <a:p>
            <a:pPr marL="0" indent="0">
              <a:buNone/>
            </a:pPr>
            <a:r>
              <a:rPr lang="en-US" sz="1050" b="1" kern="0" spc="200" dirty="0">
                <a:solidFill>
                  <a:srgbClr val="F0A8DD"/>
                </a:solidFill>
                <a:latin typeface="Calibri" pitchFamily="34" charset="0"/>
                <a:ea typeface="Calibri" pitchFamily="34" charset="-122"/>
                <a:cs typeface="Calibri" pitchFamily="34" charset="-120"/>
              </a:rPr>
              <a:t>ERROR HANDLING REMINDER</a:t>
            </a:r>
            <a:endParaRPr lang="en-US" sz="1050" dirty="0"/>
          </a:p>
        </p:txBody>
      </p:sp>
      <p:sp>
        <p:nvSpPr>
          <p:cNvPr id="7" name="Text 4"/>
          <p:cNvSpPr txBox="1"/>
          <p:nvPr/>
        </p:nvSpPr>
        <p:spPr>
          <a:xfrm>
            <a:off x="777240" y="5760720"/>
            <a:ext cx="10637215" cy="594360"/>
          </a:xfrm>
          <a:prstGeom prst="rect">
            <a:avLst/>
          </a:prstGeom>
          <a:noFill/>
          <a:ln/>
        </p:spPr>
        <p:txBody>
          <a:bodyPr wrap="square" lIns="0" tIns="0" rIns="0" bIns="0" rtlCol="0" anchor="t"/>
          <a:lstStyle/>
          <a:p>
            <a:pPr marL="0" indent="0">
              <a:buNone/>
            </a:pPr>
            <a:r>
              <a:rPr lang="en-US" sz="1400" dirty="0">
                <a:solidFill>
                  <a:srgbClr val="FFFFFF"/>
                </a:solidFill>
                <a:latin typeface="Calibri" pitchFamily="34" charset="0"/>
                <a:ea typeface="Calibri" pitchFamily="34" charset="-122"/>
                <a:cs typeface="Calibri" pitchFamily="34" charset="-120"/>
              </a:rPr>
              <a:t>Wrap risky code in </a:t>
            </a:r>
            <a:r>
              <a:rPr lang="en-US" sz="1400" dirty="0">
                <a:solidFill>
                  <a:srgbClr val="A6E3A1"/>
                </a:solidFill>
                <a:latin typeface="Courier New" pitchFamily="34" charset="0"/>
                <a:ea typeface="Courier New" pitchFamily="34" charset="-122"/>
                <a:cs typeface="Courier New" pitchFamily="34" charset="-120"/>
              </a:rPr>
              <a:t>try</a:t>
            </a:r>
            <a:r>
              <a:rPr lang="en-US" sz="1400" dirty="0">
                <a:solidFill>
                  <a:srgbClr val="FFFFFF"/>
                </a:solidFill>
                <a:latin typeface="Calibri" pitchFamily="34" charset="0"/>
                <a:ea typeface="Calibri" pitchFamily="34" charset="-122"/>
                <a:cs typeface="Calibri" pitchFamily="34" charset="-120"/>
              </a:rPr>
              <a:t>, catch specific errors with </a:t>
            </a:r>
            <a:r>
              <a:rPr lang="en-US" sz="1400" dirty="0">
                <a:solidFill>
                  <a:srgbClr val="A6E3A1"/>
                </a:solidFill>
                <a:latin typeface="Courier New" pitchFamily="34" charset="0"/>
                <a:ea typeface="Courier New" pitchFamily="34" charset="-122"/>
                <a:cs typeface="Courier New" pitchFamily="34" charset="-120"/>
              </a:rPr>
              <a:t>except</a:t>
            </a:r>
            <a:r>
              <a:rPr lang="en-US" sz="1400" dirty="0">
                <a:solidFill>
                  <a:srgbClr val="FFFFFF"/>
                </a:solidFill>
                <a:latin typeface="Calibri" pitchFamily="34" charset="0"/>
                <a:ea typeface="Calibri" pitchFamily="34" charset="-122"/>
                <a:cs typeface="Calibri" pitchFamily="34" charset="-120"/>
              </a:rPr>
              <a:t>, and put clean-up in </a:t>
            </a:r>
            <a:r>
              <a:rPr lang="en-US" sz="1400" dirty="0">
                <a:solidFill>
                  <a:srgbClr val="A6E3A1"/>
                </a:solidFill>
                <a:latin typeface="Courier New" pitchFamily="34" charset="0"/>
                <a:ea typeface="Courier New" pitchFamily="34" charset="-122"/>
                <a:cs typeface="Courier New" pitchFamily="34" charset="-120"/>
              </a:rPr>
              <a:t>finally</a:t>
            </a:r>
            <a:r>
              <a:rPr lang="en-US" sz="1400" dirty="0">
                <a:solidFill>
                  <a:srgbClr val="FFFFFF"/>
                </a:solidFill>
                <a:latin typeface="Calibri" pitchFamily="34" charset="0"/>
                <a:ea typeface="Calibri" pitchFamily="34" charset="-122"/>
                <a:cs typeface="Calibri" pitchFamily="34" charset="-120"/>
              </a:rPr>
              <a:t> — so your program shows a helpful message instead of crashing.</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145</TotalTime>
  <Words>5054</Words>
  <Application>Microsoft Office PowerPoint</Application>
  <PresentationFormat>Widescreen</PresentationFormat>
  <Paragraphs>968</Paragraphs>
  <Slides>30</Slides>
  <Notes>30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30</vt:i4>
      </vt:variant>
    </vt:vector>
  </HeadingPairs>
  <TitlesOfParts>
    <vt:vector size="34" baseType="lpstr">
      <vt:lpstr>Arial</vt:lpstr>
      <vt:lpstr>Calibri</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Python</dc:title>
  <dc:subject>PptxGenJS Presentation</dc:subject>
  <dc:creator>PptxGenJS</dc:creator>
  <cp:lastModifiedBy>Erman Faminiano</cp:lastModifiedBy>
  <cp:revision>2</cp:revision>
  <dcterms:created xsi:type="dcterms:W3CDTF">2026-09-26T06:11:13Z</dcterms:created>
  <dcterms:modified xsi:type="dcterms:W3CDTF">2026-09-26T08:39:41Z</dcterms:modified>
</cp:coreProperties>
</file>