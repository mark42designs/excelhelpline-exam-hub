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858000" cy="9144000"/>
  <p:embeddedFontLst>
    <p:embeddedFont>
      <p:font typeface="Plus Jakarta Sans"/>
      <p:regular r:id="rId23"/>
      <p:bold r:id="rId24"/>
      <p:italic r:id="rId25"/>
      <p:boldItalic r:id="rId26"/>
    </p:embeddedFont>
    <p:embeddedFont>
      <p:font typeface="JetBrains Mono SemiBold"/>
      <p:regular r:id="rId27"/>
      <p:bold r:id="rId28"/>
      <p:italic r:id="rId29"/>
      <p:boldItalic r:id="rId30"/>
    </p:embeddedFont>
    <p:embeddedFont>
      <p:font typeface="JetBrains Mono Medium"/>
      <p:regular r:id="rId31"/>
      <p:bold r:id="rId32"/>
      <p:italic r:id="rId33"/>
      <p:boldItalic r:id="rId34"/>
    </p:embeddedFont>
    <p:embeddedFont>
      <p:font typeface="Space Grotesk SemiBold"/>
      <p:regular r:id="rId35"/>
      <p:bold r:id="rId36"/>
    </p:embeddedFont>
    <p:embeddedFont>
      <p:font typeface="JetBrains Mono"/>
      <p:regular r:id="rId37"/>
      <p:bold r:id="rId38"/>
      <p:italic r:id="rId39"/>
      <p:boldItalic r:id="rId40"/>
    </p:embeddedFont>
    <p:embeddedFont>
      <p:font typeface="Space Grotesk"/>
      <p:regular r:id="rId41"/>
      <p:bold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3" roundtripDataSignature="AMtx7mi7dJps0kwjk0ZBLMjdA6L+13EF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B6F72D8-E63B-415B-8D4C-50D46B130722}">
  <a:tblStyle styleId="{1B6F72D8-E63B-415B-8D4C-50D46B13072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JetBrainsMono-boldItalic.fntdata"/><Relationship Id="rId20" Type="http://schemas.openxmlformats.org/officeDocument/2006/relationships/slide" Target="slides/slide14.xml"/><Relationship Id="rId42" Type="http://schemas.openxmlformats.org/officeDocument/2006/relationships/font" Target="fonts/SpaceGrotesk-bold.fntdata"/><Relationship Id="rId41" Type="http://schemas.openxmlformats.org/officeDocument/2006/relationships/font" Target="fonts/SpaceGrotesk-regular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customschemas.google.com/relationships/presentationmetadata" Target="metadata"/><Relationship Id="rId24" Type="http://schemas.openxmlformats.org/officeDocument/2006/relationships/font" Target="fonts/PlusJakartaSans-bold.fntdata"/><Relationship Id="rId23" Type="http://schemas.openxmlformats.org/officeDocument/2006/relationships/font" Target="fonts/PlusJakarta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usJakartaSans-boldItalic.fntdata"/><Relationship Id="rId25" Type="http://schemas.openxmlformats.org/officeDocument/2006/relationships/font" Target="fonts/PlusJakartaSans-italic.fntdata"/><Relationship Id="rId28" Type="http://schemas.openxmlformats.org/officeDocument/2006/relationships/font" Target="fonts/JetBrainsMonoSemiBold-bold.fntdata"/><Relationship Id="rId27" Type="http://schemas.openxmlformats.org/officeDocument/2006/relationships/font" Target="fonts/JetBrainsMonoSemiBo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JetBrainsMono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JetBrainsMonoMedium-regular.fntdata"/><Relationship Id="rId30" Type="http://schemas.openxmlformats.org/officeDocument/2006/relationships/font" Target="fonts/JetBrainsMonoSemiBold-boldItalic.fntdata"/><Relationship Id="rId11" Type="http://schemas.openxmlformats.org/officeDocument/2006/relationships/slide" Target="slides/slide5.xml"/><Relationship Id="rId33" Type="http://schemas.openxmlformats.org/officeDocument/2006/relationships/font" Target="fonts/JetBrainsMonoMedium-italic.fntdata"/><Relationship Id="rId10" Type="http://schemas.openxmlformats.org/officeDocument/2006/relationships/slide" Target="slides/slide4.xml"/><Relationship Id="rId32" Type="http://schemas.openxmlformats.org/officeDocument/2006/relationships/font" Target="fonts/JetBrainsMonoMedium-bold.fntdata"/><Relationship Id="rId13" Type="http://schemas.openxmlformats.org/officeDocument/2006/relationships/slide" Target="slides/slide7.xml"/><Relationship Id="rId35" Type="http://schemas.openxmlformats.org/officeDocument/2006/relationships/font" Target="fonts/SpaceGroteskSemiBold-regular.fntdata"/><Relationship Id="rId12" Type="http://schemas.openxmlformats.org/officeDocument/2006/relationships/slide" Target="slides/slide6.xml"/><Relationship Id="rId34" Type="http://schemas.openxmlformats.org/officeDocument/2006/relationships/font" Target="fonts/JetBrainsMonoMedium-boldItalic.fntdata"/><Relationship Id="rId15" Type="http://schemas.openxmlformats.org/officeDocument/2006/relationships/slide" Target="slides/slide9.xml"/><Relationship Id="rId37" Type="http://schemas.openxmlformats.org/officeDocument/2006/relationships/font" Target="fonts/JetBrainsMono-regular.fntdata"/><Relationship Id="rId14" Type="http://schemas.openxmlformats.org/officeDocument/2006/relationships/slide" Target="slides/slide8.xml"/><Relationship Id="rId36" Type="http://schemas.openxmlformats.org/officeDocument/2006/relationships/font" Target="fonts/SpaceGroteskSemiBold-bold.fntdata"/><Relationship Id="rId17" Type="http://schemas.openxmlformats.org/officeDocument/2006/relationships/slide" Target="slides/slide11.xml"/><Relationship Id="rId39" Type="http://schemas.openxmlformats.org/officeDocument/2006/relationships/font" Target="fonts/JetBrainsMono-italic.fntdata"/><Relationship Id="rId16" Type="http://schemas.openxmlformats.org/officeDocument/2006/relationships/slide" Target="slides/slide10.xml"/><Relationship Id="rId38" Type="http://schemas.openxmlformats.org/officeDocument/2006/relationships/font" Target="fonts/JetBrainsMono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Relationship Id="rId7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43.png"/><Relationship Id="rId5" Type="http://schemas.openxmlformats.org/officeDocument/2006/relationships/image" Target="../media/image18.png"/><Relationship Id="rId6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20.png"/><Relationship Id="rId11" Type="http://schemas.openxmlformats.org/officeDocument/2006/relationships/image" Target="../media/image16.png"/><Relationship Id="rId10" Type="http://schemas.openxmlformats.org/officeDocument/2006/relationships/image" Target="../media/image24.png"/><Relationship Id="rId12" Type="http://schemas.openxmlformats.org/officeDocument/2006/relationships/image" Target="../media/image17.png"/><Relationship Id="rId9" Type="http://schemas.openxmlformats.org/officeDocument/2006/relationships/image" Target="../media/image19.png"/><Relationship Id="rId5" Type="http://schemas.openxmlformats.org/officeDocument/2006/relationships/image" Target="../media/image23.png"/><Relationship Id="rId6" Type="http://schemas.openxmlformats.org/officeDocument/2006/relationships/image" Target="../media/image22.png"/><Relationship Id="rId7" Type="http://schemas.openxmlformats.org/officeDocument/2006/relationships/image" Target="../media/image25.png"/><Relationship Id="rId8" Type="http://schemas.openxmlformats.org/officeDocument/2006/relationships/image" Target="../media/image4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1.png"/><Relationship Id="rId5" Type="http://schemas.openxmlformats.org/officeDocument/2006/relationships/image" Target="../media/image28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30.png"/><Relationship Id="rId5" Type="http://schemas.openxmlformats.org/officeDocument/2006/relationships/image" Target="../media/image36.png"/><Relationship Id="rId6" Type="http://schemas.openxmlformats.org/officeDocument/2006/relationships/image" Target="../media/image34.png"/><Relationship Id="rId7" Type="http://schemas.openxmlformats.org/officeDocument/2006/relationships/image" Target="../media/image4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46.png"/><Relationship Id="rId5" Type="http://schemas.openxmlformats.org/officeDocument/2006/relationships/image" Target="../media/image33.png"/><Relationship Id="rId6" Type="http://schemas.openxmlformats.org/officeDocument/2006/relationships/image" Target="../media/image32.png"/><Relationship Id="rId7" Type="http://schemas.openxmlformats.org/officeDocument/2006/relationships/image" Target="../media/image4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35.png"/><Relationship Id="rId11" Type="http://schemas.openxmlformats.org/officeDocument/2006/relationships/image" Target="../media/image38.png"/><Relationship Id="rId10" Type="http://schemas.openxmlformats.org/officeDocument/2006/relationships/image" Target="../media/image41.png"/><Relationship Id="rId12" Type="http://schemas.openxmlformats.org/officeDocument/2006/relationships/image" Target="../media/image42.png"/><Relationship Id="rId9" Type="http://schemas.openxmlformats.org/officeDocument/2006/relationships/image" Target="../media/image25.png"/><Relationship Id="rId5" Type="http://schemas.openxmlformats.org/officeDocument/2006/relationships/image" Target="../media/image31.png"/><Relationship Id="rId6" Type="http://schemas.openxmlformats.org/officeDocument/2006/relationships/image" Target="../media/image37.png"/><Relationship Id="rId7" Type="http://schemas.openxmlformats.org/officeDocument/2006/relationships/image" Target="../media/image39.png"/><Relationship Id="rId8" Type="http://schemas.openxmlformats.org/officeDocument/2006/relationships/image" Target="../media/image4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4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47.png"/><Relationship Id="rId5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4194" y="2558950"/>
            <a:ext cx="2703611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3120784" y="3025675"/>
            <a:ext cx="5950431" cy="635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Python Fundamentals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2190750" y="3813274"/>
            <a:ext cx="78105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Environment setup, data types, console I/O, modern f-string formatting, and practical Mad Libs generators using str.format().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2701825"/>
            <a:ext cx="16611600" cy="20256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421225" y="2701825"/>
            <a:ext cx="22402800" cy="20256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2950" y="3423344"/>
            <a:ext cx="16211550" cy="8231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621250" y="3423344"/>
            <a:ext cx="22002750" cy="823168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"/>
          <p:cNvSpPr txBox="1"/>
          <p:nvPr/>
        </p:nvSpPr>
        <p:spPr>
          <a:xfrm>
            <a:off x="742950" y="2901850"/>
            <a:ext cx="114490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Option 1: Online IDE (Zero Install)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742950" y="3216175"/>
            <a:ext cx="11449050" cy="207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Run code instantly in your web browser without local configuration: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742950" y="4341762"/>
            <a:ext cx="1144905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Best for quick classroom demos and machines without admin privileges.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17621250" y="2901850"/>
            <a:ext cx="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Option 2: Local VS Code + Python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17621250" y="3216175"/>
            <a:ext cx="0" cy="207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Standard professional workflow for persistent project files: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17621250" y="4341762"/>
            <a:ext cx="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Required for local file management, modules, and full debug tooling.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885825" y="3748533"/>
            <a:ext cx="1905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1. Open in any browser: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2867025" y="3748533"/>
            <a:ext cx="1981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https://www.onlinegdb.com/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4924425" y="3748533"/>
            <a:ext cx="3124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2. Select Language dropdown: "Python 3"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8124825" y="3748533"/>
            <a:ext cx="32766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3. Write code directly into editor window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11477625" y="3748533"/>
            <a:ext cx="7143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4. Click "Run" or press F9 to execute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14525625" y="3748533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8BDF8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print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14982825" y="3748533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"Hello from OnlineGDB!"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17764125" y="3748533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Step 1: Install Python runtime from python.org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21497925" y="3748533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Ensure "Add Python to PATH" is checked during setup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25612725" y="3748533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Step 2: Install VS Code &amp; official "Python" extension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29879925" y="3748533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Step 3: Verify installation in VS Code Terminal: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35061525" y="3748533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Output: Python 3.11.x (or newer)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542925" y="447675"/>
            <a:ext cx="116490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Setup &amp; </a:t>
            </a:r>
            <a:r>
              <a:rPr b="1" i="0" lang="en-US" sz="24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Prerequisites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3962400"/>
            <a:ext cx="2554337" cy="9274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93430" y="2539603"/>
            <a:ext cx="2554337" cy="9274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43935" y="3962400"/>
            <a:ext cx="2554337" cy="9274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94440" y="2539603"/>
            <a:ext cx="2554337" cy="927496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3"/>
          <p:cNvSpPr/>
          <p:nvPr/>
        </p:nvSpPr>
        <p:spPr>
          <a:xfrm>
            <a:off x="542925" y="3695700"/>
            <a:ext cx="11106150" cy="38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704850" y="4124325"/>
            <a:ext cx="234201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1. Prerequisites</a:t>
            </a: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704850" y="4381500"/>
            <a:ext cx="2230487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Configure OnlineGDB or local Python with VS Code editor.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3555355" y="2701528"/>
            <a:ext cx="234201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2. Core Types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3555355" y="2958703"/>
            <a:ext cx="2230487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Master str, int, float, bool with runtime casting.</a:t>
            </a:r>
            <a:endParaRPr/>
          </a:p>
        </p:txBody>
      </p:sp>
      <p:sp>
        <p:nvSpPr>
          <p:cNvPr id="130" name="Google Shape;130;p3"/>
          <p:cNvSpPr txBox="1"/>
          <p:nvPr/>
        </p:nvSpPr>
        <p:spPr>
          <a:xfrm>
            <a:off x="6405860" y="4124325"/>
            <a:ext cx="234201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3. String Formatting</a:t>
            </a:r>
            <a:endParaRPr/>
          </a:p>
        </p:txBody>
      </p:sp>
      <p:sp>
        <p:nvSpPr>
          <p:cNvPr id="131" name="Google Shape;131;p3"/>
          <p:cNvSpPr txBox="1"/>
          <p:nvPr/>
        </p:nvSpPr>
        <p:spPr>
          <a:xfrm>
            <a:off x="6405860" y="4381500"/>
            <a:ext cx="2230487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Compare inline f"" expressions with .format() templates.</a:t>
            </a:r>
            <a:endParaRPr/>
          </a:p>
        </p:txBody>
      </p:sp>
      <p:sp>
        <p:nvSpPr>
          <p:cNvPr id="132" name="Google Shape;132;p3"/>
          <p:cNvSpPr txBox="1"/>
          <p:nvPr/>
        </p:nvSpPr>
        <p:spPr>
          <a:xfrm>
            <a:off x="9256365" y="2701528"/>
            <a:ext cx="234201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4. Mad Libs Project</a:t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9256365" y="2958703"/>
            <a:ext cx="2230487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Assemble interactive story generators using parsed inputs.</a:t>
            </a:r>
            <a:endParaRPr/>
          </a:p>
        </p:txBody>
      </p:sp>
      <p:sp>
        <p:nvSpPr>
          <p:cNvPr id="134" name="Google Shape;134;p3"/>
          <p:cNvSpPr txBox="1"/>
          <p:nvPr/>
        </p:nvSpPr>
        <p:spPr>
          <a:xfrm>
            <a:off x="542925" y="447675"/>
            <a:ext cx="116490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Course </a:t>
            </a:r>
            <a:r>
              <a:rPr b="1" i="0" lang="en-US" sz="24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Progression</a:t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1724843" y="36195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B1120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4575348" y="36195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B1120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7425853" y="36195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B1120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10276358" y="36195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B1120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4" name="Google Shape;144;p4"/>
          <p:cNvGraphicFramePr/>
          <p:nvPr/>
        </p:nvGraphicFramePr>
        <p:xfrm>
          <a:off x="542925" y="27170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{1B6F72D8-E63B-415B-8D4C-50D46B130722}</a:tableStyleId>
              </a:tblPr>
              <a:tblGrid>
                <a:gridCol w="1092550"/>
                <a:gridCol w="1249550"/>
                <a:gridCol w="2434825"/>
                <a:gridCol w="1912875"/>
                <a:gridCol w="4397275"/>
              </a:tblGrid>
              <a:tr h="39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8BDF8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8BDF8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Keyword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8BDF8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Assignment Example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8BDF8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Runtime Result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8BDF8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Practical Use Case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</a:tr>
              <a:tr h="39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String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lang = "Python 3"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'Python 3'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Textual data, usernames, sentences.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</a:tr>
              <a:tr h="39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Integer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count = 42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Whole quantities, iterations, counters.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</a:tr>
              <a:tr h="39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Float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float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score = 98.75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98.75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Measurements, prices, rates, scientific data.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</a:tr>
              <a:tr h="39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Boolean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bool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is_valid = True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True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Conditional flags, state checks, logic branches.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145" name="Google Shape;145;p4"/>
          <p:cNvSpPr/>
          <p:nvPr/>
        </p:nvSpPr>
        <p:spPr>
          <a:xfrm>
            <a:off x="552450" y="3109912"/>
            <a:ext cx="109254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1644997" y="3109912"/>
            <a:ext cx="124956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2894558" y="3109912"/>
            <a:ext cx="243482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5329386" y="3109912"/>
            <a:ext cx="191288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7242274" y="3109912"/>
            <a:ext cx="439727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552450" y="3508176"/>
            <a:ext cx="109254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1644997" y="3508176"/>
            <a:ext cx="124956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2894558" y="3508176"/>
            <a:ext cx="243482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5329386" y="3508176"/>
            <a:ext cx="191288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7242274" y="3508176"/>
            <a:ext cx="439727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552450" y="3906440"/>
            <a:ext cx="109254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1644997" y="3906440"/>
            <a:ext cx="124956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2894558" y="3906440"/>
            <a:ext cx="243482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5329386" y="3906440"/>
            <a:ext cx="191288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7242274" y="3906440"/>
            <a:ext cx="439727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552450" y="4304704"/>
            <a:ext cx="109254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1644997" y="4304704"/>
            <a:ext cx="124956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2894558" y="4304704"/>
            <a:ext cx="243482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5329386" y="4304704"/>
            <a:ext cx="191288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7242274" y="4304704"/>
            <a:ext cx="439727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542925" y="447675"/>
            <a:ext cx="116490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Primitive </a:t>
            </a:r>
            <a:r>
              <a:rPr b="1" i="0" lang="en-US" sz="24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Types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2938313"/>
            <a:ext cx="11963400" cy="15528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773025" y="2938313"/>
            <a:ext cx="15773400" cy="15528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2950" y="3659832"/>
            <a:ext cx="11563350" cy="6313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973050" y="3659832"/>
            <a:ext cx="15373350" cy="631328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5"/>
          <p:cNvSpPr txBox="1"/>
          <p:nvPr/>
        </p:nvSpPr>
        <p:spPr>
          <a:xfrm>
            <a:off x="742950" y="3138338"/>
            <a:ext cx="114490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Type Inspection Examples</a:t>
            </a:r>
            <a:endParaRPr/>
          </a:p>
        </p:txBody>
      </p:sp>
      <p:sp>
        <p:nvSpPr>
          <p:cNvPr id="176" name="Google Shape;176;p5"/>
          <p:cNvSpPr txBox="1"/>
          <p:nvPr/>
        </p:nvSpPr>
        <p:spPr>
          <a:xfrm>
            <a:off x="742950" y="3452663"/>
            <a:ext cx="11449050" cy="207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Determine variable types dynamically using type() or isinstance():</a:t>
            </a:r>
            <a:endParaRPr/>
          </a:p>
        </p:txBody>
      </p:sp>
      <p:sp>
        <p:nvSpPr>
          <p:cNvPr id="177" name="Google Shape;177;p5"/>
          <p:cNvSpPr txBox="1"/>
          <p:nvPr/>
        </p:nvSpPr>
        <p:spPr>
          <a:xfrm>
            <a:off x="12973050" y="3138338"/>
            <a:ext cx="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Explicit Conversion Examples</a:t>
            </a:r>
            <a:endParaRPr/>
          </a:p>
        </p:txBody>
      </p:sp>
      <p:sp>
        <p:nvSpPr>
          <p:cNvPr id="178" name="Google Shape;178;p5"/>
          <p:cNvSpPr txBox="1"/>
          <p:nvPr/>
        </p:nvSpPr>
        <p:spPr>
          <a:xfrm>
            <a:off x="12973050" y="3452663"/>
            <a:ext cx="0" cy="207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Convert incompatible data types using explicit constructor functions:</a:t>
            </a:r>
            <a:endParaRPr/>
          </a:p>
        </p:txBody>
      </p:sp>
      <p:sp>
        <p:nvSpPr>
          <p:cNvPr id="179" name="Google Shape;179;p5"/>
          <p:cNvSpPr txBox="1"/>
          <p:nvPr/>
        </p:nvSpPr>
        <p:spPr>
          <a:xfrm>
            <a:off x="885825" y="3985021"/>
            <a:ext cx="17526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Inspect variable type</a:t>
            </a:r>
            <a:endParaRPr/>
          </a:p>
        </p:txBody>
      </p:sp>
      <p:sp>
        <p:nvSpPr>
          <p:cNvPr id="180" name="Google Shape;180;p5"/>
          <p:cNvSpPr txBox="1"/>
          <p:nvPr/>
        </p:nvSpPr>
        <p:spPr>
          <a:xfrm>
            <a:off x="3019425" y="3985021"/>
            <a:ext cx="2286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</a:t>
            </a:r>
            <a:endParaRPr/>
          </a:p>
        </p:txBody>
      </p:sp>
      <p:sp>
        <p:nvSpPr>
          <p:cNvPr id="181" name="Google Shape;181;p5"/>
          <p:cNvSpPr txBox="1"/>
          <p:nvPr/>
        </p:nvSpPr>
        <p:spPr>
          <a:xfrm>
            <a:off x="3324225" y="3985021"/>
            <a:ext cx="381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</a:t>
            </a:r>
            <a:endParaRPr/>
          </a:p>
        </p:txBody>
      </p:sp>
      <p:sp>
        <p:nvSpPr>
          <p:cNvPr id="182" name="Google Shape;182;p5"/>
          <p:cNvSpPr txBox="1"/>
          <p:nvPr/>
        </p:nvSpPr>
        <p:spPr>
          <a:xfrm>
            <a:off x="3781425" y="3985021"/>
            <a:ext cx="3048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type</a:t>
            </a:r>
            <a:endParaRPr/>
          </a:p>
        </p:txBody>
      </p:sp>
      <p:sp>
        <p:nvSpPr>
          <p:cNvPr id="183" name="Google Shape;183;p5"/>
          <p:cNvSpPr txBox="1"/>
          <p:nvPr/>
        </p:nvSpPr>
        <p:spPr>
          <a:xfrm>
            <a:off x="4467225" y="3985021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</a:t>
            </a:r>
            <a:endParaRPr/>
          </a:p>
        </p:txBody>
      </p:sp>
      <p:sp>
        <p:nvSpPr>
          <p:cNvPr id="184" name="Google Shape;184;p5"/>
          <p:cNvSpPr txBox="1"/>
          <p:nvPr/>
        </p:nvSpPr>
        <p:spPr>
          <a:xfrm>
            <a:off x="4695825" y="3985021"/>
            <a:ext cx="22098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Safe inheritance validation</a:t>
            </a:r>
            <a:endParaRPr/>
          </a:p>
        </p:txBody>
      </p:sp>
      <p:sp>
        <p:nvSpPr>
          <p:cNvPr id="185" name="Google Shape;185;p5"/>
          <p:cNvSpPr txBox="1"/>
          <p:nvPr/>
        </p:nvSpPr>
        <p:spPr>
          <a:xfrm>
            <a:off x="6981825" y="3985021"/>
            <a:ext cx="381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</a:t>
            </a:r>
            <a:endParaRPr/>
          </a:p>
        </p:txBody>
      </p:sp>
      <p:sp>
        <p:nvSpPr>
          <p:cNvPr id="186" name="Google Shape;186;p5"/>
          <p:cNvSpPr txBox="1"/>
          <p:nvPr/>
        </p:nvSpPr>
        <p:spPr>
          <a:xfrm>
            <a:off x="7439025" y="3985021"/>
            <a:ext cx="762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isinstance</a:t>
            </a:r>
            <a:endParaRPr/>
          </a:p>
        </p:txBody>
      </p:sp>
      <p:sp>
        <p:nvSpPr>
          <p:cNvPr id="187" name="Google Shape;187;p5"/>
          <p:cNvSpPr txBox="1"/>
          <p:nvPr/>
        </p:nvSpPr>
        <p:spPr>
          <a:xfrm>
            <a:off x="8505825" y="3985021"/>
            <a:ext cx="2286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8BDF8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int</a:t>
            </a:r>
            <a:endParaRPr/>
          </a:p>
        </p:txBody>
      </p:sp>
      <p:sp>
        <p:nvSpPr>
          <p:cNvPr id="188" name="Google Shape;188;p5"/>
          <p:cNvSpPr txBox="1"/>
          <p:nvPr/>
        </p:nvSpPr>
        <p:spPr>
          <a:xfrm>
            <a:off x="8963025" y="3985021"/>
            <a:ext cx="457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True</a:t>
            </a:r>
            <a:endParaRPr/>
          </a:p>
        </p:txBody>
      </p:sp>
      <p:sp>
        <p:nvSpPr>
          <p:cNvPr id="189" name="Google Shape;189;p5"/>
          <p:cNvSpPr txBox="1"/>
          <p:nvPr/>
        </p:nvSpPr>
        <p:spPr>
          <a:xfrm>
            <a:off x="9496425" y="3985021"/>
            <a:ext cx="381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</a:t>
            </a:r>
            <a:endParaRPr/>
          </a:p>
        </p:txBody>
      </p:sp>
      <p:sp>
        <p:nvSpPr>
          <p:cNvPr id="190" name="Google Shape;190;p5"/>
          <p:cNvSpPr txBox="1"/>
          <p:nvPr/>
        </p:nvSpPr>
        <p:spPr>
          <a:xfrm>
            <a:off x="9953625" y="3985021"/>
            <a:ext cx="762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isinstance</a:t>
            </a:r>
            <a:endParaRPr/>
          </a:p>
        </p:txBody>
      </p:sp>
      <p:sp>
        <p:nvSpPr>
          <p:cNvPr id="191" name="Google Shape;191;p5"/>
          <p:cNvSpPr txBox="1"/>
          <p:nvPr/>
        </p:nvSpPr>
        <p:spPr>
          <a:xfrm>
            <a:off x="11020425" y="3985021"/>
            <a:ext cx="381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8BDF8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float</a:t>
            </a:r>
            <a:endParaRPr/>
          </a:p>
        </p:txBody>
      </p:sp>
      <p:sp>
        <p:nvSpPr>
          <p:cNvPr id="192" name="Google Shape;192;p5"/>
          <p:cNvSpPr txBox="1"/>
          <p:nvPr/>
        </p:nvSpPr>
        <p:spPr>
          <a:xfrm>
            <a:off x="11630025" y="3985021"/>
            <a:ext cx="533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False</a:t>
            </a:r>
            <a:endParaRPr/>
          </a:p>
        </p:txBody>
      </p:sp>
      <p:sp>
        <p:nvSpPr>
          <p:cNvPr id="193" name="Google Shape;193;p5"/>
          <p:cNvSpPr txBox="1"/>
          <p:nvPr/>
        </p:nvSpPr>
        <p:spPr>
          <a:xfrm>
            <a:off x="13115925" y="3985021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String to Numeric</a:t>
            </a:r>
            <a:endParaRPr/>
          </a:p>
        </p:txBody>
      </p:sp>
      <p:sp>
        <p:nvSpPr>
          <p:cNvPr id="194" name="Google Shape;194;p5"/>
          <p:cNvSpPr txBox="1"/>
          <p:nvPr/>
        </p:nvSpPr>
        <p:spPr>
          <a:xfrm>
            <a:off x="15097125" y="3985021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endParaRPr/>
          </a:p>
        </p:txBody>
      </p:sp>
      <p:sp>
        <p:nvSpPr>
          <p:cNvPr id="195" name="Google Shape;195;p5"/>
          <p:cNvSpPr txBox="1"/>
          <p:nvPr/>
        </p:nvSpPr>
        <p:spPr>
          <a:xfrm>
            <a:off x="15401925" y="3985021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"24"</a:t>
            </a:r>
            <a:endParaRPr/>
          </a:p>
        </p:txBody>
      </p:sp>
      <p:sp>
        <p:nvSpPr>
          <p:cNvPr id="196" name="Google Shape;196;p5"/>
          <p:cNvSpPr txBox="1"/>
          <p:nvPr/>
        </p:nvSpPr>
        <p:spPr>
          <a:xfrm>
            <a:off x="15859125" y="3985021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Result: 24 (int)</a:t>
            </a:r>
            <a:endParaRPr/>
          </a:p>
        </p:txBody>
      </p:sp>
      <p:sp>
        <p:nvSpPr>
          <p:cNvPr id="197" name="Google Shape;197;p5"/>
          <p:cNvSpPr txBox="1"/>
          <p:nvPr/>
        </p:nvSpPr>
        <p:spPr>
          <a:xfrm>
            <a:off x="17840325" y="3985021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float</a:t>
            </a:r>
            <a:endParaRPr/>
          </a:p>
        </p:txBody>
      </p:sp>
      <p:sp>
        <p:nvSpPr>
          <p:cNvPr id="198" name="Google Shape;198;p5"/>
          <p:cNvSpPr txBox="1"/>
          <p:nvPr/>
        </p:nvSpPr>
        <p:spPr>
          <a:xfrm>
            <a:off x="18297525" y="3985021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"3.14"</a:t>
            </a:r>
            <a:endParaRPr/>
          </a:p>
        </p:txBody>
      </p:sp>
      <p:sp>
        <p:nvSpPr>
          <p:cNvPr id="199" name="Google Shape;199;p5"/>
          <p:cNvSpPr txBox="1"/>
          <p:nvPr/>
        </p:nvSpPr>
        <p:spPr>
          <a:xfrm>
            <a:off x="18907125" y="3985021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Result: 3.14 (float)</a:t>
            </a:r>
            <a:endParaRPr/>
          </a:p>
        </p:txBody>
      </p:sp>
      <p:sp>
        <p:nvSpPr>
          <p:cNvPr id="200" name="Google Shape;200;p5"/>
          <p:cNvSpPr txBox="1"/>
          <p:nvPr/>
        </p:nvSpPr>
        <p:spPr>
          <a:xfrm>
            <a:off x="20659725" y="3985021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Numeric to String</a:t>
            </a:r>
            <a:endParaRPr/>
          </a:p>
        </p:txBody>
      </p:sp>
      <p:sp>
        <p:nvSpPr>
          <p:cNvPr id="201" name="Google Shape;201;p5"/>
          <p:cNvSpPr txBox="1"/>
          <p:nvPr/>
        </p:nvSpPr>
        <p:spPr>
          <a:xfrm>
            <a:off x="22793325" y="3985021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"Score: "</a:t>
            </a:r>
            <a:endParaRPr/>
          </a:p>
        </p:txBody>
      </p:sp>
      <p:sp>
        <p:nvSpPr>
          <p:cNvPr id="202" name="Google Shape;202;p5"/>
          <p:cNvSpPr txBox="1"/>
          <p:nvPr/>
        </p:nvSpPr>
        <p:spPr>
          <a:xfrm>
            <a:off x="23707725" y="3985021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</a:t>
            </a:r>
            <a:endParaRPr/>
          </a:p>
        </p:txBody>
      </p:sp>
      <p:sp>
        <p:nvSpPr>
          <p:cNvPr id="203" name="Google Shape;203;p5"/>
          <p:cNvSpPr txBox="1"/>
          <p:nvPr/>
        </p:nvSpPr>
        <p:spPr>
          <a:xfrm>
            <a:off x="24012525" y="3985021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99</a:t>
            </a:r>
            <a:endParaRPr/>
          </a:p>
        </p:txBody>
      </p:sp>
      <p:sp>
        <p:nvSpPr>
          <p:cNvPr id="204" name="Google Shape;204;p5"/>
          <p:cNvSpPr txBox="1"/>
          <p:nvPr/>
        </p:nvSpPr>
        <p:spPr>
          <a:xfrm>
            <a:off x="24317325" y="3985021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Result: "Score: 99"</a:t>
            </a:r>
            <a:endParaRPr/>
          </a:p>
        </p:txBody>
      </p:sp>
      <p:sp>
        <p:nvSpPr>
          <p:cNvPr id="205" name="Google Shape;205;p5"/>
          <p:cNvSpPr txBox="1"/>
          <p:nvPr/>
        </p:nvSpPr>
        <p:spPr>
          <a:xfrm>
            <a:off x="26527125" y="3985021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bool</a:t>
            </a:r>
            <a:endParaRPr/>
          </a:p>
        </p:txBody>
      </p:sp>
      <p:sp>
        <p:nvSpPr>
          <p:cNvPr id="206" name="Google Shape;206;p5"/>
          <p:cNvSpPr txBox="1"/>
          <p:nvPr/>
        </p:nvSpPr>
        <p:spPr>
          <a:xfrm>
            <a:off x="26908125" y="3985021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/>
          </a:p>
        </p:txBody>
      </p:sp>
      <p:sp>
        <p:nvSpPr>
          <p:cNvPr id="207" name="Google Shape;207;p5"/>
          <p:cNvSpPr txBox="1"/>
          <p:nvPr/>
        </p:nvSpPr>
        <p:spPr>
          <a:xfrm>
            <a:off x="27136725" y="3985021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Result: True</a:t>
            </a:r>
            <a:endParaRPr/>
          </a:p>
        </p:txBody>
      </p:sp>
      <p:sp>
        <p:nvSpPr>
          <p:cNvPr id="208" name="Google Shape;208;p5"/>
          <p:cNvSpPr txBox="1"/>
          <p:nvPr/>
        </p:nvSpPr>
        <p:spPr>
          <a:xfrm>
            <a:off x="542925" y="447675"/>
            <a:ext cx="116490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Type Checking &amp; </a:t>
            </a:r>
            <a:r>
              <a:rPr b="1" i="0" lang="en-US" sz="24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Casting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2869406"/>
            <a:ext cx="20935950" cy="6313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745575" y="1905000"/>
            <a:ext cx="7429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6"/>
          <p:cNvSpPr txBox="1"/>
          <p:nvPr/>
        </p:nvSpPr>
        <p:spPr>
          <a:xfrm>
            <a:off x="752475" y="1905000"/>
            <a:ext cx="11439525" cy="207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input("Prompt: ") always captures terminal input as a str.</a:t>
            </a:r>
            <a:endParaRPr/>
          </a:p>
        </p:txBody>
      </p:sp>
      <p:sp>
        <p:nvSpPr>
          <p:cNvPr id="217" name="Google Shape;217;p6"/>
          <p:cNvSpPr txBox="1"/>
          <p:nvPr/>
        </p:nvSpPr>
        <p:spPr>
          <a:xfrm>
            <a:off x="752475" y="2226468"/>
            <a:ext cx="11439525" cy="207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Arithmetic performed directly on raw input triggers a TypeError.</a:t>
            </a:r>
            <a:endParaRPr/>
          </a:p>
        </p:txBody>
      </p:sp>
      <p:sp>
        <p:nvSpPr>
          <p:cNvPr id="218" name="Google Shape;218;p6"/>
          <p:cNvSpPr txBox="1"/>
          <p:nvPr/>
        </p:nvSpPr>
        <p:spPr>
          <a:xfrm>
            <a:off x="752475" y="2547937"/>
            <a:ext cx="11439525" cy="207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Wrap immediately in int() or float() for numeric computations.</a:t>
            </a:r>
            <a:endParaRPr/>
          </a:p>
        </p:txBody>
      </p:sp>
      <p:sp>
        <p:nvSpPr>
          <p:cNvPr id="219" name="Google Shape;219;p6"/>
          <p:cNvSpPr txBox="1"/>
          <p:nvPr/>
        </p:nvSpPr>
        <p:spPr>
          <a:xfrm>
            <a:off x="685800" y="3194595"/>
            <a:ext cx="18288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Capturing string input</a:t>
            </a:r>
            <a:endParaRPr/>
          </a:p>
        </p:txBody>
      </p:sp>
      <p:sp>
        <p:nvSpPr>
          <p:cNvPr id="220" name="Google Shape;220;p6"/>
          <p:cNvSpPr txBox="1"/>
          <p:nvPr/>
        </p:nvSpPr>
        <p:spPr>
          <a:xfrm>
            <a:off x="3276600" y="3194595"/>
            <a:ext cx="381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input</a:t>
            </a:r>
            <a:endParaRPr/>
          </a:p>
        </p:txBody>
      </p:sp>
      <p:sp>
        <p:nvSpPr>
          <p:cNvPr id="221" name="Google Shape;221;p6"/>
          <p:cNvSpPr txBox="1"/>
          <p:nvPr/>
        </p:nvSpPr>
        <p:spPr>
          <a:xfrm>
            <a:off x="3733800" y="3194595"/>
            <a:ext cx="10668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"Enter name: "</a:t>
            </a:r>
            <a:endParaRPr/>
          </a:p>
        </p:txBody>
      </p:sp>
      <p:sp>
        <p:nvSpPr>
          <p:cNvPr id="222" name="Google Shape;222;p6"/>
          <p:cNvSpPr txBox="1"/>
          <p:nvPr/>
        </p:nvSpPr>
        <p:spPr>
          <a:xfrm>
            <a:off x="4953000" y="3194595"/>
            <a:ext cx="28956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User enters: Alex -&gt; player = "Alex"</a:t>
            </a:r>
            <a:endParaRPr/>
          </a:p>
        </p:txBody>
      </p:sp>
      <p:sp>
        <p:nvSpPr>
          <p:cNvPr id="223" name="Google Shape;223;p6"/>
          <p:cNvSpPr txBox="1"/>
          <p:nvPr/>
        </p:nvSpPr>
        <p:spPr>
          <a:xfrm>
            <a:off x="7924800" y="3194595"/>
            <a:ext cx="2819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Capturing and casting integer input</a:t>
            </a:r>
            <a:endParaRPr/>
          </a:p>
        </p:txBody>
      </p:sp>
      <p:sp>
        <p:nvSpPr>
          <p:cNvPr id="224" name="Google Shape;224;p6"/>
          <p:cNvSpPr txBox="1"/>
          <p:nvPr/>
        </p:nvSpPr>
        <p:spPr>
          <a:xfrm>
            <a:off x="11430000" y="3194595"/>
            <a:ext cx="2286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endParaRPr/>
          </a:p>
        </p:txBody>
      </p:sp>
      <p:sp>
        <p:nvSpPr>
          <p:cNvPr id="225" name="Google Shape;225;p6"/>
          <p:cNvSpPr txBox="1"/>
          <p:nvPr/>
        </p:nvSpPr>
        <p:spPr>
          <a:xfrm>
            <a:off x="11734800" y="3194595"/>
            <a:ext cx="381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input</a:t>
            </a:r>
            <a:endParaRPr/>
          </a:p>
        </p:txBody>
      </p:sp>
      <p:sp>
        <p:nvSpPr>
          <p:cNvPr id="226" name="Google Shape;226;p6"/>
          <p:cNvSpPr txBox="1"/>
          <p:nvPr/>
        </p:nvSpPr>
        <p:spPr>
          <a:xfrm>
            <a:off x="12192000" y="3194595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"Item count: "</a:t>
            </a:r>
            <a:endParaRPr/>
          </a:p>
        </p:txBody>
      </p:sp>
      <p:sp>
        <p:nvSpPr>
          <p:cNvPr id="227" name="Google Shape;227;p6"/>
          <p:cNvSpPr txBox="1"/>
          <p:nvPr/>
        </p:nvSpPr>
        <p:spPr>
          <a:xfrm>
            <a:off x="13487400" y="3194595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User enters: 5 -&gt; items = 5</a:t>
            </a:r>
            <a:endParaRPr/>
          </a:p>
        </p:txBody>
      </p:sp>
      <p:sp>
        <p:nvSpPr>
          <p:cNvPr id="228" name="Google Shape;228;p6"/>
          <p:cNvSpPr txBox="1"/>
          <p:nvPr/>
        </p:nvSpPr>
        <p:spPr>
          <a:xfrm>
            <a:off x="16992600" y="3194595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endParaRPr/>
          </a:p>
        </p:txBody>
      </p:sp>
      <p:sp>
        <p:nvSpPr>
          <p:cNvPr id="229" name="Google Shape;229;p6"/>
          <p:cNvSpPr txBox="1"/>
          <p:nvPr/>
        </p:nvSpPr>
        <p:spPr>
          <a:xfrm>
            <a:off x="17221200" y="3194595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</a:t>
            </a:r>
            <a:endParaRPr/>
          </a:p>
        </p:txBody>
      </p:sp>
      <p:sp>
        <p:nvSpPr>
          <p:cNvPr id="230" name="Google Shape;230;p6"/>
          <p:cNvSpPr txBox="1"/>
          <p:nvPr/>
        </p:nvSpPr>
        <p:spPr>
          <a:xfrm>
            <a:off x="17678400" y="3194595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"Total coins:"</a:t>
            </a:r>
            <a:endParaRPr/>
          </a:p>
        </p:txBody>
      </p:sp>
      <p:sp>
        <p:nvSpPr>
          <p:cNvPr id="231" name="Google Shape;231;p6"/>
          <p:cNvSpPr txBox="1"/>
          <p:nvPr/>
        </p:nvSpPr>
        <p:spPr>
          <a:xfrm>
            <a:off x="19431000" y="3194595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Output: Total coins: 50</a:t>
            </a:r>
            <a:endParaRPr/>
          </a:p>
        </p:txBody>
      </p:sp>
      <p:pic>
        <p:nvPicPr>
          <p:cNvPr descr="image.png" id="232" name="Google Shape;23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755100" y="1914525"/>
            <a:ext cx="723900" cy="155257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6"/>
          <p:cNvSpPr txBox="1"/>
          <p:nvPr/>
        </p:nvSpPr>
        <p:spPr>
          <a:xfrm>
            <a:off x="542925" y="1905000"/>
            <a:ext cx="666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▸</a:t>
            </a:r>
            <a:endParaRPr/>
          </a:p>
        </p:txBody>
      </p:sp>
      <p:sp>
        <p:nvSpPr>
          <p:cNvPr id="234" name="Google Shape;234;p6"/>
          <p:cNvSpPr txBox="1"/>
          <p:nvPr/>
        </p:nvSpPr>
        <p:spPr>
          <a:xfrm>
            <a:off x="542925" y="2226468"/>
            <a:ext cx="666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▸</a:t>
            </a:r>
            <a:endParaRPr/>
          </a:p>
        </p:txBody>
      </p:sp>
      <p:sp>
        <p:nvSpPr>
          <p:cNvPr id="235" name="Google Shape;235;p6"/>
          <p:cNvSpPr txBox="1"/>
          <p:nvPr/>
        </p:nvSpPr>
        <p:spPr>
          <a:xfrm>
            <a:off x="542925" y="2547937"/>
            <a:ext cx="666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▸</a:t>
            </a:r>
            <a:endParaRPr/>
          </a:p>
        </p:txBody>
      </p:sp>
      <p:sp>
        <p:nvSpPr>
          <p:cNvPr id="236" name="Google Shape;236;p6"/>
          <p:cNvSpPr txBox="1"/>
          <p:nvPr/>
        </p:nvSpPr>
        <p:spPr>
          <a:xfrm>
            <a:off x="542925" y="447675"/>
            <a:ext cx="116490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Reading Input: </a:t>
            </a:r>
            <a:r>
              <a:rPr b="1" i="0" lang="en-US" sz="24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input()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2" name="Google Shape;242;p7"/>
          <p:cNvGraphicFramePr/>
          <p:nvPr/>
        </p:nvGraphicFramePr>
        <p:xfrm>
          <a:off x="542925" y="261788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{1B6F72D8-E63B-415B-8D4C-50D46B130722}</a:tableStyleId>
              </a:tblPr>
              <a:tblGrid>
                <a:gridCol w="2017525"/>
                <a:gridCol w="3602075"/>
                <a:gridCol w="1558675"/>
                <a:gridCol w="3908825"/>
              </a:tblGrid>
              <a:tr h="438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8BDF8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Parameter / 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8BDF8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Python Code Example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8BDF8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Console Output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8BDF8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Operational Behavior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</a:tr>
              <a:tr h="438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Default Arguments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print("Item:", 42, True)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Item: 42 True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Separates multiple arguments with a single space.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</a:tr>
              <a:tr h="438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Custom Separator (sep)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print("2026", "09", "12", sep="-")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2026-09-12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Replaces default space delimiter with specified string.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</a:tr>
              <a:tr h="438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Custom End (end)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print("Loading", end="..."); print("Done!")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Loading...Done!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Replaces trailing newline (\n) with custom ending.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</a:tr>
              <a:tr h="438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Escape Characters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print("Line 1\nLine 2\tTabbed")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Line 1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</a:b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         Line 2 Tabbed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Interprets special characters like newlines and tabs.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243" name="Google Shape;243;p7"/>
          <p:cNvSpPr/>
          <p:nvPr/>
        </p:nvSpPr>
        <p:spPr>
          <a:xfrm>
            <a:off x="552450" y="3010792"/>
            <a:ext cx="201751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2569964" y="3010792"/>
            <a:ext cx="360208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6172051" y="3010792"/>
            <a:ext cx="155867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7730728" y="3010792"/>
            <a:ext cx="390882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552450" y="3409057"/>
            <a:ext cx="201751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2569964" y="3409057"/>
            <a:ext cx="360208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6172051" y="3409057"/>
            <a:ext cx="155867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7730728" y="3409057"/>
            <a:ext cx="390882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552450" y="3807321"/>
            <a:ext cx="201751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2569964" y="3807321"/>
            <a:ext cx="360208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6172051" y="3807321"/>
            <a:ext cx="155867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7730728" y="3807321"/>
            <a:ext cx="390882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552450" y="4205585"/>
            <a:ext cx="201751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2569964" y="4205585"/>
            <a:ext cx="360208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6172051" y="4205585"/>
            <a:ext cx="155867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7730728" y="4205585"/>
            <a:ext cx="390882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 txBox="1"/>
          <p:nvPr/>
        </p:nvSpPr>
        <p:spPr>
          <a:xfrm>
            <a:off x="542925" y="447675"/>
            <a:ext cx="116490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Console Output: </a:t>
            </a:r>
            <a:r>
              <a:rPr b="1" i="0" lang="en-US" sz="24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print()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4" name="Google Shape;26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2282428"/>
            <a:ext cx="11106150" cy="6447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5" y="3022401"/>
            <a:ext cx="11106150" cy="6447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5" y="3762375"/>
            <a:ext cx="11106150" cy="6447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925" y="4502348"/>
            <a:ext cx="11106150" cy="6447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4850" y="2442864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8"/>
          <p:cNvSpPr txBox="1"/>
          <p:nvPr/>
        </p:nvSpPr>
        <p:spPr>
          <a:xfrm>
            <a:off x="1162050" y="2406253"/>
            <a:ext cx="5057775" cy="397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4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Basic Variable Insertion:</a:t>
            </a:r>
            <a:r>
              <a:rPr b="0" i="0" lang="en-US" sz="10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Prepend literal with f and place variables inside braces.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name = "Sam"; print(f"Hello, {name}!") ➔ </a:t>
            </a:r>
            <a:r>
              <a:rPr b="0" i="0" lang="en-US" sz="1050" u="none" cap="none" strike="noStrike">
                <a:solidFill>
                  <a:srgbClr val="4ADE8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Hello, Sam!</a:t>
            </a:r>
            <a:endParaRPr/>
          </a:p>
        </p:txBody>
      </p:sp>
      <p:pic>
        <p:nvPicPr>
          <p:cNvPr descr="image.png" id="271" name="Google Shape;271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4850" y="3182838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8"/>
          <p:cNvSpPr txBox="1"/>
          <p:nvPr/>
        </p:nvSpPr>
        <p:spPr>
          <a:xfrm>
            <a:off x="1162050" y="3146226"/>
            <a:ext cx="5848350" cy="397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4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Inline Expressions &amp; Methods:</a:t>
            </a:r>
            <a:r>
              <a:rPr b="0" i="0" lang="en-US" sz="10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Compute math or execute string operations directly inside {}.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a, b = 10, 5; print(f"Sum: {a + b}, Upper: {name.upper()}") ➔ </a:t>
            </a:r>
            <a:r>
              <a:rPr b="0" i="0" lang="en-US" sz="1050" u="none" cap="none" strike="noStrike">
                <a:solidFill>
                  <a:srgbClr val="4ADE8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Sum: 15, Upper: SAM</a:t>
            </a:r>
            <a:endParaRPr/>
          </a:p>
        </p:txBody>
      </p:sp>
      <p:pic>
        <p:nvPicPr>
          <p:cNvPr descr="image.png" id="273" name="Google Shape;273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4850" y="3922811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8"/>
          <p:cNvSpPr txBox="1"/>
          <p:nvPr/>
        </p:nvSpPr>
        <p:spPr>
          <a:xfrm>
            <a:off x="1162050" y="3886200"/>
            <a:ext cx="4762500" cy="397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4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Float Precision Specifier:</a:t>
            </a:r>
            <a:r>
              <a:rPr b="0" i="0" lang="en-US" sz="10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Constrain floating point decimal outputs via :.Nf.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price = 19.458; print(f"Price: ${price:.2f}") ➔ </a:t>
            </a:r>
            <a:r>
              <a:rPr b="0" i="0" lang="en-US" sz="1050" u="none" cap="none" strike="noStrike">
                <a:solidFill>
                  <a:srgbClr val="4ADE8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Price: $19.46</a:t>
            </a:r>
            <a:endParaRPr/>
          </a:p>
        </p:txBody>
      </p:sp>
      <p:pic>
        <p:nvPicPr>
          <p:cNvPr descr="image.png" id="275" name="Google Shape;275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4850" y="4662785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8"/>
          <p:cNvSpPr txBox="1"/>
          <p:nvPr/>
        </p:nvSpPr>
        <p:spPr>
          <a:xfrm>
            <a:off x="1162050" y="4626173"/>
            <a:ext cx="5095875" cy="397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4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Text Alignment &amp; Padding:</a:t>
            </a:r>
            <a:r>
              <a:rPr b="0" i="0" lang="en-US" sz="10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Align strings with width parameters like :&gt;10 or :&lt;10.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qty = 7; print(f"Count: [{qty:&gt;5}]") ➔ </a:t>
            </a:r>
            <a:r>
              <a:rPr b="0" i="0" lang="en-US" sz="1050" u="none" cap="none" strike="noStrike">
                <a:solidFill>
                  <a:srgbClr val="4ADE8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Count: [ 7]</a:t>
            </a:r>
            <a:endParaRPr/>
          </a:p>
        </p:txBody>
      </p:sp>
      <p:pic>
        <p:nvPicPr>
          <p:cNvPr descr="image.png" id="277" name="Google Shape;277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71525" y="2528589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09625" y="3268563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90575" y="4008536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00100" y="474851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8"/>
          <p:cNvSpPr txBox="1"/>
          <p:nvPr/>
        </p:nvSpPr>
        <p:spPr>
          <a:xfrm>
            <a:off x="542925" y="447675"/>
            <a:ext cx="116490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f-String </a:t>
            </a:r>
            <a:r>
              <a:rPr b="1" i="0" lang="en-US" sz="24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Syntax Examples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6" name="Google Shape;28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2938313"/>
            <a:ext cx="16840200" cy="15528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649825" y="2938313"/>
            <a:ext cx="17221200" cy="15528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2950" y="3659832"/>
            <a:ext cx="16440150" cy="6313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849850" y="3659832"/>
            <a:ext cx="16821150" cy="631328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9"/>
          <p:cNvSpPr txBox="1"/>
          <p:nvPr/>
        </p:nvSpPr>
        <p:spPr>
          <a:xfrm>
            <a:off x="742950" y="3138338"/>
            <a:ext cx="114490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Positional &amp; Index Arguments</a:t>
            </a:r>
            <a:endParaRPr/>
          </a:p>
        </p:txBody>
      </p:sp>
      <p:sp>
        <p:nvSpPr>
          <p:cNvPr id="292" name="Google Shape;292;p9"/>
          <p:cNvSpPr txBox="1"/>
          <p:nvPr/>
        </p:nvSpPr>
        <p:spPr>
          <a:xfrm>
            <a:off x="742950" y="3452663"/>
            <a:ext cx="11449050" cy="207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Values populate empty braces {} sequentially or by explicit zero-based index {0}:</a:t>
            </a:r>
            <a:endParaRPr/>
          </a:p>
        </p:txBody>
      </p:sp>
      <p:sp>
        <p:nvSpPr>
          <p:cNvPr id="293" name="Google Shape;293;p9"/>
          <p:cNvSpPr txBox="1"/>
          <p:nvPr/>
        </p:nvSpPr>
        <p:spPr>
          <a:xfrm>
            <a:off x="17849850" y="3138338"/>
            <a:ext cx="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Keyword Placeholders</a:t>
            </a:r>
            <a:endParaRPr/>
          </a:p>
        </p:txBody>
      </p:sp>
      <p:sp>
        <p:nvSpPr>
          <p:cNvPr id="294" name="Google Shape;294;p9"/>
          <p:cNvSpPr txBox="1"/>
          <p:nvPr/>
        </p:nvSpPr>
        <p:spPr>
          <a:xfrm>
            <a:off x="17849850" y="3452663"/>
            <a:ext cx="0" cy="207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Assign identifiers inside placeholders for self-documenting template patterns:</a:t>
            </a:r>
            <a:endParaRPr/>
          </a:p>
        </p:txBody>
      </p:sp>
      <p:sp>
        <p:nvSpPr>
          <p:cNvPr id="295" name="Google Shape;295;p9"/>
          <p:cNvSpPr txBox="1"/>
          <p:nvPr/>
        </p:nvSpPr>
        <p:spPr>
          <a:xfrm>
            <a:off x="885825" y="3985021"/>
            <a:ext cx="18288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Sequential replacement</a:t>
            </a:r>
            <a:endParaRPr/>
          </a:p>
        </p:txBody>
      </p:sp>
      <p:sp>
        <p:nvSpPr>
          <p:cNvPr id="296" name="Google Shape;296;p9"/>
          <p:cNvSpPr txBox="1"/>
          <p:nvPr/>
        </p:nvSpPr>
        <p:spPr>
          <a:xfrm>
            <a:off x="3248025" y="3985021"/>
            <a:ext cx="1600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"{} scored {} points"</a:t>
            </a:r>
            <a:endParaRPr/>
          </a:p>
        </p:txBody>
      </p:sp>
      <p:sp>
        <p:nvSpPr>
          <p:cNvPr id="297" name="Google Shape;297;p9"/>
          <p:cNvSpPr txBox="1"/>
          <p:nvPr/>
        </p:nvSpPr>
        <p:spPr>
          <a:xfrm>
            <a:off x="4924425" y="3985021"/>
            <a:ext cx="457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format</a:t>
            </a:r>
            <a:endParaRPr/>
          </a:p>
        </p:txBody>
      </p:sp>
      <p:sp>
        <p:nvSpPr>
          <p:cNvPr id="298" name="Google Shape;298;p9"/>
          <p:cNvSpPr txBox="1"/>
          <p:nvPr/>
        </p:nvSpPr>
        <p:spPr>
          <a:xfrm>
            <a:off x="5457825" y="3985021"/>
            <a:ext cx="533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"Elena"</a:t>
            </a:r>
            <a:endParaRPr/>
          </a:p>
        </p:txBody>
      </p:sp>
      <p:sp>
        <p:nvSpPr>
          <p:cNvPr id="299" name="Google Shape;299;p9"/>
          <p:cNvSpPr txBox="1"/>
          <p:nvPr/>
        </p:nvSpPr>
        <p:spPr>
          <a:xfrm>
            <a:off x="6143625" y="3985021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92</a:t>
            </a:r>
            <a:endParaRPr/>
          </a:p>
        </p:txBody>
      </p:sp>
      <p:sp>
        <p:nvSpPr>
          <p:cNvPr id="300" name="Google Shape;300;p9"/>
          <p:cNvSpPr txBox="1"/>
          <p:nvPr/>
        </p:nvSpPr>
        <p:spPr>
          <a:xfrm>
            <a:off x="6448425" y="3985021"/>
            <a:ext cx="25908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Output: 'Elena scored 92 points'</a:t>
            </a:r>
            <a:endParaRPr/>
          </a:p>
        </p:txBody>
      </p:sp>
      <p:sp>
        <p:nvSpPr>
          <p:cNvPr id="301" name="Google Shape;301;p9"/>
          <p:cNvSpPr txBox="1"/>
          <p:nvPr/>
        </p:nvSpPr>
        <p:spPr>
          <a:xfrm>
            <a:off x="9115425" y="3985021"/>
            <a:ext cx="22098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Positional index reordering</a:t>
            </a:r>
            <a:endParaRPr/>
          </a:p>
        </p:txBody>
      </p:sp>
      <p:sp>
        <p:nvSpPr>
          <p:cNvPr id="302" name="Google Shape;302;p9"/>
          <p:cNvSpPr txBox="1"/>
          <p:nvPr/>
        </p:nvSpPr>
        <p:spPr>
          <a:xfrm>
            <a:off x="11858625" y="3985021"/>
            <a:ext cx="3333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"{1} comes before {0}"</a:t>
            </a:r>
            <a:endParaRPr/>
          </a:p>
        </p:txBody>
      </p:sp>
      <p:sp>
        <p:nvSpPr>
          <p:cNvPr id="303" name="Google Shape;303;p9"/>
          <p:cNvSpPr txBox="1"/>
          <p:nvPr/>
        </p:nvSpPr>
        <p:spPr>
          <a:xfrm>
            <a:off x="13611225" y="3985021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format</a:t>
            </a:r>
            <a:endParaRPr/>
          </a:p>
        </p:txBody>
      </p:sp>
      <p:sp>
        <p:nvSpPr>
          <p:cNvPr id="304" name="Google Shape;304;p9"/>
          <p:cNvSpPr txBox="1"/>
          <p:nvPr/>
        </p:nvSpPr>
        <p:spPr>
          <a:xfrm>
            <a:off x="14144625" y="3985021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"B"</a:t>
            </a:r>
            <a:endParaRPr/>
          </a:p>
        </p:txBody>
      </p:sp>
      <p:sp>
        <p:nvSpPr>
          <p:cNvPr id="305" name="Google Shape;305;p9"/>
          <p:cNvSpPr txBox="1"/>
          <p:nvPr/>
        </p:nvSpPr>
        <p:spPr>
          <a:xfrm>
            <a:off x="14525625" y="3985021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"A"</a:t>
            </a:r>
            <a:endParaRPr/>
          </a:p>
        </p:txBody>
      </p:sp>
      <p:sp>
        <p:nvSpPr>
          <p:cNvPr id="306" name="Google Shape;306;p9"/>
          <p:cNvSpPr txBox="1"/>
          <p:nvPr/>
        </p:nvSpPr>
        <p:spPr>
          <a:xfrm>
            <a:off x="14906625" y="3985021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Output: 'A comes before B'</a:t>
            </a:r>
            <a:endParaRPr/>
          </a:p>
        </p:txBody>
      </p:sp>
      <p:sp>
        <p:nvSpPr>
          <p:cNvPr id="307" name="Google Shape;307;p9"/>
          <p:cNvSpPr txBox="1"/>
          <p:nvPr/>
        </p:nvSpPr>
        <p:spPr>
          <a:xfrm>
            <a:off x="17992725" y="3985021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Explicit keyword mapping</a:t>
            </a:r>
            <a:endParaRPr/>
          </a:p>
        </p:txBody>
      </p:sp>
      <p:sp>
        <p:nvSpPr>
          <p:cNvPr id="308" name="Google Shape;308;p9"/>
          <p:cNvSpPr txBox="1"/>
          <p:nvPr/>
        </p:nvSpPr>
        <p:spPr>
          <a:xfrm>
            <a:off x="20583525" y="3985021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"Player {hero} has {hp} HP."</a:t>
            </a:r>
            <a:endParaRPr/>
          </a:p>
        </p:txBody>
      </p:sp>
      <p:sp>
        <p:nvSpPr>
          <p:cNvPr id="309" name="Google Shape;309;p9"/>
          <p:cNvSpPr txBox="1"/>
          <p:nvPr/>
        </p:nvSpPr>
        <p:spPr>
          <a:xfrm>
            <a:off x="22793325" y="3985021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format</a:t>
            </a:r>
            <a:endParaRPr/>
          </a:p>
        </p:txBody>
      </p:sp>
      <p:sp>
        <p:nvSpPr>
          <p:cNvPr id="310" name="Google Shape;310;p9"/>
          <p:cNvSpPr txBox="1"/>
          <p:nvPr/>
        </p:nvSpPr>
        <p:spPr>
          <a:xfrm>
            <a:off x="23783925" y="3985021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"Arthur"</a:t>
            </a:r>
            <a:endParaRPr/>
          </a:p>
        </p:txBody>
      </p:sp>
      <p:sp>
        <p:nvSpPr>
          <p:cNvPr id="311" name="Google Shape;311;p9"/>
          <p:cNvSpPr txBox="1"/>
          <p:nvPr/>
        </p:nvSpPr>
        <p:spPr>
          <a:xfrm>
            <a:off x="24774525" y="3985021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</a:t>
            </a:r>
            <a:endParaRPr/>
          </a:p>
        </p:txBody>
      </p:sp>
      <p:sp>
        <p:nvSpPr>
          <p:cNvPr id="312" name="Google Shape;312;p9"/>
          <p:cNvSpPr txBox="1"/>
          <p:nvPr/>
        </p:nvSpPr>
        <p:spPr>
          <a:xfrm>
            <a:off x="25231725" y="3985021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Output: 'Player Arthur has 100 HP.'</a:t>
            </a:r>
            <a:endParaRPr/>
          </a:p>
        </p:txBody>
      </p:sp>
      <p:sp>
        <p:nvSpPr>
          <p:cNvPr id="313" name="Google Shape;313;p9"/>
          <p:cNvSpPr txBox="1"/>
          <p:nvPr/>
        </p:nvSpPr>
        <p:spPr>
          <a:xfrm>
            <a:off x="28127325" y="3985021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Precision formatting with format()</a:t>
            </a:r>
            <a:endParaRPr/>
          </a:p>
        </p:txBody>
      </p:sp>
      <p:sp>
        <p:nvSpPr>
          <p:cNvPr id="314" name="Google Shape;314;p9"/>
          <p:cNvSpPr txBox="1"/>
          <p:nvPr/>
        </p:nvSpPr>
        <p:spPr>
          <a:xfrm>
            <a:off x="30946725" y="3985021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</a:t>
            </a:r>
            <a:endParaRPr/>
          </a:p>
        </p:txBody>
      </p:sp>
      <p:sp>
        <p:nvSpPr>
          <p:cNvPr id="315" name="Google Shape;315;p9"/>
          <p:cNvSpPr txBox="1"/>
          <p:nvPr/>
        </p:nvSpPr>
        <p:spPr>
          <a:xfrm>
            <a:off x="31403925" y="3985021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"Val: {:.2f}"</a:t>
            </a:r>
            <a:endParaRPr/>
          </a:p>
        </p:txBody>
      </p:sp>
      <p:sp>
        <p:nvSpPr>
          <p:cNvPr id="316" name="Google Shape;316;p9"/>
          <p:cNvSpPr txBox="1"/>
          <p:nvPr/>
        </p:nvSpPr>
        <p:spPr>
          <a:xfrm>
            <a:off x="32470725" y="3985021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format</a:t>
            </a:r>
            <a:endParaRPr/>
          </a:p>
        </p:txBody>
      </p:sp>
      <p:sp>
        <p:nvSpPr>
          <p:cNvPr id="317" name="Google Shape;317;p9"/>
          <p:cNvSpPr txBox="1"/>
          <p:nvPr/>
        </p:nvSpPr>
        <p:spPr>
          <a:xfrm>
            <a:off x="33004125" y="3985021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5.6789</a:t>
            </a:r>
            <a:endParaRPr/>
          </a:p>
        </p:txBody>
      </p:sp>
      <p:sp>
        <p:nvSpPr>
          <p:cNvPr id="318" name="Google Shape;318;p9"/>
          <p:cNvSpPr txBox="1"/>
          <p:nvPr/>
        </p:nvSpPr>
        <p:spPr>
          <a:xfrm>
            <a:off x="33689925" y="3985021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Val: 5.68</a:t>
            </a:r>
            <a:endParaRPr/>
          </a:p>
        </p:txBody>
      </p:sp>
      <p:sp>
        <p:nvSpPr>
          <p:cNvPr id="319" name="Google Shape;319;p9"/>
          <p:cNvSpPr txBox="1"/>
          <p:nvPr/>
        </p:nvSpPr>
        <p:spPr>
          <a:xfrm>
            <a:off x="542925" y="447675"/>
            <a:ext cx="116490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</a:t>
            </a:r>
            <a:r>
              <a:rPr b="1" i="0" lang="en-US" sz="24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str.format()</a:t>
            </a:r>
            <a:r>
              <a:rPr b="1" i="0" lang="en-US" sz="24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Method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4" name="Google Shape;32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5" name="Google Shape;325;p10"/>
          <p:cNvGraphicFramePr/>
          <p:nvPr/>
        </p:nvGraphicFramePr>
        <p:xfrm>
          <a:off x="542925" y="25259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{1B6F72D8-E63B-415B-8D4C-50D46B130722}</a:tableStyleId>
              </a:tblPr>
              <a:tblGrid>
                <a:gridCol w="2526650"/>
                <a:gridCol w="4254100"/>
                <a:gridCol w="4306350"/>
              </a:tblGrid>
              <a:tr h="39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8BDF8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Comparison Criterion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8BDF8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f-Strings (f"...")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8BDF8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str.format() Method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</a:tr>
              <a:tr h="39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Syntax Form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f"User: {name}, Age: {age}"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"User: {}, Age: {}".format(name, age)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</a:tr>
              <a:tr h="39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Evaluation Timing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Evaluated immediately at line execution.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Evaluated whenever .format() is invoked.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</a:tr>
              <a:tr h="39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Variable Scope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Must access variables existing in current scope.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Templates can be stored in files/constants first.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</a:tr>
              <a:tr h="39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Execution Speed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Fastest (compiled into bytecode directly).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Slightly slower (function call overhead).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</a:tr>
              <a:tr h="39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Best Applied 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Immediate console output and inline scripts.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Stored localization files and reusable templates.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326" name="Google Shape;326;p10"/>
          <p:cNvSpPr/>
          <p:nvPr/>
        </p:nvSpPr>
        <p:spPr>
          <a:xfrm>
            <a:off x="552450" y="2918817"/>
            <a:ext cx="252665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3079105" y="2918817"/>
            <a:ext cx="425410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7333208" y="2918817"/>
            <a:ext cx="430634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552450" y="3317081"/>
            <a:ext cx="252665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3079105" y="3317081"/>
            <a:ext cx="425410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7333208" y="3317081"/>
            <a:ext cx="430634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552450" y="3715345"/>
            <a:ext cx="252665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3079105" y="3715345"/>
            <a:ext cx="425410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7333208" y="3715345"/>
            <a:ext cx="430634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552450" y="4108251"/>
            <a:ext cx="252665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3079105" y="4108251"/>
            <a:ext cx="425410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7333208" y="4108251"/>
            <a:ext cx="430634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552450" y="4501157"/>
            <a:ext cx="252665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3079105" y="4501157"/>
            <a:ext cx="425410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7333208" y="4501157"/>
            <a:ext cx="430634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 txBox="1"/>
          <p:nvPr/>
        </p:nvSpPr>
        <p:spPr>
          <a:xfrm>
            <a:off x="542925" y="447675"/>
            <a:ext cx="116490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f-Strings</a:t>
            </a:r>
            <a:r>
              <a:rPr b="1" i="0" lang="en-US" sz="24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vs </a:t>
            </a:r>
            <a:r>
              <a:rPr b="1" i="0" lang="en-US" sz="24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str.format()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6" name="Google Shape;34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1"/>
          <p:cNvSpPr txBox="1"/>
          <p:nvPr/>
        </p:nvSpPr>
        <p:spPr>
          <a:xfrm>
            <a:off x="581025" y="485775"/>
            <a:ext cx="559069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Mad Libs </a:t>
            </a:r>
            <a:r>
              <a:rPr b="1" i="0" lang="en-US" sz="24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Architecture</a:t>
            </a:r>
            <a:endParaRPr/>
          </a:p>
        </p:txBody>
      </p:sp>
      <p:pic>
        <p:nvPicPr>
          <p:cNvPr descr="image.png" id="348" name="Google Shape;34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9525"/>
            <a:ext cx="58959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1"/>
          <p:cNvSpPr txBox="1"/>
          <p:nvPr/>
        </p:nvSpPr>
        <p:spPr>
          <a:xfrm>
            <a:off x="581025" y="2943076"/>
            <a:ext cx="559069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Sequential Execution Flow</a:t>
            </a:r>
            <a:endParaRPr/>
          </a:p>
        </p:txBody>
      </p:sp>
      <p:sp>
        <p:nvSpPr>
          <p:cNvPr id="350" name="Google Shape;350;p11"/>
          <p:cNvSpPr txBox="1"/>
          <p:nvPr/>
        </p:nvSpPr>
        <p:spPr>
          <a:xfrm>
            <a:off x="581025" y="3238351"/>
            <a:ext cx="5324475" cy="200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7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1:</a:t>
            </a:r>
            <a:r>
              <a:rPr b="0" i="0" lang="en-US" sz="1087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Prompt user inputs for words (nouns, adjectives, verbs, numbers).</a:t>
            </a:r>
            <a:endParaRPr/>
          </a:p>
        </p:txBody>
      </p:sp>
      <p:sp>
        <p:nvSpPr>
          <p:cNvPr id="351" name="Google Shape;351;p11"/>
          <p:cNvSpPr txBox="1"/>
          <p:nvPr/>
        </p:nvSpPr>
        <p:spPr>
          <a:xfrm>
            <a:off x="581025" y="3552825"/>
            <a:ext cx="5324475" cy="204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7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2:</a:t>
            </a:r>
            <a:r>
              <a:rPr b="0" i="0" lang="en-US" sz="1087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Cast inputs requiring calculations to int or float.</a:t>
            </a:r>
            <a:endParaRPr/>
          </a:p>
        </p:txBody>
      </p:sp>
      <p:sp>
        <p:nvSpPr>
          <p:cNvPr id="352" name="Google Shape;352;p11"/>
          <p:cNvSpPr txBox="1"/>
          <p:nvPr/>
        </p:nvSpPr>
        <p:spPr>
          <a:xfrm>
            <a:off x="581025" y="3871912"/>
            <a:ext cx="5324475" cy="204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7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3:</a:t>
            </a:r>
            <a:r>
              <a:rPr b="0" i="0" lang="en-US" sz="1087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Inject variables into a pre-written story template via f"" or .format().</a:t>
            </a:r>
            <a:endParaRPr/>
          </a:p>
        </p:txBody>
      </p:sp>
      <p:sp>
        <p:nvSpPr>
          <p:cNvPr id="353" name="Google Shape;353;p11"/>
          <p:cNvSpPr txBox="1"/>
          <p:nvPr/>
        </p:nvSpPr>
        <p:spPr>
          <a:xfrm>
            <a:off x="581025" y="4191000"/>
            <a:ext cx="5324475" cy="200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7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4:</a:t>
            </a:r>
            <a:r>
              <a:rPr b="0" i="0" lang="en-US" sz="1087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Print the formatted narrative directly to the terminal.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8" name="Google Shape;35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9" name="Google Shape;35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2945903"/>
            <a:ext cx="26974800" cy="15375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0" name="Google Shape;36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784425" y="2945903"/>
            <a:ext cx="23088600" cy="15375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1" name="Google Shape;361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2950" y="3460253"/>
            <a:ext cx="26574750" cy="8231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2" name="Google Shape;362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984450" y="3460253"/>
            <a:ext cx="22688550" cy="631328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2"/>
          <p:cNvSpPr txBox="1"/>
          <p:nvPr/>
        </p:nvSpPr>
        <p:spPr>
          <a:xfrm>
            <a:off x="742950" y="3145928"/>
            <a:ext cx="114490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Complete Python Script</a:t>
            </a:r>
            <a:endParaRPr/>
          </a:p>
        </p:txBody>
      </p:sp>
      <p:sp>
        <p:nvSpPr>
          <p:cNvPr id="364" name="Google Shape;364;p12"/>
          <p:cNvSpPr txBox="1"/>
          <p:nvPr/>
        </p:nvSpPr>
        <p:spPr>
          <a:xfrm>
            <a:off x="27984450" y="3145928"/>
            <a:ext cx="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Sample Terminal Interaction</a:t>
            </a:r>
            <a:endParaRPr/>
          </a:p>
        </p:txBody>
      </p:sp>
      <p:sp>
        <p:nvSpPr>
          <p:cNvPr id="365" name="Google Shape;365;p12"/>
          <p:cNvSpPr txBox="1"/>
          <p:nvPr/>
        </p:nvSpPr>
        <p:spPr>
          <a:xfrm>
            <a:off x="885825" y="3785443"/>
            <a:ext cx="17526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1. Gather word inputs</a:t>
            </a:r>
            <a:endParaRPr/>
          </a:p>
        </p:txBody>
      </p:sp>
      <p:sp>
        <p:nvSpPr>
          <p:cNvPr id="366" name="Google Shape;366;p12"/>
          <p:cNvSpPr txBox="1"/>
          <p:nvPr/>
        </p:nvSpPr>
        <p:spPr>
          <a:xfrm>
            <a:off x="3171825" y="3785443"/>
            <a:ext cx="381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input</a:t>
            </a:r>
            <a:endParaRPr/>
          </a:p>
        </p:txBody>
      </p:sp>
      <p:sp>
        <p:nvSpPr>
          <p:cNvPr id="367" name="Google Shape;367;p12"/>
          <p:cNvSpPr txBox="1"/>
          <p:nvPr/>
        </p:nvSpPr>
        <p:spPr>
          <a:xfrm>
            <a:off x="3629025" y="3785443"/>
            <a:ext cx="1676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"Enter an adjective: "</a:t>
            </a:r>
            <a:endParaRPr/>
          </a:p>
        </p:txBody>
      </p:sp>
      <p:sp>
        <p:nvSpPr>
          <p:cNvPr id="368" name="Google Shape;368;p12"/>
          <p:cNvSpPr txBox="1"/>
          <p:nvPr/>
        </p:nvSpPr>
        <p:spPr>
          <a:xfrm>
            <a:off x="5991225" y="3785443"/>
            <a:ext cx="381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input</a:t>
            </a:r>
            <a:endParaRPr/>
          </a:p>
        </p:txBody>
      </p:sp>
      <p:sp>
        <p:nvSpPr>
          <p:cNvPr id="369" name="Google Shape;369;p12"/>
          <p:cNvSpPr txBox="1"/>
          <p:nvPr/>
        </p:nvSpPr>
        <p:spPr>
          <a:xfrm>
            <a:off x="6448425" y="3785443"/>
            <a:ext cx="1524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"Enter a creature: "</a:t>
            </a:r>
            <a:endParaRPr/>
          </a:p>
        </p:txBody>
      </p:sp>
      <p:sp>
        <p:nvSpPr>
          <p:cNvPr id="370" name="Google Shape;370;p12"/>
          <p:cNvSpPr txBox="1"/>
          <p:nvPr/>
        </p:nvSpPr>
        <p:spPr>
          <a:xfrm>
            <a:off x="8658225" y="3785443"/>
            <a:ext cx="381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input</a:t>
            </a:r>
            <a:endParaRPr/>
          </a:p>
        </p:txBody>
      </p:sp>
      <p:sp>
        <p:nvSpPr>
          <p:cNvPr id="371" name="Google Shape;371;p12"/>
          <p:cNvSpPr txBox="1"/>
          <p:nvPr/>
        </p:nvSpPr>
        <p:spPr>
          <a:xfrm>
            <a:off x="9115425" y="3785443"/>
            <a:ext cx="1905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"Enter a verb (action): "</a:t>
            </a:r>
            <a:endParaRPr/>
          </a:p>
        </p:txBody>
      </p:sp>
      <p:sp>
        <p:nvSpPr>
          <p:cNvPr id="372" name="Google Shape;372;p12"/>
          <p:cNvSpPr txBox="1"/>
          <p:nvPr/>
        </p:nvSpPr>
        <p:spPr>
          <a:xfrm>
            <a:off x="11782425" y="3785443"/>
            <a:ext cx="2286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endParaRPr/>
          </a:p>
        </p:txBody>
      </p:sp>
      <p:sp>
        <p:nvSpPr>
          <p:cNvPr id="373" name="Google Shape;373;p12"/>
          <p:cNvSpPr txBox="1"/>
          <p:nvPr/>
        </p:nvSpPr>
        <p:spPr>
          <a:xfrm>
            <a:off x="12087225" y="3785443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input</a:t>
            </a:r>
            <a:endParaRPr/>
          </a:p>
        </p:txBody>
      </p:sp>
      <p:sp>
        <p:nvSpPr>
          <p:cNvPr id="374" name="Google Shape;374;p12"/>
          <p:cNvSpPr txBox="1"/>
          <p:nvPr/>
        </p:nvSpPr>
        <p:spPr>
          <a:xfrm>
            <a:off x="12544425" y="3785443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"Enter hours (number): "</a:t>
            </a:r>
            <a:endParaRPr/>
          </a:p>
        </p:txBody>
      </p:sp>
      <p:sp>
        <p:nvSpPr>
          <p:cNvPr id="375" name="Google Shape;375;p12"/>
          <p:cNvSpPr txBox="1"/>
          <p:nvPr/>
        </p:nvSpPr>
        <p:spPr>
          <a:xfrm>
            <a:off x="14601825" y="3785443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2. Render story via f-string</a:t>
            </a:r>
            <a:endParaRPr/>
          </a:p>
        </p:txBody>
      </p:sp>
      <p:sp>
        <p:nvSpPr>
          <p:cNvPr id="376" name="Google Shape;376;p12"/>
          <p:cNvSpPr txBox="1"/>
          <p:nvPr/>
        </p:nvSpPr>
        <p:spPr>
          <a:xfrm>
            <a:off x="17726025" y="3785443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f"Today, a {adj} {noun} decided to "</a:t>
            </a:r>
            <a:endParaRPr/>
          </a:p>
        </p:txBody>
      </p:sp>
      <p:sp>
        <p:nvSpPr>
          <p:cNvPr id="377" name="Google Shape;377;p12"/>
          <p:cNvSpPr txBox="1"/>
          <p:nvPr/>
        </p:nvSpPr>
        <p:spPr>
          <a:xfrm>
            <a:off x="20545425" y="3785443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f"{verb} across campus for {hours} hours!"</a:t>
            </a:r>
            <a:endParaRPr/>
          </a:p>
        </p:txBody>
      </p:sp>
      <p:sp>
        <p:nvSpPr>
          <p:cNvPr id="378" name="Google Shape;378;p12"/>
          <p:cNvSpPr txBox="1"/>
          <p:nvPr/>
        </p:nvSpPr>
        <p:spPr>
          <a:xfrm>
            <a:off x="23974425" y="3785443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</a:t>
            </a:r>
            <a:endParaRPr/>
          </a:p>
        </p:txBody>
      </p:sp>
      <p:sp>
        <p:nvSpPr>
          <p:cNvPr id="379" name="Google Shape;379;p12"/>
          <p:cNvSpPr txBox="1"/>
          <p:nvPr/>
        </p:nvSpPr>
        <p:spPr>
          <a:xfrm>
            <a:off x="24431625" y="3785443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"\n--- YOUR STORY ---"</a:t>
            </a:r>
            <a:endParaRPr/>
          </a:p>
        </p:txBody>
      </p:sp>
      <p:sp>
        <p:nvSpPr>
          <p:cNvPr id="380" name="Google Shape;380;p12"/>
          <p:cNvSpPr txBox="1"/>
          <p:nvPr/>
        </p:nvSpPr>
        <p:spPr>
          <a:xfrm>
            <a:off x="26260425" y="3785443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</a:t>
            </a:r>
            <a:endParaRPr/>
          </a:p>
        </p:txBody>
      </p:sp>
      <p:sp>
        <p:nvSpPr>
          <p:cNvPr id="381" name="Google Shape;381;p12"/>
          <p:cNvSpPr txBox="1"/>
          <p:nvPr/>
        </p:nvSpPr>
        <p:spPr>
          <a:xfrm>
            <a:off x="28127325" y="3785443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2E8F0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Enter an adjective: energetic Enter a creature: robot Enter a verb (action): sprint Enter hours (number): 3 --- YOUR STORY --- Today, a energetic robot decided to sprint across campus for 3 hours!</a:t>
            </a:r>
            <a:endParaRPr/>
          </a:p>
        </p:txBody>
      </p:sp>
      <p:sp>
        <p:nvSpPr>
          <p:cNvPr id="382" name="Google Shape;382;p12"/>
          <p:cNvSpPr txBox="1"/>
          <p:nvPr/>
        </p:nvSpPr>
        <p:spPr>
          <a:xfrm>
            <a:off x="43138725" y="3785443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Calculation inside f-string:</a:t>
            </a:r>
            <a:endParaRPr/>
          </a:p>
        </p:txBody>
      </p:sp>
      <p:sp>
        <p:nvSpPr>
          <p:cNvPr id="383" name="Google Shape;383;p12"/>
          <p:cNvSpPr txBox="1"/>
          <p:nvPr/>
        </p:nvSpPr>
        <p:spPr>
          <a:xfrm>
            <a:off x="45500925" y="3785443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</a:t>
            </a:r>
            <a:endParaRPr/>
          </a:p>
        </p:txBody>
      </p:sp>
      <p:sp>
        <p:nvSpPr>
          <p:cNvPr id="384" name="Google Shape;384;p12"/>
          <p:cNvSpPr txBox="1"/>
          <p:nvPr/>
        </p:nvSpPr>
        <p:spPr>
          <a:xfrm>
            <a:off x="45958125" y="3785443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f"Minutes spent: {hours * 60}"</a:t>
            </a:r>
            <a:endParaRPr/>
          </a:p>
        </p:txBody>
      </p:sp>
      <p:sp>
        <p:nvSpPr>
          <p:cNvPr id="385" name="Google Shape;385;p12"/>
          <p:cNvSpPr txBox="1"/>
          <p:nvPr/>
        </p:nvSpPr>
        <p:spPr>
          <a:xfrm>
            <a:off x="48396525" y="3785443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Output: Minutes spent: 180</a:t>
            </a:r>
            <a:endParaRPr/>
          </a:p>
        </p:txBody>
      </p:sp>
      <p:sp>
        <p:nvSpPr>
          <p:cNvPr id="386" name="Google Shape;386;p12"/>
          <p:cNvSpPr txBox="1"/>
          <p:nvPr/>
        </p:nvSpPr>
        <p:spPr>
          <a:xfrm>
            <a:off x="542925" y="447675"/>
            <a:ext cx="116490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Mad Libs: </a:t>
            </a:r>
            <a:r>
              <a:rPr b="1" i="0" lang="en-US" sz="24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f-Strings Script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1" name="Google Shape;39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2" name="Google Shape;39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2945903"/>
            <a:ext cx="29946600" cy="15375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3" name="Google Shape;39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756225" y="2945903"/>
            <a:ext cx="24155400" cy="15375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4" name="Google Shape;394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2950" y="3460253"/>
            <a:ext cx="29546550" cy="8231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5" name="Google Shape;395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956250" y="3460253"/>
            <a:ext cx="23755350" cy="631328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3"/>
          <p:cNvSpPr txBox="1"/>
          <p:nvPr/>
        </p:nvSpPr>
        <p:spPr>
          <a:xfrm>
            <a:off x="742950" y="3145928"/>
            <a:ext cx="114490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Complete Python Script</a:t>
            </a:r>
            <a:endParaRPr/>
          </a:p>
        </p:txBody>
      </p:sp>
      <p:sp>
        <p:nvSpPr>
          <p:cNvPr id="397" name="Google Shape;397;p13"/>
          <p:cNvSpPr txBox="1"/>
          <p:nvPr/>
        </p:nvSpPr>
        <p:spPr>
          <a:xfrm>
            <a:off x="30956250" y="3145928"/>
            <a:ext cx="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Sample Terminal Interaction</a:t>
            </a:r>
            <a:endParaRPr/>
          </a:p>
        </p:txBody>
      </p:sp>
      <p:sp>
        <p:nvSpPr>
          <p:cNvPr id="398" name="Google Shape;398;p13"/>
          <p:cNvSpPr txBox="1"/>
          <p:nvPr/>
        </p:nvSpPr>
        <p:spPr>
          <a:xfrm>
            <a:off x="885825" y="3785443"/>
            <a:ext cx="2819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1. Define decoupled template string</a:t>
            </a:r>
            <a:endParaRPr/>
          </a:p>
        </p:txBody>
      </p:sp>
      <p:sp>
        <p:nvSpPr>
          <p:cNvPr id="399" name="Google Shape;399;p13"/>
          <p:cNvSpPr txBox="1"/>
          <p:nvPr/>
        </p:nvSpPr>
        <p:spPr>
          <a:xfrm>
            <a:off x="4772025" y="3785443"/>
            <a:ext cx="3124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"Captain {pilot} flew the {ship} into a "</a:t>
            </a:r>
            <a:endParaRPr/>
          </a:p>
        </p:txBody>
      </p:sp>
      <p:sp>
        <p:nvSpPr>
          <p:cNvPr id="400" name="Google Shape;400;p13"/>
          <p:cNvSpPr txBox="1"/>
          <p:nvPr/>
        </p:nvSpPr>
        <p:spPr>
          <a:xfrm>
            <a:off x="7972425" y="3785443"/>
            <a:ext cx="3200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"{hazard} sector, saving {crew} officers!"</a:t>
            </a:r>
            <a:endParaRPr/>
          </a:p>
        </p:txBody>
      </p:sp>
      <p:sp>
        <p:nvSpPr>
          <p:cNvPr id="401" name="Google Shape;401;p13"/>
          <p:cNvSpPr txBox="1"/>
          <p:nvPr/>
        </p:nvSpPr>
        <p:spPr>
          <a:xfrm>
            <a:off x="11401425" y="3785443"/>
            <a:ext cx="7905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2. Collect user values</a:t>
            </a:r>
            <a:endParaRPr/>
          </a:p>
        </p:txBody>
      </p:sp>
      <p:sp>
        <p:nvSpPr>
          <p:cNvPr id="402" name="Google Shape;402;p13"/>
          <p:cNvSpPr txBox="1"/>
          <p:nvPr/>
        </p:nvSpPr>
        <p:spPr>
          <a:xfrm>
            <a:off x="13611225" y="3785443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input</a:t>
            </a:r>
            <a:endParaRPr/>
          </a:p>
        </p:txBody>
      </p:sp>
      <p:sp>
        <p:nvSpPr>
          <p:cNvPr id="403" name="Google Shape;403;p13"/>
          <p:cNvSpPr txBox="1"/>
          <p:nvPr/>
        </p:nvSpPr>
        <p:spPr>
          <a:xfrm>
            <a:off x="14068425" y="3785443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"Captain name: "</a:t>
            </a:r>
            <a:endParaRPr/>
          </a:p>
        </p:txBody>
      </p:sp>
      <p:sp>
        <p:nvSpPr>
          <p:cNvPr id="404" name="Google Shape;404;p13"/>
          <p:cNvSpPr txBox="1"/>
          <p:nvPr/>
        </p:nvSpPr>
        <p:spPr>
          <a:xfrm>
            <a:off x="15744825" y="3785443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input</a:t>
            </a:r>
            <a:endParaRPr/>
          </a:p>
        </p:txBody>
      </p:sp>
      <p:sp>
        <p:nvSpPr>
          <p:cNvPr id="405" name="Google Shape;405;p13"/>
          <p:cNvSpPr txBox="1"/>
          <p:nvPr/>
        </p:nvSpPr>
        <p:spPr>
          <a:xfrm>
            <a:off x="16202025" y="3785443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"Spaceship name: "</a:t>
            </a:r>
            <a:endParaRPr/>
          </a:p>
        </p:txBody>
      </p:sp>
      <p:sp>
        <p:nvSpPr>
          <p:cNvPr id="406" name="Google Shape;406;p13"/>
          <p:cNvSpPr txBox="1"/>
          <p:nvPr/>
        </p:nvSpPr>
        <p:spPr>
          <a:xfrm>
            <a:off x="18030825" y="3785443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input</a:t>
            </a:r>
            <a:endParaRPr/>
          </a:p>
        </p:txBody>
      </p:sp>
      <p:sp>
        <p:nvSpPr>
          <p:cNvPr id="407" name="Google Shape;407;p13"/>
          <p:cNvSpPr txBox="1"/>
          <p:nvPr/>
        </p:nvSpPr>
        <p:spPr>
          <a:xfrm>
            <a:off x="18488025" y="3785443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"Danger (hazard): "</a:t>
            </a:r>
            <a:endParaRPr/>
          </a:p>
        </p:txBody>
      </p:sp>
      <p:sp>
        <p:nvSpPr>
          <p:cNvPr id="408" name="Google Shape;408;p13"/>
          <p:cNvSpPr txBox="1"/>
          <p:nvPr/>
        </p:nvSpPr>
        <p:spPr>
          <a:xfrm>
            <a:off x="20393025" y="3785443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endParaRPr/>
          </a:p>
        </p:txBody>
      </p:sp>
      <p:sp>
        <p:nvSpPr>
          <p:cNvPr id="409" name="Google Shape;409;p13"/>
          <p:cNvSpPr txBox="1"/>
          <p:nvPr/>
        </p:nvSpPr>
        <p:spPr>
          <a:xfrm>
            <a:off x="20697825" y="3785443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input</a:t>
            </a:r>
            <a:endParaRPr/>
          </a:p>
        </p:txBody>
      </p:sp>
      <p:sp>
        <p:nvSpPr>
          <p:cNvPr id="410" name="Google Shape;410;p13"/>
          <p:cNvSpPr txBox="1"/>
          <p:nvPr/>
        </p:nvSpPr>
        <p:spPr>
          <a:xfrm>
            <a:off x="21155025" y="3785443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"Crew count: "</a:t>
            </a:r>
            <a:endParaRPr/>
          </a:p>
        </p:txBody>
      </p:sp>
      <p:sp>
        <p:nvSpPr>
          <p:cNvPr id="411" name="Google Shape;411;p13"/>
          <p:cNvSpPr txBox="1"/>
          <p:nvPr/>
        </p:nvSpPr>
        <p:spPr>
          <a:xfrm>
            <a:off x="22450425" y="3785443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3. Supply keyword arguments</a:t>
            </a:r>
            <a:endParaRPr/>
          </a:p>
        </p:txBody>
      </p:sp>
      <p:sp>
        <p:nvSpPr>
          <p:cNvPr id="412" name="Google Shape;412;p13"/>
          <p:cNvSpPr txBox="1"/>
          <p:nvPr/>
        </p:nvSpPr>
        <p:spPr>
          <a:xfrm>
            <a:off x="26031825" y="3785443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format</a:t>
            </a:r>
            <a:endParaRPr/>
          </a:p>
        </p:txBody>
      </p:sp>
      <p:sp>
        <p:nvSpPr>
          <p:cNvPr id="413" name="Google Shape;413;p13"/>
          <p:cNvSpPr txBox="1"/>
          <p:nvPr/>
        </p:nvSpPr>
        <p:spPr>
          <a:xfrm>
            <a:off x="29232225" y="3785443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</a:t>
            </a:r>
            <a:endParaRPr/>
          </a:p>
        </p:txBody>
      </p:sp>
      <p:sp>
        <p:nvSpPr>
          <p:cNvPr id="414" name="Google Shape;414;p13"/>
          <p:cNvSpPr txBox="1"/>
          <p:nvPr/>
        </p:nvSpPr>
        <p:spPr>
          <a:xfrm>
            <a:off x="31099125" y="3785443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2E8F0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Captain name: Sarah Spaceship name: Nebula Voyager Danger (hazard): solar flare Crew count: 12 Captain Sarah flew the Nebula Voyager into a solar flare sector, saving 12 officers!</a:t>
            </a:r>
            <a:endParaRPr/>
          </a:p>
        </p:txBody>
      </p:sp>
      <p:sp>
        <p:nvSpPr>
          <p:cNvPr id="415" name="Google Shape;415;p13"/>
          <p:cNvSpPr txBox="1"/>
          <p:nvPr/>
        </p:nvSpPr>
        <p:spPr>
          <a:xfrm>
            <a:off x="44815125" y="3785443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Advantage: Template remains reusable</a:t>
            </a:r>
            <a:endParaRPr/>
          </a:p>
        </p:txBody>
      </p:sp>
      <p:sp>
        <p:nvSpPr>
          <p:cNvPr id="416" name="Google Shape;416;p13"/>
          <p:cNvSpPr txBox="1"/>
          <p:nvPr/>
        </p:nvSpPr>
        <p:spPr>
          <a:xfrm>
            <a:off x="47786925" y="3785443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template.format(...) can be called again </a:t>
            </a:r>
            <a:endParaRPr/>
          </a:p>
        </p:txBody>
      </p:sp>
      <p:sp>
        <p:nvSpPr>
          <p:cNvPr id="417" name="Google Shape;417;p13"/>
          <p:cNvSpPr txBox="1"/>
          <p:nvPr/>
        </p:nvSpPr>
        <p:spPr>
          <a:xfrm>
            <a:off x="51139725" y="3785443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with alternative inputs without redefining.</a:t>
            </a:r>
            <a:endParaRPr/>
          </a:p>
        </p:txBody>
      </p:sp>
      <p:sp>
        <p:nvSpPr>
          <p:cNvPr id="418" name="Google Shape;418;p13"/>
          <p:cNvSpPr txBox="1"/>
          <p:nvPr/>
        </p:nvSpPr>
        <p:spPr>
          <a:xfrm>
            <a:off x="542925" y="447675"/>
            <a:ext cx="116490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Mad Libs: </a:t>
            </a:r>
            <a:r>
              <a:rPr b="1" i="0" lang="en-US" sz="24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format() Script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3" name="Google Shape;42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4" name="Google Shape;42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2284958"/>
            <a:ext cx="11106150" cy="6447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5" name="Google Shape;42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5" y="3024931"/>
            <a:ext cx="11106150" cy="6447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6" name="Google Shape;42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925" y="3764905"/>
            <a:ext cx="11106150" cy="6395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7" name="Google Shape;42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2925" y="4499669"/>
            <a:ext cx="11106150" cy="6447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8" name="Google Shape;428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4850" y="2445394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14"/>
          <p:cNvSpPr txBox="1"/>
          <p:nvPr/>
        </p:nvSpPr>
        <p:spPr>
          <a:xfrm>
            <a:off x="1162050" y="2408783"/>
            <a:ext cx="4991100" cy="397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4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TypeError on Raw input():</a:t>
            </a:r>
            <a:r>
              <a:rPr b="0" i="0" lang="en-US" sz="10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age = input(); age + 5 fails because age is a string.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4ADE8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Fix:</a:t>
            </a:r>
            <a:r>
              <a:rPr b="0" i="0" lang="en-US" sz="10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age = int(input("Age: ")); print(age + 5)</a:t>
            </a:r>
            <a:endParaRPr/>
          </a:p>
        </p:txBody>
      </p:sp>
      <p:pic>
        <p:nvPicPr>
          <p:cNvPr descr="image.png" id="430" name="Google Shape;430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04850" y="3185368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14"/>
          <p:cNvSpPr txBox="1"/>
          <p:nvPr/>
        </p:nvSpPr>
        <p:spPr>
          <a:xfrm>
            <a:off x="1162050" y="3148756"/>
            <a:ext cx="5600700" cy="397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4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ValueError on Non-numeric Input:</a:t>
            </a:r>
            <a:r>
              <a:rPr b="0" i="0" lang="en-US" sz="10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int("apple") crashes immediately with a ValueError.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4ADE8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Fix:</a:t>
            </a:r>
            <a:r>
              <a:rPr b="0" i="0" lang="en-US" sz="10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Validate text with str.isdigit() before casting to numeric types.</a:t>
            </a:r>
            <a:endParaRPr/>
          </a:p>
        </p:txBody>
      </p:sp>
      <p:pic>
        <p:nvPicPr>
          <p:cNvPr descr="image.png" id="432" name="Google Shape;43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4850" y="3922662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14"/>
          <p:cNvSpPr txBox="1"/>
          <p:nvPr/>
        </p:nvSpPr>
        <p:spPr>
          <a:xfrm>
            <a:off x="1162050" y="3888730"/>
            <a:ext cx="7115175" cy="3918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4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Quote Collision in f-Strings:</a:t>
            </a:r>
            <a:r>
              <a:rPr b="0" i="0" lang="en-US" sz="10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f"{info['name']}" works; f"{info["name"]}" creates a syntax error in older Python.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4ADE8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Fix:</a:t>
            </a:r>
            <a:r>
              <a:rPr b="0" i="0" lang="en-US" sz="10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Alternate between single and double quotes inside expressions.</a:t>
            </a:r>
            <a:endParaRPr/>
          </a:p>
        </p:txBody>
      </p:sp>
      <p:pic>
        <p:nvPicPr>
          <p:cNvPr descr="image.png" id="434" name="Google Shape;434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04850" y="4660106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14"/>
          <p:cNvSpPr txBox="1"/>
          <p:nvPr/>
        </p:nvSpPr>
        <p:spPr>
          <a:xfrm>
            <a:off x="1162050" y="4623494"/>
            <a:ext cx="4714875" cy="397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4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Escaping Literal Braces:</a:t>
            </a:r>
            <a:r>
              <a:rPr b="0" i="0" lang="en-US" sz="10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Printing literal {} inside f-strings or format strings.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4ADE8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Fix:</a:t>
            </a:r>
            <a:r>
              <a:rPr b="0" i="0" lang="en-US" sz="10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Double the brackets: f"Set: {{1, 2, 3}}" outputs Set: {1, 2, 3}.</a:t>
            </a:r>
            <a:endParaRPr/>
          </a:p>
        </p:txBody>
      </p:sp>
      <p:pic>
        <p:nvPicPr>
          <p:cNvPr descr="image.png" id="436" name="Google Shape;436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90575" y="2531119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7" name="Google Shape;437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90575" y="3271093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8" name="Google Shape;438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00100" y="4008387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14"/>
          <p:cNvSpPr txBox="1"/>
          <p:nvPr/>
        </p:nvSpPr>
        <p:spPr>
          <a:xfrm>
            <a:off x="542925" y="447675"/>
            <a:ext cx="116490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Common Errors &amp; </a:t>
            </a:r>
            <a:r>
              <a:rPr b="1" i="0" lang="en-US" sz="24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Solutions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4" name="Google Shape;44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5" name="Google Shape;44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29087" y="4135338"/>
            <a:ext cx="39338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15"/>
          <p:cNvSpPr txBox="1"/>
          <p:nvPr/>
        </p:nvSpPr>
        <p:spPr>
          <a:xfrm>
            <a:off x="4084342" y="2341512"/>
            <a:ext cx="402331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Practice Challenges</a:t>
            </a:r>
            <a:endParaRPr/>
          </a:p>
        </p:txBody>
      </p:sp>
      <p:sp>
        <p:nvSpPr>
          <p:cNvPr id="447" name="Google Shape;447;p15"/>
          <p:cNvSpPr txBox="1"/>
          <p:nvPr/>
        </p:nvSpPr>
        <p:spPr>
          <a:xfrm>
            <a:off x="2857500" y="2989212"/>
            <a:ext cx="6477000" cy="9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</a:t>
            </a:r>
            <a:r>
              <a:rPr b="1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Receipt Printer: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Ask for item name, price (float), and qty (int); print a receipt using f-strings with :.2f alignment.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2. </a:t>
            </a:r>
            <a:r>
              <a:rPr b="1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Mad Libs Replay: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Build a 5-variable Mad Libs script and implement both f"" and str.format() versions.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2" name="Google Shape;45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16"/>
          <p:cNvSpPr/>
          <p:nvPr/>
        </p:nvSpPr>
        <p:spPr>
          <a:xfrm>
            <a:off x="542925" y="2862262"/>
            <a:ext cx="111061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6"/>
          <p:cNvSpPr/>
          <p:nvPr/>
        </p:nvSpPr>
        <p:spPr>
          <a:xfrm>
            <a:off x="542925" y="3624262"/>
            <a:ext cx="111061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6"/>
          <p:cNvSpPr/>
          <p:nvPr/>
        </p:nvSpPr>
        <p:spPr>
          <a:xfrm>
            <a:off x="542925" y="3624262"/>
            <a:ext cx="111061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56" name="Google Shape;45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30051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16"/>
          <p:cNvSpPr txBox="1"/>
          <p:nvPr/>
        </p:nvSpPr>
        <p:spPr>
          <a:xfrm>
            <a:off x="1638300" y="3012281"/>
            <a:ext cx="100107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https://i.sstatic.net/9q98Y.png</a:t>
            </a:r>
            <a:endParaRPr/>
          </a:p>
        </p:txBody>
      </p:sp>
      <p:sp>
        <p:nvSpPr>
          <p:cNvPr id="458" name="Google Shape;458;p16"/>
          <p:cNvSpPr txBox="1"/>
          <p:nvPr/>
        </p:nvSpPr>
        <p:spPr>
          <a:xfrm>
            <a:off x="1638300" y="3245643"/>
            <a:ext cx="10010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stackoverflow.com</a:t>
            </a:r>
            <a:endParaRPr/>
          </a:p>
        </p:txBody>
      </p:sp>
      <p:pic>
        <p:nvPicPr>
          <p:cNvPr descr="image.png" id="459" name="Google Shape;45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5" y="38623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 txBox="1"/>
          <p:nvPr/>
        </p:nvSpPr>
        <p:spPr>
          <a:xfrm>
            <a:off x="1638300" y="3776662"/>
            <a:ext cx="100107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https://preview.redd.it/vscode-dark-high-contrast-theme-v0-jknlvljg35fd1.png?width=3771&amp;format=png&amp;auto=webp&amp;s=0498e42dfbefda0dc9eb0c6149513c5df07b90a1</a:t>
            </a:r>
            <a:endParaRPr/>
          </a:p>
        </p:txBody>
      </p:sp>
      <p:sp>
        <p:nvSpPr>
          <p:cNvPr id="461" name="Google Shape;461;p16"/>
          <p:cNvSpPr txBox="1"/>
          <p:nvPr/>
        </p:nvSpPr>
        <p:spPr>
          <a:xfrm>
            <a:off x="1638300" y="4195762"/>
            <a:ext cx="10010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www.reddit.com</a:t>
            </a:r>
            <a:endParaRPr/>
          </a:p>
        </p:txBody>
      </p:sp>
      <p:sp>
        <p:nvSpPr>
          <p:cNvPr id="462" name="Google Shape;462;p16"/>
          <p:cNvSpPr txBox="1"/>
          <p:nvPr/>
        </p:nvSpPr>
        <p:spPr>
          <a:xfrm>
            <a:off x="542925" y="447675"/>
            <a:ext cx="116490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