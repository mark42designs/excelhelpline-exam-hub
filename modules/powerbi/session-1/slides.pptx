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782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everyone. Housekeeping: this is a 3-hour hands-on class. By the end you will have built a real dashboard from scratch. You need Power BI Desktop on a Windows machine — we install it together early on. The final hour is a guided activity you will submit for your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front-load the teaching so you have a full, uninterrupted hour to build. Keep Power BI Desktop open the whole time and follow along on the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outcomes map exactly to the activity at the end. If you can do these, you have passed the practical bar for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part brisk — about 15 minutes. The goal is context before we touch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it to something they know: Power BI is like Excel charts and PivotTables, but built for interactive, refreshable dashboards you can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need exact dates memorized. The story is what matters: Power BI came from Excel, so an Excel user is already halfway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confuse Desktop and Service constantly. Desktop = build. Service = share online. We only need Desktop for this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to their goal: this course is about being job-ready. Power BI on a resume is a real differentiator for analyst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everyone install now if they have not. Budget ~10 minutes; help stragglers while others explore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Microsoft Store version updates itself automatically, which is why it is the recommended route over the standalone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live 60-second tour. Point to the ribbon, the canvas, the three panes on the right, and the three view icons on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real projects live or die. Clean data first,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this five-word chant a few times: Get, Transform, Model, Visualize, Share. It is the mental model for everything in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with the provided file. Emphasize clicking Transform data, not Load, so we always inspect before committing.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provided dataset is already clean, so this is quick. Still show the Data Type row — wrong types are the number-one beginner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DAX gentle. The goal is five working measures, not mastery.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distinction trips up almost every beginner. Measures respond to slicers; columns do not. For dashboard numbers, we want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anatomy aloud: name, equals, a function, and a table-and-column reference in square brackets. That pattern covers most of what we write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everyone create these five now. Format Profit Margin as a percentage in the Measure tools ribbon. These five power the whole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 is optional for the activity but worth showing — it is the single most important DAX function once they go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payoff. Slow down here — the build order on the next slides is what they will follow in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dashboard is a communication tool, not a chart dump. If a visual does not help answer the question, cut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before visuals. Two minutes sketching zones saves twenty minutes of shuffling boxes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Cards give the reader the bottom line in one glance. These four are the standard sales quartet: revenue, profit, volume,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the visual to the question, not to what looks flashy. Line for time, bar for comparison, donut for share, map for geography.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Interactivity is what separates a dashboard from a static report. Demo one click-to-filter and watch the whole page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 is not optional — it is the difference between a pass and a strong pass. Alignment and consistent color read as professional.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break to make sure everyone has the dataset downloaded and Power BI open. The next hour is all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and help. Aim for everyone to have KPIs plus at least three charts by the halfway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Kubo Home is a different company from the TechHub demo, so students build from scratch rather than copy the walkthrough. The schema is identical, so all five measures and the CALCULATE example transfer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dimension vs measure split again — it decides what goes on an axis versus what gets summed. This is the payoff of the earlier concept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is effectively the rubric. Put it on screen for the whole hour so students can self-check as they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net. Anyone who freezes can follow these seven steps end to end and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them the same-email rule keeps their progress and certificates under one identity. Switching emails splits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certificate path so they know exactly what earns the credential. Then open the floor for questions and help anyone still finishing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EXCELHELPLINE · FULL STACK DATA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40794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6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Basic Power BI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338584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Your First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3916660"/>
            <a:ext cx="75215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hands-on, 4-hour beginner session — from installing the app to a working, interactive sales dashboard.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5814120"/>
            <a:ext cx="27979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4-Hour Live Session · Beginner Track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94502" y="5814120"/>
            <a:ext cx="225023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Instructor-led · ExcelHelpline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118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</a:t>
            </a:r>
            <a:r>
              <a:rPr lang="en-US" sz="2900" b="1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four </a:t>
            </a: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hours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22936"/>
              </p:ext>
            </p:extLst>
          </p:nvPr>
        </p:nvGraphicFramePr>
        <p:xfrm>
          <a:off x="825500" y="1545530"/>
          <a:ext cx="10553700" cy="3760290"/>
        </p:xfrm>
        <a:graphic>
          <a:graphicData uri="http://schemas.openxmlformats.org/drawingml/2006/table">
            <a:tbl>
              <a:tblPr/>
              <a:tblGrid>
                <a:gridCol w="253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1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we do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0:00 – 0:20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Welcome and goals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Talk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0:20 – 0:50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is Power BI? History and why it matters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Talk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0:50 – 1:15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Download, install and tour the workspace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1:15 – 2:00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Import and clean data (Power Query)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2:00 – 2:45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model and simple DAX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2:45 – 3:30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Build the dashboard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Demo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3:30 – 3:35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8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3:35 – 4:00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Activity 1 — build your own dashboard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Hands-on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2550" marB="82550">
                    <a:lnL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F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YOU'LL WALK AWAY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By the end, you can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6217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621730"/>
            <a:ext cx="105171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Power BI Desktop and find your way around the workspace</a:t>
            </a:r>
            <a:endParaRPr lang="en-US" sz="16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35671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2035671"/>
            <a:ext cx="105171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 data from Excel and clean it in Power Query</a:t>
            </a:r>
            <a:endParaRPr lang="en-US" sz="16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4496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449612"/>
            <a:ext cx="105171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calculations with simple DAX measures</a:t>
            </a:r>
            <a:endParaRPr lang="en-US" sz="16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863552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2863552"/>
            <a:ext cx="105171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a clear, interactive one-page dashboard</a:t>
            </a:r>
            <a:endParaRPr lang="en-US" sz="16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277493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3277493"/>
            <a:ext cx="1051712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and submit Dashboard Activity 1 for your course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to Power BI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is, where it came from, and why analysts reach for 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Power BI?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13777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BI is Microsoft’s business-intelligence tool that turns raw data into interactive reports and dashboards — with no coding needed to get started.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9150" y="2522041"/>
            <a:ext cx="33909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8700" y="2731591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8700" y="3036391"/>
            <a:ext cx="306095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 data from Excel, databases, the web and 100+ other sources.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0550" y="2522041"/>
            <a:ext cx="33909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0100" y="2731591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0100" y="3036391"/>
            <a:ext cx="306095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and shape the data so it is ready to analyze.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81950" y="2522041"/>
            <a:ext cx="33909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91500" y="2731591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91500" y="3036391"/>
            <a:ext cx="306095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it into charts, KPIs and dashboards people can explore.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IT CAME FROM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short history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9810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Created by Microsoft, Power BI grew out of self-service tools inside Excel, then became its own product.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015430"/>
            <a:ext cx="1206500" cy="336550"/>
          </a:xfrm>
          <a:prstGeom prst="roundRect">
            <a:avLst>
              <a:gd name="adj" fmla="val 15094"/>
            </a:avLst>
          </a:prstGeom>
          <a:solidFill>
            <a:srgbClr val="F2C811"/>
          </a:solidFill>
          <a:ln/>
        </p:spPr>
        <p:txBody>
          <a:bodyPr wrap="square" lIns="61321" tIns="42271" rIns="61321" bIns="16871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2010–13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97100" y="2059384"/>
            <a:ext cx="945756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Pivot, Power Query and Power View arrive as Excel add-ins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2800" y="2466280"/>
            <a:ext cx="1206500" cy="336550"/>
          </a:xfrm>
          <a:prstGeom prst="roundRect">
            <a:avLst>
              <a:gd name="adj" fmla="val 15094"/>
            </a:avLst>
          </a:prstGeom>
          <a:solidFill>
            <a:srgbClr val="F2C811"/>
          </a:solidFill>
          <a:ln/>
        </p:spPr>
        <p:txBody>
          <a:bodyPr wrap="square" lIns="61321" tIns="42271" rIns="61321" bIns="16871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2013–14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97100" y="2510234"/>
            <a:ext cx="945756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combines them into a standalone product and opens a public preview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2800" y="2917130"/>
            <a:ext cx="1206500" cy="336550"/>
          </a:xfrm>
          <a:prstGeom prst="roundRect">
            <a:avLst>
              <a:gd name="adj" fmla="val 15094"/>
            </a:avLst>
          </a:prstGeom>
          <a:solidFill>
            <a:srgbClr val="F2C811"/>
          </a:solidFill>
          <a:ln/>
        </p:spPr>
        <p:txBody>
          <a:bodyPr wrap="square" lIns="61321" tIns="42271" rIns="61321" bIns="16871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Jul 2015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97100" y="2961084"/>
            <a:ext cx="945756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BI reaches general availability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800" y="3367980"/>
            <a:ext cx="1206500" cy="336550"/>
          </a:xfrm>
          <a:prstGeom prst="roundRect">
            <a:avLst>
              <a:gd name="adj" fmla="val 15094"/>
            </a:avLst>
          </a:prstGeom>
          <a:solidFill>
            <a:srgbClr val="F2C811"/>
          </a:solidFill>
          <a:ln/>
        </p:spPr>
        <p:txBody>
          <a:bodyPr wrap="square" lIns="61321" tIns="42271" rIns="61321" bIns="16871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97100" y="3411934"/>
            <a:ext cx="945756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of the most widely used BI platforms in the world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2800" y="3895030"/>
            <a:ext cx="10566400" cy="519410"/>
          </a:xfrm>
          <a:prstGeom prst="roundRect">
            <a:avLst>
              <a:gd name="adj" fmla="val 9780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Founder’s note: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Amir Netz, a Microsoft Technical Fellow, is widely regarded as the driving force behind Power BI.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800" y="3895030"/>
            <a:ext cx="10566400" cy="519410"/>
          </a:xfrm>
          <a:custGeom>
            <a:avLst/>
            <a:gdLst/>
            <a:ahLst/>
            <a:cxnLst/>
            <a:rect l="l" t="t" r="r" b="b"/>
            <a:pathLst>
              <a:path w="10566400" h="519410">
                <a:moveTo>
                  <a:pt x="50800" y="519410"/>
                </a:moveTo>
                <a:lnTo>
                  <a:pt x="50800" y="51941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46861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Power BI family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628080"/>
            <a:ext cx="3390900" cy="1417141"/>
          </a:xfrm>
          <a:prstGeom prst="roundRect">
            <a:avLst>
              <a:gd name="adj" fmla="val 6721"/>
            </a:avLst>
          </a:prstGeom>
          <a:solidFill>
            <a:srgbClr val="FFFFFF"/>
          </a:solidFill>
          <a:ln w="12700">
            <a:solidFill>
              <a:srgbClr val="F2C811"/>
            </a:solidFill>
            <a:prstDash val="solid"/>
          </a:ln>
          <a:effectLst>
            <a:outerShdw blurRad="101600" dist="25400" dir="5400000" algn="bl" rotWithShape="0">
              <a:srgbClr val="F2C811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700" y="1837630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Desktop — Build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142430"/>
            <a:ext cx="306095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free Windows app where you import data, model it and design reports. This is where we work today.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0550" y="1628080"/>
            <a:ext cx="3390900" cy="1417141"/>
          </a:xfrm>
          <a:prstGeom prst="roundRect">
            <a:avLst>
              <a:gd name="adj" fmla="val 6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0100" y="1837630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 — Share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0100" y="2142430"/>
            <a:ext cx="306095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cloud workspace where you publish reports, share them and schedule automatic refresh.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81950" y="1628080"/>
            <a:ext cx="3390900" cy="1417141"/>
          </a:xfrm>
          <a:prstGeom prst="roundRect">
            <a:avLst>
              <a:gd name="adj" fmla="val 6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91500" y="1837630"/>
            <a:ext cx="3060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 — View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1500" y="2142430"/>
            <a:ext cx="306095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Phone and tablet apps for viewing dashboards on the go.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305572"/>
            <a:ext cx="10566400" cy="528241"/>
          </a:xfrm>
          <a:prstGeom prst="roundRect">
            <a:avLst>
              <a:gd name="adj" fmla="val 14425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 we work entirely in Power BI Desktop.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THE ANALYST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Power BI?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7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 to start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Desktop costs nothing — learn and practice on your own machine.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12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Excel-friendly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know Excel formulas and PivotTables, you already know a lot.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150" y="3004641"/>
            <a:ext cx="5181600" cy="954980"/>
          </a:xfrm>
          <a:prstGeom prst="roundRect">
            <a:avLst>
              <a:gd name="adj" fmla="val 99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28700" y="321419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demand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8700" y="3518991"/>
            <a:ext cx="49053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core, sought-after skill on data-analyst job listings.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1250" y="3004641"/>
            <a:ext cx="5181600" cy="954980"/>
          </a:xfrm>
          <a:prstGeom prst="roundRect">
            <a:avLst>
              <a:gd name="adj" fmla="val 99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21419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 to insight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518991"/>
            <a:ext cx="49053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from a raw file to a shareable dashboard in a single sitting.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Download, Install and Tour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the app on your machine and learn the lay of the land.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Power BI Desktop — it’s free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08100" y="16624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the Microsoft Store and search “Power BI Desktop” (or visit powerbi.microsoft.com/downloads).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1170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8100" y="21577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Get or Install — there is no cost.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6123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8100" y="26530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 it on Windows 10 or 11. A free work or school email gives the smoothest sign-in.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221930"/>
            <a:ext cx="10566400" cy="972641"/>
          </a:xfrm>
          <a:prstGeom prst="roundRect">
            <a:avLst>
              <a:gd name="adj" fmla="val 7834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 Mac?</a:t>
            </a:r>
            <a:r>
              <a:rPr lang="en-US" sz="13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Run it on a Windows PC or virtual machine, or use the Power BI Service in a browser for lighter tasks. Power BI works on a Mac primarily through the web-based Power BI Service, virtualization tools, or remote Windows access, but Power BI Desktop is not natively available for macOS.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WORKSPACE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quick tour of the screen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1509" y="1545530"/>
            <a:ext cx="10566400" cy="723801"/>
          </a:xfrm>
          <a:prstGeom prst="roundRect">
            <a:avLst>
              <a:gd name="adj" fmla="val 12282"/>
            </a:avLst>
          </a:prstGeom>
          <a:solidFill>
            <a:srgbClr val="16202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685230"/>
            <a:ext cx="1051712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C8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Ribbon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0600" y="1916311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 · Insert · Modeling · View — every command lives here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9150" y="2453481"/>
            <a:ext cx="7107734" cy="1775222"/>
          </a:xfrm>
          <a:prstGeom prst="roundRect">
            <a:avLst>
              <a:gd name="adj" fmla="val 46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79500" y="2713831"/>
            <a:ext cx="67846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 canvas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9500" y="3005931"/>
            <a:ext cx="678464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blank page in the middle where you drop and arrange your visuals.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1984" y="2453481"/>
            <a:ext cx="3280866" cy="805061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3434" y="2624931"/>
            <a:ext cx="302610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Visualizations pane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63434" y="2873772"/>
            <a:ext cx="3026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chart type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1984" y="3423642"/>
            <a:ext cx="3280866" cy="805061"/>
          </a:xfrm>
          <a:prstGeom prst="roundRect">
            <a:avLst>
              <a:gd name="adj" fmla="val 1025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3434" y="3595092"/>
            <a:ext cx="3026105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(Fields) pane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3434" y="3843933"/>
            <a:ext cx="3026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tables and columns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412853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Switch views down the left edge: </a:t>
            </a:r>
            <a:r>
              <a:rPr lang="en-US" sz="135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</a:t>
            </a: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(design) · </a:t>
            </a:r>
            <a:r>
              <a:rPr lang="en-US" sz="135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Table</a:t>
            </a: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(see the data) · </a:t>
            </a:r>
            <a:r>
              <a:rPr lang="en-US" sz="135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(relationships).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 and Clean Data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Bring the file in and get it tidy before you build anything.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RHYTHM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Power BI workflow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730871"/>
            <a:ext cx="1775420" cy="822821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1889621"/>
            <a:ext cx="15087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Get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7900" y="2189262"/>
            <a:ext cx="150872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to a source</a:t>
            </a:r>
            <a:endParaRPr lang="en-US" sz="12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77120" y="2078831"/>
            <a:ext cx="2540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13670" y="1628080"/>
            <a:ext cx="1775520" cy="1028502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72420" y="1786830"/>
            <a:ext cx="15088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Transform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72420" y="2086471"/>
            <a:ext cx="150882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 in Power Query</a:t>
            </a:r>
            <a:endParaRPr lang="en-US" sz="12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1740" y="2078831"/>
            <a:ext cx="2540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08290" y="1628080"/>
            <a:ext cx="1775420" cy="1028502"/>
          </a:xfrm>
          <a:prstGeom prst="roundRect">
            <a:avLst>
              <a:gd name="adj" fmla="val 802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67040" y="1786830"/>
            <a:ext cx="15087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Model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67040" y="2086471"/>
            <a:ext cx="150872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Relate tables, add DAX</a:t>
            </a:r>
            <a:endParaRPr lang="en-US" sz="1200" dirty="0"/>
          </a:p>
        </p:txBody>
      </p:sp>
      <p:pic>
        <p:nvPicPr>
          <p:cNvPr id="15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66260" y="2078831"/>
            <a:ext cx="2540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02810" y="1730871"/>
            <a:ext cx="1775520" cy="822821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561560" y="1889621"/>
            <a:ext cx="15088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Visualize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561560" y="2189262"/>
            <a:ext cx="150882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report</a:t>
            </a:r>
            <a:endParaRPr lang="en-US" sz="1200" dirty="0"/>
          </a:p>
        </p:txBody>
      </p:sp>
      <p:pic>
        <p:nvPicPr>
          <p:cNvPr id="19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0880" y="2078831"/>
            <a:ext cx="254000" cy="1270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597430" y="1730871"/>
            <a:ext cx="1775420" cy="822821"/>
          </a:xfrm>
          <a:prstGeom prst="roundRect">
            <a:avLst>
              <a:gd name="adj" fmla="val 100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756180" y="1889621"/>
            <a:ext cx="15087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 Share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756180" y="2189262"/>
            <a:ext cx="1508720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 it out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12800" y="2916932"/>
            <a:ext cx="108833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report follows this path. Today we go from </a:t>
            </a:r>
            <a:r>
              <a:rPr lang="en-US" sz="145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data</a:t>
            </a: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through </a:t>
            </a:r>
            <a:r>
              <a:rPr lang="en-US" sz="145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Visualize</a:t>
            </a: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the data 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08100" y="16624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 → Get data → Excel workbook.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1043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8100" y="21450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the file: TechHub_Sales_DEMO_2025.xlsx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5869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8100" y="26276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Navigator, tick the “Sales” sheet — a preview appears on the right.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0695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08100" y="3110210"/>
            <a:ext cx="1037323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Transform data to open Power Query and clean before loading.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679130"/>
            <a:ext cx="10566400" cy="510480"/>
          </a:xfrm>
          <a:prstGeom prst="roundRect">
            <a:avLst>
              <a:gd name="adj" fmla="val 9951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vs Transform:</a:t>
            </a:r>
            <a:r>
              <a:rPr lang="en-US" sz="130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Load drops the data straight in. Transform data opens Power Query first — build that habit.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679130"/>
            <a:ext cx="10566400" cy="510480"/>
          </a:xfrm>
          <a:custGeom>
            <a:avLst/>
            <a:gdLst/>
            <a:ahLst/>
            <a:cxnLst/>
            <a:rect l="l" t="t" r="r" b="b"/>
            <a:pathLst>
              <a:path w="10566400" h="510480">
                <a:moveTo>
                  <a:pt x="50800" y="510480"/>
                </a:moveTo>
                <a:lnTo>
                  <a:pt x="50800" y="51048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45968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 it in Power Query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582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582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First Row as Headers if your column names are not set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297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297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 each Data Type — dates as Date, money as Decimal, Quantity as Whole Number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011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3011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columns you do not need and rename others for clarity</a:t>
            </a:r>
            <a:endParaRPr lang="en-US" sz="15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72655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267265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blank or error rows</a:t>
            </a:r>
            <a:endParaRPr lang="en-US" sz="15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04413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30441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Home → Close &amp; Apply to load the clean table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812800" y="3491805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Query records every step, so a refreshed file re-cleans itself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Model and Simple DAX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ideas — columns vs measures — and five formulas you’ll actually use.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Columns vs measures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7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Calculated column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Worked out row by row and stored in the table. Good for new labels or categories — like a Price Band column.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1250" y="1628080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142430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Worked out on the fly and reacts to filters and slicers. Good for totals and ratios — like Total Sales.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074491"/>
            <a:ext cx="10566400" cy="528241"/>
          </a:xfrm>
          <a:prstGeom prst="roundRect">
            <a:avLst>
              <a:gd name="adj" fmla="val 14425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 of thumb:</a:t>
            </a:r>
            <a:r>
              <a:rPr lang="en-US" sz="14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if you will sum, average or ratio it, make it a </a:t>
            </a:r>
            <a:r>
              <a:rPr lang="en-US" sz="14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</a:t>
            </a:r>
            <a:r>
              <a:rPr lang="en-US" sz="14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FORMULA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DAX?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13777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DAX (Data Analysis Expressions) is Power BI’s formula language. If you have written Excel formulas, this will feel familiar.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480171"/>
            <a:ext cx="108833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one with </a:t>
            </a:r>
            <a:r>
              <a:rPr lang="en-US" sz="145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Modeling → New measure</a:t>
            </a:r>
            <a:r>
              <a:rPr lang="en-US" sz="14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then type your formula.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12800" y="2991941"/>
            <a:ext cx="10566400" cy="1061641"/>
          </a:xfrm>
          <a:prstGeom prst="roundRect">
            <a:avLst>
              <a:gd name="adj" fmla="val 9570"/>
            </a:avLst>
          </a:prstGeom>
          <a:solidFill>
            <a:srgbClr val="16202E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3220541"/>
            <a:ext cx="1036015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Sales = </a:t>
            </a:r>
            <a:r>
              <a:rPr lang="en-US" sz="170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r>
              <a:rPr lang="en-US" sz="170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(Sales[Sales])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6800" y="3611662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name = function ( Table[Column] 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measures you’ll use today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21730"/>
            <a:ext cx="10566400" cy="2117725"/>
          </a:xfrm>
          <a:prstGeom prst="roundRect">
            <a:avLst>
              <a:gd name="adj" fmla="val 4798"/>
            </a:avLst>
          </a:prstGeom>
          <a:solidFill>
            <a:srgbClr val="16202E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837630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Sales = </a:t>
            </a: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(Sales[Sales])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66800" y="2190055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Profit = </a:t>
            </a: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(Sales[Profit])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66800" y="2542480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Quantity = </a:t>
            </a: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(Sales[Quantity])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6800" y="2894905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Orders = </a:t>
            </a: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DISTINCTCOUNT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(Sales[Order ID])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66800" y="3247330"/>
            <a:ext cx="1036015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Profit Margin % = </a:t>
            </a:r>
            <a:r>
              <a:rPr lang="en-US" sz="145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DIVIDE</a:t>
            </a:r>
            <a:r>
              <a:rPr lang="en-US" sz="145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([Total Profit], [Total Sales])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12800" y="3993455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DISTINCTCOUNT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counts unique orders. </a:t>
            </a:r>
            <a:r>
              <a:rPr lang="en-US" sz="13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safely handles divide-by-zero.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STEP FURTHER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Filtering with CALCULATE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566400" cy="698500"/>
          </a:xfrm>
          <a:prstGeom prst="roundRect">
            <a:avLst>
              <a:gd name="adj" fmla="val 14545"/>
            </a:avLst>
          </a:prstGeom>
          <a:solidFill>
            <a:srgbClr val="16202E"/>
          </a:solidFill>
          <a:ln/>
        </p:spPr>
        <p:txBody>
          <a:bodyPr wrap="square" lIns="224242" tIns="186142" rIns="0" bIns="1607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Metro Manila Sales = </a:t>
            </a:r>
            <a:r>
              <a:rPr lang="en-US" sz="1400" dirty="0">
                <a:solidFill>
                  <a:srgbClr val="F2C81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CALCULATE</a:t>
            </a:r>
            <a:r>
              <a:rPr lang="en-US" sz="1400" dirty="0">
                <a:solidFill>
                  <a:srgbClr val="E8ED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([Total Sales], Sales[Region] = "Metro Manila")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574230"/>
            <a:ext cx="108833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CALCULATE changes the filter context — here it totals sales for one region only.</a:t>
            </a:r>
            <a:endParaRPr lang="en-US" sz="1450" dirty="0"/>
          </a:p>
        </p:txBody>
      </p:sp>
      <p:pic>
        <p:nvPicPr>
          <p:cNvPr id="6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086001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8400" y="3086001"/>
            <a:ext cx="10517124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Reference other measures in [square brackets]</a:t>
            </a:r>
            <a:endParaRPr lang="en-US" sz="1400" dirty="0"/>
          </a:p>
        </p:txBody>
      </p:sp>
      <p:pic>
        <p:nvPicPr>
          <p:cNvPr id="8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427611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8400" y="3427611"/>
            <a:ext cx="10517124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start a measure with =</a:t>
            </a:r>
            <a:endParaRPr lang="en-US" sz="1400" dirty="0"/>
          </a:p>
        </p:txBody>
      </p:sp>
      <p:pic>
        <p:nvPicPr>
          <p:cNvPr id="10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769221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68400" y="3769221"/>
            <a:ext cx="10517124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Prefer DIVIDE over / to avoid divide-by-zero errors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a Proper Dashboard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principles first, then the exact build order.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makes a dashboard “proper”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836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836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 one question</a:t>
            </a: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know who is reading and what they need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551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551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Top-down</a:t>
            </a: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headline KPIs at the top, detail below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265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3265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and align</a:t>
            </a: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related visuals together, on a tidy grid</a:t>
            </a:r>
            <a:endParaRPr lang="en-US" sz="15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98055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269805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 is more</a:t>
            </a: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aim for 5 to 7 visuals and one consistent color set</a:t>
            </a:r>
            <a:endParaRPr lang="en-US" sz="15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06953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30695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everything</a:t>
            </a: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every visual gets a clear, plain title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BUILD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steps to your dashboard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709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08100" y="1624409"/>
            <a:ext cx="1037323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the layout — sketch zones for the title, KPIs, charts and slicers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12800" y="20281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8100" y="2081609"/>
            <a:ext cx="1037323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a theme (View → Themes) and add a title text box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12800" y="24853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8100" y="2538809"/>
            <a:ext cx="1037323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KPI cards for your headline numbers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12800" y="29425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08100" y="2996009"/>
            <a:ext cx="1037323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charts — trend, category and region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2800" y="3399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8100" y="3453209"/>
            <a:ext cx="1037323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slicers — Date, Region, Category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2800" y="38569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08100" y="3910409"/>
            <a:ext cx="10373233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Format, align and save your .pbix file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HEADLINE ROW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with KPI cards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21730"/>
            <a:ext cx="2527300" cy="1090910"/>
          </a:xfrm>
          <a:prstGeom prst="roundRect">
            <a:avLst>
              <a:gd name="adj" fmla="val 9313"/>
            </a:avLst>
          </a:prstGeom>
          <a:solidFill>
            <a:srgbClr val="16202E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1837630"/>
            <a:ext cx="2158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9FB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Sales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28700" y="2123380"/>
            <a:ext cx="2158365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₱18.27M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92500" y="1621730"/>
            <a:ext cx="2527300" cy="1090910"/>
          </a:xfrm>
          <a:prstGeom prst="roundRect">
            <a:avLst>
              <a:gd name="adj" fmla="val 9313"/>
            </a:avLst>
          </a:prstGeom>
          <a:solidFill>
            <a:srgbClr val="16202E"/>
          </a:solidFill>
          <a:ln/>
        </p:spPr>
      </p:sp>
      <p:sp>
        <p:nvSpPr>
          <p:cNvPr id="8" name="Text 6"/>
          <p:cNvSpPr/>
          <p:nvPr/>
        </p:nvSpPr>
        <p:spPr>
          <a:xfrm>
            <a:off x="3708400" y="1837630"/>
            <a:ext cx="2158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9FB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Profit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08400" y="2123380"/>
            <a:ext cx="2158365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₱5.09M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172200" y="1621730"/>
            <a:ext cx="2527300" cy="1090910"/>
          </a:xfrm>
          <a:prstGeom prst="roundRect">
            <a:avLst>
              <a:gd name="adj" fmla="val 9313"/>
            </a:avLst>
          </a:prstGeom>
          <a:solidFill>
            <a:srgbClr val="16202E"/>
          </a:solidFill>
          <a:ln/>
        </p:spPr>
      </p:sp>
      <p:sp>
        <p:nvSpPr>
          <p:cNvPr id="11" name="Text 9"/>
          <p:cNvSpPr/>
          <p:nvPr/>
        </p:nvSpPr>
        <p:spPr>
          <a:xfrm>
            <a:off x="6388100" y="1837630"/>
            <a:ext cx="2158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9FB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88100" y="2123380"/>
            <a:ext cx="2158365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851900" y="1621730"/>
            <a:ext cx="2527300" cy="1090910"/>
          </a:xfrm>
          <a:prstGeom prst="roundRect">
            <a:avLst>
              <a:gd name="adj" fmla="val 9313"/>
            </a:avLst>
          </a:prstGeom>
          <a:solidFill>
            <a:srgbClr val="16202E"/>
          </a:solidFill>
          <a:ln/>
        </p:spPr>
      </p:sp>
      <p:sp>
        <p:nvSpPr>
          <p:cNvPr id="14" name="Text 12"/>
          <p:cNvSpPr/>
          <p:nvPr/>
        </p:nvSpPr>
        <p:spPr>
          <a:xfrm>
            <a:off x="9067800" y="1837630"/>
            <a:ext cx="21583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9FB0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Profit Margin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067800" y="2123380"/>
            <a:ext cx="2158365" cy="39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27.9%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2800" y="2966641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</a:t>
            </a:r>
            <a:r>
              <a:rPr lang="en-US" sz="135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</a:t>
            </a: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visual — drop one measure into each. The numbers above come from the TechHub demo dataset.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RIGHT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 → chart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4430"/>
          <a:ext cx="10553700" cy="2583060"/>
        </p:xfrm>
        <a:graphic>
          <a:graphicData uri="http://schemas.openxmlformats.org/drawingml/2006/table">
            <a:tbl>
              <a:tblPr/>
              <a:tblGrid>
                <a:gridCol w="3588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Your question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Best visual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6F8F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 our data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Trend over time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 chart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Sales by Month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Compare groups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Bar / column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Sales by Category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 of a whole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Donut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Sales by Segment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Compare places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Map or bar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Sales by Region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510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See the detail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Table / matrix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 fields you like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9700" marR="1397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IT INTERACTIVE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Slicers and cross-filtering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709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70930"/>
            <a:ext cx="10517124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slicers for Order Date, Region and Category — they filter the whole page</a:t>
            </a:r>
            <a:endParaRPr lang="en-US" sz="145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21073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21073"/>
            <a:ext cx="10517124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any bar or slice and the other visuals filter too (cross-filtering)</a:t>
            </a:r>
            <a:endParaRPr lang="en-US" sz="145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71216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271216"/>
            <a:ext cx="10517124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what filters what with Format → Edit interactions</a:t>
            </a:r>
            <a:endParaRPr lang="en-US" sz="145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21359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2621359"/>
            <a:ext cx="10517124" cy="27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4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date slicer set to “Between” gives a handy range slider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819150" y="3079452"/>
            <a:ext cx="701477" cy="396180"/>
          </a:xfrm>
          <a:prstGeom prst="roundRect">
            <a:avLst>
              <a:gd name="adj" fmla="val 46481"/>
            </a:avLst>
          </a:prstGeom>
          <a:solidFill>
            <a:srgbClr val="FFFFFF"/>
          </a:solidFill>
          <a:ln w="12700">
            <a:solidFill>
              <a:srgbClr val="147D9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1660327" y="3079452"/>
            <a:ext cx="867668" cy="396180"/>
          </a:xfrm>
          <a:prstGeom prst="roundRect">
            <a:avLst>
              <a:gd name="adj" fmla="val 46481"/>
            </a:avLst>
          </a:prstGeom>
          <a:solidFill>
            <a:srgbClr val="FFFFFF"/>
          </a:solidFill>
          <a:ln w="12700">
            <a:solidFill>
              <a:srgbClr val="147D9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2667695" y="3079452"/>
            <a:ext cx="1028402" cy="396180"/>
          </a:xfrm>
          <a:prstGeom prst="roundRect">
            <a:avLst>
              <a:gd name="adj" fmla="val 46481"/>
            </a:avLst>
          </a:prstGeom>
          <a:solidFill>
            <a:srgbClr val="FFFFFF"/>
          </a:solidFill>
          <a:ln w="12700">
            <a:solidFill>
              <a:srgbClr val="147D9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Category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FINISH STRONG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Polish, save and share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836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836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consistent color theme across every visual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551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551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 and evenly space visuals — use gridlines and the Format tools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265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3265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 titles and data labels; hide the clutter</a:t>
            </a:r>
            <a:endParaRPr lang="en-US" sz="150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98055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269805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your work as a .pbix file</a:t>
            </a:r>
            <a:endParaRPr lang="en-US" sz="150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06953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30695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Optional: Publish to the Power BI Service to share a live link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C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6391" y="2592090"/>
            <a:ext cx="10900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150" dirty="0">
                <a:solidFill>
                  <a:srgbClr val="5A4B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TAKE FIVE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545185" y="2973090"/>
            <a:ext cx="5254679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60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Break — 5 min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194645" y="3963690"/>
            <a:ext cx="5976688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Stretch, refill, and open Power BI Desktop. Activity 1 is next.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0435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8500" dirty="0"/>
          </a:p>
        </p:txBody>
      </p:sp>
      <p:sp>
        <p:nvSpPr>
          <p:cNvPr id="3" name="Text 1"/>
          <p:cNvSpPr/>
          <p:nvPr/>
        </p:nvSpPr>
        <p:spPr>
          <a:xfrm>
            <a:off x="812800" y="3576935"/>
            <a:ext cx="10883392" cy="54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70"/>
              </a:lnSpc>
              <a:buNone/>
            </a:pPr>
            <a:r>
              <a:rPr lang="en-US" sz="37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1 — 60 Minutes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12800" y="4220766"/>
            <a:ext cx="81756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turn. Build a real dashboard from the dataset and submit it.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1 — Kubo Home Sales Dashboard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21730"/>
            <a:ext cx="1020318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are the data analyst for </a:t>
            </a:r>
            <a:r>
              <a:rPr lang="en-US" sz="1700" b="1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Kubo Home</a:t>
            </a:r>
            <a:r>
              <a:rPr lang="en-US" sz="17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a Philippine home-and-living retailer. Build a clear, one-page sales dashboard from its 2025 order data — using the same skills we practiced on the TechHub demo.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9150" y="2508151"/>
            <a:ext cx="3407767" cy="1078805"/>
          </a:xfrm>
          <a:prstGeom prst="roundRect">
            <a:avLst>
              <a:gd name="adj" fmla="val 76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3300" y="2692301"/>
            <a:ext cx="31306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974181"/>
            <a:ext cx="3130651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KuboHome_Sales_Activity1.xlsx — 300 orders across 2025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2017" y="2508151"/>
            <a:ext cx="3407866" cy="1078805"/>
          </a:xfrm>
          <a:prstGeom prst="roundRect">
            <a:avLst>
              <a:gd name="adj" fmla="val 76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6167" y="2692301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6167" y="2974181"/>
            <a:ext cx="3130753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 minutes, working on your own machine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64984" y="2508151"/>
            <a:ext cx="3407866" cy="1078805"/>
          </a:xfrm>
          <a:prstGeom prst="roundRect">
            <a:avLst>
              <a:gd name="adj" fmla="val 765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49134" y="2692301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49134" y="2974181"/>
            <a:ext cx="3130753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One-page interactive dashboard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2800" y="3847306"/>
            <a:ext cx="10566400" cy="476250"/>
          </a:xfrm>
          <a:prstGeom prst="roundRect">
            <a:avLst>
              <a:gd name="adj" fmla="val 16000"/>
            </a:avLst>
          </a:prstGeom>
          <a:solidFill>
            <a:srgbClr val="EAF3F5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dataset has the </a:t>
            </a:r>
            <a:r>
              <a:rPr lang="en-US" sz="125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columns as the demo</a:t>
            </a:r>
            <a:r>
              <a:rPr lang="en-US" sz="125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so every measure we wrote works here without any changes.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YOUR FIELDS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dataset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9150" y="1628080"/>
            <a:ext cx="5181600" cy="1534120"/>
          </a:xfrm>
          <a:prstGeom prst="roundRect">
            <a:avLst>
              <a:gd name="adj" fmla="val 620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7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Dimensions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155130"/>
            <a:ext cx="49053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Slice and group by these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8700" y="2457351"/>
            <a:ext cx="490537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ID · Order Date · Region · City · Category · Product · Customer Segment · Sales Rep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1250" y="1628080"/>
            <a:ext cx="5181600" cy="1534120"/>
          </a:xfrm>
          <a:prstGeom prst="roundRect">
            <a:avLst>
              <a:gd name="adj" fmla="val 620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63500" dist="12700" dir="5400000" algn="bl" rotWithShape="0">
              <a:srgbClr val="14202E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83763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5D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155130"/>
            <a:ext cx="49053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Numbers to aggregate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457351"/>
            <a:ext cx="490537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Quantity · Unit Price · Sales · Cost · Profit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3422551"/>
            <a:ext cx="10566400" cy="510480"/>
          </a:xfrm>
          <a:prstGeom prst="roundRect">
            <a:avLst>
              <a:gd name="adj" fmla="val 14927"/>
            </a:avLst>
          </a:prstGeom>
          <a:solidFill>
            <a:srgbClr val="EAF3F5"/>
          </a:solidFill>
          <a:ln/>
        </p:spPr>
        <p:txBody>
          <a:bodyPr wrap="square" lIns="155482" tIns="117382" rIns="0" bIns="919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Already calculated for you:</a:t>
            </a:r>
            <a:r>
              <a:rPr lang="en-US" sz="13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Sales = Quantity × Unit Price, and Profit = Sales − Cost.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MUST INCLUDE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dashboard checklist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836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83630"/>
            <a:ext cx="5075428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KPI cards: Total Sales, Total Profit, Total Orders, Profit Margin %</a:t>
            </a:r>
            <a:endParaRPr lang="en-US" sz="135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58363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1600" y="1583630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Measures written in DAX (not just dragged-in sums)</a:t>
            </a:r>
            <a:endParaRPr lang="en-US" sz="135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46387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046387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 chart — Sales by Month</a:t>
            </a:r>
            <a:endParaRPr lang="en-US" sz="1350" dirty="0"/>
          </a:p>
        </p:txBody>
      </p:sp>
      <p:pic>
        <p:nvPicPr>
          <p:cNvPr id="10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046387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1600" y="2046387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 chart — Sales by Category</a:t>
            </a:r>
            <a:endParaRPr lang="en-US" sz="1350" dirty="0"/>
          </a:p>
        </p:txBody>
      </p:sp>
      <p:pic>
        <p:nvPicPr>
          <p:cNvPr id="12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77765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2277765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Region visual — map or bar</a:t>
            </a:r>
            <a:endParaRPr lang="en-US" sz="1350" dirty="0"/>
          </a:p>
        </p:txBody>
      </p:sp>
      <p:pic>
        <p:nvPicPr>
          <p:cNvPr id="14" name="Image 5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277765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51600" y="2277765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Donut — Sales by Customer Segment</a:t>
            </a:r>
            <a:endParaRPr lang="en-US" sz="1350" dirty="0"/>
          </a:p>
        </p:txBody>
      </p:sp>
      <p:pic>
        <p:nvPicPr>
          <p:cNvPr id="16" name="Image 6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509143"/>
            <a:ext cx="2286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68400" y="2509143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slicers — Date, Region, Category</a:t>
            </a:r>
            <a:endParaRPr lang="en-US" sz="1350" dirty="0"/>
          </a:p>
        </p:txBody>
      </p:sp>
      <p:pic>
        <p:nvPicPr>
          <p:cNvPr id="18" name="Image 7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509143"/>
            <a:ext cx="228600" cy="2286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51600" y="2509143"/>
            <a:ext cx="5075428" cy="256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title and one consistent theme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812800" y="96520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dashboard checklist</a:t>
            </a:r>
            <a:endParaRPr lang="en-US" sz="2900" dirty="0"/>
          </a:p>
        </p:txBody>
      </p:sp>
      <p:sp>
        <p:nvSpPr>
          <p:cNvPr id="21" name="Text 11"/>
          <p:cNvSpPr/>
          <p:nvPr/>
        </p:nvSpPr>
        <p:spPr>
          <a:xfrm>
            <a:off x="812800" y="3049885"/>
            <a:ext cx="10883392" cy="609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925" b="1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NOTE: You may follow this checklist or get creative on your analysis, and focus on a different keypoints to focus the dashboard on.</a:t>
            </a:r>
            <a:endParaRPr lang="en-US" sz="19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GET STUCK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7-step recap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58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08100" y="16159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data → Excel → Sales sheet → Transform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002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08100" y="20604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data types, then Close &amp; Apply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447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8100" y="25049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the five measures from the DAX slide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2891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08100" y="29494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four KPI cards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336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08100" y="33939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four charts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7807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08100" y="38384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three slicers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22523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620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08100" y="4282976"/>
            <a:ext cx="10373233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a theme, add titles, align — then Save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85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E5D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YOU’RE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96262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dirty="0">
                <a:solidFill>
                  <a:srgbClr val="1620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Submitting Activity 1</a:t>
            </a:r>
            <a:endParaRPr lang="en-US" sz="2900" dirty="0"/>
          </a:p>
        </p:txBody>
      </p:sp>
      <p:pic>
        <p:nvPicPr>
          <p:cNvPr id="4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57093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57093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Save your .pbix and export a PDF or screenshot of the finished dashboard</a:t>
            </a:r>
            <a:endParaRPr lang="en-US" sz="1500" dirty="0"/>
          </a:p>
        </p:txBody>
      </p:sp>
      <p:pic>
        <p:nvPicPr>
          <p:cNvPr id="6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94240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1942405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Submit it as “Dashboard Activity 1” on the ExcelHelpline assessment hub</a:t>
            </a:r>
            <a:endParaRPr lang="en-US" sz="1500" dirty="0"/>
          </a:p>
        </p:txBody>
      </p:sp>
      <p:pic>
        <p:nvPicPr>
          <p:cNvPr id="8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3138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313880"/>
            <a:ext cx="10517124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2C36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the same full name and email you use everywhere in the course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12800" y="2774255"/>
            <a:ext cx="10566400" cy="519410"/>
          </a:xfrm>
          <a:prstGeom prst="roundRect">
            <a:avLst>
              <a:gd name="adj" fmla="val 9780"/>
            </a:avLst>
          </a:prstGeom>
          <a:solidFill>
            <a:srgbClr val="FFF7D6"/>
          </a:solidFill>
          <a:ln/>
        </p:spPr>
        <p:txBody>
          <a:bodyPr wrap="square" lIns="201021" tIns="124821" rIns="0" bIns="99421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matters:</a:t>
            </a:r>
            <a:r>
              <a:rPr lang="en-US" sz="1350" dirty="0">
                <a:solidFill>
                  <a:srgbClr val="3A33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this is submission 1 of 3 for your Power BI certificate — Activity 1, Activity 2 and the Homework together earn it.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812800" y="2774255"/>
            <a:ext cx="10566400" cy="519410"/>
          </a:xfrm>
          <a:custGeom>
            <a:avLst/>
            <a:gdLst/>
            <a:ahLst/>
            <a:cxnLst/>
            <a:rect l="l" t="t" r="r" b="b"/>
            <a:pathLst>
              <a:path w="10566400" h="519410">
                <a:moveTo>
                  <a:pt x="50800" y="519410"/>
                </a:moveTo>
                <a:lnTo>
                  <a:pt x="50800" y="51941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lnTo>
                  <a:pt x="50800" y="0"/>
                </a:lnTo>
                <a:arcTo wR="12700" hR="50800" stAng="16200000" swAng="-5400000"/>
                <a:lnTo>
                  <a:pt x="38100" y="468610"/>
                </a:lnTo>
                <a:arcTo wR="12700" hR="50800" stAng="10800000" swAng="-5400000"/>
                <a:close/>
              </a:path>
            </a:pathLst>
          </a:custGeom>
          <a:solidFill>
            <a:srgbClr val="F2C811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THAT’S A WRAP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64220"/>
            <a:ext cx="10883392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30"/>
              </a:lnSpc>
              <a:buNone/>
            </a:pPr>
            <a:r>
              <a:rPr lang="en-US" sz="3300" b="1" dirty="0">
                <a:solidFill>
                  <a:srgbClr val="F6F8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 built a dashboard today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12800" y="2401987"/>
            <a:ext cx="102031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installed Power BI, imported and cleaned data, wrote DAX measures, and designed an interactive dashboard — the full workflow, start to finish.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3888383"/>
            <a:ext cx="5207000" cy="1081980"/>
          </a:xfrm>
          <a:prstGeom prst="roundRect">
            <a:avLst>
              <a:gd name="adj" fmla="val 8216"/>
            </a:avLst>
          </a:prstGeom>
          <a:solidFill>
            <a:srgbClr val="22304A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4066183"/>
            <a:ext cx="49969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0600" y="4348063"/>
            <a:ext cx="499694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Activity 2 and the Homework to earn your Power BI certificate.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3888383"/>
            <a:ext cx="5207000" cy="1081980"/>
          </a:xfrm>
          <a:prstGeom prst="roundRect">
            <a:avLst>
              <a:gd name="adj" fmla="val 8216"/>
            </a:avLst>
          </a:prstGeom>
          <a:solidFill>
            <a:srgbClr val="22304A"/>
          </a:solidFill>
          <a:ln/>
        </p:spPr>
      </p:sp>
      <p:sp>
        <p:nvSpPr>
          <p:cNvPr id="9" name="Text 7"/>
          <p:cNvSpPr/>
          <p:nvPr/>
        </p:nvSpPr>
        <p:spPr>
          <a:xfrm>
            <a:off x="6350000" y="4066183"/>
            <a:ext cx="499694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C81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Keep going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0000" y="4348063"/>
            <a:ext cx="499694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Explore the Visualizations pane and try the free Power BI path on Microsoft Learn.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2800" y="5847159"/>
            <a:ext cx="21255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8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 Let’s do Q&amp;A.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163" y="5855990"/>
            <a:ext cx="305604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4C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ExcelHelpline · Full Stack Data Analytics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3070</Words>
  <Application>Microsoft Office PowerPoint</Application>
  <PresentationFormat>Widescreen</PresentationFormat>
  <Paragraphs>383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IBM Plex Sans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Power BI — Build Your First Dashboard</dc:title>
  <dc:subject>PptxGenJS Presentation</dc:subject>
  <dc:creator>PptxGenJS</dc:creator>
  <cp:lastModifiedBy>Kal El</cp:lastModifiedBy>
  <cp:revision>3</cp:revision>
  <dcterms:created xsi:type="dcterms:W3CDTF">2026-09-30T07:38:46Z</dcterms:created>
  <dcterms:modified xsi:type="dcterms:W3CDTF">2026-09-30T11:39:15Z</dcterms:modified>
</cp:coreProperties>
</file>