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15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to Week 2. Last week we built a dashboard from an Excel file. This week the data arrives as CSV, we learn how connections and refresh actually work, and we connect two tables together. The hour-long activity uses the same variance idea from Activity 2, now sourced from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today reinforces Week 1 with a new data source. The genuinely new ideas are connections, refresh, and relationships between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today as building on solid ground. They already know the dashboard workflow; we are changing the source and adding the connective tissue that keeps data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CSV is everywhere: exports from POS systems, banks, web apps. Worth knowing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 CSV in Notepad live if you can — seeing the raw commas makes the concept click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heart of the CSV part. Land the bottom line clearly: nothing about connections or refresh changes — students already know that half from Week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with TechHub_DEMO_Sales.csv (the flat demo file). Show the delimiter and encoding dropdowns — they do not exist for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locale trap: a date like 03/04/2025 can import as the wrong month, and 1,000 can be read as text. Setting types with the right locale fixes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with the TechHub_DEMO_monthly folder (sales-Jan.csv through sales-Dec.csv, from the zip). Optional if short on time, but a big 'wow' — one refresh picks up new files with zero rework.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 the word 'connection'. It is just a saved query that remembers where the data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you build the cleaning once; refresh replays it forever. That is why Power Query steps are an investment, not busywork.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conflate these constantly. Name them separately now and the relationships section lands much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failure modes on purpose — a broken refresh is the most common thing students will hit in real jobs. Keep the source file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 and honest: many will not have a work account, so this is a demo/teaser. The graded work all happens in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skill the final project is built on. Take your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the Sales table says 'sold P012'; the Products table says 'P012 is a Toothpaste in Personal Care'. The relationship lets Power BI look it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BI often auto-detects the relationship. Show it manually anyway so they understand what the line means. Demo with the two-table set — TechHub_Sales.csv (fact) and TechHub_Products.csv (lookup) — related on Product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before/after: drag Category onto a bar chart without the relationship (flat/blank), then create it and watch the bars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measures drive Activity 2. Variance is just actual minus target; Variance % uses DIVIDE so a zero target never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and reassuring. The point is that changing the source did not change how you build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this fast. If they built Activity 1, this is the same set of moves. Confidence booster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and help. Watch for two snags: setting CSV data types, and creating the Category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Dashboard Activity 2 for the certificate. The variance angle is the new twist; the CSV import and relationship are today's skills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plain CSVs, so remind them to check data types on import — especially the Sales and Target numbers and the Order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is the rubric. Keep it on screen during the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net for anyone who freezes. The relationship step (3) is the one most likely to trip people — check on it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them the same-email rule keeps their progress and certificates under one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this now — it uses today's relationship skill plus everything from Week 1. Due before the certificate is issued.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pulls everything together: import, clean, relate, measure, visualize, polish. It is the third and final Power BI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deliberately designed so the relationship is required, not optional. If a student can chart Sales by Category, their model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'chart using a Products field' requirement is the tell that the relationship works. The written insight nudges them to actually read their own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this completes the Power BI portion of the Full Stack Data Analytics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certificate path so the finish line is clear: Activity 1 and 2 are done, the final project is the last step. Then take questions and help anyone still on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EXCELHELPLINE · FULL STACK DATA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57939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BI · Session 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48109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Connect, Clean &amp; Refresh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4011910"/>
            <a:ext cx="7848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2 — importing CSV files, connecting tables, and keeping your dashboard up to date.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5814120"/>
            <a:ext cx="27979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4-Hour Live Session · Advanced Track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94502" y="5814120"/>
            <a:ext cx="225023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Instructor-led · ExcelHelpline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864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next four hours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548700"/>
              </p:ext>
            </p:extLst>
          </p:nvPr>
        </p:nvGraphicFramePr>
        <p:xfrm>
          <a:off x="825500" y="1494730"/>
          <a:ext cx="10553700" cy="3760290"/>
        </p:xfrm>
        <a:graphic>
          <a:graphicData uri="http://schemas.openxmlformats.org/drawingml/2006/table">
            <a:tbl>
              <a:tblPr/>
              <a:tblGrid>
                <a:gridCol w="253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1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we do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0:00 – 0:30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Welcome and Week 1 recap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Talk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0:30 – 0:55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CSV vs Excel — what changes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Talk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0:55 – 1:30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Import and clean a CSV (Power Query)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1:30 – 2:30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Connections and refresh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2:30 – 2:45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Connecting tables (relationships)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2:45 – 3:25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Rebuild the dashboard from CSV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3:25 – 3:30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3:30 – 4:00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Activity 2 — Sales vs Target (CSV)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Hands-on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445522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final project (Homework) is assigned at the end — it uses the two-table skill you learn today.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CATCHING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we left off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9150" y="1628080"/>
            <a:ext cx="5181600" cy="1454150"/>
          </a:xfrm>
          <a:prstGeom prst="roundRect">
            <a:avLst>
              <a:gd name="adj" fmla="val 65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6000" y="1824930"/>
            <a:ext cx="49315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Last week you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6000" y="2142430"/>
            <a:ext cx="493153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Installed Power BI · imported an Excel file · cleaned it in Power Query · wrote DAX measures · built an interactive dashboard (Activity 1).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1250" y="1628080"/>
            <a:ext cx="5181600" cy="1454150"/>
          </a:xfrm>
          <a:prstGeom prst="roundRect">
            <a:avLst>
              <a:gd name="adj" fmla="val 6550"/>
            </a:avLst>
          </a:prstGeom>
          <a:solidFill>
            <a:srgbClr val="FFFFFF"/>
          </a:solidFill>
          <a:ln w="12700">
            <a:solidFill>
              <a:srgbClr val="F2C811"/>
            </a:solidFill>
            <a:prstDash val="solid"/>
          </a:ln>
          <a:effectLst>
            <a:outerShdw blurRad="101600" dist="25400" dir="5400000" algn="bl" rotWithShape="0">
              <a:srgbClr val="F2C811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88100" y="1824930"/>
            <a:ext cx="49315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 you add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88100" y="2142430"/>
            <a:ext cx="493153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from CSV · understand connections and refresh · connect two tables with a relationship · then Activity 2, and your final project.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Working with CSV Data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most common file you'll be handed as an analyst — and why it needs a little more care.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a CSV?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13777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CSV (Comma-Separated Values) file is just plain text: one row per line, with values separated by commas. No formatting, no sheets, no stored data types.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480171"/>
            <a:ext cx="10566400" cy="1122561"/>
          </a:xfrm>
          <a:prstGeom prst="roundRect">
            <a:avLst>
              <a:gd name="adj" fmla="val 7919"/>
            </a:avLst>
          </a:prstGeom>
          <a:solidFill>
            <a:srgbClr val="16202E"/>
          </a:solidFill>
          <a:ln/>
        </p:spPr>
        <p:txBody>
          <a:bodyPr wrap="square" lIns="177162" tIns="139062" rIns="0" bIns="113662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Region,Category,Sales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Metro Manila,Beverages,63670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Visayas,Snacks,47545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856732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Because it is only text, Power BI has to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guess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data types on import — which is why cleaning matters more with CSV.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864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CSV vs Excel — what changes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82030"/>
          <a:ext cx="10553700" cy="2400300"/>
        </p:xfrm>
        <a:graphic>
          <a:graphicData uri="http://schemas.openxmlformats.org/drawingml/2006/table">
            <a:tbl>
              <a:tblPr/>
              <a:tblGrid>
                <a:gridCol w="274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4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4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Aspect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Excel (.xlsx)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CSV (.csv)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Structure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Many sheets and tables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flat table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types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Partly stored in cells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Plain text — must be set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Import asks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Pick a sheet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Delimiter and encoding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Breaks if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Structure changes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Delimiter or columns change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Connection + refresh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Same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BB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Same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2550" marB="82550">
                    <a:lnL w="12700" cap="flat" cmpd="sng" algn="ctr">
                      <a:solidFill>
                        <a:srgbClr val="BB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060130"/>
            <a:ext cx="10566400" cy="519410"/>
          </a:xfrm>
          <a:prstGeom prst="roundRect">
            <a:avLst>
              <a:gd name="adj" fmla="val 9780"/>
            </a:avLst>
          </a:prstGeom>
          <a:solidFill>
            <a:srgbClr val="FFF7D6"/>
          </a:solidFill>
          <a:ln/>
        </p:spPr>
        <p:txBody>
          <a:bodyPr wrap="square" lIns="201021" tIns="124821" rIns="0" bIns="99421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Bottom line: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connecting and refreshing work the </a:t>
            </a: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way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both. Only the </a:t>
            </a: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and cleaning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differ.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12800" y="4060130"/>
            <a:ext cx="10566400" cy="519410"/>
          </a:xfrm>
          <a:custGeom>
            <a:avLst/>
            <a:gdLst/>
            <a:ahLst/>
            <a:cxnLst/>
            <a:rect l="l" t="t" r="r" b="b"/>
            <a:pathLst>
              <a:path w="10566400" h="519410">
                <a:moveTo>
                  <a:pt x="50800" y="519410"/>
                </a:moveTo>
                <a:lnTo>
                  <a:pt x="50800" y="51941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468610"/>
                </a:lnTo>
                <a:arcTo wR="12700" hR="50800" stAng="10800000" swAng="-5400000"/>
                <a:close/>
              </a:path>
            </a:pathLst>
          </a:custGeom>
          <a:solidFill>
            <a:srgbClr val="F2C81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 a CSV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08100" y="16624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 → Get data → Text/CSV.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1043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08100" y="21450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the file — a preview opens.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5869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8100" y="26276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Delimiter (Comma) and File Origin (encoding) at the top of the preview.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0695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08100" y="31102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Transform data to clean before loading.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679130"/>
            <a:ext cx="10566400" cy="519410"/>
          </a:xfrm>
          <a:prstGeom prst="roundRect">
            <a:avLst>
              <a:gd name="adj" fmla="val 9780"/>
            </a:avLst>
          </a:prstGeom>
          <a:solidFill>
            <a:srgbClr val="FFF7D6"/>
          </a:solidFill>
          <a:ln/>
        </p:spPr>
        <p:txBody>
          <a:bodyPr wrap="square" lIns="201021" tIns="124821" rIns="0" bIns="99421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habit as Week 1: choose </a:t>
            </a: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 data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Load, so you always inspect and fix types first.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800" y="3679130"/>
            <a:ext cx="10566400" cy="519410"/>
          </a:xfrm>
          <a:custGeom>
            <a:avLst/>
            <a:gdLst/>
            <a:ahLst/>
            <a:cxnLst/>
            <a:rect l="l" t="t" r="r" b="b"/>
            <a:pathLst>
              <a:path w="10566400" h="519410">
                <a:moveTo>
                  <a:pt x="50800" y="519410"/>
                </a:moveTo>
                <a:lnTo>
                  <a:pt x="50800" y="51941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468610"/>
                </a:lnTo>
                <a:arcTo wR="12700" hR="50800" stAng="10800000" swAng="-5400000"/>
                <a:close/>
              </a:path>
            </a:pathLst>
          </a:custGeom>
          <a:solidFill>
            <a:srgbClr val="F2C81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 it — CSV needs it more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582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582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First Row as Headers if needed</a:t>
            </a:r>
            <a:endParaRPr lang="en-US" sz="15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1700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1700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every Data Type — watch dates and decimals (locale traps)</a:t>
            </a:r>
            <a:endParaRPr lang="en-US" sz="15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757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27578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or trim columns that came in messy</a:t>
            </a:r>
            <a:endParaRPr lang="en-US" sz="15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34555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400" y="263455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blank rows and fix errors</a:t>
            </a:r>
            <a:endParaRPr lang="en-US" sz="150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99333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29933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 → Close &amp; Apply to load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812800" y="3441005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Because a CSV stores no types,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check the type of every column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it is the number-one CSV bug.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Combine many CSVs at once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2031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Have a folder of monthly exports with the same columns? Point Power BI at the folder instead of one file.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019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08100" y="2209403"/>
            <a:ext cx="1037323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data → Folder → choose the folder.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263009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08100" y="2679303"/>
            <a:ext cx="1037323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BI stacks every CSV into one table automatically.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09999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08100" y="3149203"/>
            <a:ext cx="1037323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 a new file in later, hit Refresh — it is included.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3709591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Great for recurring reports: sales-Jan.csv, sales-Feb.csv, sales-Mar.csv all become one dataset.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Connections &amp; Refresh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Power BI stays linked to your data — and updates without a rebuild.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a connection?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83630"/>
            <a:ext cx="102031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you Get data, Power BI saves a </a:t>
            </a:r>
            <a:r>
              <a:rPr lang="en-US" sz="16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</a:t>
            </a: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it remembers the source, the file location, and every cleaning step. That saved link is the connection.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9150" y="2374801"/>
            <a:ext cx="2324100" cy="805061"/>
          </a:xfrm>
          <a:prstGeom prst="roundRect">
            <a:avLst>
              <a:gd name="adj" fmla="val 1025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7900" y="2533551"/>
            <a:ext cx="20667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7900" y="2815431"/>
            <a:ext cx="206679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CSV or Excel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25800" y="2713831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2350" y="2374801"/>
            <a:ext cx="2324100" cy="805061"/>
          </a:xfrm>
          <a:prstGeom prst="roundRect">
            <a:avLst>
              <a:gd name="adj" fmla="val 1025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21100" y="2533551"/>
            <a:ext cx="20667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21100" y="2815431"/>
            <a:ext cx="206679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+ steps</a:t>
            </a:r>
            <a:endParaRPr lang="en-US" sz="1200" dirty="0"/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2713831"/>
            <a:ext cx="254000" cy="127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05550" y="2374801"/>
            <a:ext cx="2324100" cy="805061"/>
          </a:xfrm>
          <a:prstGeom prst="roundRect">
            <a:avLst>
              <a:gd name="adj" fmla="val 1025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64300" y="2533551"/>
            <a:ext cx="20667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64300" y="2815431"/>
            <a:ext cx="206679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Loaded table</a:t>
            </a:r>
            <a:endParaRPr lang="en-US" sz="1200" dirty="0"/>
          </a:p>
        </p:txBody>
      </p:sp>
      <p:pic>
        <p:nvPicPr>
          <p:cNvPr id="16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12200" y="2713831"/>
            <a:ext cx="254000" cy="127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048750" y="2374801"/>
            <a:ext cx="2324100" cy="805061"/>
          </a:xfrm>
          <a:prstGeom prst="roundRect">
            <a:avLst>
              <a:gd name="adj" fmla="val 1025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207500" y="2533551"/>
            <a:ext cx="20667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207500" y="2815431"/>
            <a:ext cx="206679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visuals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12800" y="3402112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Refresh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re-runs this whole path on the latest file — no rebuilding.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MIX THEM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kinds of connections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91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87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 connection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14243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link between your report and where the data lives (a file, folder, or database). This is what refresh uses.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12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4243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link between two tables inside your model — for example Products to Sales. This is what we build next.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074491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word, two meanings: one connects you to the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 other connects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tables to each other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KEEPING CURRENT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Refresh — and what breaks 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70930"/>
            <a:ext cx="102031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 → Refresh re-runs your steps on the latest file. It works when the file is where it was, with the same columns.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040830"/>
            <a:ext cx="5350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Refresh works when</a:t>
            </a:r>
            <a:endParaRPr lang="en-US" sz="1400" dirty="0"/>
          </a:p>
        </p:txBody>
      </p:sp>
      <p:pic>
        <p:nvPicPr>
          <p:cNvPr id="6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343051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8400" y="2343051"/>
            <a:ext cx="498386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file path and name</a:t>
            </a:r>
            <a:endParaRPr lang="en-US" sz="1300" dirty="0"/>
          </a:p>
        </p:txBody>
      </p:sp>
      <p:pic>
        <p:nvPicPr>
          <p:cNvPr id="8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60551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8400" y="2660551"/>
            <a:ext cx="498386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columns and structure</a:t>
            </a:r>
            <a:endParaRPr lang="en-US" sz="1300" dirty="0"/>
          </a:p>
        </p:txBody>
      </p:sp>
      <p:pic>
        <p:nvPicPr>
          <p:cNvPr id="10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978051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68400" y="2978051"/>
            <a:ext cx="498386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Types still valid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184900" y="2040830"/>
            <a:ext cx="5350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23B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Refresh breaks when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184900" y="2343051"/>
            <a:ext cx="241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23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02400" y="2343051"/>
            <a:ext cx="502310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moved or renamed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84900" y="2663031"/>
            <a:ext cx="241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23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502400" y="2663031"/>
            <a:ext cx="502310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column is renamed or removed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84900" y="2983012"/>
            <a:ext cx="241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23B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02400" y="2983012"/>
            <a:ext cx="502310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Delimiter or encoding changed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Refreshing automatically (optional)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582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582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 your report to the Power BI Service (the cloud)</a:t>
            </a:r>
            <a:endParaRPr lang="en-US" sz="15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1700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1700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Files in OneDrive or SharePoint can refresh in the cloud on a schedule</a:t>
            </a:r>
            <a:endParaRPr lang="en-US" sz="15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757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27578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Files on your PC need a small helper called a data gateway</a:t>
            </a:r>
            <a:endParaRPr lang="en-US" sz="15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34555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400" y="263455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 even trigger a refresh with Power Automate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812800" y="3082230"/>
            <a:ext cx="10566400" cy="759420"/>
          </a:xfrm>
          <a:prstGeom prst="roundRect">
            <a:avLst>
              <a:gd name="adj" fmla="val 6689"/>
            </a:avLst>
          </a:prstGeom>
          <a:solidFill>
            <a:srgbClr val="FFF7D6"/>
          </a:solidFill>
          <a:ln/>
        </p:spPr>
        <p:txBody>
          <a:bodyPr wrap="square" lIns="201021" tIns="124821" rIns="0" bIns="99421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part needs a </a:t>
            </a: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or school Microsoft account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We'll demo it — it is a preview of what's possible, not required for today's activity.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812800" y="3082230"/>
            <a:ext cx="10566400" cy="759420"/>
          </a:xfrm>
          <a:custGeom>
            <a:avLst/>
            <a:gdLst/>
            <a:ahLst/>
            <a:cxnLst/>
            <a:rect l="l" t="t" r="r" b="b"/>
            <a:pathLst>
              <a:path w="10566400" h="759420">
                <a:moveTo>
                  <a:pt x="50800" y="759420"/>
                </a:moveTo>
                <a:lnTo>
                  <a:pt x="50800" y="7594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708620"/>
                </a:lnTo>
                <a:arcTo wR="12700" hR="50800" stAng="10800000" swAng="-5400000"/>
                <a:close/>
              </a:path>
            </a:pathLst>
          </a:custGeom>
          <a:solidFill>
            <a:srgbClr val="F2C811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Connecting Tables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data lives in more than one table. Here's how to join them together.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two tables?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2031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datasets split information to keep it clean: a </a:t>
            </a:r>
            <a:r>
              <a:rPr lang="en-US" sz="17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</a:t>
            </a: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table of transactions, and </a:t>
            </a:r>
            <a:r>
              <a:rPr lang="en-US" sz="17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lookup</a:t>
            </a: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tables that describe things.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9150" y="2486521"/>
            <a:ext cx="5181600" cy="954980"/>
          </a:xfrm>
          <a:prstGeom prst="roundRect">
            <a:avLst>
              <a:gd name="adj" fmla="val 99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8700" y="269607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(fact)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8700" y="3000871"/>
            <a:ext cx="49053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row per transaction: date, quantity, price, and a Product ID.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1250" y="2486521"/>
            <a:ext cx="5181600" cy="954980"/>
          </a:xfrm>
          <a:prstGeom prst="roundRect">
            <a:avLst>
              <a:gd name="adj" fmla="val 99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9607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Products (lookup)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3000871"/>
            <a:ext cx="49053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row per product: its name, category, and supplier.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3701852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Instead of repeating the category on every sale, we store it once in Products and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two.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Create a relationship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08100" y="15989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to Model view (left edge).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0281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08100" y="20688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the key both tables share — here, Product ID.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4980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8100" y="25387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Drag Products[Product ID] onto Sales[Product ID].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29679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08100" y="30086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BI draws a line — a one-to-many relationship.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514030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lookup side (Products) is the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the fact side (Sales) is the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many sales, one product.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 analyze across tables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2031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the relationship in place, put </a:t>
            </a:r>
            <a:r>
              <a:rPr lang="en-US" sz="16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Category</a:t>
            </a: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(from Products) on a chart and </a:t>
            </a:r>
            <a:r>
              <a:rPr lang="en-US" sz="16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</a:t>
            </a: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(from Sales) as the value — it just works.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9150" y="2451001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8700" y="266055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Dimension describes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8700" y="2965351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Category, Product Name, Supplier — the labels you group by. (from Products)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1250" y="2451001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6055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Fact measures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965351"/>
            <a:ext cx="49053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Sales, Quantity, Profit — the numbers you total. (from Sales)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3897412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relationship? Grouping the fact by the lookup's fields returns blanks or wrong totals.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ACTIVITY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 variance measures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21730"/>
            <a:ext cx="10566400" cy="1765300"/>
          </a:xfrm>
          <a:prstGeom prst="roundRect">
            <a:avLst>
              <a:gd name="adj" fmla="val 5755"/>
            </a:avLst>
          </a:prstGeom>
          <a:solidFill>
            <a:srgbClr val="16202E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837630"/>
            <a:ext cx="103601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Sales = </a:t>
            </a:r>
            <a:r>
              <a:rPr lang="en-US" sz="145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(Sales[Sales])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6800" y="2190055"/>
            <a:ext cx="103601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Target = </a:t>
            </a:r>
            <a:r>
              <a:rPr lang="en-US" sz="145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(Targets[Annual Sales Target])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66800" y="2542480"/>
            <a:ext cx="103601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Variance</a:t>
            </a: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[Total Sales] - [Total Target]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6800" y="2894905"/>
            <a:ext cx="103601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Variance % = </a:t>
            </a:r>
            <a:r>
              <a:rPr lang="en-US" sz="145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DIVIDE</a:t>
            </a: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([Variance], [Total Target])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2800" y="3641030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Targets connects to Sales on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Category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same relationship idea, applied to your activity.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Rebuild &amp; Compare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dashboard, new source — proof that the visual skills carry straight over.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MUSCLE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Rebuild the dashboard from CSV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582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582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KPI cards from your measures</a:t>
            </a:r>
            <a:endParaRPr lang="en-US" sz="15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1700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1700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 chart — Sales by Month</a:t>
            </a:r>
            <a:endParaRPr lang="en-US" sz="15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757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27578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 chart — Sales by Category (uses the relationship)</a:t>
            </a:r>
            <a:endParaRPr lang="en-US" sz="15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34555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400" y="263455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Region visual and a segment donut</a:t>
            </a:r>
            <a:endParaRPr lang="en-US" sz="150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99333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29933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Slicers — Date, Region, Category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812800" y="3441005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Notice: the source changed from Excel to CSV, but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the visuals is identical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Week 1.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2 — 60 Minutes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 Sales-vs-Target dashboard from two CSV files.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2 — Metro Grocers: Sales vs Target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20318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are the analyst for </a:t>
            </a:r>
            <a:r>
              <a:rPr lang="en-US" sz="17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Metro Grocers</a:t>
            </a: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 Philippine supermarket chain. Compare actual sales against the annual target for each category, and show where the business is over or under.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9150" y="2508151"/>
            <a:ext cx="3407767" cy="864493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3300" y="2692301"/>
            <a:ext cx="31306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974181"/>
            <a:ext cx="3130651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CSVs — Sales.csv and Targets.csv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2017" y="2508151"/>
            <a:ext cx="3407866" cy="864493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6167" y="2692301"/>
            <a:ext cx="3130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6167" y="2974181"/>
            <a:ext cx="3130753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minutes on your own machine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64984" y="2508151"/>
            <a:ext cx="3407866" cy="864493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49134" y="2692301"/>
            <a:ext cx="3130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49134" y="2974181"/>
            <a:ext cx="3130753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variance dashboard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CSVs to connect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91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87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MetroGrocers_Sales.csv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14243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320 orders — Order Date, Region, Category, Product, Segment, Quantity, Unit Price, Sales, Cost, Profit.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12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MetroGrocers_Targets.csv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42430"/>
            <a:ext cx="49053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annual Sales Target per Category.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074491"/>
            <a:ext cx="10566400" cy="519410"/>
          </a:xfrm>
          <a:prstGeom prst="roundRect">
            <a:avLst>
              <a:gd name="adj" fmla="val 14670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both, then relate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Targets[Category]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</a:t>
            </a:r>
            <a:r>
              <a:rPr lang="en-US" sz="13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Sales[Category]</a:t>
            </a:r>
            <a:r>
              <a:rPr lang="en-US" sz="13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so the two can be compared.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MUST INCLUDE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2 checklist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709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70930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both CSV files</a:t>
            </a:r>
            <a:endParaRPr lang="en-US" sz="135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57093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1600" y="1570930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Relate Targets and Sales on Category</a:t>
            </a:r>
            <a:endParaRPr lang="en-US" sz="135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802309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1802309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KPIs: Total Sales, Total Target, Variance, Variance %</a:t>
            </a:r>
            <a:endParaRPr lang="en-US" sz="135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802309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1600" y="1802309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Measures written in DAX</a:t>
            </a:r>
            <a:endParaRPr lang="en-US" sz="135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033687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2033687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Clustered bar: Sales vs Target by Category</a:t>
            </a:r>
            <a:endParaRPr lang="en-US" sz="1350" dirty="0"/>
          </a:p>
        </p:txBody>
      </p:sp>
      <p:pic>
        <p:nvPicPr>
          <p:cNvPr id="14" name="Image 5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033687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51600" y="2033687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Bar: Variance by Category</a:t>
            </a:r>
            <a:endParaRPr lang="en-US" sz="1350" dirty="0"/>
          </a:p>
        </p:txBody>
      </p:sp>
      <p:pic>
        <p:nvPicPr>
          <p:cNvPr id="16" name="Image 6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65065"/>
            <a:ext cx="228600" cy="2286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68400" y="2265065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Slicers: Date, Region, Category</a:t>
            </a:r>
            <a:endParaRPr lang="en-US" sz="1350" dirty="0"/>
          </a:p>
        </p:txBody>
      </p:sp>
      <p:pic>
        <p:nvPicPr>
          <p:cNvPr id="18" name="Image 7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265065"/>
            <a:ext cx="228600" cy="2286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51600" y="2265065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 and one consistent theme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 GET STUCK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7-step recap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08100" y="16159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data → Text/CSV → import both 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002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08100" y="20604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data types, then Close &amp; Apply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4472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8100" y="25049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view → relate Targets and Sales on Category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891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08100" y="29494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the four measures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3362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8100" y="33939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KPI cards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780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08100" y="38384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two bar charts and the slicers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2252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8100" y="42829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Theme, titles, align → Save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YOU'RE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Submitting Activity 2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709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709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your .pbix and export a PDF or screenshot</a:t>
            </a:r>
            <a:endParaRPr lang="en-US" sz="15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4240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4240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 as “Dashboard Activity 2” on the ExcelHelpline hub</a:t>
            </a:r>
            <a:endParaRPr lang="en-US" sz="15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3138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31388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same full name and email as always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12800" y="2774255"/>
            <a:ext cx="10566400" cy="519410"/>
          </a:xfrm>
          <a:prstGeom prst="roundRect">
            <a:avLst>
              <a:gd name="adj" fmla="val 9780"/>
            </a:avLst>
          </a:prstGeom>
          <a:solidFill>
            <a:srgbClr val="FFF7D6"/>
          </a:solidFill>
          <a:ln/>
        </p:spPr>
        <p:txBody>
          <a:bodyPr wrap="square" lIns="201021" tIns="124821" rIns="0" bIns="99421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submission </a:t>
            </a: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of 3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your Power BI certificate. The final project is next.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812800" y="2774255"/>
            <a:ext cx="10566400" cy="519410"/>
          </a:xfrm>
          <a:custGeom>
            <a:avLst/>
            <a:gdLst/>
            <a:ahLst/>
            <a:cxnLst/>
            <a:rect l="l" t="t" r="r" b="b"/>
            <a:pathLst>
              <a:path w="10566400" h="519410">
                <a:moveTo>
                  <a:pt x="50800" y="519410"/>
                </a:moveTo>
                <a:lnTo>
                  <a:pt x="50800" y="51941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468610"/>
                </a:lnTo>
                <a:arcTo wR="12700" hR="50800" stAng="10800000" swAng="-5400000"/>
                <a:close/>
              </a:path>
            </a:pathLst>
          </a:custGeom>
          <a:solidFill>
            <a:srgbClr val="F2C811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Homework — Final Project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capstone: one full dashboard built from two connected tables.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FINAL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Tindahan Trading — Sales Dashboard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203180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are the analyst for </a:t>
            </a:r>
            <a:r>
              <a:rPr lang="en-US" sz="17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Tindahan Trading</a:t>
            </a: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 Philippine general-merchandise distributor. Build one complete, interactive sales dashboard from its two-table dataset — your capstone for the Power BI module.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9150" y="2821186"/>
            <a:ext cx="3407767" cy="1078805"/>
          </a:xfrm>
          <a:prstGeom prst="roundRect">
            <a:avLst>
              <a:gd name="adj" fmla="val 76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3300" y="3005336"/>
            <a:ext cx="31306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3287216"/>
            <a:ext cx="313065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workbook, two tables: Sales + Products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2017" y="2821186"/>
            <a:ext cx="3407866" cy="1078805"/>
          </a:xfrm>
          <a:prstGeom prst="roundRect">
            <a:avLst>
              <a:gd name="adj" fmla="val 76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6167" y="3005336"/>
            <a:ext cx="3130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6167" y="3287216"/>
            <a:ext cx="3130753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own time, before the module ends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64984" y="2821186"/>
            <a:ext cx="3407866" cy="1078805"/>
          </a:xfrm>
          <a:prstGeom prst="roundRect">
            <a:avLst>
              <a:gd name="adj" fmla="val 76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49134" y="3005336"/>
            <a:ext cx="3130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49134" y="3287216"/>
            <a:ext cx="3130753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full dashboard using both tables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tables to connect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91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87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Sales (fact)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14243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420 orders — Order Date, Region, Store, Product ID, Quantity, Unit Price, Sales, Cost, Profit, Payment Method.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12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Products (lookup)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4243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 products — Product ID, Product Name, Category, Supplier, List Price.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074491"/>
            <a:ext cx="10566400" cy="759420"/>
          </a:xfrm>
          <a:prstGeom prst="roundRect">
            <a:avLst>
              <a:gd name="adj" fmla="val 6689"/>
            </a:avLst>
          </a:prstGeom>
          <a:solidFill>
            <a:srgbClr val="FFF7D6"/>
          </a:solidFill>
          <a:ln/>
        </p:spPr>
        <p:txBody>
          <a:bodyPr wrap="square" lIns="201021" tIns="124821" rIns="0" bIns="99421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Sales table has </a:t>
            </a: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Category column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you must relate it to Products on </a:t>
            </a: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ID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analyze by category. That relationship is the point of the project.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2800" y="3074491"/>
            <a:ext cx="10566400" cy="759420"/>
          </a:xfrm>
          <a:custGeom>
            <a:avLst/>
            <a:gdLst/>
            <a:ahLst/>
            <a:cxnLst/>
            <a:rect l="l" t="t" r="r" b="b"/>
            <a:pathLst>
              <a:path w="10566400" h="759420">
                <a:moveTo>
                  <a:pt x="50800" y="759420"/>
                </a:moveTo>
                <a:lnTo>
                  <a:pt x="50800" y="7594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708620"/>
                </a:lnTo>
                <a:arcTo wR="12700" hR="50800" stAng="10800000" swAng="-5400000"/>
                <a:close/>
              </a:path>
            </a:pathLst>
          </a:custGeom>
          <a:solidFill>
            <a:srgbClr val="F2C811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MUST INCLUDE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project checklist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582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58230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both tables (Sales and Products)</a:t>
            </a:r>
            <a:endParaRPr lang="en-US" sz="135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55823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1600" y="1558230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the relationship on Product ID</a:t>
            </a:r>
            <a:endParaRPr lang="en-US" sz="135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89609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1789609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KPIs: Total Sales, Total Profit, Total Orders, Profit Margin %</a:t>
            </a:r>
            <a:endParaRPr lang="en-US" sz="135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789609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1600" y="1789609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chart using a Products field (e.g. Sales by Category)</a:t>
            </a:r>
            <a:endParaRPr lang="en-US" sz="135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020987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2020987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 chart: Sales by Month</a:t>
            </a:r>
            <a:endParaRPr lang="en-US" sz="1350" dirty="0"/>
          </a:p>
        </p:txBody>
      </p:sp>
      <p:pic>
        <p:nvPicPr>
          <p:cNvPr id="14" name="Image 5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020987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51600" y="2020987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Region or Store visual</a:t>
            </a:r>
            <a:endParaRPr lang="en-US" sz="1350" dirty="0"/>
          </a:p>
        </p:txBody>
      </p:sp>
      <p:pic>
        <p:nvPicPr>
          <p:cNvPr id="16" name="Image 6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52365"/>
            <a:ext cx="228600" cy="2286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68400" y="2252365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Slicers: Date, Region, Category, Payment Method</a:t>
            </a:r>
            <a:endParaRPr lang="en-US" sz="1350" dirty="0"/>
          </a:p>
        </p:txBody>
      </p:sp>
      <p:pic>
        <p:nvPicPr>
          <p:cNvPr id="18" name="Image 7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252365"/>
            <a:ext cx="228600" cy="2286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51600" y="2252365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Title, consistent theme, and one written insight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YOU'RE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Submitting the Final Project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709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709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your .pbix and export a PDF of the dashboard</a:t>
            </a:r>
            <a:endParaRPr lang="en-US" sz="15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4240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4240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 as “Homework” on the ExcelHelpline hub</a:t>
            </a:r>
            <a:endParaRPr lang="en-US" sz="15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3138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31388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full name and email, as always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12800" y="2774255"/>
            <a:ext cx="10566400" cy="519410"/>
          </a:xfrm>
          <a:prstGeom prst="roundRect">
            <a:avLst>
              <a:gd name="adj" fmla="val 9780"/>
            </a:avLst>
          </a:prstGeom>
          <a:solidFill>
            <a:srgbClr val="FFF7D6"/>
          </a:solidFill>
          <a:ln/>
        </p:spPr>
        <p:txBody>
          <a:bodyPr wrap="square" lIns="201021" tIns="124821" rIns="0" bIns="99421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Homework is submission </a:t>
            </a: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of 3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Activity 1, Activity 2 and Homework together earn your </a:t>
            </a: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BI certificate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812800" y="2774255"/>
            <a:ext cx="10566400" cy="519410"/>
          </a:xfrm>
          <a:custGeom>
            <a:avLst/>
            <a:gdLst/>
            <a:ahLst/>
            <a:cxnLst/>
            <a:rect l="l" t="t" r="r" b="b"/>
            <a:pathLst>
              <a:path w="10566400" h="519410">
                <a:moveTo>
                  <a:pt x="50800" y="519410"/>
                </a:moveTo>
                <a:lnTo>
                  <a:pt x="50800" y="51941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468610"/>
                </a:lnTo>
                <a:arcTo wR="12700" hR="50800" stAng="10800000" swAng="-5400000"/>
                <a:close/>
              </a:path>
            </a:pathLst>
          </a:custGeom>
          <a:solidFill>
            <a:srgbClr val="F2C811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THAT’S A WRAP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642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can connect and refresh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494657"/>
            <a:ext cx="1020318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5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 you imported CSV, learned how connections and refresh work, and joined two tables with a relationship — then built a variance dashboard from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12800" y="4068763"/>
            <a:ext cx="3437434" cy="794941"/>
          </a:xfrm>
          <a:prstGeom prst="roundRect">
            <a:avLst>
              <a:gd name="adj" fmla="val 11183"/>
            </a:avLst>
          </a:prstGeom>
          <a:solidFill>
            <a:srgbClr val="22304A"/>
          </a:solidFill>
          <a:ln/>
        </p:spPr>
      </p:sp>
      <p:sp>
        <p:nvSpPr>
          <p:cNvPr id="6" name="Text 4"/>
          <p:cNvSpPr/>
          <p:nvPr/>
        </p:nvSpPr>
        <p:spPr>
          <a:xfrm>
            <a:off x="977900" y="4233863"/>
            <a:ext cx="32004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7900" y="4485283"/>
            <a:ext cx="32004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7234" y="4068763"/>
            <a:ext cx="3437533" cy="794941"/>
          </a:xfrm>
          <a:prstGeom prst="roundRect">
            <a:avLst>
              <a:gd name="adj" fmla="val 11183"/>
            </a:avLst>
          </a:prstGeom>
          <a:solidFill>
            <a:srgbClr val="22304A"/>
          </a:solidFill>
          <a:ln/>
        </p:spPr>
      </p:sp>
      <p:sp>
        <p:nvSpPr>
          <p:cNvPr id="9" name="Text 7"/>
          <p:cNvSpPr/>
          <p:nvPr/>
        </p:nvSpPr>
        <p:spPr>
          <a:xfrm>
            <a:off x="4542334" y="4233863"/>
            <a:ext cx="32005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42334" y="4485283"/>
            <a:ext cx="32005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Variance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41766" y="4068763"/>
            <a:ext cx="3437434" cy="794941"/>
          </a:xfrm>
          <a:prstGeom prst="roundRect">
            <a:avLst>
              <a:gd name="adj" fmla="val 11183"/>
            </a:avLst>
          </a:prstGeom>
          <a:solidFill>
            <a:srgbClr val="22304A"/>
          </a:solidFill>
          <a:ln/>
        </p:spPr>
      </p:sp>
      <p:sp>
        <p:nvSpPr>
          <p:cNvPr id="12" name="Text 10"/>
          <p:cNvSpPr/>
          <p:nvPr/>
        </p:nvSpPr>
        <p:spPr>
          <a:xfrm>
            <a:off x="8106866" y="4233863"/>
            <a:ext cx="32004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Homework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06866" y="4485283"/>
            <a:ext cx="32004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project → certificate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5847159"/>
            <a:ext cx="21255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8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 Let’s do Q&amp;A.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163" y="5855990"/>
            <a:ext cx="305604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ExcelHelpline · Full Stack Data Analytics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2988</Words>
  <Application>Microsoft Office PowerPoint</Application>
  <PresentationFormat>Widescreen</PresentationFormat>
  <Paragraphs>356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IBM Plex Sans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Session 2 — Connect, Clean &amp; Refresh</dc:title>
  <dc:subject>PptxGenJS Presentation</dc:subject>
  <dc:creator>PptxGenJS</dc:creator>
  <cp:lastModifiedBy>Kal El</cp:lastModifiedBy>
  <cp:revision>3</cp:revision>
  <dcterms:created xsi:type="dcterms:W3CDTF">2026-09-30T12:51:18Z</dcterms:created>
  <dcterms:modified xsi:type="dcterms:W3CDTF">2026-09-30T12:54:09Z</dcterms:modified>
</cp:coreProperties>
</file>