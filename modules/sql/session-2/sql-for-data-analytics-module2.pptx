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h5JTCTrJmtjFkzvE6d8iU9Tq9f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D9728AA-4928-4228-B417-048F28A10CFA}">
  <a:tblStyle styleId="{2D9728AA-4928-4228-B417-048F28A10CFA}"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F92F8B86-BF6C-45C7-B390-D125ADBB24F9}" styleName="Table_1">
    <a:wholeTbl>
      <a:tcTxStyle b="off" i="off">
        <a:font>
          <a:latin typeface="Calibri"/>
          <a:ea typeface="Calibri"/>
          <a:cs typeface="Calibri"/>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chemeClr val="accent1"/>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1">
              <a:alpha val="40000"/>
            </a:schemeClr>
          </a:solidFill>
        </a:fill>
      </a:tcStyle>
    </a:band1H>
    <a:band2H>
      <a:tcTxStyle b="off" i="off"/>
    </a:band2H>
    <a:band1V>
      <a:tcTxStyle b="off" i="off"/>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fill>
          <a:solidFill>
            <a:schemeClr val="accent1">
              <a:alpha val="40000"/>
            </a:schemeClr>
          </a:solidFill>
        </a:fill>
      </a:tcStyle>
    </a:band1V>
    <a:band2V>
      <a:tcTxStyle b="off" i="off"/>
    </a:band2V>
    <a:la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b="off" i="off"/>
    </a:seCell>
    <a:swCell>
      <a:tcTxStyle b="off" i="off"/>
    </a:swCell>
    <a:firstRow>
      <a:tcTxStyle b="on" i="off">
        <a:font>
          <a:latin typeface="Calibri"/>
          <a:ea typeface="Calibri"/>
          <a:cs typeface="Calibri"/>
        </a:font>
        <a:schemeClr val="lt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5" name="Google Shape;32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pic>
        <p:nvPicPr>
          <p:cNvPr descr="Celestia-R1---OverlayTitleHD.png" id="16" name="Google Shape;16;p23"/>
          <p:cNvPicPr preferRelativeResize="0"/>
          <p:nvPr/>
        </p:nvPicPr>
        <p:blipFill rotWithShape="1">
          <a:blip r:embed="rId3">
            <a:alphaModFix/>
          </a:blip>
          <a:srcRect b="0" l="0" r="0" t="0"/>
          <a:stretch/>
        </p:blipFill>
        <p:spPr>
          <a:xfrm>
            <a:off x="0" y="0"/>
            <a:ext cx="12188825" cy="6856214"/>
          </a:xfrm>
          <a:prstGeom prst="rect">
            <a:avLst/>
          </a:prstGeom>
          <a:noFill/>
          <a:ln>
            <a:noFill/>
          </a:ln>
        </p:spPr>
      </p:pic>
      <p:sp>
        <p:nvSpPr>
          <p:cNvPr id="17" name="Google Shape;17;p23"/>
          <p:cNvSpPr txBox="1"/>
          <p:nvPr>
            <p:ph type="ctrTitle"/>
          </p:nvPr>
        </p:nvSpPr>
        <p:spPr>
          <a:xfrm>
            <a:off x="3962399" y="1964267"/>
            <a:ext cx="7197726" cy="2421464"/>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lt1"/>
              </a:buClr>
              <a:buSzPts val="4800"/>
              <a:buFont typeface="Calibri"/>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3"/>
          <p:cNvSpPr txBox="1"/>
          <p:nvPr>
            <p:ph idx="1" type="subTitle"/>
          </p:nvPr>
        </p:nvSpPr>
        <p:spPr>
          <a:xfrm>
            <a:off x="3962399" y="4385732"/>
            <a:ext cx="7197726" cy="1405467"/>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SzPts val="1800"/>
              <a:buNone/>
              <a:defRPr sz="1800" cap="none">
                <a:solidFill>
                  <a:schemeClr val="lt1"/>
                </a:solidFill>
              </a:defRPr>
            </a:lvl1pPr>
            <a:lvl2pPr lvl="1" algn="ctr">
              <a:lnSpc>
                <a:spcPct val="100000"/>
              </a:lnSpc>
              <a:spcBef>
                <a:spcPts val="1000"/>
              </a:spcBef>
              <a:spcAft>
                <a:spcPts val="0"/>
              </a:spcAft>
              <a:buSzPts val="1600"/>
              <a:buNone/>
              <a:defRPr>
                <a:solidFill>
                  <a:schemeClr val="lt1"/>
                </a:solidFill>
              </a:defRPr>
            </a:lvl2pPr>
            <a:lvl3pPr lvl="2" algn="ctr">
              <a:lnSpc>
                <a:spcPct val="100000"/>
              </a:lnSpc>
              <a:spcBef>
                <a:spcPts val="1000"/>
              </a:spcBef>
              <a:spcAft>
                <a:spcPts val="0"/>
              </a:spcAft>
              <a:buSzPts val="1400"/>
              <a:buNone/>
              <a:defRPr>
                <a:solidFill>
                  <a:schemeClr val="lt1"/>
                </a:solidFill>
              </a:defRPr>
            </a:lvl3pPr>
            <a:lvl4pPr lvl="3" algn="ctr">
              <a:lnSpc>
                <a:spcPct val="100000"/>
              </a:lnSpc>
              <a:spcBef>
                <a:spcPts val="1000"/>
              </a:spcBef>
              <a:spcAft>
                <a:spcPts val="0"/>
              </a:spcAft>
              <a:buSzPts val="1200"/>
              <a:buNone/>
              <a:defRPr>
                <a:solidFill>
                  <a:schemeClr val="lt1"/>
                </a:solidFill>
              </a:defRPr>
            </a:lvl4pPr>
            <a:lvl5pPr lvl="4" algn="ctr">
              <a:lnSpc>
                <a:spcPct val="100000"/>
              </a:lnSpc>
              <a:spcBef>
                <a:spcPts val="1000"/>
              </a:spcBef>
              <a:spcAft>
                <a:spcPts val="0"/>
              </a:spcAft>
              <a:buSzPts val="1200"/>
              <a:buNone/>
              <a:defRPr>
                <a:solidFill>
                  <a:schemeClr val="lt1"/>
                </a:solidFill>
              </a:defRPr>
            </a:lvl5pPr>
            <a:lvl6pPr lvl="5" algn="ctr">
              <a:lnSpc>
                <a:spcPct val="100000"/>
              </a:lnSpc>
              <a:spcBef>
                <a:spcPts val="1000"/>
              </a:spcBef>
              <a:spcAft>
                <a:spcPts val="0"/>
              </a:spcAft>
              <a:buSzPts val="1200"/>
              <a:buNone/>
              <a:defRPr>
                <a:solidFill>
                  <a:schemeClr val="lt1"/>
                </a:solidFill>
              </a:defRPr>
            </a:lvl6pPr>
            <a:lvl7pPr lvl="6" algn="ctr">
              <a:lnSpc>
                <a:spcPct val="100000"/>
              </a:lnSpc>
              <a:spcBef>
                <a:spcPts val="1000"/>
              </a:spcBef>
              <a:spcAft>
                <a:spcPts val="0"/>
              </a:spcAft>
              <a:buSzPts val="1200"/>
              <a:buNone/>
              <a:defRPr>
                <a:solidFill>
                  <a:schemeClr val="lt1"/>
                </a:solidFill>
              </a:defRPr>
            </a:lvl7pPr>
            <a:lvl8pPr lvl="7" algn="ctr">
              <a:lnSpc>
                <a:spcPct val="100000"/>
              </a:lnSpc>
              <a:spcBef>
                <a:spcPts val="1000"/>
              </a:spcBef>
              <a:spcAft>
                <a:spcPts val="0"/>
              </a:spcAft>
              <a:buSzPts val="1200"/>
              <a:buNone/>
              <a:defRPr>
                <a:solidFill>
                  <a:schemeClr val="lt1"/>
                </a:solidFill>
              </a:defRPr>
            </a:lvl8pPr>
            <a:lvl9pPr lvl="8" algn="ctr">
              <a:lnSpc>
                <a:spcPct val="100000"/>
              </a:lnSpc>
              <a:spcBef>
                <a:spcPts val="1000"/>
              </a:spcBef>
              <a:spcAft>
                <a:spcPts val="1000"/>
              </a:spcAft>
              <a:buSzPts val="1200"/>
              <a:buNone/>
              <a:defRPr>
                <a:solidFill>
                  <a:schemeClr val="lt1"/>
                </a:solidFill>
              </a:defRPr>
            </a:lvl9pPr>
          </a:lstStyle>
          <a:p/>
        </p:txBody>
      </p:sp>
      <p:sp>
        <p:nvSpPr>
          <p:cNvPr id="19" name="Google Shape;19;p23"/>
          <p:cNvSpPr txBox="1"/>
          <p:nvPr>
            <p:ph idx="10" type="dt"/>
          </p:nvPr>
        </p:nvSpPr>
        <p:spPr>
          <a:xfrm>
            <a:off x="8932558"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3"/>
          <p:cNvSpPr txBox="1"/>
          <p:nvPr>
            <p:ph idx="11" type="ftr"/>
          </p:nvPr>
        </p:nvSpPr>
        <p:spPr>
          <a:xfrm>
            <a:off x="3962399" y="5870575"/>
            <a:ext cx="4893958"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2" type="sldNum"/>
          </p:nvPr>
        </p:nvSpPr>
        <p:spPr>
          <a:xfrm>
            <a:off x="10608958"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pic>
        <p:nvPicPr>
          <p:cNvPr descr="Celestia-R1---OverlayContentHD.png" id="23" name="Google Shape;23;p24"/>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24" name="Google Shape;24;p24"/>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26" name="Google Shape;26;p24"/>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4"/>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4"/>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pic>
        <p:nvPicPr>
          <p:cNvPr descr="Celestia-R1---OverlayContentHD.png" id="30" name="Google Shape;30;p25"/>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31" name="Google Shape;31;p25"/>
          <p:cNvSpPr txBox="1"/>
          <p:nvPr>
            <p:ph type="title"/>
          </p:nvPr>
        </p:nvSpPr>
        <p:spPr>
          <a:xfrm>
            <a:off x="685800" y="3308581"/>
            <a:ext cx="10131427" cy="1468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4000"/>
              <a:buFont typeface="Calibri"/>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5"/>
          <p:cNvSpPr txBox="1"/>
          <p:nvPr>
            <p:ph idx="1" type="body"/>
          </p:nvPr>
        </p:nvSpPr>
        <p:spPr>
          <a:xfrm>
            <a:off x="685799" y="4777381"/>
            <a:ext cx="10131428"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000"/>
              <a:buNone/>
              <a:defRPr sz="2000" cap="none">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33" name="Google Shape;33;p25"/>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5"/>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5"/>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pic>
        <p:nvPicPr>
          <p:cNvPr descr="Celestia-R1---OverlayContentHD.png" id="37" name="Google Shape;37;p26"/>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38" name="Google Shape;38;p26"/>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6"/>
          <p:cNvSpPr txBox="1"/>
          <p:nvPr>
            <p:ph idx="1" type="body"/>
          </p:nvPr>
        </p:nvSpPr>
        <p:spPr>
          <a:xfrm>
            <a:off x="685802" y="2142067"/>
            <a:ext cx="4995334" cy="3649134"/>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0" name="Google Shape;40;p26"/>
          <p:cNvSpPr txBox="1"/>
          <p:nvPr>
            <p:ph idx="2" type="body"/>
          </p:nvPr>
        </p:nvSpPr>
        <p:spPr>
          <a:xfrm>
            <a:off x="5821895" y="2142067"/>
            <a:ext cx="4995332" cy="3649133"/>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1" name="Google Shape;41;p26"/>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6"/>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7"/>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7"/>
          <p:cNvSpPr txBox="1"/>
          <p:nvPr>
            <p:ph idx="1" type="body"/>
          </p:nvPr>
        </p:nvSpPr>
        <p:spPr>
          <a:xfrm>
            <a:off x="973670" y="2218267"/>
            <a:ext cx="4709054"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SzPts val="2800"/>
              <a:buNone/>
              <a:defRPr b="0" sz="28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1000"/>
              </a:spcAft>
              <a:buSzPts val="1600"/>
              <a:buNone/>
              <a:defRPr b="1" sz="1600"/>
            </a:lvl9pPr>
          </a:lstStyle>
          <a:p/>
        </p:txBody>
      </p:sp>
      <p:sp>
        <p:nvSpPr>
          <p:cNvPr id="47" name="Google Shape;47;p27"/>
          <p:cNvSpPr txBox="1"/>
          <p:nvPr>
            <p:ph idx="2" type="body"/>
          </p:nvPr>
        </p:nvSpPr>
        <p:spPr>
          <a:xfrm>
            <a:off x="685801" y="2870201"/>
            <a:ext cx="4996923" cy="292099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8" name="Google Shape;48;p27"/>
          <p:cNvSpPr txBox="1"/>
          <p:nvPr>
            <p:ph idx="3" type="body"/>
          </p:nvPr>
        </p:nvSpPr>
        <p:spPr>
          <a:xfrm>
            <a:off x="6096003" y="2226734"/>
            <a:ext cx="4722813"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SzPts val="2800"/>
              <a:buNone/>
              <a:defRPr b="0" sz="28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1000"/>
              </a:spcAft>
              <a:buSzPts val="1600"/>
              <a:buNone/>
              <a:defRPr b="1" sz="1600"/>
            </a:lvl9pPr>
          </a:lstStyle>
          <a:p/>
        </p:txBody>
      </p:sp>
      <p:sp>
        <p:nvSpPr>
          <p:cNvPr id="49" name="Google Shape;49;p27"/>
          <p:cNvSpPr txBox="1"/>
          <p:nvPr>
            <p:ph idx="4" type="body"/>
          </p:nvPr>
        </p:nvSpPr>
        <p:spPr>
          <a:xfrm>
            <a:off x="5823483" y="2870201"/>
            <a:ext cx="4995334" cy="292099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50" name="Google Shape;50;p27"/>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7"/>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pic>
        <p:nvPicPr>
          <p:cNvPr descr="Celestia-R1---OverlayContentHD.png" id="54" name="Google Shape;54;p28"/>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55" name="Google Shape;55;p28"/>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8"/>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8"/>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pic>
        <p:nvPicPr>
          <p:cNvPr descr="Celestia-R1---OverlayContentHD.png" id="60" name="Google Shape;60;p29"/>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61" name="Google Shape;61;p29"/>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9"/>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9"/>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pic>
        <p:nvPicPr>
          <p:cNvPr descr="Celestia-R1---OverlayContentHD.png" id="65" name="Google Shape;65;p30"/>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66" name="Google Shape;66;p30"/>
          <p:cNvSpPr txBox="1"/>
          <p:nvPr>
            <p:ph type="title"/>
          </p:nvPr>
        </p:nvSpPr>
        <p:spPr>
          <a:xfrm>
            <a:off x="685800" y="2074333"/>
            <a:ext cx="3680885" cy="1371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400"/>
              <a:buFont typeface="Calibri"/>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txBox="1"/>
          <p:nvPr>
            <p:ph idx="1" type="body"/>
          </p:nvPr>
        </p:nvSpPr>
        <p:spPr>
          <a:xfrm>
            <a:off x="4648201" y="609601"/>
            <a:ext cx="6169026" cy="5181600"/>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68" name="Google Shape;68;p30"/>
          <p:cNvSpPr txBox="1"/>
          <p:nvPr>
            <p:ph idx="2" type="body"/>
          </p:nvPr>
        </p:nvSpPr>
        <p:spPr>
          <a:xfrm>
            <a:off x="685800" y="3445933"/>
            <a:ext cx="3680885" cy="1828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600"/>
              <a:buNone/>
              <a:defRPr sz="16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69" name="Google Shape;69;p30"/>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pic>
        <p:nvPicPr>
          <p:cNvPr descr="Celestia-R1---OverlayContentHD.png" id="73" name="Google Shape;73;p31"/>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74" name="Google Shape;74;p31"/>
          <p:cNvSpPr txBox="1"/>
          <p:nvPr>
            <p:ph type="title"/>
          </p:nvPr>
        </p:nvSpPr>
        <p:spPr>
          <a:xfrm>
            <a:off x="685800" y="1600200"/>
            <a:ext cx="6164653" cy="1371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800"/>
              <a:buFont typeface="Calibri"/>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31"/>
          <p:cNvSpPr/>
          <p:nvPr>
            <p:ph idx="2" type="pic"/>
          </p:nvPr>
        </p:nvSpPr>
        <p:spPr>
          <a:xfrm>
            <a:off x="7536253" y="914400"/>
            <a:ext cx="3280974" cy="4572000"/>
          </a:xfrm>
          <a:prstGeom prst="roundRect">
            <a:avLst>
              <a:gd fmla="val 4280" name="adj"/>
            </a:avLst>
          </a:prstGeom>
          <a:noFill/>
          <a:ln cap="sq" cmpd="dbl" w="50800">
            <a:solidFill>
              <a:srgbClr val="FFFFFF"/>
            </a:solidFill>
            <a:prstDash val="solid"/>
            <a:miter lim="80"/>
            <a:headEnd len="sm" w="sm" type="none"/>
            <a:tailEnd len="sm" w="sm" type="none"/>
          </a:ln>
          <a:effectLst>
            <a:outerShdw blurRad="254000" rotWithShape="0" algn="tl">
              <a:srgbClr val="000000">
                <a:alpha val="43137"/>
              </a:srgbClr>
            </a:outerShdw>
          </a:effectLst>
        </p:spPr>
      </p:sp>
      <p:sp>
        <p:nvSpPr>
          <p:cNvPr id="76" name="Google Shape;76;p31"/>
          <p:cNvSpPr txBox="1"/>
          <p:nvPr>
            <p:ph idx="1" type="body"/>
          </p:nvPr>
        </p:nvSpPr>
        <p:spPr>
          <a:xfrm>
            <a:off x="685800" y="2971800"/>
            <a:ext cx="6164653" cy="1828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77" name="Google Shape;77;p31"/>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1"/>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1"/>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0" name="Shape 80"/>
        <p:cNvGrpSpPr/>
        <p:nvPr/>
      </p:nvGrpSpPr>
      <p:grpSpPr>
        <a:xfrm>
          <a:off x="0" y="0"/>
          <a:ext cx="0" cy="0"/>
          <a:chOff x="0" y="0"/>
          <a:chExt cx="0" cy="0"/>
        </a:xfrm>
      </p:grpSpPr>
      <p:pic>
        <p:nvPicPr>
          <p:cNvPr descr="Celestia-R1---OverlayContentHD.png" id="81" name="Google Shape;81;p32"/>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82" name="Google Shape;82;p32"/>
          <p:cNvSpPr txBox="1"/>
          <p:nvPr>
            <p:ph type="title"/>
          </p:nvPr>
        </p:nvSpPr>
        <p:spPr>
          <a:xfrm>
            <a:off x="685800" y="4732865"/>
            <a:ext cx="10131427"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400"/>
              <a:buFont typeface="Calibri"/>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2"/>
          <p:cNvSpPr/>
          <p:nvPr>
            <p:ph idx="2" type="pic"/>
          </p:nvPr>
        </p:nvSpPr>
        <p:spPr>
          <a:xfrm>
            <a:off x="1371600" y="932112"/>
            <a:ext cx="8759827" cy="3164976"/>
          </a:xfrm>
          <a:prstGeom prst="roundRect">
            <a:avLst>
              <a:gd fmla="val 4380" name="adj"/>
            </a:avLst>
          </a:prstGeom>
          <a:noFill/>
          <a:ln cap="sq" cmpd="dbl" w="50800">
            <a:solidFill>
              <a:srgbClr val="FFFFFF"/>
            </a:solidFill>
            <a:prstDash val="solid"/>
            <a:miter lim="80"/>
            <a:headEnd len="sm" w="sm" type="none"/>
            <a:tailEnd len="sm" w="sm" type="none"/>
          </a:ln>
          <a:effectLst>
            <a:outerShdw blurRad="254000" rotWithShape="0" algn="tl">
              <a:srgbClr val="000000">
                <a:alpha val="43137"/>
              </a:srgbClr>
            </a:outerShdw>
          </a:effectLst>
        </p:spPr>
      </p:sp>
      <p:sp>
        <p:nvSpPr>
          <p:cNvPr id="84" name="Google Shape;84;p32"/>
          <p:cNvSpPr txBox="1"/>
          <p:nvPr>
            <p:ph idx="1" type="body"/>
          </p:nvPr>
        </p:nvSpPr>
        <p:spPr>
          <a:xfrm>
            <a:off x="685800" y="5299603"/>
            <a:ext cx="10131427" cy="493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85" name="Google Shape;85;p32"/>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2"/>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2"/>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8" name="Shape 88"/>
        <p:cNvGrpSpPr/>
        <p:nvPr/>
      </p:nvGrpSpPr>
      <p:grpSpPr>
        <a:xfrm>
          <a:off x="0" y="0"/>
          <a:ext cx="0" cy="0"/>
          <a:chOff x="0" y="0"/>
          <a:chExt cx="0" cy="0"/>
        </a:xfrm>
      </p:grpSpPr>
      <p:pic>
        <p:nvPicPr>
          <p:cNvPr descr="Celestia-R1---OverlayContentHD.png" id="89" name="Google Shape;89;p33"/>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90" name="Google Shape;90;p33"/>
          <p:cNvSpPr txBox="1"/>
          <p:nvPr>
            <p:ph type="title"/>
          </p:nvPr>
        </p:nvSpPr>
        <p:spPr>
          <a:xfrm>
            <a:off x="685801" y="609601"/>
            <a:ext cx="10131427" cy="3124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3"/>
          <p:cNvSpPr txBox="1"/>
          <p:nvPr>
            <p:ph idx="1" type="body"/>
          </p:nvPr>
        </p:nvSpPr>
        <p:spPr>
          <a:xfrm>
            <a:off x="685800" y="4343400"/>
            <a:ext cx="10131428" cy="14478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92" name="Google Shape;92;p33"/>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3"/>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3"/>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5" name="Shape 95"/>
        <p:cNvGrpSpPr/>
        <p:nvPr/>
      </p:nvGrpSpPr>
      <p:grpSpPr>
        <a:xfrm>
          <a:off x="0" y="0"/>
          <a:ext cx="0" cy="0"/>
          <a:chOff x="0" y="0"/>
          <a:chExt cx="0" cy="0"/>
        </a:xfrm>
      </p:grpSpPr>
      <p:pic>
        <p:nvPicPr>
          <p:cNvPr descr="Celestia-R1---OverlayContentHD.png" id="96" name="Google Shape;96;p34"/>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97" name="Google Shape;97;p34"/>
          <p:cNvSpPr txBox="1"/>
          <p:nvPr/>
        </p:nvSpPr>
        <p:spPr>
          <a:xfrm>
            <a:off x="10237867" y="274320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8" name="Google Shape;98;p34"/>
          <p:cNvSpPr txBox="1"/>
          <p:nvPr/>
        </p:nvSpPr>
        <p:spPr>
          <a:xfrm>
            <a:off x="488275" y="823337"/>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9" name="Google Shape;99;p34"/>
          <p:cNvSpPr txBox="1"/>
          <p:nvPr>
            <p:ph type="title"/>
          </p:nvPr>
        </p:nvSpPr>
        <p:spPr>
          <a:xfrm>
            <a:off x="992267" y="609601"/>
            <a:ext cx="9550399" cy="2743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4"/>
          <p:cNvSpPr txBox="1"/>
          <p:nvPr>
            <p:ph idx="1" type="body"/>
          </p:nvPr>
        </p:nvSpPr>
        <p:spPr>
          <a:xfrm>
            <a:off x="1097875" y="3352800"/>
            <a:ext cx="9339184"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Font typeface="Calibri"/>
              <a:buNone/>
              <a:defRPr/>
            </a:lvl1pPr>
            <a:lvl2pPr indent="-228600" lvl="1" marL="914400" algn="l">
              <a:lnSpc>
                <a:spcPct val="100000"/>
              </a:lnSpc>
              <a:spcBef>
                <a:spcPts val="1000"/>
              </a:spcBef>
              <a:spcAft>
                <a:spcPts val="0"/>
              </a:spcAft>
              <a:buSzPts val="1600"/>
              <a:buFont typeface="Calibri"/>
              <a:buNone/>
              <a:defRPr/>
            </a:lvl2pPr>
            <a:lvl3pPr indent="-228600" lvl="2" marL="1371600" algn="l">
              <a:lnSpc>
                <a:spcPct val="100000"/>
              </a:lnSpc>
              <a:spcBef>
                <a:spcPts val="1000"/>
              </a:spcBef>
              <a:spcAft>
                <a:spcPts val="0"/>
              </a:spcAft>
              <a:buSzPts val="1400"/>
              <a:buFont typeface="Calibri"/>
              <a:buNone/>
              <a:defRPr/>
            </a:lvl3pPr>
            <a:lvl4pPr indent="-228600" lvl="3" marL="1828800" algn="l">
              <a:lnSpc>
                <a:spcPct val="100000"/>
              </a:lnSpc>
              <a:spcBef>
                <a:spcPts val="1000"/>
              </a:spcBef>
              <a:spcAft>
                <a:spcPts val="0"/>
              </a:spcAft>
              <a:buSzPts val="1200"/>
              <a:buFont typeface="Calibri"/>
              <a:buNone/>
              <a:defRPr/>
            </a:lvl4pPr>
            <a:lvl5pPr indent="-228600" lvl="4" marL="2286000" algn="l">
              <a:lnSpc>
                <a:spcPct val="100000"/>
              </a:lnSpc>
              <a:spcBef>
                <a:spcPts val="1000"/>
              </a:spcBef>
              <a:spcAft>
                <a:spcPts val="0"/>
              </a:spcAft>
              <a:buSzPts val="1200"/>
              <a:buFont typeface="Calibri"/>
              <a:buNone/>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01" name="Google Shape;101;p34"/>
          <p:cNvSpPr txBox="1"/>
          <p:nvPr>
            <p:ph idx="2" type="body"/>
          </p:nvPr>
        </p:nvSpPr>
        <p:spPr>
          <a:xfrm>
            <a:off x="687465" y="4343400"/>
            <a:ext cx="10152367" cy="14478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02" name="Google Shape;102;p34"/>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4"/>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34"/>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5" name="Shape 105"/>
        <p:cNvGrpSpPr/>
        <p:nvPr/>
      </p:nvGrpSpPr>
      <p:grpSpPr>
        <a:xfrm>
          <a:off x="0" y="0"/>
          <a:ext cx="0" cy="0"/>
          <a:chOff x="0" y="0"/>
          <a:chExt cx="0" cy="0"/>
        </a:xfrm>
      </p:grpSpPr>
      <p:pic>
        <p:nvPicPr>
          <p:cNvPr descr="Celestia-R1---OverlayContentHD.png" id="106" name="Google Shape;106;p35"/>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07" name="Google Shape;107;p35"/>
          <p:cNvSpPr txBox="1"/>
          <p:nvPr>
            <p:ph type="title"/>
          </p:nvPr>
        </p:nvSpPr>
        <p:spPr>
          <a:xfrm>
            <a:off x="685802" y="3308581"/>
            <a:ext cx="10131425" cy="1468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5"/>
          <p:cNvSpPr txBox="1"/>
          <p:nvPr>
            <p:ph idx="1" type="body"/>
          </p:nvPr>
        </p:nvSpPr>
        <p:spPr>
          <a:xfrm>
            <a:off x="685801" y="4777381"/>
            <a:ext cx="10131426"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09" name="Google Shape;109;p35"/>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5"/>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5"/>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2" name="Shape 112"/>
        <p:cNvGrpSpPr/>
        <p:nvPr/>
      </p:nvGrpSpPr>
      <p:grpSpPr>
        <a:xfrm>
          <a:off x="0" y="0"/>
          <a:ext cx="0" cy="0"/>
          <a:chOff x="0" y="0"/>
          <a:chExt cx="0" cy="0"/>
        </a:xfrm>
      </p:grpSpPr>
      <p:pic>
        <p:nvPicPr>
          <p:cNvPr descr="Celestia-R1---OverlayContentHD.png" id="113" name="Google Shape;113;p36"/>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14" name="Google Shape;114;p36"/>
          <p:cNvSpPr txBox="1"/>
          <p:nvPr/>
        </p:nvSpPr>
        <p:spPr>
          <a:xfrm>
            <a:off x="10237867" y="274320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5" name="Google Shape;115;p36"/>
          <p:cNvSpPr txBox="1"/>
          <p:nvPr/>
        </p:nvSpPr>
        <p:spPr>
          <a:xfrm>
            <a:off x="488275" y="823337"/>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6" name="Google Shape;116;p36"/>
          <p:cNvSpPr txBox="1"/>
          <p:nvPr>
            <p:ph type="title"/>
          </p:nvPr>
        </p:nvSpPr>
        <p:spPr>
          <a:xfrm>
            <a:off x="992267" y="609601"/>
            <a:ext cx="9550399" cy="2743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36"/>
          <p:cNvSpPr txBox="1"/>
          <p:nvPr>
            <p:ph idx="1" type="body"/>
          </p:nvPr>
        </p:nvSpPr>
        <p:spPr>
          <a:xfrm>
            <a:off x="685800" y="3886200"/>
            <a:ext cx="10135436" cy="8890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0"/>
              </a:spcBef>
              <a:spcAft>
                <a:spcPts val="0"/>
              </a:spcAft>
              <a:buSzPts val="2400"/>
              <a:buNone/>
              <a:defRPr b="0" sz="2400" cap="none">
                <a:solidFill>
                  <a:schemeClr val="lt1"/>
                </a:solidFil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18" name="Google Shape;118;p36"/>
          <p:cNvSpPr txBox="1"/>
          <p:nvPr>
            <p:ph idx="2" type="body"/>
          </p:nvPr>
        </p:nvSpPr>
        <p:spPr>
          <a:xfrm>
            <a:off x="685799" y="4775200"/>
            <a:ext cx="10135436" cy="1016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19" name="Google Shape;119;p36"/>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36"/>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36"/>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2" name="Shape 122"/>
        <p:cNvGrpSpPr/>
        <p:nvPr/>
      </p:nvGrpSpPr>
      <p:grpSpPr>
        <a:xfrm>
          <a:off x="0" y="0"/>
          <a:ext cx="0" cy="0"/>
          <a:chOff x="0" y="0"/>
          <a:chExt cx="0" cy="0"/>
        </a:xfrm>
      </p:grpSpPr>
      <p:pic>
        <p:nvPicPr>
          <p:cNvPr descr="Celestia-R1---OverlayContentHD.png" id="123" name="Google Shape;123;p37"/>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24" name="Google Shape;124;p37"/>
          <p:cNvSpPr txBox="1"/>
          <p:nvPr>
            <p:ph type="title"/>
          </p:nvPr>
        </p:nvSpPr>
        <p:spPr>
          <a:xfrm>
            <a:off x="685801" y="609601"/>
            <a:ext cx="10131427" cy="2743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Calibri"/>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7"/>
          <p:cNvSpPr txBox="1"/>
          <p:nvPr>
            <p:ph idx="1" type="body"/>
          </p:nvPr>
        </p:nvSpPr>
        <p:spPr>
          <a:xfrm>
            <a:off x="685801" y="3505200"/>
            <a:ext cx="10131428"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0"/>
              </a:spcBef>
              <a:spcAft>
                <a:spcPts val="0"/>
              </a:spcAft>
              <a:buSzPts val="2800"/>
              <a:buNone/>
              <a:defRPr b="0" sz="2800" cap="none">
                <a:solidFill>
                  <a:schemeClr val="lt1"/>
                </a:solidFil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26" name="Google Shape;126;p37"/>
          <p:cNvSpPr txBox="1"/>
          <p:nvPr>
            <p:ph idx="2" type="body"/>
          </p:nvPr>
        </p:nvSpPr>
        <p:spPr>
          <a:xfrm>
            <a:off x="685800" y="4343400"/>
            <a:ext cx="10131428"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27" name="Google Shape;127;p37"/>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37"/>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7"/>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0" name="Shape 130"/>
        <p:cNvGrpSpPr/>
        <p:nvPr/>
      </p:nvGrpSpPr>
      <p:grpSpPr>
        <a:xfrm>
          <a:off x="0" y="0"/>
          <a:ext cx="0" cy="0"/>
          <a:chOff x="0" y="0"/>
          <a:chExt cx="0" cy="0"/>
        </a:xfrm>
      </p:grpSpPr>
      <p:pic>
        <p:nvPicPr>
          <p:cNvPr descr="Celestia-R1---OverlayContentHD.png" id="131" name="Google Shape;131;p38"/>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32" name="Google Shape;132;p38"/>
          <p:cNvSpPr txBox="1"/>
          <p:nvPr>
            <p:ph idx="1" type="body"/>
          </p:nvPr>
        </p:nvSpPr>
        <p:spPr>
          <a:xfrm rot="5400000">
            <a:off x="3926947" y="-1099079"/>
            <a:ext cx="3649133" cy="10131425"/>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33" name="Google Shape;133;p38"/>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38"/>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38"/>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6" name="Google Shape;136;p38"/>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pic>
        <p:nvPicPr>
          <p:cNvPr descr="Celestia-R1---OverlayContentHD.png" id="138" name="Google Shape;138;p39"/>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39" name="Google Shape;139;p39"/>
          <p:cNvSpPr txBox="1"/>
          <p:nvPr>
            <p:ph type="title"/>
          </p:nvPr>
        </p:nvSpPr>
        <p:spPr>
          <a:xfrm rot="5400000">
            <a:off x="7147151" y="2121124"/>
            <a:ext cx="5181601" cy="2158552"/>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39"/>
          <p:cNvSpPr txBox="1"/>
          <p:nvPr>
            <p:ph idx="1" type="body"/>
          </p:nvPr>
        </p:nvSpPr>
        <p:spPr>
          <a:xfrm rot="5400000">
            <a:off x="2011058" y="-715658"/>
            <a:ext cx="5181600" cy="783211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41" name="Google Shape;141;p39"/>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39"/>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39"/>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lt1"/>
              </a:buClr>
              <a:buSzPts val="3600"/>
              <a:buFont typeface="Calibri"/>
              <a:buNone/>
              <a:defRPr b="0" i="0" sz="36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9pPr>
          </a:lstStyle>
          <a:p/>
        </p:txBody>
      </p:sp>
      <p:sp>
        <p:nvSpPr>
          <p:cNvPr id="11" name="Google Shape;11;p22"/>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lvl1pPr indent="-342900" lvl="0" marL="457200" marR="0" rtl="0" algn="l">
              <a:lnSpc>
                <a:spcPct val="100000"/>
              </a:lnSpc>
              <a:spcBef>
                <a:spcPts val="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Calibri"/>
                <a:ea typeface="Calibri"/>
                <a:cs typeface="Calibri"/>
                <a:sym typeface="Calibri"/>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9pPr>
          </a:lstStyle>
          <a:p/>
        </p:txBody>
      </p:sp>
      <p:sp>
        <p:nvSpPr>
          <p:cNvPr id="12" name="Google Shape;12;p22"/>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13" name="Google Shape;13;p22"/>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14" name="Google Shape;14;p22"/>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23.png"/><Relationship Id="rId7"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
          <p:cNvSpPr txBox="1"/>
          <p:nvPr>
            <p:ph type="ctrTitle"/>
          </p:nvPr>
        </p:nvSpPr>
        <p:spPr>
          <a:xfrm>
            <a:off x="0" y="2353397"/>
            <a:ext cx="11521440" cy="107560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lt1"/>
              </a:buClr>
              <a:buSzPts val="8000"/>
              <a:buFont typeface="Calibri"/>
              <a:buNone/>
            </a:pPr>
            <a:r>
              <a:rPr b="1" lang="en-US" sz="8000"/>
              <a:t>SQL FOR DATA ANALYTICS</a:t>
            </a:r>
            <a:endParaRPr/>
          </a:p>
        </p:txBody>
      </p:sp>
      <p:sp>
        <p:nvSpPr>
          <p:cNvPr id="150" name="Google Shape;150;p1"/>
          <p:cNvSpPr txBox="1"/>
          <p:nvPr/>
        </p:nvSpPr>
        <p:spPr>
          <a:xfrm>
            <a:off x="3483864" y="3602736"/>
            <a:ext cx="55412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Module 2: Update, Delete, Querying &amp; Filtering Data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4000"/>
              <a:buFont typeface="Calibri"/>
              <a:buNone/>
            </a:pPr>
            <a:r>
              <a:rPr b="1" lang="en-US" sz="4000"/>
              <a:t>OVERVIEW:</a:t>
            </a:r>
            <a:endParaRPr/>
          </a:p>
        </p:txBody>
      </p:sp>
      <p:sp>
        <p:nvSpPr>
          <p:cNvPr id="156" name="Google Shape;156;p2"/>
          <p:cNvSpPr txBox="1"/>
          <p:nvPr/>
        </p:nvSpPr>
        <p:spPr>
          <a:xfrm>
            <a:off x="685801" y="1920240"/>
            <a:ext cx="10683239"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Calibri"/>
                <a:ea typeface="Calibri"/>
                <a:cs typeface="Calibri"/>
                <a:sym typeface="Calibri"/>
              </a:rPr>
              <a:t>This lesson introduces students to essential SQL skills used in real-world data analytics and database management. Learners will explore how to retrieve, filter, update, and remove data safely and effectively. By the end of the session, students will understand how to write precise queries to analyze datasets and maintain clean, accurate database records.</a:t>
            </a:r>
            <a:endParaRPr b="0" i="0" sz="2800" u="none" cap="none" strike="noStrike">
              <a:solidFill>
                <a:schemeClr val="lt1"/>
              </a:solidFill>
              <a:latin typeface="Calibri"/>
              <a:ea typeface="Calibri"/>
              <a:cs typeface="Calibri"/>
              <a:sym typeface="Calibri"/>
            </a:endParaRPr>
          </a:p>
        </p:txBody>
      </p:sp>
      <p:sp>
        <p:nvSpPr>
          <p:cNvPr id="157" name="Google Shape;157;p2"/>
          <p:cNvSpPr txBox="1"/>
          <p:nvPr/>
        </p:nvSpPr>
        <p:spPr>
          <a:xfrm>
            <a:off x="685801" y="4837176"/>
            <a:ext cx="8750808"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By the end of this lesson, learners will: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Confidently query and filter datasets for analytics tasks.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Perform update and delete operations while minimizing risk.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Understand the importance of accuracy, safety, and validation when modifying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txBox="1"/>
          <p:nvPr>
            <p:ph type="title"/>
          </p:nvPr>
        </p:nvSpPr>
        <p:spPr>
          <a:xfrm>
            <a:off x="164593" y="271949"/>
            <a:ext cx="8979407" cy="123681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Calibri"/>
              <a:buNone/>
            </a:pPr>
            <a:r>
              <a:rPr lang="en-US" sz="2800"/>
              <a:t>KEY LEARNING AREAS:</a:t>
            </a:r>
            <a:endParaRPr/>
          </a:p>
        </p:txBody>
      </p:sp>
      <p:sp>
        <p:nvSpPr>
          <p:cNvPr id="163" name="Google Shape;163;p3"/>
          <p:cNvSpPr txBox="1"/>
          <p:nvPr/>
        </p:nvSpPr>
        <p:spPr>
          <a:xfrm>
            <a:off x="548639" y="1124712"/>
            <a:ext cx="10789921" cy="56938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1. Querying Data</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Use the </a:t>
            </a:r>
            <a:r>
              <a:rPr b="0" i="0" lang="en-US" sz="1400" u="none" cap="none" strike="noStrike">
                <a:solidFill>
                  <a:srgbClr val="FFFF00"/>
                </a:solidFill>
                <a:latin typeface="Calibri"/>
                <a:ea typeface="Calibri"/>
                <a:cs typeface="Calibri"/>
                <a:sym typeface="Calibri"/>
              </a:rPr>
              <a:t>SELECT</a:t>
            </a:r>
            <a:r>
              <a:rPr b="0" i="0" lang="en-US" sz="1400" u="none" cap="none" strike="noStrike">
                <a:solidFill>
                  <a:schemeClr val="lt1"/>
                </a:solidFill>
                <a:latin typeface="Calibri"/>
                <a:ea typeface="Calibri"/>
                <a:cs typeface="Calibri"/>
                <a:sym typeface="Calibri"/>
              </a:rPr>
              <a:t> statement to retrieve specific columns or entire datasets.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Apply aliases to rename columns for readability.</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Understand how to sort and limit results for better data exploration.</a:t>
            </a:r>
            <a:br>
              <a:rPr b="0" i="0" lang="en-US" sz="1400" u="none" cap="none" strike="noStrike">
                <a:solidFill>
                  <a:schemeClr val="lt1"/>
                </a:solidFill>
                <a:latin typeface="Calibri"/>
                <a:ea typeface="Calibri"/>
                <a:cs typeface="Calibri"/>
                <a:sym typeface="Calibri"/>
              </a:rPr>
            </a:br>
            <a:endParaRPr b="0"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2. Filtering Data</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Filter records using </a:t>
            </a:r>
            <a:r>
              <a:rPr b="0" i="0" lang="en-US" sz="1400" u="none" cap="none" strike="noStrike">
                <a:solidFill>
                  <a:srgbClr val="FFFF00"/>
                </a:solidFill>
                <a:latin typeface="Calibri"/>
                <a:ea typeface="Calibri"/>
                <a:cs typeface="Calibri"/>
                <a:sym typeface="Calibri"/>
              </a:rPr>
              <a:t>WHERE</a:t>
            </a:r>
            <a:r>
              <a:rPr b="0" i="0" lang="en-US" sz="1400" u="none" cap="none" strike="noStrike">
                <a:solidFill>
                  <a:schemeClr val="lt1"/>
                </a:solidFill>
                <a:latin typeface="Calibri"/>
                <a:ea typeface="Calibri"/>
                <a:cs typeface="Calibri"/>
                <a:sym typeface="Calibri"/>
              </a:rPr>
              <a:t> with comparison and logical operators.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Use pattern matching with LIKE and wildcard characters.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Apply conditions to extract actionable insights from datasets.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3. Aggregating Data</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Use aggregate functions such as </a:t>
            </a:r>
            <a:r>
              <a:rPr b="0" i="0" lang="en-US" sz="1400" u="none" cap="none" strike="noStrike">
                <a:solidFill>
                  <a:srgbClr val="FFFF00"/>
                </a:solidFill>
                <a:latin typeface="Calibri"/>
                <a:ea typeface="Calibri"/>
                <a:cs typeface="Calibri"/>
                <a:sym typeface="Calibri"/>
              </a:rPr>
              <a:t>COUNT(), SUM(), AVG(), MIN(), and MAX() </a:t>
            </a:r>
            <a:r>
              <a:rPr b="0" i="0" lang="en-US" sz="1400" u="none" cap="none" strike="noStrike">
                <a:solidFill>
                  <a:schemeClr val="lt1"/>
                </a:solidFill>
                <a:latin typeface="Calibri"/>
                <a:ea typeface="Calibri"/>
                <a:cs typeface="Calibri"/>
                <a:sym typeface="Calibri"/>
              </a:rPr>
              <a:t>to summarize data.</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Group data using </a:t>
            </a:r>
            <a:r>
              <a:rPr b="0" i="0" lang="en-US" sz="1400" u="none" cap="none" strike="noStrike">
                <a:solidFill>
                  <a:srgbClr val="FFFF00"/>
                </a:solidFill>
                <a:latin typeface="Calibri"/>
                <a:ea typeface="Calibri"/>
                <a:cs typeface="Calibri"/>
                <a:sym typeface="Calibri"/>
              </a:rPr>
              <a:t>GROUP BY </a:t>
            </a:r>
            <a:r>
              <a:rPr b="0" i="0" lang="en-US" sz="1400" u="none" cap="none" strike="noStrike">
                <a:solidFill>
                  <a:schemeClr val="lt1"/>
                </a:solidFill>
                <a:latin typeface="Calibri"/>
                <a:ea typeface="Calibri"/>
                <a:cs typeface="Calibri"/>
                <a:sym typeface="Calibri"/>
              </a:rPr>
              <a:t>to analyze trends and patterns across categories.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Filter aggregated results using </a:t>
            </a:r>
            <a:r>
              <a:rPr b="0" i="0" lang="en-US" sz="1400" u="none" cap="none" strike="noStrike">
                <a:solidFill>
                  <a:srgbClr val="FFFF00"/>
                </a:solidFill>
                <a:latin typeface="Calibri"/>
                <a:ea typeface="Calibri"/>
                <a:cs typeface="Calibri"/>
                <a:sym typeface="Calibri"/>
              </a:rPr>
              <a:t>HAVING</a:t>
            </a:r>
            <a:r>
              <a:rPr b="0" i="0" lang="en-US" sz="1400" u="none" cap="none" strike="noStrike">
                <a:solidFill>
                  <a:schemeClr val="lt1"/>
                </a:solidFill>
                <a:latin typeface="Calibri"/>
                <a:ea typeface="Calibri"/>
                <a:cs typeface="Calibri"/>
                <a:sym typeface="Calibri"/>
              </a:rPr>
              <a:t> to refine grouped data.</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Apply aggregation in real analytics scenarios such as total sales, average revenue, customer count, and performance metrics.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4. Updating Data</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Modify existing records using the </a:t>
            </a:r>
            <a:r>
              <a:rPr b="0" i="0" lang="en-US" sz="1400" u="none" cap="none" strike="noStrike">
                <a:solidFill>
                  <a:srgbClr val="FFFF00"/>
                </a:solidFill>
                <a:latin typeface="Calibri"/>
                <a:ea typeface="Calibri"/>
                <a:cs typeface="Calibri"/>
                <a:sym typeface="Calibri"/>
              </a:rPr>
              <a:t>UPDATE</a:t>
            </a:r>
            <a:r>
              <a:rPr b="0" i="0" lang="en-US" sz="1400" u="none" cap="none" strike="noStrike">
                <a:solidFill>
                  <a:schemeClr val="lt1"/>
                </a:solidFill>
                <a:latin typeface="Calibri"/>
                <a:ea typeface="Calibri"/>
                <a:cs typeface="Calibri"/>
                <a:sym typeface="Calibri"/>
              </a:rPr>
              <a:t> statement.</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Apply safe update practices using targeted </a:t>
            </a:r>
            <a:r>
              <a:rPr b="0" i="0" lang="en-US" sz="1400" u="none" cap="none" strike="noStrike">
                <a:solidFill>
                  <a:srgbClr val="FFFF00"/>
                </a:solidFill>
                <a:latin typeface="Calibri"/>
                <a:ea typeface="Calibri"/>
                <a:cs typeface="Calibri"/>
                <a:sym typeface="Calibri"/>
              </a:rPr>
              <a:t>WHERE</a:t>
            </a:r>
            <a:r>
              <a:rPr b="0" i="0" lang="en-US" sz="1400" u="none" cap="none" strike="noStrike">
                <a:solidFill>
                  <a:schemeClr val="lt1"/>
                </a:solidFill>
                <a:latin typeface="Calibri"/>
                <a:ea typeface="Calibri"/>
                <a:cs typeface="Calibri"/>
                <a:sym typeface="Calibri"/>
              </a:rPr>
              <a:t> clauses.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Understand risks of broad updates and how to avoid unintended changes.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5. Deleting Data</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Remove records using the </a:t>
            </a:r>
            <a:r>
              <a:rPr b="0" i="0" lang="en-US" sz="1400" u="none" cap="none" strike="noStrike">
                <a:solidFill>
                  <a:srgbClr val="FFFF00"/>
                </a:solidFill>
                <a:latin typeface="Calibri"/>
                <a:ea typeface="Calibri"/>
                <a:cs typeface="Calibri"/>
                <a:sym typeface="Calibri"/>
              </a:rPr>
              <a:t>DELETE</a:t>
            </a:r>
            <a:r>
              <a:rPr b="0" i="0" lang="en-US" sz="1400" u="none" cap="none" strike="noStrike">
                <a:solidFill>
                  <a:schemeClr val="lt1"/>
                </a:solidFill>
                <a:latin typeface="Calibri"/>
                <a:ea typeface="Calibri"/>
                <a:cs typeface="Calibri"/>
                <a:sym typeface="Calibri"/>
              </a:rPr>
              <a:t> statement.</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Implement safe delete operations with proper condition filtering.</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Calibri"/>
                <a:ea typeface="Calibri"/>
                <a:cs typeface="Calibri"/>
                <a:sym typeface="Calibri"/>
              </a:rPr>
              <a:t>Learn best practices for backup and data integrity before deletion.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
          <p:cNvSpPr txBox="1"/>
          <p:nvPr/>
        </p:nvSpPr>
        <p:spPr>
          <a:xfrm>
            <a:off x="530352" y="466344"/>
            <a:ext cx="375818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00"/>
                </a:solidFill>
                <a:latin typeface="Calibri"/>
                <a:ea typeface="Calibri"/>
                <a:cs typeface="Calibri"/>
                <a:sym typeface="Calibri"/>
              </a:rPr>
              <a:t>SELECT</a:t>
            </a:r>
            <a:r>
              <a:rPr b="1" i="0" lang="en-US" sz="3600" u="none" cap="none" strike="noStrike">
                <a:solidFill>
                  <a:schemeClr val="lt1"/>
                </a:solidFill>
                <a:latin typeface="Calibri"/>
                <a:ea typeface="Calibri"/>
                <a:cs typeface="Calibri"/>
                <a:sym typeface="Calibri"/>
              </a:rPr>
              <a:t> </a:t>
            </a:r>
            <a:r>
              <a:rPr b="0" i="0" lang="en-US" sz="3600" u="none" cap="none" strike="noStrike">
                <a:solidFill>
                  <a:schemeClr val="lt1"/>
                </a:solidFill>
                <a:latin typeface="Calibri"/>
                <a:ea typeface="Calibri"/>
                <a:cs typeface="Calibri"/>
                <a:sym typeface="Calibri"/>
              </a:rPr>
              <a:t>Statement</a:t>
            </a:r>
            <a:r>
              <a:rPr b="1" i="0" lang="en-US" sz="36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69" name="Google Shape;169;p4"/>
          <p:cNvSpPr txBox="1"/>
          <p:nvPr/>
        </p:nvSpPr>
        <p:spPr>
          <a:xfrm>
            <a:off x="530352" y="1284732"/>
            <a:ext cx="77724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The SELECT command is the most frequently used SQL statement. Data analysts use it to retrieve data from one or more tables.</a:t>
            </a:r>
            <a:endParaRPr b="0" i="0" sz="1800" u="none" cap="none" strike="noStrike">
              <a:solidFill>
                <a:schemeClr val="lt1"/>
              </a:solidFill>
              <a:latin typeface="Calibri"/>
              <a:ea typeface="Calibri"/>
              <a:cs typeface="Calibri"/>
              <a:sym typeface="Calibri"/>
            </a:endParaRPr>
          </a:p>
        </p:txBody>
      </p:sp>
      <p:sp>
        <p:nvSpPr>
          <p:cNvPr id="170" name="Google Shape;170;p4"/>
          <p:cNvSpPr txBox="1"/>
          <p:nvPr/>
        </p:nvSpPr>
        <p:spPr>
          <a:xfrm>
            <a:off x="530352" y="2103120"/>
            <a:ext cx="7909560" cy="176479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alibri"/>
                <a:ea typeface="Calibri"/>
                <a:cs typeface="Calibri"/>
                <a:sym typeface="Calibri"/>
              </a:rPr>
              <a:t>Key Points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SELECT * retrieves everything, but is not recommended for production work.</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It is better to name only the columns you need.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Aliases (AS) improve readability of reports.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Sorting and limiting help analysts explore large datasets faster.</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1" name="Google Shape;171;p4"/>
          <p:cNvSpPr txBox="1"/>
          <p:nvPr/>
        </p:nvSpPr>
        <p:spPr>
          <a:xfrm>
            <a:off x="594360" y="3962918"/>
            <a:ext cx="402336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Calibri"/>
                <a:ea typeface="Calibri"/>
                <a:cs typeface="Calibri"/>
                <a:sym typeface="Calibri"/>
              </a:rPr>
              <a:t>Syntax :</a:t>
            </a:r>
            <a:endParaRPr b="0" i="0" sz="1400" u="none" cap="none" strike="noStrike">
              <a:solidFill>
                <a:srgbClr val="000000"/>
              </a:solidFill>
              <a:latin typeface="Arial"/>
              <a:ea typeface="Arial"/>
              <a:cs typeface="Arial"/>
              <a:sym typeface="Arial"/>
            </a:endParaRPr>
          </a:p>
        </p:txBody>
      </p:sp>
      <p:sp>
        <p:nvSpPr>
          <p:cNvPr id="172" name="Google Shape;172;p4"/>
          <p:cNvSpPr txBox="1"/>
          <p:nvPr/>
        </p:nvSpPr>
        <p:spPr>
          <a:xfrm>
            <a:off x="594360" y="4581144"/>
            <a:ext cx="402336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SELECT </a:t>
            </a:r>
            <a:r>
              <a:rPr b="0" i="1" lang="en-US" sz="1800" u="none" cap="none" strike="noStrike">
                <a:solidFill>
                  <a:schemeClr val="lt1"/>
                </a:solidFill>
                <a:latin typeface="Calibri"/>
                <a:ea typeface="Calibri"/>
                <a:cs typeface="Calibri"/>
                <a:sym typeface="Calibri"/>
              </a:rPr>
              <a:t>column1</a:t>
            </a:r>
            <a:r>
              <a:rPr b="0" i="0" lang="en-US" sz="1800" u="none" cap="none" strike="noStrike">
                <a:solidFill>
                  <a:schemeClr val="lt1"/>
                </a:solidFill>
                <a:latin typeface="Calibri"/>
                <a:ea typeface="Calibri"/>
                <a:cs typeface="Calibri"/>
                <a:sym typeface="Calibri"/>
              </a:rPr>
              <a:t>,</a:t>
            </a:r>
            <a:r>
              <a:rPr b="0" i="1" lang="en-US" sz="1800" u="none" cap="none" strike="noStrike">
                <a:solidFill>
                  <a:schemeClr val="lt1"/>
                </a:solidFill>
                <a:latin typeface="Calibri"/>
                <a:ea typeface="Calibri"/>
                <a:cs typeface="Calibri"/>
                <a:sym typeface="Calibri"/>
              </a:rPr>
              <a:t> column2, ...</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FROM </a:t>
            </a:r>
            <a:r>
              <a:rPr b="0" i="1" lang="en-US" sz="1800" u="none" cap="none" strike="noStrike">
                <a:solidFill>
                  <a:schemeClr val="lt1"/>
                </a:solidFill>
                <a:latin typeface="Calibri"/>
                <a:ea typeface="Calibri"/>
                <a:cs typeface="Calibri"/>
                <a:sym typeface="Calibri"/>
              </a:rPr>
              <a:t>table_name</a:t>
            </a:r>
            <a:r>
              <a:rPr b="0" i="0" lang="en-US" sz="1800" u="none" cap="none" strike="noStrike">
                <a:solidFill>
                  <a:schemeClr val="lt1"/>
                </a:solidFill>
                <a:latin typeface="Calibri"/>
                <a:ea typeface="Calibri"/>
                <a:cs typeface="Calibri"/>
                <a:sym typeface="Calibri"/>
              </a:rPr>
              <a:t>;</a:t>
            </a:r>
            <a:endParaRPr b="0" i="0" sz="1800" u="none" cap="none" strike="noStrike">
              <a:solidFill>
                <a:schemeClr val="lt1"/>
              </a:solidFill>
              <a:latin typeface="Calibri"/>
              <a:ea typeface="Calibri"/>
              <a:cs typeface="Calibri"/>
              <a:sym typeface="Calibri"/>
            </a:endParaRPr>
          </a:p>
        </p:txBody>
      </p:sp>
      <p:pic>
        <p:nvPicPr>
          <p:cNvPr id="173" name="Google Shape;173;p4"/>
          <p:cNvPicPr preferRelativeResize="0"/>
          <p:nvPr/>
        </p:nvPicPr>
        <p:blipFill rotWithShape="1">
          <a:blip r:embed="rId3">
            <a:alphaModFix/>
          </a:blip>
          <a:srcRect b="0" l="0" r="0" t="0"/>
          <a:stretch/>
        </p:blipFill>
        <p:spPr>
          <a:xfrm>
            <a:off x="676656" y="5322481"/>
            <a:ext cx="6192114" cy="64779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5"/>
          <p:cNvSpPr txBox="1"/>
          <p:nvPr>
            <p:ph type="title"/>
          </p:nvPr>
        </p:nvSpPr>
        <p:spPr>
          <a:xfrm>
            <a:off x="265177" y="134113"/>
            <a:ext cx="3831335" cy="93268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b="1" lang="en-US"/>
              <a:t>EXAMPLE</a:t>
            </a:r>
            <a:r>
              <a:rPr lang="en-US"/>
              <a:t>:</a:t>
            </a:r>
            <a:endParaRPr/>
          </a:p>
        </p:txBody>
      </p:sp>
      <p:sp>
        <p:nvSpPr>
          <p:cNvPr id="179" name="Google Shape;179;p5"/>
          <p:cNvSpPr txBox="1"/>
          <p:nvPr/>
        </p:nvSpPr>
        <p:spPr>
          <a:xfrm>
            <a:off x="265177" y="955287"/>
            <a:ext cx="159105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Using Aliases:</a:t>
            </a:r>
            <a:endParaRPr b="0" i="0" sz="1400" u="none" cap="none" strike="noStrike">
              <a:solidFill>
                <a:srgbClr val="000000"/>
              </a:solidFill>
              <a:latin typeface="Arial"/>
              <a:ea typeface="Arial"/>
              <a:cs typeface="Arial"/>
              <a:sym typeface="Arial"/>
            </a:endParaRPr>
          </a:p>
        </p:txBody>
      </p:sp>
      <p:sp>
        <p:nvSpPr>
          <p:cNvPr id="180" name="Google Shape;180;p5"/>
          <p:cNvSpPr txBox="1"/>
          <p:nvPr/>
        </p:nvSpPr>
        <p:spPr>
          <a:xfrm>
            <a:off x="265177" y="1324619"/>
            <a:ext cx="19842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p:txBody>
      </p:sp>
      <p:sp>
        <p:nvSpPr>
          <p:cNvPr id="181" name="Google Shape;181;p5"/>
          <p:cNvSpPr txBox="1"/>
          <p:nvPr/>
        </p:nvSpPr>
        <p:spPr>
          <a:xfrm>
            <a:off x="265177" y="1693951"/>
            <a:ext cx="409651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SELECT </a:t>
            </a:r>
            <a:r>
              <a:rPr b="0" i="1" lang="en-US" sz="1800" u="none" cap="none" strike="noStrike">
                <a:solidFill>
                  <a:schemeClr val="lt1"/>
                </a:solidFill>
                <a:latin typeface="Calibri"/>
                <a:ea typeface="Calibri"/>
                <a:cs typeface="Calibri"/>
                <a:sym typeface="Calibri"/>
              </a:rPr>
              <a:t>column_name</a:t>
            </a:r>
            <a:r>
              <a:rPr b="0" i="0" lang="en-US" sz="1800" u="none" cap="none" strike="noStrike">
                <a:solidFill>
                  <a:schemeClr val="lt1"/>
                </a:solidFill>
                <a:latin typeface="Calibri"/>
                <a:ea typeface="Calibri"/>
                <a:cs typeface="Calibri"/>
                <a:sym typeface="Calibri"/>
              </a:rPr>
              <a:t> AS </a:t>
            </a:r>
            <a:r>
              <a:rPr b="0" i="1" lang="en-US" sz="1800" u="none" cap="none" strike="noStrike">
                <a:solidFill>
                  <a:schemeClr val="lt1"/>
                </a:solidFill>
                <a:latin typeface="Calibri"/>
                <a:ea typeface="Calibri"/>
                <a:cs typeface="Calibri"/>
                <a:sym typeface="Calibri"/>
              </a:rPr>
              <a:t>alias_name</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FROM </a:t>
            </a:r>
            <a:r>
              <a:rPr b="0" i="1" lang="en-US" sz="1800" u="none" cap="none" strike="noStrike">
                <a:solidFill>
                  <a:schemeClr val="lt1"/>
                </a:solidFill>
                <a:latin typeface="Calibri"/>
                <a:ea typeface="Calibri"/>
                <a:cs typeface="Calibri"/>
                <a:sym typeface="Calibri"/>
              </a:rPr>
              <a:t>table_name;</a:t>
            </a:r>
            <a:endParaRPr b="0" i="0" sz="1800" u="none" cap="none" strike="noStrike">
              <a:solidFill>
                <a:schemeClr val="lt1"/>
              </a:solidFill>
              <a:latin typeface="Calibri"/>
              <a:ea typeface="Calibri"/>
              <a:cs typeface="Calibri"/>
              <a:sym typeface="Calibri"/>
            </a:endParaRPr>
          </a:p>
        </p:txBody>
      </p:sp>
      <p:pic>
        <p:nvPicPr>
          <p:cNvPr id="182" name="Google Shape;182;p5"/>
          <p:cNvPicPr preferRelativeResize="0"/>
          <p:nvPr/>
        </p:nvPicPr>
        <p:blipFill rotWithShape="1">
          <a:blip r:embed="rId3">
            <a:alphaModFix/>
          </a:blip>
          <a:srcRect b="0" l="0" r="0" t="0"/>
          <a:stretch/>
        </p:blipFill>
        <p:spPr>
          <a:xfrm>
            <a:off x="5482132" y="1393167"/>
            <a:ext cx="6011114" cy="809738"/>
          </a:xfrm>
          <a:prstGeom prst="rect">
            <a:avLst/>
          </a:prstGeom>
          <a:noFill/>
          <a:ln>
            <a:noFill/>
          </a:ln>
        </p:spPr>
      </p:pic>
      <p:sp>
        <p:nvSpPr>
          <p:cNvPr id="183" name="Google Shape;183;p5"/>
          <p:cNvSpPr txBox="1"/>
          <p:nvPr/>
        </p:nvSpPr>
        <p:spPr>
          <a:xfrm>
            <a:off x="265177" y="2564601"/>
            <a:ext cx="19842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Sorting:</a:t>
            </a:r>
            <a:endParaRPr b="0" i="0" sz="1400" u="none" cap="none" strike="noStrike">
              <a:solidFill>
                <a:srgbClr val="000000"/>
              </a:solidFill>
              <a:latin typeface="Arial"/>
              <a:ea typeface="Arial"/>
              <a:cs typeface="Arial"/>
              <a:sym typeface="Arial"/>
            </a:endParaRPr>
          </a:p>
        </p:txBody>
      </p:sp>
      <p:sp>
        <p:nvSpPr>
          <p:cNvPr id="184" name="Google Shape;184;p5"/>
          <p:cNvSpPr txBox="1"/>
          <p:nvPr/>
        </p:nvSpPr>
        <p:spPr>
          <a:xfrm>
            <a:off x="265177" y="2901079"/>
            <a:ext cx="19842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p:txBody>
      </p:sp>
      <p:sp>
        <p:nvSpPr>
          <p:cNvPr id="185" name="Google Shape;185;p5"/>
          <p:cNvSpPr txBox="1"/>
          <p:nvPr/>
        </p:nvSpPr>
        <p:spPr>
          <a:xfrm>
            <a:off x="265177" y="3270411"/>
            <a:ext cx="477316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SELECT column1, column2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FROM table_name</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ORDER BY column1 ASC;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86" name="Google Shape;186;p5"/>
          <p:cNvPicPr preferRelativeResize="0"/>
          <p:nvPr/>
        </p:nvPicPr>
        <p:blipFill rotWithShape="1">
          <a:blip r:embed="rId4">
            <a:alphaModFix/>
          </a:blip>
          <a:srcRect b="0" l="0" r="0" t="0"/>
          <a:stretch/>
        </p:blipFill>
        <p:spPr>
          <a:xfrm>
            <a:off x="5586946" y="3009948"/>
            <a:ext cx="3267531" cy="1228896"/>
          </a:xfrm>
          <a:prstGeom prst="rect">
            <a:avLst/>
          </a:prstGeom>
          <a:noFill/>
          <a:ln>
            <a:noFill/>
          </a:ln>
        </p:spPr>
      </p:pic>
      <p:sp>
        <p:nvSpPr>
          <p:cNvPr id="187" name="Google Shape;187;p5"/>
          <p:cNvSpPr txBox="1"/>
          <p:nvPr/>
        </p:nvSpPr>
        <p:spPr>
          <a:xfrm>
            <a:off x="5398770" y="956964"/>
            <a:ext cx="609447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Using Aliases:</a:t>
            </a:r>
            <a:endParaRPr b="0" i="0" sz="1400" u="none" cap="none" strike="noStrike">
              <a:solidFill>
                <a:srgbClr val="000000"/>
              </a:solidFill>
              <a:latin typeface="Arial"/>
              <a:ea typeface="Arial"/>
              <a:cs typeface="Arial"/>
              <a:sym typeface="Arial"/>
            </a:endParaRPr>
          </a:p>
        </p:txBody>
      </p:sp>
      <p:sp>
        <p:nvSpPr>
          <p:cNvPr id="188" name="Google Shape;188;p5"/>
          <p:cNvSpPr txBox="1"/>
          <p:nvPr/>
        </p:nvSpPr>
        <p:spPr>
          <a:xfrm>
            <a:off x="5495544" y="2564601"/>
            <a:ext cx="19842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Sorting:</a:t>
            </a:r>
            <a:endParaRPr b="0" i="0" sz="1400" u="none" cap="none" strike="noStrike">
              <a:solidFill>
                <a:srgbClr val="000000"/>
              </a:solidFill>
              <a:latin typeface="Arial"/>
              <a:ea typeface="Arial"/>
              <a:cs typeface="Arial"/>
              <a:sym typeface="Arial"/>
            </a:endParaRPr>
          </a:p>
        </p:txBody>
      </p:sp>
      <p:sp>
        <p:nvSpPr>
          <p:cNvPr id="189" name="Google Shape;189;p5"/>
          <p:cNvSpPr txBox="1"/>
          <p:nvPr/>
        </p:nvSpPr>
        <p:spPr>
          <a:xfrm>
            <a:off x="265175" y="4500119"/>
            <a:ext cx="307238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Limit:</a:t>
            </a:r>
            <a:endParaRPr b="0" i="0" sz="1400" u="none" cap="none" strike="noStrike">
              <a:solidFill>
                <a:srgbClr val="000000"/>
              </a:solidFill>
              <a:latin typeface="Arial"/>
              <a:ea typeface="Arial"/>
              <a:cs typeface="Arial"/>
              <a:sym typeface="Arial"/>
            </a:endParaRPr>
          </a:p>
        </p:txBody>
      </p:sp>
      <p:sp>
        <p:nvSpPr>
          <p:cNvPr id="190" name="Google Shape;190;p5"/>
          <p:cNvSpPr txBox="1"/>
          <p:nvPr/>
        </p:nvSpPr>
        <p:spPr>
          <a:xfrm>
            <a:off x="265177" y="5245582"/>
            <a:ext cx="477316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SELECT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FROM table_name</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LIMIT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91" name="Google Shape;191;p5"/>
          <p:cNvPicPr preferRelativeResize="0"/>
          <p:nvPr/>
        </p:nvPicPr>
        <p:blipFill rotWithShape="1">
          <a:blip r:embed="rId5">
            <a:alphaModFix/>
          </a:blip>
          <a:srcRect b="0" l="0" r="0" t="0"/>
          <a:stretch/>
        </p:blipFill>
        <p:spPr>
          <a:xfrm>
            <a:off x="5708644" y="4840072"/>
            <a:ext cx="3734321" cy="924054"/>
          </a:xfrm>
          <a:prstGeom prst="rect">
            <a:avLst/>
          </a:prstGeom>
          <a:noFill/>
          <a:ln>
            <a:noFill/>
          </a:ln>
        </p:spPr>
      </p:pic>
      <p:sp>
        <p:nvSpPr>
          <p:cNvPr id="192" name="Google Shape;192;p5"/>
          <p:cNvSpPr txBox="1"/>
          <p:nvPr/>
        </p:nvSpPr>
        <p:spPr>
          <a:xfrm>
            <a:off x="5591556" y="4437886"/>
            <a:ext cx="266547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Limit: Returns the first 5 rows</a:t>
            </a:r>
            <a:endParaRPr b="0" i="0" sz="1400" u="none" cap="none" strike="noStrike">
              <a:solidFill>
                <a:srgbClr val="000000"/>
              </a:solidFill>
              <a:latin typeface="Arial"/>
              <a:ea typeface="Arial"/>
              <a:cs typeface="Arial"/>
              <a:sym typeface="Arial"/>
            </a:endParaRPr>
          </a:p>
        </p:txBody>
      </p:sp>
      <p:sp>
        <p:nvSpPr>
          <p:cNvPr id="193" name="Google Shape;193;p5"/>
          <p:cNvSpPr txBox="1"/>
          <p:nvPr/>
        </p:nvSpPr>
        <p:spPr>
          <a:xfrm>
            <a:off x="9284206" y="3085745"/>
            <a:ext cx="2642617"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ORDER BY Can Be: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ASC: Ascending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DESC: Descending</a:t>
            </a:r>
            <a:endParaRPr b="0" i="0" sz="1400" u="none" cap="none" strike="noStrike">
              <a:solidFill>
                <a:srgbClr val="000000"/>
              </a:solidFill>
              <a:latin typeface="Arial"/>
              <a:ea typeface="Arial"/>
              <a:cs typeface="Arial"/>
              <a:sym typeface="Arial"/>
            </a:endParaRPr>
          </a:p>
        </p:txBody>
      </p:sp>
      <p:sp>
        <p:nvSpPr>
          <p:cNvPr id="194" name="Google Shape;194;p5"/>
          <p:cNvSpPr txBox="1"/>
          <p:nvPr/>
        </p:nvSpPr>
        <p:spPr>
          <a:xfrm>
            <a:off x="265175" y="4932767"/>
            <a:ext cx="19842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6"/>
          <p:cNvSpPr txBox="1"/>
          <p:nvPr/>
        </p:nvSpPr>
        <p:spPr>
          <a:xfrm>
            <a:off x="530352" y="466344"/>
            <a:ext cx="375818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00"/>
                </a:solidFill>
                <a:latin typeface="Calibri"/>
                <a:ea typeface="Calibri"/>
                <a:cs typeface="Calibri"/>
                <a:sym typeface="Calibri"/>
              </a:rPr>
              <a:t>WHERE</a:t>
            </a:r>
            <a:r>
              <a:rPr b="1" i="0" lang="en-US" sz="3600" u="none" cap="none" strike="noStrike">
                <a:solidFill>
                  <a:schemeClr val="lt1"/>
                </a:solidFill>
                <a:latin typeface="Calibri"/>
                <a:ea typeface="Calibri"/>
                <a:cs typeface="Calibri"/>
                <a:sym typeface="Calibri"/>
              </a:rPr>
              <a:t> </a:t>
            </a:r>
            <a:r>
              <a:rPr b="0" i="0" lang="en-US" sz="3600" u="none" cap="none" strike="noStrike">
                <a:solidFill>
                  <a:schemeClr val="lt1"/>
                </a:solidFill>
                <a:latin typeface="Calibri"/>
                <a:ea typeface="Calibri"/>
                <a:cs typeface="Calibri"/>
                <a:sym typeface="Calibri"/>
              </a:rPr>
              <a:t>Statement</a:t>
            </a:r>
            <a:r>
              <a:rPr b="1" i="0" lang="en-US" sz="36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00" name="Google Shape;200;p6"/>
          <p:cNvSpPr txBox="1"/>
          <p:nvPr/>
        </p:nvSpPr>
        <p:spPr>
          <a:xfrm>
            <a:off x="740664" y="1280160"/>
            <a:ext cx="950976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Filtering is essential in analytics—it narrows down data to what is relevant. WHERE allows analysts to apply conditions.</a:t>
            </a:r>
            <a:endParaRPr b="0" i="0" sz="1800" u="none" cap="none" strike="noStrike">
              <a:solidFill>
                <a:schemeClr val="lt1"/>
              </a:solidFill>
              <a:latin typeface="Calibri"/>
              <a:ea typeface="Calibri"/>
              <a:cs typeface="Calibri"/>
              <a:sym typeface="Calibri"/>
            </a:endParaRPr>
          </a:p>
        </p:txBody>
      </p:sp>
      <p:sp>
        <p:nvSpPr>
          <p:cNvPr id="201" name="Google Shape;201;p6"/>
          <p:cNvSpPr txBox="1"/>
          <p:nvPr/>
        </p:nvSpPr>
        <p:spPr>
          <a:xfrm>
            <a:off x="758952" y="2084832"/>
            <a:ext cx="3163824"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Comparison Operators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 equal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&lt;&gt; not equal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&gt; greater than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&lt; less than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&gt;= greater than or equal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&lt;= less than or equal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2" name="Google Shape;202;p6"/>
          <p:cNvSpPr txBox="1"/>
          <p:nvPr/>
        </p:nvSpPr>
        <p:spPr>
          <a:xfrm>
            <a:off x="4197096" y="2093976"/>
            <a:ext cx="3566160"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Logical Operators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AND (all conditions must be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OR (at least one condition must be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NOT (excludes specific values)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3" name="Google Shape;203;p6"/>
          <p:cNvSpPr txBox="1"/>
          <p:nvPr/>
        </p:nvSpPr>
        <p:spPr>
          <a:xfrm>
            <a:off x="8449056" y="2084832"/>
            <a:ext cx="335584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Pattern Matching with LIKE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 = many characters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_ = single character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4" name="Google Shape;204;p6"/>
          <p:cNvSpPr txBox="1"/>
          <p:nvPr/>
        </p:nvSpPr>
        <p:spPr>
          <a:xfrm>
            <a:off x="740664" y="4366831"/>
            <a:ext cx="247802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p:txBody>
      </p:sp>
      <p:sp>
        <p:nvSpPr>
          <p:cNvPr id="205" name="Google Shape;205;p6"/>
          <p:cNvSpPr txBox="1"/>
          <p:nvPr/>
        </p:nvSpPr>
        <p:spPr>
          <a:xfrm>
            <a:off x="758952" y="4736163"/>
            <a:ext cx="356616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SELECT </a:t>
            </a:r>
            <a:r>
              <a:rPr b="0" i="1" lang="en-US" sz="1800" u="none" cap="none" strike="noStrike">
                <a:solidFill>
                  <a:schemeClr val="lt1"/>
                </a:solidFill>
                <a:latin typeface="Calibri"/>
                <a:ea typeface="Calibri"/>
                <a:cs typeface="Calibri"/>
                <a:sym typeface="Calibri"/>
              </a:rPr>
              <a:t>column1</a:t>
            </a:r>
            <a:r>
              <a:rPr b="0" i="0" lang="en-US" sz="1800" u="none" cap="none" strike="noStrike">
                <a:solidFill>
                  <a:schemeClr val="lt1"/>
                </a:solidFill>
                <a:latin typeface="Calibri"/>
                <a:ea typeface="Calibri"/>
                <a:cs typeface="Calibri"/>
                <a:sym typeface="Calibri"/>
              </a:rPr>
              <a:t>,</a:t>
            </a:r>
            <a:r>
              <a:rPr b="0" i="1" lang="en-US" sz="1800" u="none" cap="none" strike="noStrike">
                <a:solidFill>
                  <a:schemeClr val="lt1"/>
                </a:solidFill>
                <a:latin typeface="Calibri"/>
                <a:ea typeface="Calibri"/>
                <a:cs typeface="Calibri"/>
                <a:sym typeface="Calibri"/>
              </a:rPr>
              <a:t> column2, ...</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FROM </a:t>
            </a:r>
            <a:r>
              <a:rPr b="0" i="1" lang="en-US" sz="1800" u="none" cap="none" strike="noStrike">
                <a:solidFill>
                  <a:schemeClr val="lt1"/>
                </a:solidFill>
                <a:latin typeface="Calibri"/>
                <a:ea typeface="Calibri"/>
                <a:cs typeface="Calibri"/>
                <a:sym typeface="Calibri"/>
              </a:rPr>
              <a:t>table_name</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WHERE </a:t>
            </a:r>
            <a:r>
              <a:rPr b="0" i="1" lang="en-US" sz="1800" u="none" cap="none" strike="noStrike">
                <a:solidFill>
                  <a:schemeClr val="lt1"/>
                </a:solidFill>
                <a:latin typeface="Calibri"/>
                <a:ea typeface="Calibri"/>
                <a:cs typeface="Calibri"/>
                <a:sym typeface="Calibri"/>
              </a:rPr>
              <a:t>condition</a:t>
            </a:r>
            <a:r>
              <a:rPr b="0" i="0" lang="en-US" sz="1800" u="none" cap="none" strike="noStrike">
                <a:solidFill>
                  <a:schemeClr val="lt1"/>
                </a:solidFill>
                <a:latin typeface="Calibri"/>
                <a:ea typeface="Calibri"/>
                <a:cs typeface="Calibri"/>
                <a:sym typeface="Calibri"/>
              </a:rPr>
              <a:t>;</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7"/>
          <p:cNvSpPr txBox="1"/>
          <p:nvPr/>
        </p:nvSpPr>
        <p:spPr>
          <a:xfrm>
            <a:off x="265177" y="957073"/>
            <a:ext cx="256946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Comparison Operators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11" name="Google Shape;211;p7"/>
          <p:cNvPicPr preferRelativeResize="0"/>
          <p:nvPr/>
        </p:nvPicPr>
        <p:blipFill rotWithShape="1">
          <a:blip r:embed="rId3">
            <a:alphaModFix/>
          </a:blip>
          <a:srcRect b="0" l="0" r="0" t="0"/>
          <a:stretch/>
        </p:blipFill>
        <p:spPr>
          <a:xfrm>
            <a:off x="338408" y="1351523"/>
            <a:ext cx="3877216" cy="1076475"/>
          </a:xfrm>
          <a:prstGeom prst="rect">
            <a:avLst/>
          </a:prstGeom>
          <a:noFill/>
          <a:ln>
            <a:noFill/>
          </a:ln>
        </p:spPr>
      </p:pic>
      <p:sp>
        <p:nvSpPr>
          <p:cNvPr id="212" name="Google Shape;212;p7"/>
          <p:cNvSpPr txBox="1"/>
          <p:nvPr/>
        </p:nvSpPr>
        <p:spPr>
          <a:xfrm>
            <a:off x="265177" y="3029713"/>
            <a:ext cx="469079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Logical Operators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13" name="Google Shape;213;p7"/>
          <p:cNvPicPr preferRelativeResize="0"/>
          <p:nvPr/>
        </p:nvPicPr>
        <p:blipFill rotWithShape="1">
          <a:blip r:embed="rId4">
            <a:alphaModFix/>
          </a:blip>
          <a:srcRect b="0" l="0" r="16986" t="0"/>
          <a:stretch/>
        </p:blipFill>
        <p:spPr>
          <a:xfrm>
            <a:off x="338409" y="3429000"/>
            <a:ext cx="4096432" cy="1286054"/>
          </a:xfrm>
          <a:prstGeom prst="rect">
            <a:avLst/>
          </a:prstGeom>
          <a:noFill/>
          <a:ln>
            <a:noFill/>
          </a:ln>
        </p:spPr>
      </p:pic>
      <p:pic>
        <p:nvPicPr>
          <p:cNvPr id="214" name="Google Shape;214;p7"/>
          <p:cNvPicPr preferRelativeResize="0"/>
          <p:nvPr/>
        </p:nvPicPr>
        <p:blipFill rotWithShape="1">
          <a:blip r:embed="rId5">
            <a:alphaModFix/>
          </a:blip>
          <a:srcRect b="0" l="0" r="10446" t="0"/>
          <a:stretch/>
        </p:blipFill>
        <p:spPr>
          <a:xfrm>
            <a:off x="6753240" y="1819869"/>
            <a:ext cx="4333832" cy="1209844"/>
          </a:xfrm>
          <a:prstGeom prst="rect">
            <a:avLst/>
          </a:prstGeom>
          <a:noFill/>
          <a:ln>
            <a:noFill/>
          </a:ln>
        </p:spPr>
      </p:pic>
      <p:sp>
        <p:nvSpPr>
          <p:cNvPr id="215" name="Google Shape;215;p7"/>
          <p:cNvSpPr txBox="1"/>
          <p:nvPr/>
        </p:nvSpPr>
        <p:spPr>
          <a:xfrm>
            <a:off x="6638728" y="605136"/>
            <a:ext cx="4562856"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 % — matches ANY number of characters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(including zero characters)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6" name="Google Shape;216;p7"/>
          <p:cNvSpPr txBox="1"/>
          <p:nvPr/>
        </p:nvSpPr>
        <p:spPr>
          <a:xfrm>
            <a:off x="6638728" y="182545"/>
            <a:ext cx="609447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Pattern Matching with LIKE</a:t>
            </a:r>
            <a:endParaRPr b="0" i="0" sz="1400" u="none" cap="none" strike="noStrike">
              <a:solidFill>
                <a:srgbClr val="000000"/>
              </a:solidFill>
              <a:latin typeface="Arial"/>
              <a:ea typeface="Arial"/>
              <a:cs typeface="Arial"/>
              <a:sym typeface="Arial"/>
            </a:endParaRPr>
          </a:p>
        </p:txBody>
      </p:sp>
      <p:pic>
        <p:nvPicPr>
          <p:cNvPr id="217" name="Google Shape;217;p7"/>
          <p:cNvPicPr preferRelativeResize="0"/>
          <p:nvPr/>
        </p:nvPicPr>
        <p:blipFill rotWithShape="1">
          <a:blip r:embed="rId6">
            <a:alphaModFix/>
          </a:blip>
          <a:srcRect b="0" l="0" r="0" t="0"/>
          <a:stretch/>
        </p:blipFill>
        <p:spPr>
          <a:xfrm>
            <a:off x="6753240" y="3514736"/>
            <a:ext cx="3943900" cy="1200318"/>
          </a:xfrm>
          <a:prstGeom prst="rect">
            <a:avLst/>
          </a:prstGeom>
          <a:noFill/>
          <a:ln>
            <a:noFill/>
          </a:ln>
        </p:spPr>
      </p:pic>
      <p:sp>
        <p:nvSpPr>
          <p:cNvPr id="218" name="Google Shape;218;p7"/>
          <p:cNvSpPr txBox="1"/>
          <p:nvPr/>
        </p:nvSpPr>
        <p:spPr>
          <a:xfrm>
            <a:off x="6638728" y="1414126"/>
            <a:ext cx="36576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Get All Name with Start in “Mar”</a:t>
            </a:r>
            <a:endParaRPr b="0" i="0" sz="1400" u="none" cap="none" strike="noStrike">
              <a:solidFill>
                <a:srgbClr val="000000"/>
              </a:solidFill>
              <a:latin typeface="Arial"/>
              <a:ea typeface="Arial"/>
              <a:cs typeface="Arial"/>
              <a:sym typeface="Arial"/>
            </a:endParaRPr>
          </a:p>
        </p:txBody>
      </p:sp>
      <p:sp>
        <p:nvSpPr>
          <p:cNvPr id="219" name="Google Shape;219;p7"/>
          <p:cNvSpPr txBox="1"/>
          <p:nvPr/>
        </p:nvSpPr>
        <p:spPr>
          <a:xfrm>
            <a:off x="6638728" y="3136450"/>
            <a:ext cx="636879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Get All Name with End in “Son”</a:t>
            </a:r>
            <a:endParaRPr b="0" i="0" sz="1400" u="none" cap="none" strike="noStrike">
              <a:solidFill>
                <a:srgbClr val="000000"/>
              </a:solidFill>
              <a:latin typeface="Arial"/>
              <a:ea typeface="Arial"/>
              <a:cs typeface="Arial"/>
              <a:sym typeface="Arial"/>
            </a:endParaRPr>
          </a:p>
        </p:txBody>
      </p:sp>
      <p:sp>
        <p:nvSpPr>
          <p:cNvPr id="220" name="Google Shape;220;p7"/>
          <p:cNvSpPr txBox="1"/>
          <p:nvPr/>
        </p:nvSpPr>
        <p:spPr>
          <a:xfrm>
            <a:off x="6947154" y="4929100"/>
            <a:ext cx="509549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 </a:t>
            </a:r>
            <a:r>
              <a:rPr b="1" i="0" lang="en-US" sz="1800" u="none" cap="none" strike="noStrike">
                <a:solidFill>
                  <a:schemeClr val="lt1"/>
                </a:solidFill>
                <a:latin typeface="Courier New"/>
                <a:ea typeface="Courier New"/>
                <a:cs typeface="Courier New"/>
                <a:sym typeface="Courier New"/>
              </a:rPr>
              <a:t>_</a:t>
            </a:r>
            <a:r>
              <a:rPr b="1" i="0" lang="en-US" sz="1800" u="none" cap="none" strike="noStrike">
                <a:solidFill>
                  <a:schemeClr val="lt1"/>
                </a:solidFill>
                <a:latin typeface="Calibri"/>
                <a:ea typeface="Calibri"/>
                <a:cs typeface="Calibri"/>
                <a:sym typeface="Calibri"/>
              </a:rPr>
              <a:t> — matches EXACTLY one character</a:t>
            </a:r>
            <a:endParaRPr b="0" i="0" sz="1800" u="none" cap="none" strike="noStrike">
              <a:solidFill>
                <a:schemeClr val="lt1"/>
              </a:solidFill>
              <a:latin typeface="Calibri"/>
              <a:ea typeface="Calibri"/>
              <a:cs typeface="Calibri"/>
              <a:sym typeface="Calibri"/>
            </a:endParaRPr>
          </a:p>
        </p:txBody>
      </p:sp>
      <p:pic>
        <p:nvPicPr>
          <p:cNvPr id="221" name="Google Shape;221;p7"/>
          <p:cNvPicPr preferRelativeResize="0"/>
          <p:nvPr/>
        </p:nvPicPr>
        <p:blipFill rotWithShape="1">
          <a:blip r:embed="rId7">
            <a:alphaModFix/>
          </a:blip>
          <a:srcRect b="0" l="0" r="0" t="0"/>
          <a:stretch/>
        </p:blipFill>
        <p:spPr>
          <a:xfrm>
            <a:off x="6857578" y="5378538"/>
            <a:ext cx="4344006" cy="1343212"/>
          </a:xfrm>
          <a:prstGeom prst="rect">
            <a:avLst/>
          </a:prstGeom>
          <a:noFill/>
          <a:ln>
            <a:noFill/>
          </a:ln>
        </p:spPr>
      </p:pic>
      <p:sp>
        <p:nvSpPr>
          <p:cNvPr id="222" name="Google Shape;222;p7"/>
          <p:cNvSpPr txBox="1"/>
          <p:nvPr>
            <p:ph type="title"/>
          </p:nvPr>
        </p:nvSpPr>
        <p:spPr>
          <a:xfrm>
            <a:off x="0" y="-141155"/>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US"/>
              <a:t>EXAMPLE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8"/>
          <p:cNvSpPr txBox="1"/>
          <p:nvPr/>
        </p:nvSpPr>
        <p:spPr>
          <a:xfrm>
            <a:off x="228600" y="301752"/>
            <a:ext cx="535838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lt1"/>
                </a:solidFill>
                <a:latin typeface="Calibri"/>
                <a:ea typeface="Calibri"/>
                <a:cs typeface="Calibri"/>
                <a:sym typeface="Calibri"/>
              </a:rPr>
              <a:t>ACTIVITY #1: Filter Data</a:t>
            </a:r>
            <a:endParaRPr b="0" i="0" sz="1400" u="none" cap="none" strike="noStrike">
              <a:solidFill>
                <a:srgbClr val="000000"/>
              </a:solidFill>
              <a:latin typeface="Arial"/>
              <a:ea typeface="Arial"/>
              <a:cs typeface="Arial"/>
              <a:sym typeface="Arial"/>
            </a:endParaRPr>
          </a:p>
        </p:txBody>
      </p:sp>
      <p:sp>
        <p:nvSpPr>
          <p:cNvPr id="228" name="Google Shape;228;p8"/>
          <p:cNvSpPr txBox="1"/>
          <p:nvPr/>
        </p:nvSpPr>
        <p:spPr>
          <a:xfrm>
            <a:off x="786384" y="1655064"/>
            <a:ext cx="8028300" cy="14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From </a:t>
            </a:r>
            <a:r>
              <a:rPr b="0" i="0" lang="en-US" sz="1800" u="none" cap="none" strike="noStrike">
                <a:solidFill>
                  <a:schemeClr val="lt1"/>
                </a:solidFill>
                <a:latin typeface="Calibri"/>
                <a:ea typeface="Calibri"/>
                <a:cs typeface="Calibri"/>
                <a:sym typeface="Calibri"/>
              </a:rPr>
              <a:t>the deliveries_data table query the products by: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Filtering delivery fee prices that is less than 500 pesos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Filtering all the Delivery In NCR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Filtering all the Vehicle except for Truck</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9"/>
          <p:cNvSpPr txBox="1"/>
          <p:nvPr>
            <p:ph type="title"/>
          </p:nvPr>
        </p:nvSpPr>
        <p:spPr>
          <a:xfrm>
            <a:off x="192025" y="161544"/>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00"/>
              </a:buClr>
              <a:buSzPts val="3600"/>
              <a:buFont typeface="Calibri"/>
              <a:buNone/>
            </a:pPr>
            <a:r>
              <a:rPr lang="en-US">
                <a:solidFill>
                  <a:srgbClr val="FFFF00"/>
                </a:solidFill>
              </a:rPr>
              <a:t>AGGREGATION FUNCTIONS</a:t>
            </a:r>
            <a:endParaRPr/>
          </a:p>
        </p:txBody>
      </p:sp>
      <p:sp>
        <p:nvSpPr>
          <p:cNvPr id="234" name="Google Shape;234;p9"/>
          <p:cNvSpPr txBox="1"/>
          <p:nvPr/>
        </p:nvSpPr>
        <p:spPr>
          <a:xfrm>
            <a:off x="283464" y="1271016"/>
            <a:ext cx="843991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Aggregation functions </a:t>
            </a:r>
            <a:r>
              <a:rPr b="1" i="0" lang="en-US" sz="1800" u="none" cap="none" strike="noStrike">
                <a:solidFill>
                  <a:schemeClr val="lt1"/>
                </a:solidFill>
                <a:latin typeface="Calibri"/>
                <a:ea typeface="Calibri"/>
                <a:cs typeface="Calibri"/>
                <a:sym typeface="Calibri"/>
              </a:rPr>
              <a:t>summarize or combine multiple rows of data into a single value</a:t>
            </a:r>
            <a:r>
              <a:rPr b="0" i="0" lang="en-US" sz="1800" u="none" cap="none" strike="noStrike">
                <a:solidFill>
                  <a:schemeClr val="lt1"/>
                </a:solidFill>
                <a:latin typeface="Calibri"/>
                <a:ea typeface="Calibri"/>
                <a:cs typeface="Calibri"/>
                <a:sym typeface="Calibri"/>
              </a:rPr>
              <a:t>. They are commonly used with SQL GROUP BY or alone to analyze data.</a:t>
            </a:r>
            <a:endParaRPr b="0" i="0" sz="1800" u="none" cap="none" strike="noStrike">
              <a:solidFill>
                <a:schemeClr val="lt1"/>
              </a:solidFill>
              <a:latin typeface="Calibri"/>
              <a:ea typeface="Calibri"/>
              <a:cs typeface="Calibri"/>
              <a:sym typeface="Calibri"/>
            </a:endParaRPr>
          </a:p>
        </p:txBody>
      </p:sp>
      <p:graphicFrame>
        <p:nvGraphicFramePr>
          <p:cNvPr id="235" name="Google Shape;235;p9"/>
          <p:cNvGraphicFramePr/>
          <p:nvPr/>
        </p:nvGraphicFramePr>
        <p:xfrm>
          <a:off x="868680" y="2331720"/>
          <a:ext cx="3000000" cy="3000000"/>
        </p:xfrm>
        <a:graphic>
          <a:graphicData uri="http://schemas.openxmlformats.org/drawingml/2006/table">
            <a:tbl>
              <a:tblPr>
                <a:noFill/>
                <a:tableStyleId>{2D9728AA-4928-4228-B417-048F28A10CFA}</a:tableStyleId>
              </a:tblPr>
              <a:tblGrid>
                <a:gridCol w="3377150"/>
                <a:gridCol w="3377150"/>
                <a:gridCol w="3377150"/>
              </a:tblGrid>
              <a:tr h="365750">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Function</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Purpose</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Example</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5750">
                <a:tc>
                  <a:txBody>
                    <a:bodyPr/>
                    <a:lstStyle/>
                    <a:p>
                      <a:pPr indent="0" lvl="0" marL="0" marR="0" rtl="0" algn="l">
                        <a:lnSpc>
                          <a:spcPct val="100000"/>
                        </a:lnSpc>
                        <a:spcBef>
                          <a:spcPts val="0"/>
                        </a:spcBef>
                        <a:spcAft>
                          <a:spcPts val="0"/>
                        </a:spcAft>
                        <a:buClr>
                          <a:schemeClr val="lt1"/>
                        </a:buClr>
                        <a:buSzPts val="1800"/>
                        <a:buFont typeface="Calibri"/>
                        <a:buNone/>
                      </a:pPr>
                      <a:r>
                        <a:rPr b="1" lang="en-US" sz="1800" u="none" cap="none" strike="noStrike"/>
                        <a:t>COUNT()</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Counts number of rows</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ourier New"/>
                        <a:buNone/>
                      </a:pPr>
                      <a:r>
                        <a:rPr lang="en-US" sz="1800" u="none" cap="none" strike="noStrike">
                          <a:latin typeface="Courier New"/>
                          <a:ea typeface="Courier New"/>
                          <a:cs typeface="Courier New"/>
                          <a:sym typeface="Courier New"/>
                        </a:rPr>
                        <a:t>COUNT(*)</a:t>
                      </a:r>
                      <a:r>
                        <a:rPr lang="en-US" sz="1800" u="none" cap="none" strike="noStrike"/>
                        <a:t> → total rows</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5750">
                <a:tc>
                  <a:txBody>
                    <a:bodyPr/>
                    <a:lstStyle/>
                    <a:p>
                      <a:pPr indent="0" lvl="0" marL="0" marR="0" rtl="0" algn="l">
                        <a:lnSpc>
                          <a:spcPct val="100000"/>
                        </a:lnSpc>
                        <a:spcBef>
                          <a:spcPts val="0"/>
                        </a:spcBef>
                        <a:spcAft>
                          <a:spcPts val="0"/>
                        </a:spcAft>
                        <a:buClr>
                          <a:schemeClr val="lt1"/>
                        </a:buClr>
                        <a:buSzPts val="1800"/>
                        <a:buFont typeface="Calibri"/>
                        <a:buNone/>
                      </a:pPr>
                      <a:r>
                        <a:rPr b="1" lang="en-US" sz="1800" u="none" cap="none" strike="noStrike"/>
                        <a:t>SUM()</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Adds values</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ourier New"/>
                        <a:buNone/>
                      </a:pPr>
                      <a:r>
                        <a:rPr lang="en-US" sz="1800" u="none" cap="none" strike="noStrike">
                          <a:latin typeface="Courier New"/>
                          <a:ea typeface="Courier New"/>
                          <a:cs typeface="Courier New"/>
                          <a:sym typeface="Courier New"/>
                        </a:rPr>
                        <a:t>SUM(salary)</a:t>
                      </a:r>
                      <a:r>
                        <a:rPr lang="en-US" sz="1800" u="none" cap="none" strike="noStrike"/>
                        <a:t> → total salary</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5750">
                <a:tc>
                  <a:txBody>
                    <a:bodyPr/>
                    <a:lstStyle/>
                    <a:p>
                      <a:pPr indent="0" lvl="0" marL="0" marR="0" rtl="0" algn="l">
                        <a:lnSpc>
                          <a:spcPct val="100000"/>
                        </a:lnSpc>
                        <a:spcBef>
                          <a:spcPts val="0"/>
                        </a:spcBef>
                        <a:spcAft>
                          <a:spcPts val="0"/>
                        </a:spcAft>
                        <a:buClr>
                          <a:schemeClr val="lt1"/>
                        </a:buClr>
                        <a:buSzPts val="1800"/>
                        <a:buFont typeface="Calibri"/>
                        <a:buNone/>
                      </a:pPr>
                      <a:r>
                        <a:rPr b="1" lang="en-US" sz="1800" u="none" cap="none" strike="noStrike"/>
                        <a:t>AVG()</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Computes average</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ourier New"/>
                        <a:buNone/>
                      </a:pPr>
                      <a:r>
                        <a:rPr lang="en-US" sz="1800" u="none" cap="none" strike="noStrike">
                          <a:latin typeface="Courier New"/>
                          <a:ea typeface="Courier New"/>
                          <a:cs typeface="Courier New"/>
                          <a:sym typeface="Courier New"/>
                        </a:rPr>
                        <a:t>AVG(age)</a:t>
                      </a:r>
                      <a:r>
                        <a:rPr lang="en-US" sz="1800" u="none" cap="none" strike="noStrike"/>
                        <a:t> → average age</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5750">
                <a:tc>
                  <a:txBody>
                    <a:bodyPr/>
                    <a:lstStyle/>
                    <a:p>
                      <a:pPr indent="0" lvl="0" marL="0" marR="0" rtl="0" algn="l">
                        <a:lnSpc>
                          <a:spcPct val="100000"/>
                        </a:lnSpc>
                        <a:spcBef>
                          <a:spcPts val="0"/>
                        </a:spcBef>
                        <a:spcAft>
                          <a:spcPts val="0"/>
                        </a:spcAft>
                        <a:buClr>
                          <a:schemeClr val="lt1"/>
                        </a:buClr>
                        <a:buSzPts val="1800"/>
                        <a:buFont typeface="Calibri"/>
                        <a:buNone/>
                      </a:pPr>
                      <a:r>
                        <a:rPr b="1" lang="en-US" sz="1800" u="none" cap="none" strike="noStrike"/>
                        <a:t>MIN()</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Finds smallest value</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ourier New"/>
                        <a:buNone/>
                      </a:pPr>
                      <a:r>
                        <a:rPr lang="en-US" sz="1800" u="none" cap="none" strike="noStrike">
                          <a:latin typeface="Courier New"/>
                          <a:ea typeface="Courier New"/>
                          <a:cs typeface="Courier New"/>
                          <a:sym typeface="Courier New"/>
                        </a:rPr>
                        <a:t>MIN(price)</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65750">
                <a:tc>
                  <a:txBody>
                    <a:bodyPr/>
                    <a:lstStyle/>
                    <a:p>
                      <a:pPr indent="0" lvl="0" marL="0" marR="0" rtl="0" algn="l">
                        <a:lnSpc>
                          <a:spcPct val="100000"/>
                        </a:lnSpc>
                        <a:spcBef>
                          <a:spcPts val="0"/>
                        </a:spcBef>
                        <a:spcAft>
                          <a:spcPts val="0"/>
                        </a:spcAft>
                        <a:buClr>
                          <a:schemeClr val="lt1"/>
                        </a:buClr>
                        <a:buSzPts val="1800"/>
                        <a:buFont typeface="Calibri"/>
                        <a:buNone/>
                      </a:pPr>
                      <a:r>
                        <a:rPr b="1" lang="en-US" sz="1800" u="none" cap="none" strike="noStrike"/>
                        <a:t>MAX()</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Finds largest value</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ourier New"/>
                        <a:buNone/>
                      </a:pPr>
                      <a:r>
                        <a:rPr lang="en-US" sz="1800" u="none" cap="none" strike="noStrike">
                          <a:latin typeface="Courier New"/>
                          <a:ea typeface="Courier New"/>
                          <a:cs typeface="Courier New"/>
                          <a:sym typeface="Courier New"/>
                        </a:rPr>
                        <a:t>MAX(score)</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0"/>
          <p:cNvSpPr txBox="1"/>
          <p:nvPr>
            <p:ph type="title"/>
          </p:nvPr>
        </p:nvSpPr>
        <p:spPr>
          <a:xfrm>
            <a:off x="1965960" y="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US"/>
              <a:t>HOW AGGREGATION TRANSFORMS DATA?</a:t>
            </a:r>
            <a:endParaRPr/>
          </a:p>
        </p:txBody>
      </p:sp>
      <p:sp>
        <p:nvSpPr>
          <p:cNvPr id="241" name="Google Shape;241;p10"/>
          <p:cNvSpPr/>
          <p:nvPr/>
        </p:nvSpPr>
        <p:spPr>
          <a:xfrm>
            <a:off x="969264" y="2770632"/>
            <a:ext cx="1993392" cy="795528"/>
          </a:xfrm>
          <a:prstGeom prst="roundRect">
            <a:avLst>
              <a:gd fmla="val 16667" name="adj"/>
            </a:avLst>
          </a:prstGeom>
          <a:gradFill>
            <a:gsLst>
              <a:gs pos="0">
                <a:srgbClr val="D6B4E0"/>
              </a:gs>
              <a:gs pos="100000">
                <a:srgbClr val="BE7FCE">
                  <a:alpha val="74118"/>
                </a:srgbClr>
              </a:gs>
            </a:gsLst>
            <a:lin ang="5400000" scaled="0"/>
          </a:grad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2" name="Google Shape;242;p10"/>
          <p:cNvSpPr/>
          <p:nvPr/>
        </p:nvSpPr>
        <p:spPr>
          <a:xfrm>
            <a:off x="4657344" y="2770632"/>
            <a:ext cx="1993392" cy="795528"/>
          </a:xfrm>
          <a:prstGeom prst="roundRect">
            <a:avLst>
              <a:gd fmla="val 16667" name="adj"/>
            </a:avLst>
          </a:prstGeom>
          <a:gradFill>
            <a:gsLst>
              <a:gs pos="0">
                <a:srgbClr val="D6B4E0"/>
              </a:gs>
              <a:gs pos="100000">
                <a:srgbClr val="BE7FCE">
                  <a:alpha val="74118"/>
                </a:srgbClr>
              </a:gs>
            </a:gsLst>
            <a:lin ang="5400000" scaled="0"/>
          </a:grad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10"/>
          <p:cNvSpPr/>
          <p:nvPr/>
        </p:nvSpPr>
        <p:spPr>
          <a:xfrm>
            <a:off x="8345424" y="2770632"/>
            <a:ext cx="1993392" cy="795528"/>
          </a:xfrm>
          <a:prstGeom prst="roundRect">
            <a:avLst>
              <a:gd fmla="val 16667" name="adj"/>
            </a:avLst>
          </a:prstGeom>
          <a:gradFill>
            <a:gsLst>
              <a:gs pos="0">
                <a:srgbClr val="D6B4E0"/>
              </a:gs>
              <a:gs pos="100000">
                <a:srgbClr val="BE7FCE">
                  <a:alpha val="74118"/>
                </a:srgbClr>
              </a:gs>
            </a:gsLst>
            <a:lin ang="5400000" scaled="0"/>
          </a:grad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4" name="Google Shape;244;p10"/>
          <p:cNvSpPr txBox="1"/>
          <p:nvPr/>
        </p:nvSpPr>
        <p:spPr>
          <a:xfrm>
            <a:off x="1417321" y="2983730"/>
            <a:ext cx="15270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Raw Data</a:t>
            </a:r>
            <a:endParaRPr b="0" i="0" sz="1400" u="none" cap="none" strike="noStrike">
              <a:solidFill>
                <a:srgbClr val="000000"/>
              </a:solidFill>
              <a:latin typeface="Arial"/>
              <a:ea typeface="Arial"/>
              <a:cs typeface="Arial"/>
              <a:sym typeface="Arial"/>
            </a:endParaRPr>
          </a:p>
        </p:txBody>
      </p:sp>
      <p:sp>
        <p:nvSpPr>
          <p:cNvPr id="245" name="Google Shape;245;p10"/>
          <p:cNvSpPr txBox="1"/>
          <p:nvPr/>
        </p:nvSpPr>
        <p:spPr>
          <a:xfrm>
            <a:off x="4721352" y="2983730"/>
            <a:ext cx="19933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Aggregated Metrix</a:t>
            </a:r>
            <a:endParaRPr b="0" i="0" sz="1400" u="none" cap="none" strike="noStrike">
              <a:solidFill>
                <a:srgbClr val="000000"/>
              </a:solidFill>
              <a:latin typeface="Arial"/>
              <a:ea typeface="Arial"/>
              <a:cs typeface="Arial"/>
              <a:sym typeface="Arial"/>
            </a:endParaRPr>
          </a:p>
        </p:txBody>
      </p:sp>
      <p:sp>
        <p:nvSpPr>
          <p:cNvPr id="246" name="Google Shape;246;p10"/>
          <p:cNvSpPr txBox="1"/>
          <p:nvPr/>
        </p:nvSpPr>
        <p:spPr>
          <a:xfrm>
            <a:off x="8409432" y="2983730"/>
            <a:ext cx="19933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Business Insights</a:t>
            </a:r>
            <a:endParaRPr b="0" i="0" sz="1400" u="none" cap="none" strike="noStrike">
              <a:solidFill>
                <a:srgbClr val="000000"/>
              </a:solidFill>
              <a:latin typeface="Arial"/>
              <a:ea typeface="Arial"/>
              <a:cs typeface="Arial"/>
              <a:sym typeface="Arial"/>
            </a:endParaRPr>
          </a:p>
        </p:txBody>
      </p:sp>
      <p:sp>
        <p:nvSpPr>
          <p:cNvPr id="247" name="Google Shape;247;p10"/>
          <p:cNvSpPr txBox="1"/>
          <p:nvPr/>
        </p:nvSpPr>
        <p:spPr>
          <a:xfrm>
            <a:off x="1325880" y="3594592"/>
            <a:ext cx="189280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Transactions</a:t>
            </a:r>
            <a:endParaRPr b="0" i="0" sz="1400" u="none" cap="none" strike="noStrike">
              <a:solidFill>
                <a:srgbClr val="000000"/>
              </a:solidFill>
              <a:latin typeface="Arial"/>
              <a:ea typeface="Arial"/>
              <a:cs typeface="Arial"/>
              <a:sym typeface="Arial"/>
            </a:endParaRPr>
          </a:p>
        </p:txBody>
      </p:sp>
      <p:sp>
        <p:nvSpPr>
          <p:cNvPr id="248" name="Google Shape;248;p10"/>
          <p:cNvSpPr txBox="1"/>
          <p:nvPr/>
        </p:nvSpPr>
        <p:spPr>
          <a:xfrm>
            <a:off x="5337048" y="3594592"/>
            <a:ext cx="189280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Totals</a:t>
            </a:r>
            <a:endParaRPr b="0" i="0" sz="1400" u="none" cap="none" strike="noStrike">
              <a:solidFill>
                <a:srgbClr val="000000"/>
              </a:solidFill>
              <a:latin typeface="Arial"/>
              <a:ea typeface="Arial"/>
              <a:cs typeface="Arial"/>
              <a:sym typeface="Arial"/>
            </a:endParaRPr>
          </a:p>
        </p:txBody>
      </p:sp>
      <p:sp>
        <p:nvSpPr>
          <p:cNvPr id="249" name="Google Shape;249;p10"/>
          <p:cNvSpPr txBox="1"/>
          <p:nvPr/>
        </p:nvSpPr>
        <p:spPr>
          <a:xfrm>
            <a:off x="8973314" y="3594592"/>
            <a:ext cx="189280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KPIs</a:t>
            </a:r>
            <a:endParaRPr b="0" i="0" sz="1400" u="none" cap="none" strike="noStrike">
              <a:solidFill>
                <a:srgbClr val="000000"/>
              </a:solidFill>
              <a:latin typeface="Arial"/>
              <a:ea typeface="Arial"/>
              <a:cs typeface="Arial"/>
              <a:sym typeface="Arial"/>
            </a:endParaRPr>
          </a:p>
        </p:txBody>
      </p:sp>
      <p:cxnSp>
        <p:nvCxnSpPr>
          <p:cNvPr id="250" name="Google Shape;250;p10"/>
          <p:cNvCxnSpPr>
            <a:stCxn id="241" idx="3"/>
            <a:endCxn id="242" idx="1"/>
          </p:cNvCxnSpPr>
          <p:nvPr/>
        </p:nvCxnSpPr>
        <p:spPr>
          <a:xfrm>
            <a:off x="2962656" y="3168396"/>
            <a:ext cx="1694700" cy="0"/>
          </a:xfrm>
          <a:prstGeom prst="straightConnector1">
            <a:avLst/>
          </a:prstGeom>
          <a:noFill/>
          <a:ln cap="rnd" cmpd="sng" w="9525">
            <a:solidFill>
              <a:schemeClr val="accent1"/>
            </a:solidFill>
            <a:prstDash val="solid"/>
            <a:round/>
            <a:headEnd len="sm" w="sm" type="none"/>
            <a:tailEnd len="med" w="med" type="triangle"/>
          </a:ln>
        </p:spPr>
      </p:cxnSp>
      <p:cxnSp>
        <p:nvCxnSpPr>
          <p:cNvPr id="251" name="Google Shape;251;p10"/>
          <p:cNvCxnSpPr>
            <a:stCxn id="245" idx="3"/>
            <a:endCxn id="243" idx="1"/>
          </p:cNvCxnSpPr>
          <p:nvPr/>
        </p:nvCxnSpPr>
        <p:spPr>
          <a:xfrm>
            <a:off x="6714744" y="3168396"/>
            <a:ext cx="1630800" cy="0"/>
          </a:xfrm>
          <a:prstGeom prst="straightConnector1">
            <a:avLst/>
          </a:prstGeom>
          <a:noFill/>
          <a:ln cap="rnd" cmpd="sng" w="9525">
            <a:solidFill>
              <a:schemeClr val="accent1"/>
            </a:solidFill>
            <a:prstDash val="solid"/>
            <a:round/>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1"/>
          <p:cNvSpPr txBox="1"/>
          <p:nvPr>
            <p:ph type="title"/>
          </p:nvPr>
        </p:nvSpPr>
        <p:spPr>
          <a:xfrm>
            <a:off x="265177" y="134113"/>
            <a:ext cx="3831335" cy="93268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b="1" lang="en-US"/>
              <a:t>EXAMPLE</a:t>
            </a:r>
            <a:r>
              <a:rPr lang="en-US"/>
              <a:t>:</a:t>
            </a:r>
            <a:endParaRPr/>
          </a:p>
        </p:txBody>
      </p:sp>
      <p:pic>
        <p:nvPicPr>
          <p:cNvPr id="257" name="Google Shape;257;p11"/>
          <p:cNvPicPr preferRelativeResize="0"/>
          <p:nvPr/>
        </p:nvPicPr>
        <p:blipFill rotWithShape="1">
          <a:blip r:embed="rId3">
            <a:alphaModFix/>
          </a:blip>
          <a:srcRect b="0" l="0" r="0" t="0"/>
          <a:stretch/>
        </p:blipFill>
        <p:spPr>
          <a:xfrm>
            <a:off x="265177" y="1503519"/>
            <a:ext cx="3639058" cy="1400370"/>
          </a:xfrm>
          <a:prstGeom prst="rect">
            <a:avLst/>
          </a:prstGeom>
          <a:noFill/>
          <a:ln>
            <a:noFill/>
          </a:ln>
        </p:spPr>
      </p:pic>
      <p:sp>
        <p:nvSpPr>
          <p:cNvPr id="258" name="Google Shape;258;p11"/>
          <p:cNvSpPr txBox="1"/>
          <p:nvPr/>
        </p:nvSpPr>
        <p:spPr>
          <a:xfrm>
            <a:off x="265177" y="1066801"/>
            <a:ext cx="195681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Count Total Drivers</a:t>
            </a:r>
            <a:endParaRPr b="0" i="0" sz="1400" u="none" cap="none" strike="noStrike">
              <a:solidFill>
                <a:srgbClr val="000000"/>
              </a:solidFill>
              <a:latin typeface="Arial"/>
              <a:ea typeface="Arial"/>
              <a:cs typeface="Arial"/>
              <a:sym typeface="Arial"/>
            </a:endParaRPr>
          </a:p>
        </p:txBody>
      </p:sp>
      <p:sp>
        <p:nvSpPr>
          <p:cNvPr id="259" name="Google Shape;259;p11"/>
          <p:cNvSpPr txBox="1"/>
          <p:nvPr/>
        </p:nvSpPr>
        <p:spPr>
          <a:xfrm>
            <a:off x="265177" y="3273552"/>
            <a:ext cx="283463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Total Fuel Cost</a:t>
            </a:r>
            <a:endParaRPr b="0" i="0" sz="1400" u="none" cap="none" strike="noStrike">
              <a:solidFill>
                <a:srgbClr val="000000"/>
              </a:solidFill>
              <a:latin typeface="Arial"/>
              <a:ea typeface="Arial"/>
              <a:cs typeface="Arial"/>
              <a:sym typeface="Arial"/>
            </a:endParaRPr>
          </a:p>
        </p:txBody>
      </p:sp>
      <p:pic>
        <p:nvPicPr>
          <p:cNvPr id="260" name="Google Shape;260;p11"/>
          <p:cNvPicPr preferRelativeResize="0"/>
          <p:nvPr/>
        </p:nvPicPr>
        <p:blipFill rotWithShape="1">
          <a:blip r:embed="rId4">
            <a:alphaModFix/>
          </a:blip>
          <a:srcRect b="0" l="0" r="0" t="0"/>
          <a:stretch/>
        </p:blipFill>
        <p:spPr>
          <a:xfrm>
            <a:off x="265177" y="3642884"/>
            <a:ext cx="4239217" cy="1514686"/>
          </a:xfrm>
          <a:prstGeom prst="rect">
            <a:avLst/>
          </a:prstGeom>
          <a:noFill/>
          <a:ln>
            <a:noFill/>
          </a:ln>
        </p:spPr>
      </p:pic>
      <p:pic>
        <p:nvPicPr>
          <p:cNvPr id="261" name="Google Shape;261;p11"/>
          <p:cNvPicPr preferRelativeResize="0"/>
          <p:nvPr/>
        </p:nvPicPr>
        <p:blipFill rotWithShape="1">
          <a:blip r:embed="rId5">
            <a:alphaModFix/>
          </a:blip>
          <a:srcRect b="0" l="0" r="0" t="0"/>
          <a:stretch/>
        </p:blipFill>
        <p:spPr>
          <a:xfrm>
            <a:off x="6437211" y="498491"/>
            <a:ext cx="5096586" cy="1705213"/>
          </a:xfrm>
          <a:prstGeom prst="rect">
            <a:avLst/>
          </a:prstGeom>
          <a:noFill/>
          <a:ln>
            <a:noFill/>
          </a:ln>
        </p:spPr>
      </p:pic>
      <p:sp>
        <p:nvSpPr>
          <p:cNvPr id="262" name="Google Shape;262;p11"/>
          <p:cNvSpPr txBox="1"/>
          <p:nvPr/>
        </p:nvSpPr>
        <p:spPr>
          <a:xfrm>
            <a:off x="6400509" y="129159"/>
            <a:ext cx="269777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Nearest Destination</a:t>
            </a:r>
            <a:endParaRPr b="0" i="0" sz="1400" u="none" cap="none" strike="noStrike">
              <a:solidFill>
                <a:srgbClr val="000000"/>
              </a:solidFill>
              <a:latin typeface="Arial"/>
              <a:ea typeface="Arial"/>
              <a:cs typeface="Arial"/>
              <a:sym typeface="Arial"/>
            </a:endParaRPr>
          </a:p>
        </p:txBody>
      </p:sp>
      <p:sp>
        <p:nvSpPr>
          <p:cNvPr id="263" name="Google Shape;263;p11"/>
          <p:cNvSpPr txBox="1"/>
          <p:nvPr/>
        </p:nvSpPr>
        <p:spPr>
          <a:xfrm>
            <a:off x="6400508" y="2461345"/>
            <a:ext cx="269777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Farthest Destination</a:t>
            </a:r>
            <a:endParaRPr b="0" i="0" sz="1800" u="none" cap="none" strike="noStrike">
              <a:solidFill>
                <a:schemeClr val="lt1"/>
              </a:solidFill>
              <a:latin typeface="Calibri"/>
              <a:ea typeface="Calibri"/>
              <a:cs typeface="Calibri"/>
              <a:sym typeface="Calibri"/>
            </a:endParaRPr>
          </a:p>
        </p:txBody>
      </p:sp>
      <p:sp>
        <p:nvSpPr>
          <p:cNvPr id="264" name="Google Shape;264;p11"/>
          <p:cNvSpPr txBox="1"/>
          <p:nvPr/>
        </p:nvSpPr>
        <p:spPr>
          <a:xfrm>
            <a:off x="6400507" y="4642975"/>
            <a:ext cx="269777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Average Delivery Time</a:t>
            </a:r>
            <a:endParaRPr b="0" i="0" sz="1400" u="none" cap="none" strike="noStrike">
              <a:solidFill>
                <a:srgbClr val="000000"/>
              </a:solidFill>
              <a:latin typeface="Arial"/>
              <a:ea typeface="Arial"/>
              <a:cs typeface="Arial"/>
              <a:sym typeface="Arial"/>
            </a:endParaRPr>
          </a:p>
        </p:txBody>
      </p:sp>
      <p:pic>
        <p:nvPicPr>
          <p:cNvPr id="265" name="Google Shape;265;p11"/>
          <p:cNvPicPr preferRelativeResize="0"/>
          <p:nvPr/>
        </p:nvPicPr>
        <p:blipFill rotWithShape="1">
          <a:blip r:embed="rId6">
            <a:alphaModFix/>
          </a:blip>
          <a:srcRect b="0" l="0" r="0" t="0"/>
          <a:stretch/>
        </p:blipFill>
        <p:spPr>
          <a:xfrm>
            <a:off x="6437211" y="5157570"/>
            <a:ext cx="4258269" cy="1305107"/>
          </a:xfrm>
          <a:prstGeom prst="rect">
            <a:avLst/>
          </a:prstGeom>
          <a:noFill/>
          <a:ln>
            <a:noFill/>
          </a:ln>
        </p:spPr>
      </p:pic>
      <p:pic>
        <p:nvPicPr>
          <p:cNvPr id="266" name="Google Shape;266;p11"/>
          <p:cNvPicPr preferRelativeResize="0"/>
          <p:nvPr/>
        </p:nvPicPr>
        <p:blipFill rotWithShape="1">
          <a:blip r:embed="rId7">
            <a:alphaModFix/>
          </a:blip>
          <a:srcRect b="0" l="0" r="0" t="0"/>
          <a:stretch/>
        </p:blipFill>
        <p:spPr>
          <a:xfrm>
            <a:off x="6437211" y="2882369"/>
            <a:ext cx="3960483" cy="128418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2"/>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US"/>
              <a:t>AGGREGATION COMBINATIONS</a:t>
            </a:r>
            <a:endParaRPr/>
          </a:p>
        </p:txBody>
      </p:sp>
      <p:pic>
        <p:nvPicPr>
          <p:cNvPr id="272" name="Google Shape;272;p12"/>
          <p:cNvPicPr preferRelativeResize="0"/>
          <p:nvPr>
            <p:ph idx="1" type="body"/>
          </p:nvPr>
        </p:nvPicPr>
        <p:blipFill rotWithShape="1">
          <a:blip r:embed="rId3">
            <a:alphaModFix/>
          </a:blip>
          <a:srcRect b="0" l="0" r="0" t="0"/>
          <a:stretch/>
        </p:blipFill>
        <p:spPr>
          <a:xfrm>
            <a:off x="2571983" y="1974427"/>
            <a:ext cx="7048033" cy="3773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title"/>
          </p:nvPr>
        </p:nvSpPr>
        <p:spPr>
          <a:xfrm>
            <a:off x="192025" y="161544"/>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US"/>
              <a:t>GROUPING ROWS WITH </a:t>
            </a:r>
            <a:r>
              <a:rPr b="1" lang="en-US">
                <a:solidFill>
                  <a:srgbClr val="FFFF00"/>
                </a:solidFill>
              </a:rPr>
              <a:t>GROUP BY</a:t>
            </a:r>
            <a:endParaRPr/>
          </a:p>
        </p:txBody>
      </p:sp>
      <p:sp>
        <p:nvSpPr>
          <p:cNvPr id="278" name="Google Shape;278;p13"/>
          <p:cNvSpPr txBox="1"/>
          <p:nvPr/>
        </p:nvSpPr>
        <p:spPr>
          <a:xfrm>
            <a:off x="402336" y="1316736"/>
            <a:ext cx="932688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00"/>
                </a:solidFill>
                <a:latin typeface="Calibri"/>
                <a:ea typeface="Calibri"/>
                <a:cs typeface="Calibri"/>
                <a:sym typeface="Calibri"/>
              </a:rPr>
              <a:t>GROUP BY</a:t>
            </a:r>
            <a:r>
              <a:rPr b="0" i="0" lang="en-US" sz="1800" u="none" cap="none" strike="noStrike">
                <a:solidFill>
                  <a:srgbClr val="FFFF00"/>
                </a:solidFill>
                <a:latin typeface="Calibri"/>
                <a:ea typeface="Calibri"/>
                <a:cs typeface="Calibri"/>
                <a:sym typeface="Calibri"/>
              </a:rPr>
              <a:t> </a:t>
            </a:r>
            <a:r>
              <a:rPr b="0" i="0" lang="en-US" sz="1800" u="none" cap="none" strike="noStrike">
                <a:solidFill>
                  <a:schemeClr val="lt1"/>
                </a:solidFill>
                <a:latin typeface="Calibri"/>
                <a:ea typeface="Calibri"/>
                <a:cs typeface="Calibri"/>
                <a:sym typeface="Calibri"/>
              </a:rPr>
              <a:t>is an SQL clause used to </a:t>
            </a:r>
            <a:r>
              <a:rPr b="1" i="0" lang="en-US" sz="1800" u="none" cap="none" strike="noStrike">
                <a:solidFill>
                  <a:schemeClr val="lt1"/>
                </a:solidFill>
                <a:latin typeface="Calibri"/>
                <a:ea typeface="Calibri"/>
                <a:cs typeface="Calibri"/>
                <a:sym typeface="Calibri"/>
              </a:rPr>
              <a:t>group rows that have the same values</a:t>
            </a:r>
            <a:r>
              <a:rPr b="0" i="0" lang="en-US" sz="1800" u="none" cap="none" strike="noStrike">
                <a:solidFill>
                  <a:schemeClr val="lt1"/>
                </a:solidFill>
                <a:latin typeface="Calibri"/>
                <a:ea typeface="Calibri"/>
                <a:cs typeface="Calibri"/>
                <a:sym typeface="Calibri"/>
              </a:rPr>
              <a:t> in one or more columns, so you can apply </a:t>
            </a:r>
            <a:r>
              <a:rPr b="1" i="0" lang="en-US" sz="1800" u="none" cap="none" strike="noStrike">
                <a:solidFill>
                  <a:schemeClr val="lt1"/>
                </a:solidFill>
                <a:latin typeface="Calibri"/>
                <a:ea typeface="Calibri"/>
                <a:cs typeface="Calibri"/>
                <a:sym typeface="Calibri"/>
              </a:rPr>
              <a:t>aggregation functions</a:t>
            </a:r>
            <a:r>
              <a:rPr b="0" i="0" lang="en-US" sz="1800" u="none" cap="none" strike="noStrike">
                <a:solidFill>
                  <a:schemeClr val="lt1"/>
                </a:solidFill>
                <a:latin typeface="Calibri"/>
                <a:ea typeface="Calibri"/>
                <a:cs typeface="Calibri"/>
                <a:sym typeface="Calibri"/>
              </a:rPr>
              <a:t> (like COUNT, SUM, AVG) to each group.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79" name="Google Shape;279;p13"/>
          <p:cNvPicPr preferRelativeResize="0"/>
          <p:nvPr/>
        </p:nvPicPr>
        <p:blipFill rotWithShape="1">
          <a:blip r:embed="rId3">
            <a:alphaModFix/>
          </a:blip>
          <a:srcRect b="0" l="0" r="0" t="0"/>
          <a:stretch/>
        </p:blipFill>
        <p:spPr>
          <a:xfrm>
            <a:off x="486378" y="2773003"/>
            <a:ext cx="5001323" cy="2743583"/>
          </a:xfrm>
          <a:prstGeom prst="rect">
            <a:avLst/>
          </a:prstGeom>
          <a:noFill/>
          <a:ln>
            <a:noFill/>
          </a:ln>
        </p:spPr>
      </p:pic>
      <p:sp>
        <p:nvSpPr>
          <p:cNvPr id="280" name="Google Shape;280;p13"/>
          <p:cNvSpPr txBox="1"/>
          <p:nvPr/>
        </p:nvSpPr>
        <p:spPr>
          <a:xfrm>
            <a:off x="402336" y="2340864"/>
            <a:ext cx="2258568"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4"/>
          <p:cNvSpPr txBox="1"/>
          <p:nvPr>
            <p:ph type="title"/>
          </p:nvPr>
        </p:nvSpPr>
        <p:spPr>
          <a:xfrm>
            <a:off x="192025" y="161544"/>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00"/>
              </a:buClr>
              <a:buSzPts val="3600"/>
              <a:buFont typeface="Calibri"/>
              <a:buNone/>
            </a:pPr>
            <a:r>
              <a:rPr lang="en-US">
                <a:solidFill>
                  <a:srgbClr val="FFFF00"/>
                </a:solidFill>
              </a:rPr>
              <a:t>HAVING</a:t>
            </a:r>
            <a:r>
              <a:rPr lang="en-US"/>
              <a:t> CLAUSE</a:t>
            </a:r>
            <a:endParaRPr b="1">
              <a:solidFill>
                <a:srgbClr val="FFFF00"/>
              </a:solidFill>
            </a:endParaRPr>
          </a:p>
        </p:txBody>
      </p:sp>
      <p:sp>
        <p:nvSpPr>
          <p:cNvPr id="286" name="Google Shape;286;p14"/>
          <p:cNvSpPr txBox="1"/>
          <p:nvPr/>
        </p:nvSpPr>
        <p:spPr>
          <a:xfrm>
            <a:off x="192025" y="1248479"/>
            <a:ext cx="757976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HAVING clause</a:t>
            </a:r>
            <a:r>
              <a:rPr b="0" i="0" lang="en-US" sz="1800" u="none" cap="none" strike="noStrike">
                <a:solidFill>
                  <a:schemeClr val="lt1"/>
                </a:solidFill>
                <a:latin typeface="Calibri"/>
                <a:ea typeface="Calibri"/>
                <a:cs typeface="Calibri"/>
                <a:sym typeface="Calibri"/>
              </a:rPr>
              <a:t> is an SQL keyword used to </a:t>
            </a:r>
            <a:r>
              <a:rPr b="1" i="0" lang="en-US" sz="1800" u="none" cap="none" strike="noStrike">
                <a:solidFill>
                  <a:schemeClr val="lt1"/>
                </a:solidFill>
                <a:latin typeface="Calibri"/>
                <a:ea typeface="Calibri"/>
                <a:cs typeface="Calibri"/>
                <a:sym typeface="Calibri"/>
              </a:rPr>
              <a:t>filter groups</a:t>
            </a:r>
            <a:r>
              <a:rPr b="0" i="0" lang="en-US" sz="1800" u="none" cap="none" strike="noStrike">
                <a:solidFill>
                  <a:schemeClr val="lt1"/>
                </a:solidFill>
                <a:latin typeface="Calibri"/>
                <a:ea typeface="Calibri"/>
                <a:cs typeface="Calibri"/>
                <a:sym typeface="Calibri"/>
              </a:rPr>
              <a:t> after using GROUP BY.</a:t>
            </a:r>
            <a:endParaRPr b="0" i="0" sz="1800" u="none" cap="none" strike="noStrike">
              <a:solidFill>
                <a:schemeClr val="lt1"/>
              </a:solidFill>
              <a:latin typeface="Calibri"/>
              <a:ea typeface="Calibri"/>
              <a:cs typeface="Calibri"/>
              <a:sym typeface="Calibri"/>
            </a:endParaRPr>
          </a:p>
        </p:txBody>
      </p:sp>
      <p:graphicFrame>
        <p:nvGraphicFramePr>
          <p:cNvPr id="287" name="Google Shape;287;p14"/>
          <p:cNvGraphicFramePr/>
          <p:nvPr/>
        </p:nvGraphicFramePr>
        <p:xfrm>
          <a:off x="192024" y="2572590"/>
          <a:ext cx="3000000" cy="3000000"/>
        </p:xfrm>
        <a:graphic>
          <a:graphicData uri="http://schemas.openxmlformats.org/drawingml/2006/table">
            <a:tbl>
              <a:tblPr>
                <a:gradFill>
                  <a:gsLst>
                    <a:gs pos="0">
                      <a:srgbClr val="D6B4E0"/>
                    </a:gs>
                    <a:gs pos="100000">
                      <a:srgbClr val="BE7FCE">
                        <a:alpha val="74118"/>
                      </a:srgbClr>
                    </a:gs>
                  </a:gsLst>
                  <a:lin ang="5400000" scaled="0"/>
                </a:gradFill>
                <a:tableStyleId>{F92F8B86-BF6C-45C7-B390-D125ADBB24F9}</a:tableStyleId>
              </a:tblPr>
              <a:tblGrid>
                <a:gridCol w="3377150"/>
                <a:gridCol w="3377150"/>
                <a:gridCol w="3377150"/>
              </a:tblGrid>
              <a:tr h="365750">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Feature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lt1"/>
                        </a:buClr>
                        <a:buSzPts val="1800"/>
                        <a:buFont typeface="Calibri"/>
                        <a:buNone/>
                      </a:pPr>
                      <a:r>
                        <a:rPr b="1" lang="en-US" sz="1800" u="none" cap="none" strike="noStrike"/>
                        <a:t>WHERE</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lt1"/>
                        </a:buClr>
                        <a:buSzPts val="1800"/>
                        <a:buFont typeface="Calibri"/>
                        <a:buNone/>
                      </a:pPr>
                      <a:r>
                        <a:rPr b="1" lang="en-US" sz="1800" u="none" cap="none" strike="noStrike"/>
                        <a:t>HAVING</a:t>
                      </a:r>
                      <a:endParaRPr sz="1800" u="none" cap="none" strike="noStrike"/>
                    </a:p>
                  </a:txBody>
                  <a:tcPr marT="45725" marB="45725" marR="91450" marL="91450" anchor="ctr"/>
                </a:tc>
              </a:tr>
              <a:tr h="365750">
                <a:tc>
                  <a:txBody>
                    <a:bodyPr/>
                    <a:lstStyle/>
                    <a:p>
                      <a:pPr indent="0" lvl="0" marL="0" marR="0" rtl="0" algn="l">
                        <a:lnSpc>
                          <a:spcPct val="100000"/>
                        </a:lnSpc>
                        <a:spcBef>
                          <a:spcPts val="0"/>
                        </a:spcBef>
                        <a:spcAft>
                          <a:spcPts val="0"/>
                        </a:spcAft>
                        <a:buClr>
                          <a:schemeClr val="lt1"/>
                        </a:buClr>
                        <a:buSzPts val="1800"/>
                        <a:buFont typeface="Calibri"/>
                        <a:buNone/>
                      </a:pPr>
                      <a:r>
                        <a:rPr b="1" lang="en-US" sz="1800" u="none" cap="none" strike="noStrike"/>
                        <a:t>Purpose</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Filters </a:t>
                      </a:r>
                      <a:r>
                        <a:rPr b="1" lang="en-US" sz="1800" u="none" cap="none" strike="noStrike"/>
                        <a:t>rows</a:t>
                      </a:r>
                      <a:r>
                        <a:rPr lang="en-US" sz="1800" u="none" cap="none" strike="noStrike"/>
                        <a:t> before grouping</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Filters </a:t>
                      </a:r>
                      <a:r>
                        <a:rPr b="1" lang="en-US" sz="1800" u="none" cap="none" strike="noStrike"/>
                        <a:t>groups</a:t>
                      </a:r>
                      <a:r>
                        <a:rPr lang="en-US" sz="1800" u="none" cap="none" strike="noStrike"/>
                        <a:t> after grouping</a:t>
                      </a:r>
                      <a:endParaRPr sz="1400" u="none" cap="none" strike="noStrike"/>
                    </a:p>
                  </a:txBody>
                  <a:tcPr marT="45725" marB="45725" marR="91450" marL="91450" anchor="ctr"/>
                </a:tc>
              </a:tr>
              <a:tr h="365750">
                <a:tc>
                  <a:txBody>
                    <a:bodyPr/>
                    <a:lstStyle/>
                    <a:p>
                      <a:pPr indent="0" lvl="0" marL="0" marR="0" rtl="0" algn="l">
                        <a:lnSpc>
                          <a:spcPct val="100000"/>
                        </a:lnSpc>
                        <a:spcBef>
                          <a:spcPts val="0"/>
                        </a:spcBef>
                        <a:spcAft>
                          <a:spcPts val="0"/>
                        </a:spcAft>
                        <a:buClr>
                          <a:schemeClr val="lt1"/>
                        </a:buClr>
                        <a:buSzPts val="1800"/>
                        <a:buFont typeface="Calibri"/>
                        <a:buNone/>
                      </a:pPr>
                      <a:r>
                        <a:rPr b="1" lang="en-US" sz="1800" u="none" cap="none" strike="noStrike"/>
                        <a:t>Used With</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Any SELECT query</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Usually used with GROUP BY</a:t>
                      </a:r>
                      <a:endParaRPr sz="1400" u="none" cap="none" strike="noStrike"/>
                    </a:p>
                  </a:txBody>
                  <a:tcPr marT="45725" marB="45725" marR="91450" marL="91450" anchor="ctr"/>
                </a:tc>
              </a:tr>
              <a:tr h="640075">
                <a:tc>
                  <a:txBody>
                    <a:bodyPr/>
                    <a:lstStyle/>
                    <a:p>
                      <a:pPr indent="0" lvl="0" marL="0" marR="0" rtl="0" algn="l">
                        <a:lnSpc>
                          <a:spcPct val="100000"/>
                        </a:lnSpc>
                        <a:spcBef>
                          <a:spcPts val="0"/>
                        </a:spcBef>
                        <a:spcAft>
                          <a:spcPts val="0"/>
                        </a:spcAft>
                        <a:buClr>
                          <a:schemeClr val="lt1"/>
                        </a:buClr>
                        <a:buSzPts val="1800"/>
                        <a:buFont typeface="Calibri"/>
                        <a:buNone/>
                      </a:pPr>
                      <a:r>
                        <a:rPr b="1" lang="en-US" sz="1800" u="none" cap="none" strike="noStrike"/>
                        <a:t>Can Use Aggregation Functions?</a:t>
                      </a:r>
                      <a:r>
                        <a:rPr lang="en-US" sz="1800" u="none" cap="none" strike="noStrike"/>
                        <a:t> (COUNT, SUM, etc.)</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 </a:t>
                      </a:r>
                      <a:r>
                        <a:rPr b="1" lang="en-US" sz="1800" u="none" cap="none" strike="noStrike"/>
                        <a:t>No</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 </a:t>
                      </a:r>
                      <a:r>
                        <a:rPr b="1" lang="en-US" sz="1800" u="none" cap="none" strike="noStrike"/>
                        <a:t>Yes</a:t>
                      </a:r>
                      <a:endParaRPr sz="1800" u="none" cap="none" strike="noStrike"/>
                    </a:p>
                  </a:txBody>
                  <a:tcPr marT="45725" marB="45725" marR="91450" marL="91450" anchor="ctr"/>
                </a:tc>
              </a:tr>
              <a:tr h="365750">
                <a:tc>
                  <a:txBody>
                    <a:bodyPr/>
                    <a:lstStyle/>
                    <a:p>
                      <a:pPr indent="0" lvl="0" marL="0" marR="0" rtl="0" algn="l">
                        <a:lnSpc>
                          <a:spcPct val="100000"/>
                        </a:lnSpc>
                        <a:spcBef>
                          <a:spcPts val="0"/>
                        </a:spcBef>
                        <a:spcAft>
                          <a:spcPts val="0"/>
                        </a:spcAft>
                        <a:buClr>
                          <a:schemeClr val="lt1"/>
                        </a:buClr>
                        <a:buSzPts val="1800"/>
                        <a:buFont typeface="Calibri"/>
                        <a:buNone/>
                      </a:pPr>
                      <a:r>
                        <a:rPr b="1" lang="en-US" sz="1800" u="none" cap="none" strike="noStrike"/>
                        <a:t>When it Happens</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Before grouping</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lt1"/>
                        </a:buClr>
                        <a:buSzPts val="1800"/>
                        <a:buFont typeface="Calibri"/>
                        <a:buNone/>
                      </a:pPr>
                      <a:r>
                        <a:rPr lang="en-US" sz="1800" u="none" cap="none" strike="noStrike"/>
                        <a:t>After grouping</a:t>
                      </a:r>
                      <a:endParaRPr sz="1400" u="none" cap="none" strike="noStrike"/>
                    </a:p>
                  </a:txBody>
                  <a:tcPr marT="45725" marB="45725" marR="91450" marL="91450" anchor="ctr"/>
                </a:tc>
              </a:tr>
            </a:tbl>
          </a:graphicData>
        </a:graphic>
      </p:graphicFrame>
      <p:sp>
        <p:nvSpPr>
          <p:cNvPr id="288" name="Google Shape;288;p14"/>
          <p:cNvSpPr txBox="1"/>
          <p:nvPr/>
        </p:nvSpPr>
        <p:spPr>
          <a:xfrm>
            <a:off x="192024" y="1812959"/>
            <a:ext cx="408736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Different Between WHERE and HAVING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5"/>
          <p:cNvSpPr txBox="1"/>
          <p:nvPr>
            <p:ph type="title"/>
          </p:nvPr>
        </p:nvSpPr>
        <p:spPr>
          <a:xfrm>
            <a:off x="329185" y="353569"/>
            <a:ext cx="3831335" cy="93268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b="1" lang="en-US"/>
              <a:t>EXAMPLE</a:t>
            </a:r>
            <a:r>
              <a:rPr lang="en-US"/>
              <a:t>:</a:t>
            </a:r>
            <a:endParaRPr/>
          </a:p>
        </p:txBody>
      </p:sp>
      <p:pic>
        <p:nvPicPr>
          <p:cNvPr id="294" name="Google Shape;294;p15"/>
          <p:cNvPicPr preferRelativeResize="0"/>
          <p:nvPr/>
        </p:nvPicPr>
        <p:blipFill rotWithShape="1">
          <a:blip r:embed="rId3">
            <a:alphaModFix/>
          </a:blip>
          <a:srcRect b="0" l="0" r="0" t="0"/>
          <a:stretch/>
        </p:blipFill>
        <p:spPr>
          <a:xfrm>
            <a:off x="1390201" y="1410071"/>
            <a:ext cx="3705742" cy="2867425"/>
          </a:xfrm>
          <a:prstGeom prst="rect">
            <a:avLst/>
          </a:prstGeom>
          <a:noFill/>
          <a:ln>
            <a:noFill/>
          </a:ln>
        </p:spPr>
      </p:pic>
      <p:sp>
        <p:nvSpPr>
          <p:cNvPr id="295" name="Google Shape;295;p15"/>
          <p:cNvSpPr txBox="1"/>
          <p:nvPr/>
        </p:nvSpPr>
        <p:spPr>
          <a:xfrm>
            <a:off x="5760721" y="2274838"/>
            <a:ext cx="6258454" cy="230832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alibri"/>
                <a:ea typeface="Calibri"/>
                <a:cs typeface="Calibri"/>
                <a:sym typeface="Calibri"/>
              </a:rPr>
              <a:t>WHERE = Row filter</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Filters individual records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Cannot use aggregates like COUNT()</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alibri"/>
                <a:ea typeface="Calibri"/>
                <a:cs typeface="Calibri"/>
                <a:sym typeface="Calibri"/>
              </a:rPr>
              <a:t>HAVING = Group filter</a:t>
            </a:r>
            <a:endParaRPr b="0" i="0" sz="1800" u="none" cap="none" strike="noStrike">
              <a:solidFill>
                <a:schemeClr val="lt1"/>
              </a:solidFill>
              <a:latin typeface="Calibri"/>
              <a:ea typeface="Calibri"/>
              <a:cs typeface="Calibri"/>
              <a:sym typeface="Calibri"/>
            </a:endParaRPr>
          </a:p>
          <a:p>
            <a:pPr indent="0" lvl="1" marL="45720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Filters groups </a:t>
            </a:r>
            <a:r>
              <a:rPr b="1" i="0" lang="en-US" sz="1800" u="none" cap="none" strike="noStrike">
                <a:solidFill>
                  <a:schemeClr val="lt1"/>
                </a:solidFill>
                <a:latin typeface="Calibri"/>
                <a:ea typeface="Calibri"/>
                <a:cs typeface="Calibri"/>
                <a:sym typeface="Calibri"/>
              </a:rPr>
              <a:t>after</a:t>
            </a:r>
            <a:r>
              <a:rPr b="0" i="0" lang="en-US" sz="1800" u="none" cap="none" strike="noStrike">
                <a:solidFill>
                  <a:schemeClr val="lt1"/>
                </a:solidFill>
                <a:latin typeface="Calibri"/>
                <a:ea typeface="Calibri"/>
                <a:cs typeface="Calibri"/>
                <a:sym typeface="Calibri"/>
              </a:rPr>
              <a:t> applying GROUP BY</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Can use aggregates like COUNT() or SUM()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6" name="Google Shape;296;p15"/>
          <p:cNvSpPr txBox="1"/>
          <p:nvPr/>
        </p:nvSpPr>
        <p:spPr>
          <a:xfrm>
            <a:off x="5760721" y="1757434"/>
            <a:ext cx="249631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Remember: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6"/>
          <p:cNvSpPr txBox="1"/>
          <p:nvPr>
            <p:ph type="title"/>
          </p:nvPr>
        </p:nvSpPr>
        <p:spPr>
          <a:xfrm>
            <a:off x="374905" y="252984"/>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US"/>
              <a:t>ACTIVITY #2: GROUP BY AND HAVING CLAUSE</a:t>
            </a:r>
            <a:endParaRPr/>
          </a:p>
        </p:txBody>
      </p:sp>
      <p:sp>
        <p:nvSpPr>
          <p:cNvPr id="302" name="Google Shape;302;p16"/>
          <p:cNvSpPr txBox="1"/>
          <p:nvPr/>
        </p:nvSpPr>
        <p:spPr>
          <a:xfrm>
            <a:off x="521208" y="1426464"/>
            <a:ext cx="7104888"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Use the deliveries_data table to answer the questions below.</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Each question requires a SQL query using GROUP BY.</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Some questions require HAVING to filter groups.</a:t>
            </a:r>
            <a:endParaRPr b="0" i="0" sz="1800" u="none" cap="none" strike="noStrike">
              <a:solidFill>
                <a:schemeClr val="lt1"/>
              </a:solidFill>
              <a:latin typeface="Calibri"/>
              <a:ea typeface="Calibri"/>
              <a:cs typeface="Calibri"/>
              <a:sym typeface="Calibri"/>
            </a:endParaRPr>
          </a:p>
        </p:txBody>
      </p:sp>
      <p:sp>
        <p:nvSpPr>
          <p:cNvPr id="303" name="Google Shape;303;p16"/>
          <p:cNvSpPr txBox="1"/>
          <p:nvPr/>
        </p:nvSpPr>
        <p:spPr>
          <a:xfrm>
            <a:off x="521208" y="2514600"/>
            <a:ext cx="6071616" cy="36933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1. Count how many deliveries each vehicle type made.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1" lang="en-US" sz="1800" u="none" cap="none" strike="noStrike">
                <a:solidFill>
                  <a:schemeClr val="lt1"/>
                </a:solidFill>
                <a:latin typeface="Calibri"/>
                <a:ea typeface="Calibri"/>
                <a:cs typeface="Calibri"/>
                <a:sym typeface="Calibri"/>
              </a:rPr>
              <a:t>Use GROUP BY.</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lt1"/>
              </a:buClr>
              <a:buSzPts val="1800"/>
              <a:buFont typeface="Arial"/>
              <a:buNone/>
            </a:pPr>
            <a:r>
              <a:t/>
            </a:r>
            <a:endParaRPr b="0" i="1"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2. Show which vehicle types traveled more than 500 km in total.</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1" lang="en-US" sz="1800" u="none" cap="none" strike="noStrike">
                <a:solidFill>
                  <a:schemeClr val="lt1"/>
                </a:solidFill>
                <a:latin typeface="Calibri"/>
                <a:ea typeface="Calibri"/>
                <a:cs typeface="Calibri"/>
                <a:sym typeface="Calibri"/>
              </a:rPr>
              <a:t>Use HAVING with SUM(distance_km).</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lt1"/>
              </a:buClr>
              <a:buSzPts val="1800"/>
              <a:buFont typeface="Arial"/>
              <a:buNone/>
            </a:pPr>
            <a:r>
              <a:t/>
            </a:r>
            <a:endParaRPr b="0" i="1"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lt1"/>
                </a:solidFill>
                <a:latin typeface="Calibri"/>
                <a:ea typeface="Calibri"/>
                <a:cs typeface="Calibri"/>
                <a:sym typeface="Calibri"/>
              </a:rPr>
              <a:t>3. </a:t>
            </a:r>
            <a:r>
              <a:rPr b="1" i="0" lang="en-US" sz="1800" u="none" cap="none" strike="noStrike">
                <a:solidFill>
                  <a:schemeClr val="lt1"/>
                </a:solidFill>
                <a:latin typeface="Calibri"/>
                <a:ea typeface="Calibri"/>
                <a:cs typeface="Calibri"/>
                <a:sym typeface="Calibri"/>
              </a:rPr>
              <a:t>For each vehicle type, show: total fuel cost, total price, and ROI</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ROI = (SUM(price) – SUM(fuel_cost)) / SUM(fuel_cost)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1" lang="en-US" sz="1800" u="none" cap="none" strike="noStrike">
                <a:solidFill>
                  <a:schemeClr val="lt1"/>
                </a:solidFill>
                <a:latin typeface="Calibri"/>
                <a:ea typeface="Calibri"/>
                <a:cs typeface="Calibri"/>
                <a:sym typeface="Calibri"/>
              </a:rPr>
              <a:t>Use GROUP BY.</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7"/>
          <p:cNvSpPr txBox="1"/>
          <p:nvPr>
            <p:ph type="title"/>
          </p:nvPr>
        </p:nvSpPr>
        <p:spPr>
          <a:xfrm>
            <a:off x="0" y="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US"/>
              <a:t>UPDATING DATA USING </a:t>
            </a:r>
            <a:r>
              <a:rPr lang="en-US">
                <a:solidFill>
                  <a:srgbClr val="FFFF00"/>
                </a:solidFill>
              </a:rPr>
              <a:t>UPDATE</a:t>
            </a:r>
            <a:endParaRPr/>
          </a:p>
        </p:txBody>
      </p:sp>
      <p:sp>
        <p:nvSpPr>
          <p:cNvPr id="309" name="Google Shape;309;p17"/>
          <p:cNvSpPr txBox="1"/>
          <p:nvPr/>
        </p:nvSpPr>
        <p:spPr>
          <a:xfrm>
            <a:off x="274320" y="1206253"/>
            <a:ext cx="911656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UPDATE allows modifying existing data. Analysts rarely use it directly—but data engineers frequently do. However, analysts must know how it works for data cleaning.</a:t>
            </a:r>
            <a:endParaRPr b="0" i="0" sz="1800" u="none" cap="none" strike="noStrike">
              <a:solidFill>
                <a:schemeClr val="lt1"/>
              </a:solidFill>
              <a:latin typeface="Calibri"/>
              <a:ea typeface="Calibri"/>
              <a:cs typeface="Calibri"/>
              <a:sym typeface="Calibri"/>
            </a:endParaRPr>
          </a:p>
        </p:txBody>
      </p:sp>
      <p:sp>
        <p:nvSpPr>
          <p:cNvPr id="310" name="Google Shape;310;p17"/>
          <p:cNvSpPr txBox="1"/>
          <p:nvPr/>
        </p:nvSpPr>
        <p:spPr>
          <a:xfrm>
            <a:off x="274320" y="1984248"/>
            <a:ext cx="261518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p:txBody>
      </p:sp>
      <p:sp>
        <p:nvSpPr>
          <p:cNvPr id="311" name="Google Shape;311;p17"/>
          <p:cNvSpPr txBox="1"/>
          <p:nvPr/>
        </p:nvSpPr>
        <p:spPr>
          <a:xfrm>
            <a:off x="274320" y="2485244"/>
            <a:ext cx="6185916"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onsolas"/>
                <a:ea typeface="Consolas"/>
                <a:cs typeface="Consolas"/>
                <a:sym typeface="Consolas"/>
              </a:rPr>
              <a:t>UPDATE </a:t>
            </a:r>
            <a:r>
              <a:rPr b="0" i="1" lang="en-US" sz="1800" u="none" cap="none" strike="noStrike">
                <a:solidFill>
                  <a:schemeClr val="lt1"/>
                </a:solidFill>
                <a:latin typeface="Consolas"/>
                <a:ea typeface="Consolas"/>
                <a:cs typeface="Consolas"/>
                <a:sym typeface="Consolas"/>
              </a:rPr>
              <a:t>table_name</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onsolas"/>
                <a:ea typeface="Consolas"/>
                <a:cs typeface="Consolas"/>
                <a:sym typeface="Consolas"/>
              </a:rPr>
              <a:t>SET </a:t>
            </a:r>
            <a:r>
              <a:rPr b="0" i="1" lang="en-US" sz="1800" u="none" cap="none" strike="noStrike">
                <a:solidFill>
                  <a:schemeClr val="lt1"/>
                </a:solidFill>
                <a:latin typeface="Consolas"/>
                <a:ea typeface="Consolas"/>
                <a:cs typeface="Consolas"/>
                <a:sym typeface="Consolas"/>
              </a:rPr>
              <a:t>column1 </a:t>
            </a:r>
            <a:r>
              <a:rPr b="0" i="0" lang="en-US" sz="1800" u="none" cap="none" strike="noStrike">
                <a:solidFill>
                  <a:schemeClr val="lt1"/>
                </a:solidFill>
                <a:latin typeface="Consolas"/>
                <a:ea typeface="Consolas"/>
                <a:cs typeface="Consolas"/>
                <a:sym typeface="Consolas"/>
              </a:rPr>
              <a:t>=</a:t>
            </a:r>
            <a:r>
              <a:rPr b="0" i="1" lang="en-US" sz="1800" u="none" cap="none" strike="noStrike">
                <a:solidFill>
                  <a:schemeClr val="lt1"/>
                </a:solidFill>
                <a:latin typeface="Consolas"/>
                <a:ea typeface="Consolas"/>
                <a:cs typeface="Consolas"/>
                <a:sym typeface="Consolas"/>
              </a:rPr>
              <a:t> value1</a:t>
            </a:r>
            <a:r>
              <a:rPr b="0" i="0" lang="en-US" sz="1800" u="none" cap="none" strike="noStrike">
                <a:solidFill>
                  <a:schemeClr val="lt1"/>
                </a:solidFill>
                <a:latin typeface="Consolas"/>
                <a:ea typeface="Consolas"/>
                <a:cs typeface="Consolas"/>
                <a:sym typeface="Consolas"/>
              </a:rPr>
              <a:t>,</a:t>
            </a:r>
            <a:r>
              <a:rPr b="0" i="1" lang="en-US" sz="1800" u="none" cap="none" strike="noStrike">
                <a:solidFill>
                  <a:schemeClr val="lt1"/>
                </a:solidFill>
                <a:latin typeface="Consolas"/>
                <a:ea typeface="Consolas"/>
                <a:cs typeface="Consolas"/>
                <a:sym typeface="Consolas"/>
              </a:rPr>
              <a:t> column2 </a:t>
            </a:r>
            <a:r>
              <a:rPr b="0" i="0" lang="en-US" sz="1800" u="none" cap="none" strike="noStrike">
                <a:solidFill>
                  <a:schemeClr val="lt1"/>
                </a:solidFill>
                <a:latin typeface="Consolas"/>
                <a:ea typeface="Consolas"/>
                <a:cs typeface="Consolas"/>
                <a:sym typeface="Consolas"/>
              </a:rPr>
              <a:t>=</a:t>
            </a:r>
            <a:r>
              <a:rPr b="0" i="1" lang="en-US" sz="1800" u="none" cap="none" strike="noStrike">
                <a:solidFill>
                  <a:schemeClr val="lt1"/>
                </a:solidFill>
                <a:latin typeface="Consolas"/>
                <a:ea typeface="Consolas"/>
                <a:cs typeface="Consolas"/>
                <a:sym typeface="Consolas"/>
              </a:rPr>
              <a:t> value2</a:t>
            </a:r>
            <a:r>
              <a:rPr b="0" i="0" lang="en-US" sz="1800" u="none" cap="none" strike="noStrike">
                <a:solidFill>
                  <a:schemeClr val="lt1"/>
                </a:solidFill>
                <a:latin typeface="Consolas"/>
                <a:ea typeface="Consolas"/>
                <a:cs typeface="Consolas"/>
                <a:sym typeface="Consolas"/>
              </a:rPr>
              <a:t>, ...</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onsolas"/>
                <a:ea typeface="Consolas"/>
                <a:cs typeface="Consolas"/>
                <a:sym typeface="Consolas"/>
              </a:rPr>
              <a:t>WHERE </a:t>
            </a:r>
            <a:r>
              <a:rPr b="0" i="1" lang="en-US" sz="1800" u="none" cap="none" strike="noStrike">
                <a:solidFill>
                  <a:schemeClr val="lt1"/>
                </a:solidFill>
                <a:latin typeface="Consolas"/>
                <a:ea typeface="Consolas"/>
                <a:cs typeface="Consolas"/>
                <a:sym typeface="Consolas"/>
              </a:rPr>
              <a:t>condition</a:t>
            </a:r>
            <a:r>
              <a:rPr b="0" i="0" lang="en-US" sz="1800" u="none" cap="none" strike="noStrike">
                <a:solidFill>
                  <a:schemeClr val="lt1"/>
                </a:solidFill>
                <a:latin typeface="Consolas"/>
                <a:ea typeface="Consolas"/>
                <a:cs typeface="Consolas"/>
                <a:sym typeface="Consolas"/>
              </a:rPr>
              <a:t>;</a:t>
            </a:r>
            <a:endParaRPr b="0" i="0" sz="1800" u="none" cap="none" strike="noStrike">
              <a:solidFill>
                <a:schemeClr val="lt1"/>
              </a:solidFill>
              <a:latin typeface="Calibri"/>
              <a:ea typeface="Calibri"/>
              <a:cs typeface="Calibri"/>
              <a:sym typeface="Calibri"/>
            </a:endParaRPr>
          </a:p>
        </p:txBody>
      </p:sp>
      <p:pic>
        <p:nvPicPr>
          <p:cNvPr id="312" name="Google Shape;312;p17"/>
          <p:cNvPicPr preferRelativeResize="0"/>
          <p:nvPr/>
        </p:nvPicPr>
        <p:blipFill rotWithShape="1">
          <a:blip r:embed="rId3">
            <a:alphaModFix/>
          </a:blip>
          <a:srcRect b="0" l="0" r="0" t="0"/>
          <a:stretch/>
        </p:blipFill>
        <p:spPr>
          <a:xfrm>
            <a:off x="274320" y="3618284"/>
            <a:ext cx="2962688" cy="104789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8"/>
          <p:cNvSpPr txBox="1"/>
          <p:nvPr>
            <p:ph type="title"/>
          </p:nvPr>
        </p:nvSpPr>
        <p:spPr>
          <a:xfrm>
            <a:off x="0" y="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US"/>
              <a:t>DELETING DATA USING </a:t>
            </a:r>
            <a:r>
              <a:rPr lang="en-US">
                <a:solidFill>
                  <a:srgbClr val="FFFF00"/>
                </a:solidFill>
              </a:rPr>
              <a:t>DELETE</a:t>
            </a:r>
            <a:endParaRPr/>
          </a:p>
        </p:txBody>
      </p:sp>
      <p:sp>
        <p:nvSpPr>
          <p:cNvPr id="318" name="Google Shape;318;p18"/>
          <p:cNvSpPr txBox="1"/>
          <p:nvPr/>
        </p:nvSpPr>
        <p:spPr>
          <a:xfrm>
            <a:off x="173736" y="1243584"/>
            <a:ext cx="8706166"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Concept Explanation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DELETE removes rows from a table. It is a powerful command and should be used carefully.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Important Warning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Never delete without a WHERE clause.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9" name="Google Shape;319;p18"/>
          <p:cNvSpPr txBox="1"/>
          <p:nvPr/>
        </p:nvSpPr>
        <p:spPr>
          <a:xfrm>
            <a:off x="173736" y="2699851"/>
            <a:ext cx="261518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p:txBody>
      </p:sp>
      <p:sp>
        <p:nvSpPr>
          <p:cNvPr id="320" name="Google Shape;320;p18"/>
          <p:cNvSpPr txBox="1"/>
          <p:nvPr/>
        </p:nvSpPr>
        <p:spPr>
          <a:xfrm>
            <a:off x="173736" y="3059668"/>
            <a:ext cx="453542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DELETE FROM </a:t>
            </a:r>
            <a:r>
              <a:rPr b="0" i="1" lang="en-US" sz="1800" u="none" cap="none" strike="noStrike">
                <a:solidFill>
                  <a:schemeClr val="lt1"/>
                </a:solidFill>
                <a:latin typeface="Calibri"/>
                <a:ea typeface="Calibri"/>
                <a:cs typeface="Calibri"/>
                <a:sym typeface="Calibri"/>
              </a:rPr>
              <a:t>table_name </a:t>
            </a:r>
            <a:r>
              <a:rPr b="0" i="0" lang="en-US" sz="1800" u="none" cap="none" strike="noStrike">
                <a:solidFill>
                  <a:schemeClr val="lt1"/>
                </a:solidFill>
                <a:latin typeface="Calibri"/>
                <a:ea typeface="Calibri"/>
                <a:cs typeface="Calibri"/>
                <a:sym typeface="Calibri"/>
              </a:rPr>
              <a:t>WHERE </a:t>
            </a:r>
            <a:r>
              <a:rPr b="0" i="1" lang="en-US" sz="1800" u="none" cap="none" strike="noStrike">
                <a:solidFill>
                  <a:schemeClr val="lt1"/>
                </a:solidFill>
                <a:latin typeface="Calibri"/>
                <a:ea typeface="Calibri"/>
                <a:cs typeface="Calibri"/>
                <a:sym typeface="Calibri"/>
              </a:rPr>
              <a:t>condition</a:t>
            </a:r>
            <a:r>
              <a:rPr b="0" i="0" lang="en-US" sz="1800" u="none" cap="none" strike="noStrike">
                <a:solidFill>
                  <a:schemeClr val="lt1"/>
                </a:solidFill>
                <a:latin typeface="Calibri"/>
                <a:ea typeface="Calibri"/>
                <a:cs typeface="Calibri"/>
                <a:sym typeface="Calibri"/>
              </a:rPr>
              <a:t>;</a:t>
            </a:r>
            <a:endParaRPr b="0" i="0" sz="1800" u="none" cap="none" strike="noStrike">
              <a:solidFill>
                <a:schemeClr val="lt1"/>
              </a:solidFill>
              <a:latin typeface="Calibri"/>
              <a:ea typeface="Calibri"/>
              <a:cs typeface="Calibri"/>
              <a:sym typeface="Calibri"/>
            </a:endParaRPr>
          </a:p>
        </p:txBody>
      </p:sp>
      <p:pic>
        <p:nvPicPr>
          <p:cNvPr id="321" name="Google Shape;321;p18"/>
          <p:cNvPicPr preferRelativeResize="0"/>
          <p:nvPr/>
        </p:nvPicPr>
        <p:blipFill rotWithShape="1">
          <a:blip r:embed="rId3">
            <a:alphaModFix/>
          </a:blip>
          <a:srcRect b="0" l="0" r="0" t="0"/>
          <a:stretch/>
        </p:blipFill>
        <p:spPr>
          <a:xfrm>
            <a:off x="333177" y="3637719"/>
            <a:ext cx="2838846" cy="990738"/>
          </a:xfrm>
          <a:prstGeom prst="rect">
            <a:avLst/>
          </a:prstGeom>
          <a:noFill/>
          <a:ln>
            <a:noFill/>
          </a:ln>
        </p:spPr>
      </p:pic>
      <p:sp>
        <p:nvSpPr>
          <p:cNvPr id="322" name="Google Shape;322;p18"/>
          <p:cNvSpPr txBox="1"/>
          <p:nvPr/>
        </p:nvSpPr>
        <p:spPr>
          <a:xfrm>
            <a:off x="173736" y="5014251"/>
            <a:ext cx="618591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Best Practices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Always test with SELECT before UPDATE/DELETE.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Be specific with WHERE.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Never modify production data without a backup.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9"/>
          <p:cNvSpPr txBox="1"/>
          <p:nvPr>
            <p:ph type="title"/>
          </p:nvPr>
        </p:nvSpPr>
        <p:spPr>
          <a:xfrm>
            <a:off x="0" y="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US"/>
              <a:t>MODIFY COLUMNS USING </a:t>
            </a:r>
            <a:r>
              <a:rPr lang="en-US">
                <a:solidFill>
                  <a:srgbClr val="FFFF00"/>
                </a:solidFill>
              </a:rPr>
              <a:t>ALTER TABLE</a:t>
            </a:r>
            <a:endParaRPr/>
          </a:p>
        </p:txBody>
      </p:sp>
      <p:sp>
        <p:nvSpPr>
          <p:cNvPr id="328" name="Google Shape;328;p19"/>
          <p:cNvSpPr txBox="1"/>
          <p:nvPr/>
        </p:nvSpPr>
        <p:spPr>
          <a:xfrm>
            <a:off x="0" y="1179576"/>
            <a:ext cx="9811385" cy="92333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The ALTER TABLE statement is used to add, delete, or modify columns in an existing table.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The ALTER TABLE statement is also used to add and drop various constraints on an existing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9" name="Google Shape;329;p19"/>
          <p:cNvSpPr txBox="1"/>
          <p:nvPr/>
        </p:nvSpPr>
        <p:spPr>
          <a:xfrm>
            <a:off x="310896" y="2011680"/>
            <a:ext cx="261518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p:txBody>
      </p:sp>
      <p:sp>
        <p:nvSpPr>
          <p:cNvPr id="330" name="Google Shape;330;p19"/>
          <p:cNvSpPr txBox="1"/>
          <p:nvPr/>
        </p:nvSpPr>
        <p:spPr>
          <a:xfrm>
            <a:off x="310896" y="2335153"/>
            <a:ext cx="294157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ALTER TABLE </a:t>
            </a:r>
            <a:r>
              <a:rPr b="0" i="1" lang="en-US" sz="1800" u="none" cap="none" strike="noStrike">
                <a:solidFill>
                  <a:schemeClr val="lt1"/>
                </a:solidFill>
                <a:latin typeface="Calibri"/>
                <a:ea typeface="Calibri"/>
                <a:cs typeface="Calibri"/>
                <a:sym typeface="Calibri"/>
              </a:rPr>
              <a:t>table_name</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ADD </a:t>
            </a:r>
            <a:r>
              <a:rPr b="0" i="1" lang="en-US" sz="1800" u="none" cap="none" strike="noStrike">
                <a:solidFill>
                  <a:schemeClr val="lt1"/>
                </a:solidFill>
                <a:latin typeface="Calibri"/>
                <a:ea typeface="Calibri"/>
                <a:cs typeface="Calibri"/>
                <a:sym typeface="Calibri"/>
              </a:rPr>
              <a:t>column_name datatype</a:t>
            </a:r>
            <a:r>
              <a:rPr b="0" i="0" lang="en-US" sz="1800" u="none" cap="none" strike="noStrike">
                <a:solidFill>
                  <a:schemeClr val="lt1"/>
                </a:solidFill>
                <a:latin typeface="Calibri"/>
                <a:ea typeface="Calibri"/>
                <a:cs typeface="Calibri"/>
                <a:sym typeface="Calibri"/>
              </a:rPr>
              <a:t>;</a:t>
            </a:r>
            <a:endParaRPr b="0" i="0" sz="1800" u="none" cap="none" strike="noStrike">
              <a:solidFill>
                <a:schemeClr val="lt1"/>
              </a:solidFill>
              <a:latin typeface="Calibri"/>
              <a:ea typeface="Calibri"/>
              <a:cs typeface="Calibri"/>
              <a:sym typeface="Calibri"/>
            </a:endParaRPr>
          </a:p>
        </p:txBody>
      </p:sp>
      <p:pic>
        <p:nvPicPr>
          <p:cNvPr id="331" name="Google Shape;331;p19"/>
          <p:cNvPicPr preferRelativeResize="0"/>
          <p:nvPr/>
        </p:nvPicPr>
        <p:blipFill rotWithShape="1">
          <a:blip r:embed="rId3">
            <a:alphaModFix/>
          </a:blip>
          <a:srcRect b="0" l="0" r="0" t="0"/>
          <a:stretch/>
        </p:blipFill>
        <p:spPr>
          <a:xfrm>
            <a:off x="390096" y="3433542"/>
            <a:ext cx="3419952" cy="885949"/>
          </a:xfrm>
          <a:prstGeom prst="rect">
            <a:avLst/>
          </a:prstGeom>
          <a:noFill/>
          <a:ln>
            <a:noFill/>
          </a:ln>
        </p:spPr>
      </p:pic>
      <p:sp>
        <p:nvSpPr>
          <p:cNvPr id="332" name="Google Shape;332;p19"/>
          <p:cNvSpPr txBox="1"/>
          <p:nvPr/>
        </p:nvSpPr>
        <p:spPr>
          <a:xfrm>
            <a:off x="310896" y="3073414"/>
            <a:ext cx="156362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Add Column</a:t>
            </a:r>
            <a:endParaRPr b="0" i="0" sz="1400" u="none" cap="none" strike="noStrike">
              <a:solidFill>
                <a:srgbClr val="000000"/>
              </a:solidFill>
              <a:latin typeface="Arial"/>
              <a:ea typeface="Arial"/>
              <a:cs typeface="Arial"/>
              <a:sym typeface="Arial"/>
            </a:endParaRPr>
          </a:p>
        </p:txBody>
      </p:sp>
      <p:sp>
        <p:nvSpPr>
          <p:cNvPr id="333" name="Google Shape;333;p19"/>
          <p:cNvSpPr txBox="1"/>
          <p:nvPr/>
        </p:nvSpPr>
        <p:spPr>
          <a:xfrm>
            <a:off x="390096" y="4679619"/>
            <a:ext cx="156362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Drop Column</a:t>
            </a:r>
            <a:endParaRPr b="0" i="0" sz="1400" u="none" cap="none" strike="noStrike">
              <a:solidFill>
                <a:srgbClr val="000000"/>
              </a:solidFill>
              <a:latin typeface="Arial"/>
              <a:ea typeface="Arial"/>
              <a:cs typeface="Arial"/>
              <a:sym typeface="Arial"/>
            </a:endParaRPr>
          </a:p>
        </p:txBody>
      </p:sp>
      <p:pic>
        <p:nvPicPr>
          <p:cNvPr id="334" name="Google Shape;334;p19"/>
          <p:cNvPicPr preferRelativeResize="0"/>
          <p:nvPr/>
        </p:nvPicPr>
        <p:blipFill rotWithShape="1">
          <a:blip r:embed="rId4">
            <a:alphaModFix/>
          </a:blip>
          <a:srcRect b="0" l="0" r="0" t="0"/>
          <a:stretch/>
        </p:blipFill>
        <p:spPr>
          <a:xfrm>
            <a:off x="390096" y="5048951"/>
            <a:ext cx="3515216" cy="110505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0"/>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US"/>
              <a:t>ACTIVITY: UPDATE, DELETE AND ALTER TABLE</a:t>
            </a:r>
            <a:endParaRPr/>
          </a:p>
        </p:txBody>
      </p:sp>
      <p:sp>
        <p:nvSpPr>
          <p:cNvPr id="340" name="Google Shape;340;p20"/>
          <p:cNvSpPr txBox="1"/>
          <p:nvPr/>
        </p:nvSpPr>
        <p:spPr>
          <a:xfrm>
            <a:off x="685801" y="1881201"/>
            <a:ext cx="563270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Use university Data to do the task Below.</a:t>
            </a:r>
            <a:endParaRPr b="0" i="0" sz="1400" u="none" cap="none" strike="noStrike">
              <a:solidFill>
                <a:srgbClr val="000000"/>
              </a:solidFill>
              <a:latin typeface="Arial"/>
              <a:ea typeface="Arial"/>
              <a:cs typeface="Arial"/>
              <a:sym typeface="Arial"/>
            </a:endParaRPr>
          </a:p>
        </p:txBody>
      </p:sp>
      <p:sp>
        <p:nvSpPr>
          <p:cNvPr id="341" name="Google Shape;341;p20"/>
          <p:cNvSpPr txBox="1"/>
          <p:nvPr/>
        </p:nvSpPr>
        <p:spPr>
          <a:xfrm>
            <a:off x="685801" y="2560320"/>
            <a:ext cx="6537959" cy="120032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alibri"/>
              <a:buAutoNum type="arabicPeriod"/>
            </a:pPr>
            <a:r>
              <a:rPr b="0" i="0" lang="en-US" sz="1800" u="none" cap="none" strike="noStrike">
                <a:solidFill>
                  <a:schemeClr val="lt1"/>
                </a:solidFill>
                <a:latin typeface="Calibri"/>
                <a:ea typeface="Calibri"/>
                <a:cs typeface="Calibri"/>
                <a:sym typeface="Calibri"/>
              </a:rPr>
              <a:t>Change all Enginering in Department Column to Engineering</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alibri"/>
              <a:buAutoNum type="arabicPeriod"/>
            </a:pPr>
            <a:r>
              <a:rPr b="0" i="0" lang="en-US" sz="1800" u="none" cap="none" strike="noStrike">
                <a:solidFill>
                  <a:schemeClr val="lt1"/>
                </a:solidFill>
                <a:latin typeface="Calibri"/>
                <a:ea typeface="Calibri"/>
                <a:cs typeface="Calibri"/>
                <a:sym typeface="Calibri"/>
              </a:rPr>
              <a:t>Drop Units Column</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alibri"/>
              <a:buAutoNum type="arabicPeriod"/>
            </a:pPr>
            <a:r>
              <a:rPr b="0" i="0" lang="en-US" sz="1800" u="none" cap="none" strike="noStrike">
                <a:solidFill>
                  <a:schemeClr val="lt1"/>
                </a:solidFill>
                <a:latin typeface="Calibri"/>
                <a:ea typeface="Calibri"/>
                <a:cs typeface="Calibri"/>
                <a:sym typeface="Calibri"/>
              </a:rPr>
              <a:t>Add Column for Year_Section</a:t>
            </a:r>
            <a:endParaRPr b="0" i="0" sz="1800" u="none" cap="none" strike="noStrike">
              <a:solidFill>
                <a:schemeClr val="lt1"/>
              </a:solidFill>
              <a:latin typeface="Calibri"/>
              <a:ea typeface="Calibri"/>
              <a:cs typeface="Calibri"/>
              <a:sym typeface="Calibri"/>
            </a:endParaRPr>
          </a:p>
          <a:p>
            <a:pPr indent="-228600" lvl="0" marL="342900" marR="0" rtl="0" algn="l">
              <a:lnSpc>
                <a:spcPct val="100000"/>
              </a:lnSpc>
              <a:spcBef>
                <a:spcPts val="0"/>
              </a:spcBef>
              <a:spcAft>
                <a:spcPts val="0"/>
              </a:spcAft>
              <a:buClr>
                <a:schemeClr val="lt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1"/>
          <p:cNvSpPr txBox="1"/>
          <p:nvPr>
            <p:ph type="title"/>
          </p:nvPr>
        </p:nvSpPr>
        <p:spPr>
          <a:xfrm>
            <a:off x="365761" y="225552"/>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b="1" lang="en-US"/>
              <a:t>HOMEWORK:</a:t>
            </a:r>
            <a:endParaRPr/>
          </a:p>
        </p:txBody>
      </p:sp>
      <p:sp>
        <p:nvSpPr>
          <p:cNvPr id="347" name="Google Shape;347;p21"/>
          <p:cNvSpPr txBox="1"/>
          <p:nvPr/>
        </p:nvSpPr>
        <p:spPr>
          <a:xfrm>
            <a:off x="365761" y="1277136"/>
            <a:ext cx="8705100" cy="535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Hospital Analytics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A hospital chain wants to analyze its patient and treatment records to improve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service efficiency, manage costs, and identify departments that need attention.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You are part of the hospital’s data analytics team tasked with using SQL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aggregation and the HAVING clause to generate insights from summarized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Problem 1 – High-Cost Departments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Find the departments where the average total cost (treatment + medicine)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exceeds ₱15,000.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Problem 2 – Long-Stay Departments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Show departments that have an average length of stay greater than 5 days.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Hint: Use AVG(length_of_stay) and group by department.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Problem 3 – Costly Doctors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List doctors whose average treatment cost per patient is greater than ₱10,000,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and show their corresponding departments.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Problem 4 – Elderly Patients Trend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Identify departments where the average age of patients is over 60 years old but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the average treatment cost is below ₱12,000.</a:t>
            </a:r>
            <a:endParaRPr b="0" i="0" sz="1800" u="none" cap="none" strike="noStrike">
              <a:solidFill>
                <a:schemeClr val="lt1"/>
              </a:solidFill>
              <a:latin typeface="Calibri"/>
              <a:ea typeface="Calibri"/>
              <a:cs typeface="Calibri"/>
              <a:sym typeface="Calibri"/>
            </a:endParaRPr>
          </a:p>
        </p:txBody>
      </p:sp>
      <p:sp>
        <p:nvSpPr>
          <p:cNvPr id="348" name="Google Shape;348;p21"/>
          <p:cNvSpPr txBox="1"/>
          <p:nvPr/>
        </p:nvSpPr>
        <p:spPr>
          <a:xfrm>
            <a:off x="8282710" y="1556556"/>
            <a:ext cx="3909300" cy="341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alibri"/>
                <a:ea typeface="Calibri"/>
                <a:cs typeface="Calibri"/>
                <a:sym typeface="Calibri"/>
              </a:rPr>
              <a:t>Make a copy of the given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alibri"/>
                <a:ea typeface="Calibri"/>
                <a:cs typeface="Calibri"/>
                <a:sym typeface="Calibri"/>
              </a:rPr>
              <a:t>answer sheet and write your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alibri"/>
                <a:ea typeface="Calibri"/>
                <a:cs typeface="Calibri"/>
                <a:sym typeface="Calibri"/>
              </a:rPr>
              <a:t>queries made there, plus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alibri"/>
                <a:ea typeface="Calibri"/>
                <a:cs typeface="Calibri"/>
                <a:sym typeface="Calibri"/>
              </a:rPr>
              <a:t>snip/screenshot of the results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alibri"/>
                <a:ea typeface="Calibri"/>
                <a:cs typeface="Calibri"/>
                <a:sym typeface="Calibri"/>
              </a:rPr>
              <a:t>in the table. Submit your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alibri"/>
                <a:ea typeface="Calibri"/>
                <a:cs typeface="Calibri"/>
                <a:sym typeface="Calibri"/>
              </a:rPr>
              <a:t>answer sheet through email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alibri"/>
                <a:ea typeface="Calibri"/>
                <a:cs typeface="Calibri"/>
                <a:sym typeface="Calibri"/>
              </a:rPr>
              <a:t>in .pdf file.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alibri"/>
                <a:ea typeface="Calibri"/>
                <a:cs typeface="Calibri"/>
                <a:sym typeface="Calibri"/>
              </a:rPr>
              <a:t>Send your answers 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lang="en-US" sz="1800">
                <a:solidFill>
                  <a:srgbClr val="FFFF00"/>
                </a:solidFill>
                <a:latin typeface="Calibri"/>
                <a:ea typeface="Calibri"/>
                <a:cs typeface="Calibri"/>
                <a:sym typeface="Calibri"/>
              </a:rPr>
              <a:t>excelhelpline.submissions@gmail.com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alibri"/>
                <a:ea typeface="Calibri"/>
                <a:cs typeface="Calibri"/>
                <a:sym typeface="Calibri"/>
              </a:rPr>
              <a:t>Homework deadline: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alibri"/>
                <a:ea typeface="Calibri"/>
                <a:cs typeface="Calibri"/>
                <a:sym typeface="Calibri"/>
              </a:rPr>
              <a:t>Wednesday EOD</a:t>
            </a:r>
            <a:endParaRPr b="0" i="0" sz="1800" u="none" cap="none" strike="noStrike">
              <a:solidFill>
                <a:srgbClr val="FFFF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elestial">
  <a:themeElements>
    <a:clrScheme name="Celestial">
      <a:dk1>
        <a:srgbClr val="000000"/>
      </a:dk1>
      <a:lt1>
        <a:srgbClr val="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2025-12-04T22:51:03Z</dcterms:created>
  <dc:creator>clarence concepcion</dc:creator>
</cp:coreProperties>
</file>