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hlyYRvLqw0L7+iKMfeOSHR0BxG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2" name="Google Shape;1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0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0"/>
          <p:cNvSpPr txBox="1"/>
          <p:nvPr>
            <p:ph idx="1" type="body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9" name="Google Shape;19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1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TitleHD.png" id="24" name="Google Shape;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22"/>
          <p:cNvSpPr txBox="1"/>
          <p:nvPr>
            <p:ph type="ctrTitle"/>
          </p:nvPr>
        </p:nvSpPr>
        <p:spPr>
          <a:xfrm>
            <a:off x="3962399" y="1964267"/>
            <a:ext cx="7197726" cy="24214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" type="subTitle"/>
          </p:nvPr>
        </p:nvSpPr>
        <p:spPr>
          <a:xfrm>
            <a:off x="3962399" y="4385732"/>
            <a:ext cx="7197726" cy="1405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1000"/>
              </a:spcBef>
              <a:spcAft>
                <a:spcPts val="10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22"/>
          <p:cNvSpPr txBox="1"/>
          <p:nvPr>
            <p:ph idx="10" type="dt"/>
          </p:nvPr>
        </p:nvSpPr>
        <p:spPr>
          <a:xfrm>
            <a:off x="8932558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1" type="ftr"/>
          </p:nvPr>
        </p:nvSpPr>
        <p:spPr>
          <a:xfrm>
            <a:off x="3962399" y="5870575"/>
            <a:ext cx="4893958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2" type="sldNum"/>
          </p:nvPr>
        </p:nvSpPr>
        <p:spPr>
          <a:xfrm>
            <a:off x="10608958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31" name="Google Shape;31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3"/>
          <p:cNvSpPr txBox="1"/>
          <p:nvPr>
            <p:ph type="title"/>
          </p:nvPr>
        </p:nvSpPr>
        <p:spPr>
          <a:xfrm>
            <a:off x="685800" y="3308581"/>
            <a:ext cx="10131427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" type="body"/>
          </p:nvPr>
        </p:nvSpPr>
        <p:spPr>
          <a:xfrm>
            <a:off x="685799" y="4777381"/>
            <a:ext cx="1013142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" name="Google Shape;34;p23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38" name="Google Shape;3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4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1" type="body"/>
          </p:nvPr>
        </p:nvSpPr>
        <p:spPr>
          <a:xfrm>
            <a:off x="685802" y="2142067"/>
            <a:ext cx="4995334" cy="3649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4"/>
          <p:cNvSpPr txBox="1"/>
          <p:nvPr>
            <p:ph idx="2" type="body"/>
          </p:nvPr>
        </p:nvSpPr>
        <p:spPr>
          <a:xfrm>
            <a:off x="5821895" y="2142067"/>
            <a:ext cx="4995332" cy="36491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" type="body"/>
          </p:nvPr>
        </p:nvSpPr>
        <p:spPr>
          <a:xfrm>
            <a:off x="973670" y="2218267"/>
            <a:ext cx="470905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sz="2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25"/>
          <p:cNvSpPr txBox="1"/>
          <p:nvPr>
            <p:ph idx="2" type="body"/>
          </p:nvPr>
        </p:nvSpPr>
        <p:spPr>
          <a:xfrm>
            <a:off x="685801" y="2870201"/>
            <a:ext cx="4996923" cy="2920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3" type="body"/>
          </p:nvPr>
        </p:nvSpPr>
        <p:spPr>
          <a:xfrm>
            <a:off x="6096003" y="2226734"/>
            <a:ext cx="47228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sz="2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25"/>
          <p:cNvSpPr txBox="1"/>
          <p:nvPr>
            <p:ph idx="4" type="body"/>
          </p:nvPr>
        </p:nvSpPr>
        <p:spPr>
          <a:xfrm>
            <a:off x="5823483" y="2870201"/>
            <a:ext cx="4995334" cy="2920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55" name="Google Shape;55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6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61" name="Google Shape;61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7"/>
          <p:cNvSpPr txBox="1"/>
          <p:nvPr>
            <p:ph type="title"/>
          </p:nvPr>
        </p:nvSpPr>
        <p:spPr>
          <a:xfrm>
            <a:off x="685800" y="2074333"/>
            <a:ext cx="368088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1" type="body"/>
          </p:nvPr>
        </p:nvSpPr>
        <p:spPr>
          <a:xfrm>
            <a:off x="4648201" y="609601"/>
            <a:ext cx="6169026" cy="5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2" type="body"/>
          </p:nvPr>
        </p:nvSpPr>
        <p:spPr>
          <a:xfrm>
            <a:off x="685800" y="3445933"/>
            <a:ext cx="368088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69" name="Google Shape;69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28"/>
          <p:cNvSpPr txBox="1"/>
          <p:nvPr>
            <p:ph type="title"/>
          </p:nvPr>
        </p:nvSpPr>
        <p:spPr>
          <a:xfrm>
            <a:off x="685800" y="1600200"/>
            <a:ext cx="6164653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/>
          <p:nvPr>
            <p:ph idx="2" type="pic"/>
          </p:nvPr>
        </p:nvSpPr>
        <p:spPr>
          <a:xfrm>
            <a:off x="7536253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sq" cmpd="dbl" w="508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254000" rotWithShape="0" algn="tl">
              <a:srgbClr val="000000">
                <a:alpha val="43137"/>
              </a:srgbClr>
            </a:outerShdw>
          </a:effectLst>
        </p:spPr>
      </p:sp>
      <p:sp>
        <p:nvSpPr>
          <p:cNvPr id="72" name="Google Shape;72;p28"/>
          <p:cNvSpPr txBox="1"/>
          <p:nvPr>
            <p:ph idx="1" type="body"/>
          </p:nvPr>
        </p:nvSpPr>
        <p:spPr>
          <a:xfrm>
            <a:off x="685800" y="2971800"/>
            <a:ext cx="6164653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3" name="Google Shape;73;p28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77" name="Google Shape;77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9"/>
          <p:cNvSpPr txBox="1"/>
          <p:nvPr>
            <p:ph type="title"/>
          </p:nvPr>
        </p:nvSpPr>
        <p:spPr>
          <a:xfrm>
            <a:off x="685800" y="4732865"/>
            <a:ext cx="1013142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/>
          <p:nvPr>
            <p:ph idx="2" type="pic"/>
          </p:nvPr>
        </p:nvSpPr>
        <p:spPr>
          <a:xfrm>
            <a:off x="1371600" y="932112"/>
            <a:ext cx="8759827" cy="3164976"/>
          </a:xfrm>
          <a:prstGeom prst="roundRect">
            <a:avLst>
              <a:gd fmla="val 4380" name="adj"/>
            </a:avLst>
          </a:prstGeom>
          <a:noFill/>
          <a:ln cap="sq" cmpd="dbl" w="508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254000" rotWithShape="0" algn="tl">
              <a:srgbClr val="000000">
                <a:alpha val="43137"/>
              </a:srgbClr>
            </a:outerShdw>
          </a:effectLst>
        </p:spPr>
      </p:sp>
      <p:sp>
        <p:nvSpPr>
          <p:cNvPr id="80" name="Google Shape;80;p29"/>
          <p:cNvSpPr txBox="1"/>
          <p:nvPr>
            <p:ph idx="1" type="body"/>
          </p:nvPr>
        </p:nvSpPr>
        <p:spPr>
          <a:xfrm>
            <a:off x="685800" y="5299603"/>
            <a:ext cx="10131427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85" name="Google Shape;85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0"/>
          <p:cNvSpPr txBox="1"/>
          <p:nvPr>
            <p:ph type="title"/>
          </p:nvPr>
        </p:nvSpPr>
        <p:spPr>
          <a:xfrm>
            <a:off x="685801" y="609601"/>
            <a:ext cx="10131427" cy="3124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0"/>
          <p:cNvSpPr txBox="1"/>
          <p:nvPr>
            <p:ph idx="1" type="body"/>
          </p:nvPr>
        </p:nvSpPr>
        <p:spPr>
          <a:xfrm>
            <a:off x="685800" y="4343400"/>
            <a:ext cx="10131428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30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0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0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92" name="Google Shape;92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1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b="0" lang="en-US" sz="80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94" name="Google Shape;94;p31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b="0" lang="en-US" sz="80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endParaRPr/>
          </a:p>
        </p:txBody>
      </p:sp>
      <p:sp>
        <p:nvSpPr>
          <p:cNvPr id="95" name="Google Shape;95;p31"/>
          <p:cNvSpPr txBox="1"/>
          <p:nvPr>
            <p:ph type="title"/>
          </p:nvPr>
        </p:nvSpPr>
        <p:spPr>
          <a:xfrm>
            <a:off x="992267" y="609601"/>
            <a:ext cx="9550399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b="0" sz="3200" cap="none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1"/>
          <p:cNvSpPr txBox="1"/>
          <p:nvPr>
            <p:ph idx="1" type="body"/>
          </p:nvPr>
        </p:nvSpPr>
        <p:spPr>
          <a:xfrm>
            <a:off x="1097875" y="3352800"/>
            <a:ext cx="933918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  <a:defRPr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alibri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alibri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alibri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31"/>
          <p:cNvSpPr txBox="1"/>
          <p:nvPr>
            <p:ph idx="2" type="body"/>
          </p:nvPr>
        </p:nvSpPr>
        <p:spPr>
          <a:xfrm>
            <a:off x="687465" y="4343400"/>
            <a:ext cx="10152367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" name="Google Shape;98;p31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1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1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02" name="Google Shape;102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2"/>
          <p:cNvSpPr txBox="1"/>
          <p:nvPr>
            <p:ph type="title"/>
          </p:nvPr>
        </p:nvSpPr>
        <p:spPr>
          <a:xfrm>
            <a:off x="685802" y="3308581"/>
            <a:ext cx="10131425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2"/>
          <p:cNvSpPr txBox="1"/>
          <p:nvPr>
            <p:ph idx="1" type="body"/>
          </p:nvPr>
        </p:nvSpPr>
        <p:spPr>
          <a:xfrm>
            <a:off x="685801" y="4777381"/>
            <a:ext cx="10131426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32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2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32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09" name="Google Shape;109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3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b="0" lang="en-US" sz="80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11" name="Google Shape;111;p3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b="0" lang="en-US" sz="80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endParaRPr/>
          </a:p>
        </p:txBody>
      </p:sp>
      <p:sp>
        <p:nvSpPr>
          <p:cNvPr id="112" name="Google Shape;112;p33"/>
          <p:cNvSpPr txBox="1"/>
          <p:nvPr>
            <p:ph type="title"/>
          </p:nvPr>
        </p:nvSpPr>
        <p:spPr>
          <a:xfrm>
            <a:off x="992267" y="609601"/>
            <a:ext cx="9550399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b="0" sz="3200" cap="none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3"/>
          <p:cNvSpPr txBox="1"/>
          <p:nvPr>
            <p:ph idx="1" type="body"/>
          </p:nvPr>
        </p:nvSpPr>
        <p:spPr>
          <a:xfrm>
            <a:off x="685800" y="3886200"/>
            <a:ext cx="10135436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400"/>
              <a:buNone/>
              <a:defRPr b="0" sz="2400" cap="none">
                <a:solidFill>
                  <a:schemeClr val="lt1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33"/>
          <p:cNvSpPr txBox="1"/>
          <p:nvPr>
            <p:ph idx="2" type="body"/>
          </p:nvPr>
        </p:nvSpPr>
        <p:spPr>
          <a:xfrm>
            <a:off x="685799" y="4775200"/>
            <a:ext cx="10135436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" name="Google Shape;115;p33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3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3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19" name="Google Shape;119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34"/>
          <p:cNvSpPr txBox="1"/>
          <p:nvPr>
            <p:ph type="title"/>
          </p:nvPr>
        </p:nvSpPr>
        <p:spPr>
          <a:xfrm>
            <a:off x="685801" y="609601"/>
            <a:ext cx="10131427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4"/>
          <p:cNvSpPr txBox="1"/>
          <p:nvPr>
            <p:ph idx="1" type="body"/>
          </p:nvPr>
        </p:nvSpPr>
        <p:spPr>
          <a:xfrm>
            <a:off x="685801" y="3505200"/>
            <a:ext cx="10131428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sz="2800" cap="none">
                <a:solidFill>
                  <a:schemeClr val="lt1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34"/>
          <p:cNvSpPr txBox="1"/>
          <p:nvPr>
            <p:ph idx="2" type="body"/>
          </p:nvPr>
        </p:nvSpPr>
        <p:spPr>
          <a:xfrm>
            <a:off x="685800" y="4343400"/>
            <a:ext cx="10131428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34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34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4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27" name="Google Shape;127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5"/>
          <p:cNvSpPr txBox="1"/>
          <p:nvPr>
            <p:ph idx="1" type="body"/>
          </p:nvPr>
        </p:nvSpPr>
        <p:spPr>
          <a:xfrm rot="5400000">
            <a:off x="3926947" y="-1099079"/>
            <a:ext cx="3649133" cy="10131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35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5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5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2" name="Google Shape;132;p35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34" name="Google Shape;134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6"/>
          <p:cNvSpPr txBox="1"/>
          <p:nvPr>
            <p:ph type="title"/>
          </p:nvPr>
        </p:nvSpPr>
        <p:spPr>
          <a:xfrm rot="5400000">
            <a:off x="7147151" y="2121124"/>
            <a:ext cx="5181601" cy="2158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6"/>
          <p:cNvSpPr txBox="1"/>
          <p:nvPr>
            <p:ph idx="1" type="body"/>
          </p:nvPr>
        </p:nvSpPr>
        <p:spPr>
          <a:xfrm rot="5400000">
            <a:off x="2011058" y="-715658"/>
            <a:ext cx="5181600" cy="78321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36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6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6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b="0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"/>
          <p:cNvSpPr txBox="1"/>
          <p:nvPr>
            <p:ph type="title"/>
          </p:nvPr>
        </p:nvSpPr>
        <p:spPr>
          <a:xfrm>
            <a:off x="2194624" y="1343993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 sz="5400"/>
              <a:t>SQL FOR DATA ANALYTICS</a:t>
            </a:r>
            <a:endParaRPr sz="5400"/>
          </a:p>
        </p:txBody>
      </p:sp>
      <p:sp>
        <p:nvSpPr>
          <p:cNvPr id="145" name="Google Shape;145;p1"/>
          <p:cNvSpPr txBox="1"/>
          <p:nvPr/>
        </p:nvSpPr>
        <p:spPr>
          <a:xfrm>
            <a:off x="2953136" y="2800260"/>
            <a:ext cx="554126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Module 3: Joins &amp; Data Analytics Use Cases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"/>
          <p:cNvSpPr txBox="1"/>
          <p:nvPr/>
        </p:nvSpPr>
        <p:spPr>
          <a:xfrm>
            <a:off x="886968" y="557784"/>
            <a:ext cx="301752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Objectives: </a:t>
            </a:r>
            <a:endParaRPr sz="4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886968" y="1720840"/>
            <a:ext cx="10107168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Learn how to combine multiple tables and apply SQL for analytics tasks.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Understand table relationships in a relational database.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Apply JOIN operations (INNER, LEFT, RIGHT) in combining data across tables. 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Perform aggregations across multiple tables for meaningful insights.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Apply CTEs, CASE WHEN, and window functions for real-world analytics. 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Develop practical problem-solving skills through a case study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"/>
          <p:cNvSpPr txBox="1"/>
          <p:nvPr>
            <p:ph type="title"/>
          </p:nvPr>
        </p:nvSpPr>
        <p:spPr>
          <a:xfrm>
            <a:off x="139046" y="147686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US"/>
              <a:t>WHAT ARE </a:t>
            </a:r>
            <a:r>
              <a:rPr b="1" lang="en-US">
                <a:solidFill>
                  <a:srgbClr val="FFFF00"/>
                </a:solidFill>
              </a:rPr>
              <a:t>JOINS</a:t>
            </a:r>
            <a:r>
              <a:rPr b="1" lang="en-US"/>
              <a:t>?</a:t>
            </a:r>
            <a:endParaRPr b="1"/>
          </a:p>
        </p:txBody>
      </p:sp>
      <p:sp>
        <p:nvSpPr>
          <p:cNvPr id="157" name="Google Shape;157;p3"/>
          <p:cNvSpPr txBox="1"/>
          <p:nvPr/>
        </p:nvSpPr>
        <p:spPr>
          <a:xfrm>
            <a:off x="329938" y="1603953"/>
            <a:ext cx="8955464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SQL, joins are used to combine rows from two or more tables based on a related column between them. They allow you to retrieve data that is spread across multiple tables in a database. Without joins, you would have to query each table separately and manually combine the results.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/>
          <p:cNvSpPr txBox="1"/>
          <p:nvPr>
            <p:ph type="title"/>
          </p:nvPr>
        </p:nvSpPr>
        <p:spPr>
          <a:xfrm>
            <a:off x="188536" y="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IMPORTANT OF </a:t>
            </a:r>
            <a:r>
              <a:rPr lang="en-US">
                <a:solidFill>
                  <a:srgbClr val="FFFF00"/>
                </a:solidFill>
              </a:rPr>
              <a:t>JOINS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575036" y="1042754"/>
            <a:ext cx="935842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1" lang="en-US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Combine Related Data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Databases are usually normalized, meaning related data is stored in different tables.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Joins let you combine these tables to get meaningful information.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Get customer details along with their orders, even though customers and orders are in separate tables.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575036" y="2542171"/>
            <a:ext cx="1136872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1" lang="en-US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Avoid Data Duplication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Without joins, you might need to duplicate data in one table to analyze it together.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Joins allow you to retrieve data from multiple tables without repeating it, keeping the database efficient.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575036" y="3465501"/>
            <a:ext cx="6881567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-US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. Support Complex Queries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Joins allow for </a:t>
            </a: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complex analytics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like: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Which products are selling the most?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Which customers haven’t made any orders?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Total revenue per customer or region.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 txBox="1"/>
          <p:nvPr/>
        </p:nvSpPr>
        <p:spPr>
          <a:xfrm>
            <a:off x="575036" y="4843140"/>
            <a:ext cx="753201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b="1" lang="en-US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Improve Data Accuracy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Using joins ensures that </a:t>
            </a: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relationships between tables are respected</a:t>
            </a: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avoids errors that might happen if you manually combine data.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575036" y="5815246"/>
            <a:ext cx="1009610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lang="en-US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. Efficient Reporting &amp; Business Insights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Business reporting often requires </a:t>
            </a: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from different tables</a:t>
            </a: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(e.g., sales, customers, products).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Joins make it possible to </a:t>
            </a: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analyze and generate reports efficiently</a:t>
            </a: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WHY TABLE RELATIONSHIPS MATTER?</a:t>
            </a:r>
            <a:endParaRPr/>
          </a:p>
        </p:txBody>
      </p:sp>
      <p:sp>
        <p:nvSpPr>
          <p:cNvPr id="173" name="Google Shape;173;p5"/>
          <p:cNvSpPr txBox="1"/>
          <p:nvPr/>
        </p:nvSpPr>
        <p:spPr>
          <a:xfrm>
            <a:off x="685801" y="1674674"/>
            <a:ext cx="3054096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Primary Key (PK) 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 a Unique Identifier for a row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Foreign Key(FK) 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 a column that references a primary key in another table</a:t>
            </a:r>
            <a:endParaRPr sz="18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685801" y="3811262"/>
            <a:ext cx="420624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Why are they important?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Keys ensure data consistency A lows.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combining data across tables Mimics.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real-world business structures (customers, orders, products).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8936736" y="2551835"/>
            <a:ext cx="1950720" cy="1636115"/>
          </a:xfrm>
          <a:prstGeom prst="rect">
            <a:avLst/>
          </a:prstGeom>
          <a:gradFill>
            <a:gsLst>
              <a:gs pos="0">
                <a:srgbClr val="B9C7E9"/>
              </a:gs>
              <a:gs pos="100000">
                <a:srgbClr val="839DDA">
                  <a:alpha val="74118"/>
                </a:srgbClr>
              </a:gs>
            </a:gsLst>
            <a:lin ang="5400000" scaled="0"/>
          </a:gradFill>
          <a:ln cap="rnd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6181344" y="2551835"/>
            <a:ext cx="1950720" cy="1636115"/>
          </a:xfrm>
          <a:prstGeom prst="rect">
            <a:avLst/>
          </a:prstGeom>
          <a:gradFill>
            <a:gsLst>
              <a:gs pos="0">
                <a:srgbClr val="B9C7E9"/>
              </a:gs>
              <a:gs pos="100000">
                <a:srgbClr val="839DDA">
                  <a:alpha val="74118"/>
                </a:srgbClr>
              </a:gs>
            </a:gsLst>
            <a:lin ang="5400000" scaled="0"/>
          </a:gradFill>
          <a:ln cap="rnd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6472365" y="3059668"/>
            <a:ext cx="16123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Customer tbl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9275064" y="3059668"/>
            <a:ext cx="16123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Order tbl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 txBox="1"/>
          <p:nvPr/>
        </p:nvSpPr>
        <p:spPr>
          <a:xfrm>
            <a:off x="6303201" y="4272320"/>
            <a:ext cx="13777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CustomerID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 txBox="1"/>
          <p:nvPr/>
        </p:nvSpPr>
        <p:spPr>
          <a:xfrm>
            <a:off x="9186672" y="4274558"/>
            <a:ext cx="19507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CustomerID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 txBox="1"/>
          <p:nvPr/>
        </p:nvSpPr>
        <p:spPr>
          <a:xfrm>
            <a:off x="6291072" y="4673918"/>
            <a:ext cx="25816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PRIMARY KEY</a:t>
            </a:r>
            <a:endParaRPr sz="18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9186672" y="4673918"/>
            <a:ext cx="25816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FOREIGN KEY</a:t>
            </a:r>
            <a:endParaRPr sz="18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" name="Google Shape;183;p5"/>
          <p:cNvCxnSpPr>
            <a:stCxn id="179" idx="3"/>
            <a:endCxn id="180" idx="1"/>
          </p:cNvCxnSpPr>
          <p:nvPr/>
        </p:nvCxnSpPr>
        <p:spPr>
          <a:xfrm>
            <a:off x="7680960" y="4456986"/>
            <a:ext cx="1505700" cy="2100"/>
          </a:xfrm>
          <a:prstGeom prst="straightConnector1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 txBox="1"/>
          <p:nvPr>
            <p:ph type="title"/>
          </p:nvPr>
        </p:nvSpPr>
        <p:spPr>
          <a:xfrm>
            <a:off x="164593" y="134112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TYPES OF </a:t>
            </a:r>
            <a:r>
              <a:rPr lang="en-US">
                <a:solidFill>
                  <a:srgbClr val="FFFF00"/>
                </a:solidFill>
              </a:rPr>
              <a:t>JOINS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89" name="Google Shape;189;p6"/>
          <p:cNvSpPr txBox="1"/>
          <p:nvPr/>
        </p:nvSpPr>
        <p:spPr>
          <a:xfrm>
            <a:off x="267970" y="2294515"/>
            <a:ext cx="347472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INNER JOIN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 JOIN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RIGHT JOIN</a:t>
            </a:r>
            <a:endParaRPr/>
          </a:p>
        </p:txBody>
      </p:sp>
      <p:pic>
        <p:nvPicPr>
          <p:cNvPr id="190" name="Google Shape;19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8642" y="2017160"/>
            <a:ext cx="8678486" cy="21243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"/>
          <p:cNvSpPr txBox="1"/>
          <p:nvPr>
            <p:ph type="title"/>
          </p:nvPr>
        </p:nvSpPr>
        <p:spPr>
          <a:xfrm>
            <a:off x="301753" y="134112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INNER JOIN:</a:t>
            </a:r>
            <a:endParaRPr/>
          </a:p>
        </p:txBody>
      </p:sp>
      <p:sp>
        <p:nvSpPr>
          <p:cNvPr id="196" name="Google Shape;196;p7"/>
          <p:cNvSpPr txBox="1"/>
          <p:nvPr/>
        </p:nvSpPr>
        <p:spPr>
          <a:xfrm>
            <a:off x="301753" y="1338364"/>
            <a:ext cx="609447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b="1" lang="en-US" sz="18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INNER JOIN</a:t>
            </a:r>
            <a:r>
              <a:rPr lang="en-US" sz="18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SQL is a type of join that </a:t>
            </a: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returns only the rows that have matching values in both tables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 If there’s no match, the row is </a:t>
            </a: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not included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in the result.</a:t>
            </a:r>
            <a:endParaRPr/>
          </a:p>
        </p:txBody>
      </p:sp>
      <p:sp>
        <p:nvSpPr>
          <p:cNvPr id="197" name="Google Shape;197;p7"/>
          <p:cNvSpPr txBox="1"/>
          <p:nvPr/>
        </p:nvSpPr>
        <p:spPr>
          <a:xfrm>
            <a:off x="301753" y="2377440"/>
            <a:ext cx="6094476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Syntax: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 table1.column1, table2.column2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FROM table1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INNER JOIN table2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 table1.common_column = table2.common_column;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HP &amp; MySQL - Using Joins - AlphaCodingSkills" id="198" name="Google Shape;198;p7"/>
          <p:cNvPicPr preferRelativeResize="0"/>
          <p:nvPr/>
        </p:nvPicPr>
        <p:blipFill rotWithShape="1">
          <a:blip r:embed="rId3">
            <a:alphaModFix/>
          </a:blip>
          <a:srcRect b="49850" l="0" r="51051" t="0"/>
          <a:stretch/>
        </p:blipFill>
        <p:spPr>
          <a:xfrm>
            <a:off x="8597267" y="270594"/>
            <a:ext cx="3180205" cy="2362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0641" y="4396256"/>
            <a:ext cx="5172797" cy="146705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7"/>
          <p:cNvSpPr txBox="1"/>
          <p:nvPr/>
        </p:nvSpPr>
        <p:spPr>
          <a:xfrm>
            <a:off x="7616952" y="3246120"/>
            <a:ext cx="475488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Task: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Create a sales report indicating the purchase histories per customer.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"/>
          <p:cNvSpPr txBox="1"/>
          <p:nvPr>
            <p:ph type="title"/>
          </p:nvPr>
        </p:nvSpPr>
        <p:spPr>
          <a:xfrm>
            <a:off x="182881" y="134112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LEFT JOIN</a:t>
            </a:r>
            <a:endParaRPr/>
          </a:p>
        </p:txBody>
      </p:sp>
      <p:sp>
        <p:nvSpPr>
          <p:cNvPr id="206" name="Google Shape;206;p8"/>
          <p:cNvSpPr txBox="1"/>
          <p:nvPr/>
        </p:nvSpPr>
        <p:spPr>
          <a:xfrm>
            <a:off x="182881" y="1271016"/>
            <a:ext cx="11192256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-US" sz="18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LEFT JOIN</a:t>
            </a:r>
            <a:r>
              <a:rPr lang="en-US" sz="18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(or </a:t>
            </a: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 OUTER JOIN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 in SQL is a type of join that </a:t>
            </a: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returns all rows from the left table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and the </a:t>
            </a: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matching rows from the right table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If there is </a:t>
            </a: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match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in the right table, the result will show NULL for the right table’s columns.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Think of it as: “</a:t>
            </a: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Give me everything from the left table, and if there’s matching data in the right table, include it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HP &amp; MySQL - Using Joins - AlphaCodingSkills" id="207" name="Google Shape;207;p8"/>
          <p:cNvPicPr preferRelativeResize="0"/>
          <p:nvPr/>
        </p:nvPicPr>
        <p:blipFill rotWithShape="1">
          <a:blip r:embed="rId3">
            <a:alphaModFix/>
          </a:blip>
          <a:srcRect b="48297" l="56438" r="0" t="0"/>
          <a:stretch/>
        </p:blipFill>
        <p:spPr>
          <a:xfrm>
            <a:off x="8899208" y="2667233"/>
            <a:ext cx="2830195" cy="243603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8"/>
          <p:cNvSpPr txBox="1"/>
          <p:nvPr/>
        </p:nvSpPr>
        <p:spPr>
          <a:xfrm>
            <a:off x="356616" y="2748344"/>
            <a:ext cx="645566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Syntax: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 table1.column1, table2.column2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FROM table1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 JOIN table2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 table1.common_column = table2.common_column;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159" y="4386491"/>
            <a:ext cx="5372850" cy="2181529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8"/>
          <p:cNvSpPr txBox="1"/>
          <p:nvPr/>
        </p:nvSpPr>
        <p:spPr>
          <a:xfrm>
            <a:off x="6638544" y="5380672"/>
            <a:ext cx="570585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Task: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Identify the registered customers, and how much have they spend, including those who haven’t purchased yet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"/>
          <p:cNvSpPr txBox="1"/>
          <p:nvPr>
            <p:ph type="title"/>
          </p:nvPr>
        </p:nvSpPr>
        <p:spPr>
          <a:xfrm>
            <a:off x="265177" y="19812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RIGHT JOIN</a:t>
            </a:r>
            <a:endParaRPr/>
          </a:p>
        </p:txBody>
      </p:sp>
      <p:sp>
        <p:nvSpPr>
          <p:cNvPr id="216" name="Google Shape;216;p9"/>
          <p:cNvSpPr txBox="1"/>
          <p:nvPr/>
        </p:nvSpPr>
        <p:spPr>
          <a:xfrm>
            <a:off x="265177" y="1307592"/>
            <a:ext cx="125730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-US" sz="18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RIGHT JOIN</a:t>
            </a:r>
            <a:r>
              <a:rPr lang="en-US" sz="18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(or </a:t>
            </a: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RIGHT OUTER JOIN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 in SQL returns </a:t>
            </a: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 rows from the RIGHT table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the </a:t>
            </a: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matching rows from the LEFT table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If there is </a:t>
            </a: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match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from the left table, the result will show </a:t>
            </a: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for the left table’s columns.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HP &amp; MySQL - Using Joins - AlphaCodingSkills" id="217" name="Google Shape;217;p9"/>
          <p:cNvPicPr preferRelativeResize="0"/>
          <p:nvPr/>
        </p:nvPicPr>
        <p:blipFill rotWithShape="1">
          <a:blip r:embed="rId3">
            <a:alphaModFix/>
          </a:blip>
          <a:srcRect b="0" l="0" r="52287" t="49568"/>
          <a:stretch/>
        </p:blipFill>
        <p:spPr>
          <a:xfrm>
            <a:off x="8686737" y="2596896"/>
            <a:ext cx="3099879" cy="2376162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9"/>
          <p:cNvSpPr txBox="1"/>
          <p:nvPr/>
        </p:nvSpPr>
        <p:spPr>
          <a:xfrm>
            <a:off x="356616" y="2748344"/>
            <a:ext cx="6455664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Syntax: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 table1.column1, table2.column2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FROM table1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RIGHT JOIN table2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 table1.common_column = table2.common_column;</a:t>
            </a:r>
            <a:endParaRPr/>
          </a:p>
        </p:txBody>
      </p:sp>
      <p:pic>
        <p:nvPicPr>
          <p:cNvPr id="219" name="Google Shape;21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0934" y="4466143"/>
            <a:ext cx="5229955" cy="1857634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9"/>
          <p:cNvSpPr txBox="1"/>
          <p:nvPr/>
        </p:nvSpPr>
        <p:spPr>
          <a:xfrm>
            <a:off x="6303264" y="5088743"/>
            <a:ext cx="645566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Task: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Identify the products that exist in our catalog, and how many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Units of each were sold including those with zero sales.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US"/>
              <a:t>ACTIVITY : JOINING CUSTOMERS &amp; ORDERS TABLE</a:t>
            </a:r>
            <a:endParaRPr b="1"/>
          </a:p>
        </p:txBody>
      </p:sp>
      <p:sp>
        <p:nvSpPr>
          <p:cNvPr id="226" name="Google Shape;226;p10"/>
          <p:cNvSpPr txBox="1"/>
          <p:nvPr/>
        </p:nvSpPr>
        <p:spPr>
          <a:xfrm>
            <a:off x="859536" y="2065866"/>
            <a:ext cx="7196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Write SQL queries to identify: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The top 5 customers with the highest total purchases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 The most popular product categories by revenue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"/>
          <p:cNvSpPr txBox="1"/>
          <p:nvPr>
            <p:ph type="title"/>
          </p:nvPr>
        </p:nvSpPr>
        <p:spPr>
          <a:xfrm>
            <a:off x="621793" y="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AGGREGATIONS WITH JOINS</a:t>
            </a:r>
            <a:endParaRPr/>
          </a:p>
        </p:txBody>
      </p:sp>
      <p:sp>
        <p:nvSpPr>
          <p:cNvPr id="232" name="Google Shape;232;p11"/>
          <p:cNvSpPr txBox="1"/>
          <p:nvPr/>
        </p:nvSpPr>
        <p:spPr>
          <a:xfrm>
            <a:off x="621793" y="1335669"/>
            <a:ext cx="7507224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Joins become powerful when combined with aggregate functions.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With this, you can gain business insights to which you can identify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high-value customers, purchase frequency and trends.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Aggregation turns raw transaction logs into KPIs (totals, averages, and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trends) that drive decision-making.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 txBox="1"/>
          <p:nvPr/>
        </p:nvSpPr>
        <p:spPr>
          <a:xfrm>
            <a:off x="621793" y="3685032"/>
            <a:ext cx="779983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Task: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Calculate the total orders, total revenue and its average order value of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each product category.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"/>
          <p:cNvSpPr txBox="1"/>
          <p:nvPr>
            <p:ph type="title"/>
          </p:nvPr>
        </p:nvSpPr>
        <p:spPr>
          <a:xfrm>
            <a:off x="466345" y="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CASE WHEN:</a:t>
            </a:r>
            <a:endParaRPr/>
          </a:p>
        </p:txBody>
      </p:sp>
      <p:sp>
        <p:nvSpPr>
          <p:cNvPr id="239" name="Google Shape;239;p12"/>
          <p:cNvSpPr txBox="1"/>
          <p:nvPr/>
        </p:nvSpPr>
        <p:spPr>
          <a:xfrm>
            <a:off x="466345" y="1033272"/>
            <a:ext cx="7232904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With </a:t>
            </a:r>
            <a:r>
              <a:rPr lang="en-US" sz="18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CASE WHEN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an attribute value can be classified and then assigned a label. This helps analysts classify data into groups for reports or dashboards.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works like an if-else statement in SQL.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Task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Group products as High, Average, 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Low Performers based on earned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revenue.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 txBox="1"/>
          <p:nvPr/>
        </p:nvSpPr>
        <p:spPr>
          <a:xfrm>
            <a:off x="466345" y="3516405"/>
            <a:ext cx="4892040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Syntax: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column1,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column2,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CASE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WHEN condition1 THEN result1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WHEN condition2 THEN result2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ELSE result3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END AS new_column_name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FROM table_name;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8341" y="2971800"/>
            <a:ext cx="6354062" cy="3639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"/>
          <p:cNvSpPr txBox="1"/>
          <p:nvPr>
            <p:ph type="title"/>
          </p:nvPr>
        </p:nvSpPr>
        <p:spPr>
          <a:xfrm>
            <a:off x="146305" y="170688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COMMON TABLE EXPRESSIONS (CTES)</a:t>
            </a:r>
            <a:endParaRPr/>
          </a:p>
        </p:txBody>
      </p:sp>
      <p:sp>
        <p:nvSpPr>
          <p:cNvPr id="247" name="Google Shape;247;p13"/>
          <p:cNvSpPr txBox="1"/>
          <p:nvPr/>
        </p:nvSpPr>
        <p:spPr>
          <a:xfrm>
            <a:off x="285750" y="1236208"/>
            <a:ext cx="7760970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Common Table Expressions (CTEs) 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are used to break complex problems into logical steps.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makes it reusable for dashboards, analytics scripts, and reports.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Task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Group products as High, Average, 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Low Performers based on earned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revenue.</a:t>
            </a:r>
            <a:endParaRPr/>
          </a:p>
        </p:txBody>
      </p:sp>
      <p:sp>
        <p:nvSpPr>
          <p:cNvPr id="248" name="Google Shape;248;p13"/>
          <p:cNvSpPr txBox="1"/>
          <p:nvPr/>
        </p:nvSpPr>
        <p:spPr>
          <a:xfrm>
            <a:off x="285750" y="3821531"/>
            <a:ext cx="5193792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Syntax: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WITH cte_name AS 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-- Your query here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SELECT column1, column2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FROM table_name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WHERE condition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 *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FROM cte_name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WHERE another_condition;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4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ACTIVITY: OPERATIONAL INSIGHTS DASHBOARD</a:t>
            </a:r>
            <a:endParaRPr/>
          </a:p>
        </p:txBody>
      </p:sp>
      <p:sp>
        <p:nvSpPr>
          <p:cNvPr id="254" name="Google Shape;254;p14"/>
          <p:cNvSpPr txBox="1"/>
          <p:nvPr/>
        </p:nvSpPr>
        <p:spPr>
          <a:xfrm>
            <a:off x="914400" y="2065867"/>
            <a:ext cx="625449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Create an SQL dashboard answering these questions: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Which cities generate the most revenue?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Which year and month had the highest total sales?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Who are the top 5 customers per city?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5"/>
          <p:cNvSpPr txBox="1"/>
          <p:nvPr>
            <p:ph type="title"/>
          </p:nvPr>
        </p:nvSpPr>
        <p:spPr>
          <a:xfrm>
            <a:off x="393193" y="234696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US"/>
              <a:t>WRAPPING UP</a:t>
            </a:r>
            <a:endParaRPr/>
          </a:p>
        </p:txBody>
      </p:sp>
      <p:sp>
        <p:nvSpPr>
          <p:cNvPr id="260" name="Google Shape;260;p15"/>
          <p:cNvSpPr txBox="1"/>
          <p:nvPr/>
        </p:nvSpPr>
        <p:spPr>
          <a:xfrm>
            <a:off x="722376" y="1600200"/>
            <a:ext cx="6848856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 are our key takeaways from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module: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Relationships enable data integration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Joins (INNER, LEFT, RIGHT) give different perspectives.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CASE WHEN, and CTEs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6"/>
          <p:cNvSpPr txBox="1"/>
          <p:nvPr>
            <p:ph type="title"/>
          </p:nvPr>
        </p:nvSpPr>
        <p:spPr>
          <a:xfrm>
            <a:off x="612649" y="179832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US"/>
              <a:t>MINI-PROJECT</a:t>
            </a:r>
            <a:endParaRPr/>
          </a:p>
        </p:txBody>
      </p:sp>
      <p:sp>
        <p:nvSpPr>
          <p:cNvPr id="266" name="Google Shape;266;p16"/>
          <p:cNvSpPr txBox="1"/>
          <p:nvPr/>
        </p:nvSpPr>
        <p:spPr>
          <a:xfrm>
            <a:off x="612648" y="1417320"/>
            <a:ext cx="11228831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SQL Case Study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are part of a data analytics team for an organization (business, institution, or research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unit). Your task is to design a relational database and create SQL reports that answer key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analytical questions relevant to your chosen context. This exercise integrates everything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learned about joins, aggregation, filtering, and window functions, showing how real-world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datasets are combined and transformed into actionable insights.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Choose a context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 Design a Relational Schema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3. Populate your tables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7"/>
          <p:cNvSpPr txBox="1"/>
          <p:nvPr>
            <p:ph type="title"/>
          </p:nvPr>
        </p:nvSpPr>
        <p:spPr>
          <a:xfrm>
            <a:off x="612649" y="179832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US"/>
              <a:t>MINI-PROJECT</a:t>
            </a:r>
            <a:endParaRPr/>
          </a:p>
        </p:txBody>
      </p:sp>
      <p:sp>
        <p:nvSpPr>
          <p:cNvPr id="272" name="Google Shape;272;p17"/>
          <p:cNvSpPr txBox="1"/>
          <p:nvPr/>
        </p:nvSpPr>
        <p:spPr>
          <a:xfrm>
            <a:off x="612648" y="1417320"/>
            <a:ext cx="11228831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SQL Case Study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Achieve these Report Objectives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1.Engagement/Retention Analysis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(e.g. “Which departments conducted multiple studies this year?“)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 Category or Group contribution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(e.g. “Which product types contribute most to total revenue?”)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3. Regional or Hierarchical Ranking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(e.g. “Which cities perform best by total revenue?”)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 Temporal growth or Trend Analysis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(e.g. “What is the quarterly growth in observations or funding?”)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8"/>
          <p:cNvSpPr txBox="1"/>
          <p:nvPr>
            <p:ph type="title"/>
          </p:nvPr>
        </p:nvSpPr>
        <p:spPr>
          <a:xfrm>
            <a:off x="612649" y="179832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US"/>
              <a:t>MINI-PROJECT</a:t>
            </a:r>
            <a:endParaRPr/>
          </a:p>
        </p:txBody>
      </p:sp>
      <p:sp>
        <p:nvSpPr>
          <p:cNvPr id="278" name="Google Shape;278;p18"/>
          <p:cNvSpPr txBox="1"/>
          <p:nvPr/>
        </p:nvSpPr>
        <p:spPr>
          <a:xfrm>
            <a:off x="740664" y="1417320"/>
            <a:ext cx="112287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Deliverables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SQL Script (.sql file)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 One-Page Summary Report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3. (Optional) Visualization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Send your answers here: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excelhelpline.submissions@gmail.com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Homework deadline: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Wednesday EOD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elestial">
  <a:themeElements>
    <a:clrScheme name="Celestial">
      <a:dk1>
        <a:srgbClr val="000000"/>
      </a:dk1>
      <a:lt1>
        <a:srgbClr val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2025-12-12T05:12:39Z</dcterms:created>
  <dc:creator>clarence concepcion</dc:creator>
</cp:coreProperties>
</file>