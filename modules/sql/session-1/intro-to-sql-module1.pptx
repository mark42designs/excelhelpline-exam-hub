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togGZLIA5I+eV2RJSCl+wm5E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19CA8B-936F-4304-9132-3B0945A55B04}">
  <a:tblStyle styleId="{7719CA8B-936F-4304-9132-3B0945A55B0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1E8F4"/>
          </a:solidFill>
        </a:fill>
      </a:tcStyle>
    </a:wholeTbl>
    <a:band1H>
      <a:tcTxStyle b="off" i="off"/>
      <a:tcStyle>
        <a:fill>
          <a:solidFill>
            <a:srgbClr val="E2CDE9"/>
          </a:solidFill>
        </a:fill>
      </a:tcStyle>
    </a:band1H>
    <a:band2H>
      <a:tcTxStyle b="off" i="off"/>
    </a:band2H>
    <a:band1V>
      <a:tcTxStyle b="off" i="off"/>
      <a:tcStyle>
        <a:fill>
          <a:solidFill>
            <a:srgbClr val="E2CDE9"/>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4029C04B-865C-4873-8C71-F0D44D423F25}"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PH"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descr="Celestia-R1---OverlayTitleHD.png" id="16" name="Google Shape;16;p20"/>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7" name="Google Shape;17;p20"/>
          <p:cNvSpPr txBox="1"/>
          <p:nvPr>
            <p:ph type="ctrTitle"/>
          </p:nvPr>
        </p:nvSpPr>
        <p:spPr>
          <a:xfrm>
            <a:off x="3962399" y="1964267"/>
            <a:ext cx="7197726" cy="2421464"/>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lt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0"/>
          <p:cNvSpPr txBox="1"/>
          <p:nvPr>
            <p:ph idx="1" type="subTitle"/>
          </p:nvPr>
        </p:nvSpPr>
        <p:spPr>
          <a:xfrm>
            <a:off x="3962399" y="4385732"/>
            <a:ext cx="7197726" cy="1405467"/>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SzPts val="1800"/>
              <a:buNone/>
              <a:defRPr sz="1800" cap="none">
                <a:solidFill>
                  <a:schemeClr val="lt1"/>
                </a:solidFill>
              </a:defRPr>
            </a:lvl1pPr>
            <a:lvl2pPr lvl="1" algn="ctr">
              <a:lnSpc>
                <a:spcPct val="100000"/>
              </a:lnSpc>
              <a:spcBef>
                <a:spcPts val="1000"/>
              </a:spcBef>
              <a:spcAft>
                <a:spcPts val="0"/>
              </a:spcAft>
              <a:buSzPts val="1600"/>
              <a:buNone/>
              <a:defRPr>
                <a:solidFill>
                  <a:schemeClr val="lt1"/>
                </a:solidFill>
              </a:defRPr>
            </a:lvl2pPr>
            <a:lvl3pPr lvl="2" algn="ctr">
              <a:lnSpc>
                <a:spcPct val="100000"/>
              </a:lnSpc>
              <a:spcBef>
                <a:spcPts val="1000"/>
              </a:spcBef>
              <a:spcAft>
                <a:spcPts val="0"/>
              </a:spcAft>
              <a:buSzPts val="1400"/>
              <a:buNone/>
              <a:defRPr>
                <a:solidFill>
                  <a:schemeClr val="lt1"/>
                </a:solidFill>
              </a:defRPr>
            </a:lvl3pPr>
            <a:lvl4pPr lvl="3" algn="ctr">
              <a:lnSpc>
                <a:spcPct val="100000"/>
              </a:lnSpc>
              <a:spcBef>
                <a:spcPts val="1000"/>
              </a:spcBef>
              <a:spcAft>
                <a:spcPts val="0"/>
              </a:spcAft>
              <a:buSzPts val="1200"/>
              <a:buNone/>
              <a:defRPr>
                <a:solidFill>
                  <a:schemeClr val="lt1"/>
                </a:solidFill>
              </a:defRPr>
            </a:lvl4pPr>
            <a:lvl5pPr lvl="4" algn="ctr">
              <a:lnSpc>
                <a:spcPct val="100000"/>
              </a:lnSpc>
              <a:spcBef>
                <a:spcPts val="1000"/>
              </a:spcBef>
              <a:spcAft>
                <a:spcPts val="0"/>
              </a:spcAft>
              <a:buSzPts val="1200"/>
              <a:buNone/>
              <a:defRPr>
                <a:solidFill>
                  <a:schemeClr val="lt1"/>
                </a:solidFill>
              </a:defRPr>
            </a:lvl5pPr>
            <a:lvl6pPr lvl="5" algn="ctr">
              <a:lnSpc>
                <a:spcPct val="100000"/>
              </a:lnSpc>
              <a:spcBef>
                <a:spcPts val="1000"/>
              </a:spcBef>
              <a:spcAft>
                <a:spcPts val="0"/>
              </a:spcAft>
              <a:buSzPts val="1200"/>
              <a:buNone/>
              <a:defRPr>
                <a:solidFill>
                  <a:schemeClr val="lt1"/>
                </a:solidFill>
              </a:defRPr>
            </a:lvl6pPr>
            <a:lvl7pPr lvl="6" algn="ctr">
              <a:lnSpc>
                <a:spcPct val="100000"/>
              </a:lnSpc>
              <a:spcBef>
                <a:spcPts val="1000"/>
              </a:spcBef>
              <a:spcAft>
                <a:spcPts val="0"/>
              </a:spcAft>
              <a:buSzPts val="1200"/>
              <a:buNone/>
              <a:defRPr>
                <a:solidFill>
                  <a:schemeClr val="lt1"/>
                </a:solidFill>
              </a:defRPr>
            </a:lvl7pPr>
            <a:lvl8pPr lvl="7" algn="ctr">
              <a:lnSpc>
                <a:spcPct val="100000"/>
              </a:lnSpc>
              <a:spcBef>
                <a:spcPts val="1000"/>
              </a:spcBef>
              <a:spcAft>
                <a:spcPts val="0"/>
              </a:spcAft>
              <a:buSzPts val="1200"/>
              <a:buNone/>
              <a:defRPr>
                <a:solidFill>
                  <a:schemeClr val="lt1"/>
                </a:solidFill>
              </a:defRPr>
            </a:lvl8pPr>
            <a:lvl9pPr lvl="8" algn="ctr">
              <a:lnSpc>
                <a:spcPct val="100000"/>
              </a:lnSpc>
              <a:spcBef>
                <a:spcPts val="1000"/>
              </a:spcBef>
              <a:spcAft>
                <a:spcPts val="1000"/>
              </a:spcAft>
              <a:buSzPts val="1200"/>
              <a:buNone/>
              <a:defRPr>
                <a:solidFill>
                  <a:schemeClr val="lt1"/>
                </a:solidFill>
              </a:defRPr>
            </a:lvl9pPr>
          </a:lstStyle>
          <a:p/>
        </p:txBody>
      </p:sp>
      <p:sp>
        <p:nvSpPr>
          <p:cNvPr id="19" name="Google Shape;19;p20"/>
          <p:cNvSpPr txBox="1"/>
          <p:nvPr>
            <p:ph idx="10" type="dt"/>
          </p:nvPr>
        </p:nvSpPr>
        <p:spPr>
          <a:xfrm>
            <a:off x="8932558"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1" type="ftr"/>
          </p:nvPr>
        </p:nvSpPr>
        <p:spPr>
          <a:xfrm>
            <a:off x="3962399" y="5870575"/>
            <a:ext cx="4893958"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2" type="sldNum"/>
          </p:nvPr>
        </p:nvSpPr>
        <p:spPr>
          <a:xfrm>
            <a:off x="10608958"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pic>
        <p:nvPicPr>
          <p:cNvPr descr="Celestia-R1---OverlayContentHD.png" id="23" name="Google Shape;23;p2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4" name="Google Shape;24;p21"/>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1"/>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26" name="Google Shape;26;p2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pic>
        <p:nvPicPr>
          <p:cNvPr descr="Celestia-R1---OverlayContentHD.png" id="30" name="Google Shape;30;p2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1" name="Google Shape;31;p22"/>
          <p:cNvSpPr txBox="1"/>
          <p:nvPr>
            <p:ph type="title"/>
          </p:nvPr>
        </p:nvSpPr>
        <p:spPr>
          <a:xfrm>
            <a:off x="685800" y="3308581"/>
            <a:ext cx="10131427"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000"/>
              <a:buFont typeface="Calibri"/>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 type="body"/>
          </p:nvPr>
        </p:nvSpPr>
        <p:spPr>
          <a:xfrm>
            <a:off x="685799" y="4777381"/>
            <a:ext cx="1013142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cap="none">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33" name="Google Shape;33;p2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pic>
        <p:nvPicPr>
          <p:cNvPr descr="Celestia-R1---OverlayContentHD.png" id="37" name="Google Shape;37;p2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8" name="Google Shape;38;p23"/>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 type="body"/>
          </p:nvPr>
        </p:nvSpPr>
        <p:spPr>
          <a:xfrm>
            <a:off x="685802" y="2142067"/>
            <a:ext cx="4995334" cy="3649134"/>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0" name="Google Shape;40;p23"/>
          <p:cNvSpPr txBox="1"/>
          <p:nvPr>
            <p:ph idx="2" type="body"/>
          </p:nvPr>
        </p:nvSpPr>
        <p:spPr>
          <a:xfrm>
            <a:off x="5821895" y="2142067"/>
            <a:ext cx="4995332"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1" name="Google Shape;41;p2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 type="body"/>
          </p:nvPr>
        </p:nvSpPr>
        <p:spPr>
          <a:xfrm>
            <a:off x="973670" y="2218267"/>
            <a:ext cx="470905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7" name="Google Shape;47;p24"/>
          <p:cNvSpPr txBox="1"/>
          <p:nvPr>
            <p:ph idx="2" type="body"/>
          </p:nvPr>
        </p:nvSpPr>
        <p:spPr>
          <a:xfrm>
            <a:off x="685801" y="2870201"/>
            <a:ext cx="4996923"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8" name="Google Shape;48;p24"/>
          <p:cNvSpPr txBox="1"/>
          <p:nvPr>
            <p:ph idx="3" type="body"/>
          </p:nvPr>
        </p:nvSpPr>
        <p:spPr>
          <a:xfrm>
            <a:off x="6096003" y="2226734"/>
            <a:ext cx="47228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9" name="Google Shape;49;p24"/>
          <p:cNvSpPr txBox="1"/>
          <p:nvPr>
            <p:ph idx="4" type="body"/>
          </p:nvPr>
        </p:nvSpPr>
        <p:spPr>
          <a:xfrm>
            <a:off x="5823483" y="2870201"/>
            <a:ext cx="4995334"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50" name="Google Shape;50;p2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pic>
        <p:nvPicPr>
          <p:cNvPr descr="Celestia-R1---OverlayContentHD.png" id="54" name="Google Shape;54;p2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5" name="Google Shape;55;p25"/>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pic>
        <p:nvPicPr>
          <p:cNvPr descr="Celestia-R1---OverlayContentHD.png" id="60" name="Google Shape;60;p2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1" name="Google Shape;61;p2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pic>
        <p:nvPicPr>
          <p:cNvPr descr="Celestia-R1---OverlayContentHD.png" id="65" name="Google Shape;65;p2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6" name="Google Shape;66;p27"/>
          <p:cNvSpPr txBox="1"/>
          <p:nvPr>
            <p:ph type="title"/>
          </p:nvPr>
        </p:nvSpPr>
        <p:spPr>
          <a:xfrm>
            <a:off x="685800" y="2074333"/>
            <a:ext cx="3680885"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 type="body"/>
          </p:nvPr>
        </p:nvSpPr>
        <p:spPr>
          <a:xfrm>
            <a:off x="4648201" y="609601"/>
            <a:ext cx="6169026" cy="51816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68" name="Google Shape;68;p27"/>
          <p:cNvSpPr txBox="1"/>
          <p:nvPr>
            <p:ph idx="2" type="body"/>
          </p:nvPr>
        </p:nvSpPr>
        <p:spPr>
          <a:xfrm>
            <a:off x="685800" y="3445933"/>
            <a:ext cx="3680885"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69" name="Google Shape;69;p2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pic>
        <p:nvPicPr>
          <p:cNvPr descr="Celestia-R1---OverlayContentHD.png" id="73" name="Google Shape;73;p2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4" name="Google Shape;74;p28"/>
          <p:cNvSpPr txBox="1"/>
          <p:nvPr>
            <p:ph type="title"/>
          </p:nvPr>
        </p:nvSpPr>
        <p:spPr>
          <a:xfrm>
            <a:off x="685800" y="1600200"/>
            <a:ext cx="6164653"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alibri"/>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8"/>
          <p:cNvSpPr/>
          <p:nvPr>
            <p:ph idx="2" type="pic"/>
          </p:nvPr>
        </p:nvSpPr>
        <p:spPr>
          <a:xfrm>
            <a:off x="7536253" y="914400"/>
            <a:ext cx="3280974" cy="4572000"/>
          </a:xfrm>
          <a:prstGeom prst="roundRect">
            <a:avLst>
              <a:gd fmla="val 4280" name="adj"/>
            </a:avLst>
          </a:prstGeom>
          <a:noFill/>
          <a:ln cap="sq" cmpd="dbl" w="50800">
            <a:solidFill>
              <a:srgbClr val="FFFFFF"/>
            </a:solidFill>
            <a:prstDash val="solid"/>
            <a:miter lim="8000"/>
            <a:headEnd len="sm" w="sm" type="none"/>
            <a:tailEnd len="sm" w="sm" type="none"/>
          </a:ln>
          <a:effectLst>
            <a:outerShdw blurRad="254000" rotWithShape="0" algn="tl">
              <a:srgbClr val="000000">
                <a:alpha val="42353"/>
              </a:srgbClr>
            </a:outerShdw>
          </a:effectLst>
        </p:spPr>
      </p:sp>
      <p:sp>
        <p:nvSpPr>
          <p:cNvPr id="76" name="Google Shape;76;p28"/>
          <p:cNvSpPr txBox="1"/>
          <p:nvPr>
            <p:ph idx="1" type="body"/>
          </p:nvPr>
        </p:nvSpPr>
        <p:spPr>
          <a:xfrm>
            <a:off x="685800" y="2971800"/>
            <a:ext cx="6164653"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77" name="Google Shape;77;p2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0" name="Shape 80"/>
        <p:cNvGrpSpPr/>
        <p:nvPr/>
      </p:nvGrpSpPr>
      <p:grpSpPr>
        <a:xfrm>
          <a:off x="0" y="0"/>
          <a:ext cx="0" cy="0"/>
          <a:chOff x="0" y="0"/>
          <a:chExt cx="0" cy="0"/>
        </a:xfrm>
      </p:grpSpPr>
      <p:pic>
        <p:nvPicPr>
          <p:cNvPr descr="Celestia-R1---OverlayContentHD.png" id="81" name="Google Shape;81;p2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2" name="Google Shape;82;p29"/>
          <p:cNvSpPr txBox="1"/>
          <p:nvPr>
            <p:ph type="title"/>
          </p:nvPr>
        </p:nvSpPr>
        <p:spPr>
          <a:xfrm>
            <a:off x="685800" y="4732865"/>
            <a:ext cx="1013142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p:nvPr>
            <p:ph idx="2" type="pic"/>
          </p:nvPr>
        </p:nvSpPr>
        <p:spPr>
          <a:xfrm>
            <a:off x="1371600" y="932112"/>
            <a:ext cx="8759827" cy="3164976"/>
          </a:xfrm>
          <a:prstGeom prst="roundRect">
            <a:avLst>
              <a:gd fmla="val 4380" name="adj"/>
            </a:avLst>
          </a:prstGeom>
          <a:noFill/>
          <a:ln cap="sq" cmpd="dbl" w="50800">
            <a:solidFill>
              <a:srgbClr val="FFFFFF"/>
            </a:solidFill>
            <a:prstDash val="solid"/>
            <a:miter lim="8000"/>
            <a:headEnd len="sm" w="sm" type="none"/>
            <a:tailEnd len="sm" w="sm" type="none"/>
          </a:ln>
          <a:effectLst>
            <a:outerShdw blurRad="254000" rotWithShape="0" algn="tl">
              <a:srgbClr val="000000">
                <a:alpha val="42353"/>
              </a:srgbClr>
            </a:outerShdw>
          </a:effectLst>
        </p:spPr>
      </p:sp>
      <p:sp>
        <p:nvSpPr>
          <p:cNvPr id="84" name="Google Shape;84;p29"/>
          <p:cNvSpPr txBox="1"/>
          <p:nvPr>
            <p:ph idx="1" type="body"/>
          </p:nvPr>
        </p:nvSpPr>
        <p:spPr>
          <a:xfrm>
            <a:off x="685800" y="5299603"/>
            <a:ext cx="10131427"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85" name="Google Shape;85;p2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8" name="Shape 88"/>
        <p:cNvGrpSpPr/>
        <p:nvPr/>
      </p:nvGrpSpPr>
      <p:grpSpPr>
        <a:xfrm>
          <a:off x="0" y="0"/>
          <a:ext cx="0" cy="0"/>
          <a:chOff x="0" y="0"/>
          <a:chExt cx="0" cy="0"/>
        </a:xfrm>
      </p:grpSpPr>
      <p:pic>
        <p:nvPicPr>
          <p:cNvPr descr="Celestia-R1---OverlayContentHD.png" id="89" name="Google Shape;89;p30"/>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0" name="Google Shape;90;p30"/>
          <p:cNvSpPr txBox="1"/>
          <p:nvPr>
            <p:ph type="title"/>
          </p:nvPr>
        </p:nvSpPr>
        <p:spPr>
          <a:xfrm>
            <a:off x="685801" y="609601"/>
            <a:ext cx="10131427" cy="3124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0"/>
          <p:cNvSpPr txBox="1"/>
          <p:nvPr>
            <p:ph idx="1" type="body"/>
          </p:nvPr>
        </p:nvSpPr>
        <p:spPr>
          <a:xfrm>
            <a:off x="685800" y="4343400"/>
            <a:ext cx="10131428"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92" name="Google Shape;92;p30"/>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0"/>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0"/>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pic>
        <p:nvPicPr>
          <p:cNvPr descr="Celestia-R1---OverlayContentHD.png" id="96" name="Google Shape;96;p3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7" name="Google Shape;97;p31"/>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PH"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8" name="Google Shape;98;p31"/>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PH"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9" name="Google Shape;99;p31"/>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1"/>
          <p:cNvSpPr txBox="1"/>
          <p:nvPr>
            <p:ph idx="1" type="body"/>
          </p:nvPr>
        </p:nvSpPr>
        <p:spPr>
          <a:xfrm>
            <a:off x="1097875" y="3352800"/>
            <a:ext cx="933918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Font typeface="Calibri"/>
              <a:buNone/>
              <a:defRPr/>
            </a:lvl1pPr>
            <a:lvl2pPr indent="-228600" lvl="1" marL="914400" algn="l">
              <a:lnSpc>
                <a:spcPct val="100000"/>
              </a:lnSpc>
              <a:spcBef>
                <a:spcPts val="1000"/>
              </a:spcBef>
              <a:spcAft>
                <a:spcPts val="0"/>
              </a:spcAft>
              <a:buSzPts val="1600"/>
              <a:buFont typeface="Calibri"/>
              <a:buNone/>
              <a:defRPr/>
            </a:lvl2pPr>
            <a:lvl3pPr indent="-228600" lvl="2" marL="1371600" algn="l">
              <a:lnSpc>
                <a:spcPct val="100000"/>
              </a:lnSpc>
              <a:spcBef>
                <a:spcPts val="1000"/>
              </a:spcBef>
              <a:spcAft>
                <a:spcPts val="0"/>
              </a:spcAft>
              <a:buSzPts val="1400"/>
              <a:buFont typeface="Calibri"/>
              <a:buNone/>
              <a:defRPr/>
            </a:lvl3pPr>
            <a:lvl4pPr indent="-228600" lvl="3" marL="1828800" algn="l">
              <a:lnSpc>
                <a:spcPct val="100000"/>
              </a:lnSpc>
              <a:spcBef>
                <a:spcPts val="1000"/>
              </a:spcBef>
              <a:spcAft>
                <a:spcPts val="0"/>
              </a:spcAft>
              <a:buSzPts val="1200"/>
              <a:buFont typeface="Calibri"/>
              <a:buNone/>
              <a:defRPr/>
            </a:lvl4pPr>
            <a:lvl5pPr indent="-228600" lvl="4" marL="2286000" algn="l">
              <a:lnSpc>
                <a:spcPct val="100000"/>
              </a:lnSpc>
              <a:spcBef>
                <a:spcPts val="1000"/>
              </a:spcBef>
              <a:spcAft>
                <a:spcPts val="0"/>
              </a:spcAft>
              <a:buSzPts val="1200"/>
              <a:buFont typeface="Calibri"/>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01" name="Google Shape;101;p31"/>
          <p:cNvSpPr txBox="1"/>
          <p:nvPr>
            <p:ph idx="2" type="body"/>
          </p:nvPr>
        </p:nvSpPr>
        <p:spPr>
          <a:xfrm>
            <a:off x="687465" y="4343400"/>
            <a:ext cx="10152367"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2" name="Google Shape;102;p3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pic>
        <p:nvPicPr>
          <p:cNvPr descr="Celestia-R1---OverlayContentHD.png" id="106" name="Google Shape;106;p3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07" name="Google Shape;107;p32"/>
          <p:cNvSpPr txBox="1"/>
          <p:nvPr>
            <p:ph type="title"/>
          </p:nvPr>
        </p:nvSpPr>
        <p:spPr>
          <a:xfrm>
            <a:off x="685802" y="3308581"/>
            <a:ext cx="10131425"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2"/>
          <p:cNvSpPr txBox="1"/>
          <p:nvPr>
            <p:ph idx="1" type="body"/>
          </p:nvPr>
        </p:nvSpPr>
        <p:spPr>
          <a:xfrm>
            <a:off x="685801" y="4777381"/>
            <a:ext cx="10131426"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9" name="Google Shape;109;p3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2" name="Shape 112"/>
        <p:cNvGrpSpPr/>
        <p:nvPr/>
      </p:nvGrpSpPr>
      <p:grpSpPr>
        <a:xfrm>
          <a:off x="0" y="0"/>
          <a:ext cx="0" cy="0"/>
          <a:chOff x="0" y="0"/>
          <a:chExt cx="0" cy="0"/>
        </a:xfrm>
      </p:grpSpPr>
      <p:pic>
        <p:nvPicPr>
          <p:cNvPr descr="Celestia-R1---OverlayContentHD.png" id="113" name="Google Shape;113;p3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4" name="Google Shape;114;p33"/>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PH"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5" name="Google Shape;115;p33"/>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PH"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6" name="Google Shape;116;p33"/>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3"/>
          <p:cNvSpPr txBox="1"/>
          <p:nvPr>
            <p:ph idx="1" type="body"/>
          </p:nvPr>
        </p:nvSpPr>
        <p:spPr>
          <a:xfrm>
            <a:off x="685800" y="3886200"/>
            <a:ext cx="10135436" cy="889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400"/>
              <a:buNone/>
              <a:defRPr b="0" sz="24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18" name="Google Shape;118;p33"/>
          <p:cNvSpPr txBox="1"/>
          <p:nvPr>
            <p:ph idx="2" type="body"/>
          </p:nvPr>
        </p:nvSpPr>
        <p:spPr>
          <a:xfrm>
            <a:off x="685799" y="4775200"/>
            <a:ext cx="10135436" cy="1016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19" name="Google Shape;119;p3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2" name="Shape 122"/>
        <p:cNvGrpSpPr/>
        <p:nvPr/>
      </p:nvGrpSpPr>
      <p:grpSpPr>
        <a:xfrm>
          <a:off x="0" y="0"/>
          <a:ext cx="0" cy="0"/>
          <a:chOff x="0" y="0"/>
          <a:chExt cx="0" cy="0"/>
        </a:xfrm>
      </p:grpSpPr>
      <p:pic>
        <p:nvPicPr>
          <p:cNvPr descr="Celestia-R1---OverlayContentHD.png" id="123" name="Google Shape;123;p3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4" name="Google Shape;124;p34"/>
          <p:cNvSpPr txBox="1"/>
          <p:nvPr>
            <p:ph type="title"/>
          </p:nvPr>
        </p:nvSpPr>
        <p:spPr>
          <a:xfrm>
            <a:off x="685801" y="609601"/>
            <a:ext cx="10131427"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4"/>
          <p:cNvSpPr txBox="1"/>
          <p:nvPr>
            <p:ph idx="1" type="body"/>
          </p:nvPr>
        </p:nvSpPr>
        <p:spPr>
          <a:xfrm>
            <a:off x="685801" y="3505200"/>
            <a:ext cx="10131428"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800"/>
              <a:buNone/>
              <a:defRPr b="0" sz="28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6" name="Google Shape;126;p34"/>
          <p:cNvSpPr txBox="1"/>
          <p:nvPr>
            <p:ph idx="2" type="body"/>
          </p:nvPr>
        </p:nvSpPr>
        <p:spPr>
          <a:xfrm>
            <a:off x="685800" y="4343400"/>
            <a:ext cx="10131428"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27" name="Google Shape;127;p3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pic>
        <p:nvPicPr>
          <p:cNvPr descr="Celestia-R1---OverlayContentHD.png" id="131" name="Google Shape;131;p3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2" name="Google Shape;132;p35"/>
          <p:cNvSpPr txBox="1"/>
          <p:nvPr>
            <p:ph idx="1" type="body"/>
          </p:nvPr>
        </p:nvSpPr>
        <p:spPr>
          <a:xfrm rot="5400000">
            <a:off x="3926947" y="-1099079"/>
            <a:ext cx="3649133" cy="101314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3" name="Google Shape;133;p3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3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
        <p:nvSpPr>
          <p:cNvPr id="136" name="Google Shape;136;p35"/>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pic>
        <p:nvPicPr>
          <p:cNvPr descr="Celestia-R1---OverlayContentHD.png" id="138" name="Google Shape;138;p3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9" name="Google Shape;139;p36"/>
          <p:cNvSpPr txBox="1"/>
          <p:nvPr>
            <p:ph type="title"/>
          </p:nvPr>
        </p:nvSpPr>
        <p:spPr>
          <a:xfrm rot="5400000">
            <a:off x="7147151" y="2121124"/>
            <a:ext cx="5181601" cy="2158552"/>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36"/>
          <p:cNvSpPr txBox="1"/>
          <p:nvPr>
            <p:ph idx="1" type="body"/>
          </p:nvPr>
        </p:nvSpPr>
        <p:spPr>
          <a:xfrm rot="5400000">
            <a:off x="2011058" y="-715658"/>
            <a:ext cx="5181600" cy="783211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41" name="Google Shape;141;p3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1" name="Google Shape;11;p19"/>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marR="0" rtl="0" algn="l">
              <a:lnSpc>
                <a:spcPct val="100000"/>
              </a:lnSpc>
              <a:spcBef>
                <a:spcPts val="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9pPr>
          </a:lstStyle>
          <a:p/>
        </p:txBody>
      </p:sp>
      <p:sp>
        <p:nvSpPr>
          <p:cNvPr id="12" name="Google Shape;12;p1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3" name="Google Shape;13;p1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4" name="Google Shape;14;p1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PH"/>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type="ctrTitle"/>
          </p:nvPr>
        </p:nvSpPr>
        <p:spPr>
          <a:xfrm>
            <a:off x="361950" y="1537229"/>
            <a:ext cx="11468100" cy="2387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lt1"/>
              </a:buClr>
              <a:buSzPts val="8800"/>
              <a:buFont typeface="Calibri"/>
              <a:buNone/>
            </a:pPr>
            <a:r>
              <a:rPr lang="en-PH" sz="8800"/>
              <a:t>INTRODUCTION TO SQL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
          <p:cNvPicPr preferRelativeResize="0"/>
          <p:nvPr/>
        </p:nvPicPr>
        <p:blipFill rotWithShape="1">
          <a:blip r:embed="rId3">
            <a:alphaModFix/>
          </a:blip>
          <a:srcRect b="0" l="0" r="0" t="0"/>
          <a:stretch/>
        </p:blipFill>
        <p:spPr>
          <a:xfrm>
            <a:off x="4258575" y="1726725"/>
            <a:ext cx="3454400" cy="1451600"/>
          </a:xfrm>
          <a:prstGeom prst="rect">
            <a:avLst/>
          </a:prstGeom>
          <a:noFill/>
          <a:ln>
            <a:noFill/>
          </a:ln>
        </p:spPr>
      </p:pic>
      <p:sp>
        <p:nvSpPr>
          <p:cNvPr id="154" name="Google Shape;154;p2"/>
          <p:cNvSpPr txBox="1"/>
          <p:nvPr/>
        </p:nvSpPr>
        <p:spPr>
          <a:xfrm>
            <a:off x="3081528" y="3191256"/>
            <a:ext cx="661111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PH" sz="4000" u="none" cap="none" strike="noStrike">
                <a:solidFill>
                  <a:schemeClr val="lt1"/>
                </a:solidFill>
                <a:latin typeface="Calibri"/>
                <a:ea typeface="Calibri"/>
                <a:cs typeface="Calibri"/>
                <a:sym typeface="Calibri"/>
              </a:rPr>
              <a:t>Clarence Adriane Concepcion</a:t>
            </a:r>
            <a:endParaRPr b="0" i="0" sz="1400" u="none" cap="none" strike="noStrike">
              <a:solidFill>
                <a:srgbClr val="000000"/>
              </a:solidFill>
              <a:latin typeface="Arial"/>
              <a:ea typeface="Arial"/>
              <a:cs typeface="Arial"/>
              <a:sym typeface="Arial"/>
            </a:endParaRPr>
          </a:p>
        </p:txBody>
      </p:sp>
      <p:sp>
        <p:nvSpPr>
          <p:cNvPr id="155" name="Google Shape;155;p2"/>
          <p:cNvSpPr txBox="1"/>
          <p:nvPr/>
        </p:nvSpPr>
        <p:spPr>
          <a:xfrm>
            <a:off x="5168900" y="3899142"/>
            <a:ext cx="15331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Data Analyst </a:t>
            </a:r>
            <a:endParaRPr b="0" i="0" sz="1400" u="none" cap="none" strike="noStrike">
              <a:solidFill>
                <a:srgbClr val="000000"/>
              </a:solidFill>
              <a:latin typeface="Arial"/>
              <a:ea typeface="Arial"/>
              <a:cs typeface="Arial"/>
              <a:sym typeface="Arial"/>
            </a:endParaRPr>
          </a:p>
        </p:txBody>
      </p:sp>
      <p:sp>
        <p:nvSpPr>
          <p:cNvPr id="156" name="Google Shape;156;p2"/>
          <p:cNvSpPr txBox="1"/>
          <p:nvPr/>
        </p:nvSpPr>
        <p:spPr>
          <a:xfrm>
            <a:off x="5168900" y="4237696"/>
            <a:ext cx="2045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Network Engineer</a:t>
            </a:r>
            <a:endParaRPr b="0" i="0" sz="1400" u="none" cap="none" strike="noStrike">
              <a:solidFill>
                <a:srgbClr val="000000"/>
              </a:solidFill>
              <a:latin typeface="Arial"/>
              <a:ea typeface="Arial"/>
              <a:cs typeface="Arial"/>
              <a:sym typeface="Arial"/>
            </a:endParaRPr>
          </a:p>
        </p:txBody>
      </p:sp>
      <p:sp>
        <p:nvSpPr>
          <p:cNvPr id="157" name="Google Shape;157;p2"/>
          <p:cNvSpPr txBox="1"/>
          <p:nvPr/>
        </p:nvSpPr>
        <p:spPr>
          <a:xfrm>
            <a:off x="5168900" y="4607028"/>
            <a:ext cx="2045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IT Associate</a:t>
            </a:r>
            <a:endParaRPr b="0" i="0" sz="1400" u="none" cap="none" strike="noStrike">
              <a:solidFill>
                <a:srgbClr val="000000"/>
              </a:solidFill>
              <a:latin typeface="Arial"/>
              <a:ea typeface="Arial"/>
              <a:cs typeface="Arial"/>
              <a:sym typeface="Arial"/>
            </a:endParaRPr>
          </a:p>
        </p:txBody>
      </p:sp>
      <p:sp>
        <p:nvSpPr>
          <p:cNvPr id="158" name="Google Shape;158;p2"/>
          <p:cNvSpPr txBox="1"/>
          <p:nvPr/>
        </p:nvSpPr>
        <p:spPr>
          <a:xfrm>
            <a:off x="5186680" y="4989290"/>
            <a:ext cx="3454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BS in Information Technology</a:t>
            </a:r>
            <a:endParaRPr b="0" i="0" sz="1400" u="none" cap="none" strike="noStrike">
              <a:solidFill>
                <a:srgbClr val="000000"/>
              </a:solidFill>
              <a:latin typeface="Arial"/>
              <a:ea typeface="Arial"/>
              <a:cs typeface="Arial"/>
              <a:sym typeface="Arial"/>
            </a:endParaRPr>
          </a:p>
        </p:txBody>
      </p:sp>
      <p:sp>
        <p:nvSpPr>
          <p:cNvPr id="159" name="Google Shape;159;p2"/>
          <p:cNvSpPr txBox="1"/>
          <p:nvPr/>
        </p:nvSpPr>
        <p:spPr>
          <a:xfrm>
            <a:off x="5168900" y="5358622"/>
            <a:ext cx="35549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ExcelHelpline SQL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
          <p:cNvSpPr txBox="1"/>
          <p:nvPr>
            <p:ph type="title"/>
          </p:nvPr>
        </p:nvSpPr>
        <p:spPr>
          <a:xfrm>
            <a:off x="1751076" y="-231648"/>
            <a:ext cx="9436607"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IDE: </a:t>
            </a:r>
            <a:r>
              <a:rPr b="1" lang="en-PH"/>
              <a:t>INTEGRATED DEVELOPMENT ENVIRONMENT</a:t>
            </a:r>
            <a:r>
              <a:rPr lang="en-PH"/>
              <a:t>.</a:t>
            </a:r>
            <a:endParaRPr/>
          </a:p>
        </p:txBody>
      </p:sp>
      <p:sp>
        <p:nvSpPr>
          <p:cNvPr id="165" name="Google Shape;165;p3"/>
          <p:cNvSpPr txBox="1"/>
          <p:nvPr/>
        </p:nvSpPr>
        <p:spPr>
          <a:xfrm>
            <a:off x="4087368" y="5916168"/>
            <a:ext cx="44714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https://dev.mysql.com/downloads/installer/</a:t>
            </a:r>
            <a:endParaRPr b="0" i="0" sz="1400" u="none" cap="none" strike="noStrike">
              <a:solidFill>
                <a:srgbClr val="000000"/>
              </a:solidFill>
              <a:latin typeface="Arial"/>
              <a:ea typeface="Arial"/>
              <a:cs typeface="Arial"/>
              <a:sym typeface="Arial"/>
            </a:endParaRPr>
          </a:p>
        </p:txBody>
      </p:sp>
      <p:pic>
        <p:nvPicPr>
          <p:cNvPr id="166" name="Google Shape;166;p3"/>
          <p:cNvPicPr preferRelativeResize="0"/>
          <p:nvPr/>
        </p:nvPicPr>
        <p:blipFill rotWithShape="1">
          <a:blip r:embed="rId3">
            <a:alphaModFix/>
          </a:blip>
          <a:srcRect b="0" l="0" r="0" t="0"/>
          <a:stretch/>
        </p:blipFill>
        <p:spPr>
          <a:xfrm>
            <a:off x="1997964" y="1023108"/>
            <a:ext cx="8942832" cy="481178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
          <p:cNvSpPr txBox="1"/>
          <p:nvPr>
            <p:ph type="ctrTitle"/>
          </p:nvPr>
        </p:nvSpPr>
        <p:spPr>
          <a:xfrm>
            <a:off x="973666" y="381000"/>
            <a:ext cx="10244668" cy="905933"/>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4800"/>
              <a:buFont typeface="Calibri"/>
              <a:buNone/>
            </a:pPr>
            <a:r>
              <a:rPr lang="en-PH"/>
              <a:t>WHAT IS SQL?</a:t>
            </a:r>
            <a:endParaRPr/>
          </a:p>
        </p:txBody>
      </p:sp>
      <p:sp>
        <p:nvSpPr>
          <p:cNvPr id="172" name="Google Shape;172;p4"/>
          <p:cNvSpPr txBox="1"/>
          <p:nvPr/>
        </p:nvSpPr>
        <p:spPr>
          <a:xfrm>
            <a:off x="1202266" y="1729937"/>
            <a:ext cx="9076267"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PH" sz="2800" u="none" cap="none" strike="noStrike">
                <a:solidFill>
                  <a:schemeClr val="lt1"/>
                </a:solidFill>
                <a:latin typeface="Calibri"/>
                <a:ea typeface="Calibri"/>
                <a:cs typeface="Calibri"/>
                <a:sym typeface="Calibri"/>
              </a:rPr>
              <a:t>SQL (Structured Query Language) is a programming language used to store, manage, and retrieve data from relational databases.</a:t>
            </a:r>
            <a:endParaRPr b="0" i="0" sz="2800" u="none" cap="none" strike="noStrike">
              <a:solidFill>
                <a:schemeClr val="lt1"/>
              </a:solidFill>
              <a:latin typeface="Calibri"/>
              <a:ea typeface="Calibri"/>
              <a:cs typeface="Calibri"/>
              <a:sym typeface="Calibri"/>
            </a:endParaRPr>
          </a:p>
        </p:txBody>
      </p:sp>
      <p:sp>
        <p:nvSpPr>
          <p:cNvPr id="173" name="Google Shape;173;p4"/>
          <p:cNvSpPr txBox="1"/>
          <p:nvPr/>
        </p:nvSpPr>
        <p:spPr>
          <a:xfrm>
            <a:off x="1202266" y="2976033"/>
            <a:ext cx="10244668" cy="905933"/>
          </a:xfrm>
          <a:prstGeom prst="rect">
            <a:avLst/>
          </a:prstGeom>
          <a:noFill/>
          <a:ln>
            <a:noFill/>
          </a:ln>
        </p:spPr>
        <p:txBody>
          <a:bodyPr anchorCtr="0" anchor="b" bIns="45700" lIns="91425" spcFirstLastPara="1" rIns="91425" wrap="square" tIns="45700">
            <a:normAutofit fontScale="97500"/>
          </a:bodyPr>
          <a:lstStyle/>
          <a:p>
            <a:pPr indent="0" lvl="0" marL="0" marR="0" rtl="0" algn="ctr">
              <a:lnSpc>
                <a:spcPct val="90000"/>
              </a:lnSpc>
              <a:spcBef>
                <a:spcPts val="0"/>
              </a:spcBef>
              <a:spcAft>
                <a:spcPts val="0"/>
              </a:spcAft>
              <a:buClr>
                <a:schemeClr val="lt1"/>
              </a:buClr>
              <a:buSzPct val="100000"/>
              <a:buFont typeface="Calibri"/>
              <a:buNone/>
            </a:pPr>
            <a:r>
              <a:rPr b="0" i="0" lang="en-PH" sz="5400" u="none" cap="none" strike="noStrike">
                <a:solidFill>
                  <a:schemeClr val="lt1"/>
                </a:solidFill>
                <a:latin typeface="Calibri"/>
                <a:ea typeface="Calibri"/>
                <a:cs typeface="Calibri"/>
                <a:sym typeface="Calibri"/>
              </a:rPr>
              <a:t>What is Database?</a:t>
            </a:r>
            <a:endParaRPr b="0" i="0" sz="1400" u="none" cap="none" strike="noStrike">
              <a:solidFill>
                <a:srgbClr val="000000"/>
              </a:solidFill>
              <a:latin typeface="Arial"/>
              <a:ea typeface="Arial"/>
              <a:cs typeface="Arial"/>
              <a:sym typeface="Arial"/>
            </a:endParaRPr>
          </a:p>
        </p:txBody>
      </p:sp>
      <p:sp>
        <p:nvSpPr>
          <p:cNvPr id="174" name="Google Shape;174;p4"/>
          <p:cNvSpPr txBox="1"/>
          <p:nvPr/>
        </p:nvSpPr>
        <p:spPr>
          <a:xfrm>
            <a:off x="1142999" y="4111935"/>
            <a:ext cx="9076267"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PH" sz="2800" u="none" cap="none" strike="noStrike">
                <a:solidFill>
                  <a:schemeClr val="lt1"/>
                </a:solidFill>
                <a:latin typeface="Calibri"/>
                <a:ea typeface="Calibri"/>
                <a:cs typeface="Calibri"/>
                <a:sym typeface="Calibri"/>
              </a:rPr>
              <a:t>It is a structed set of data held in a computer or Server, Which can be accessed by programs or software for use in their system.</a:t>
            </a:r>
            <a:endParaRPr b="0" i="0" sz="2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nvSpPr>
        <p:spPr>
          <a:xfrm>
            <a:off x="2871537" y="577516"/>
            <a:ext cx="633663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Arial"/>
              <a:buNone/>
            </a:pPr>
            <a:r>
              <a:rPr b="1" i="0" lang="en-PH" sz="5400" u="none" cap="none" strike="noStrike">
                <a:solidFill>
                  <a:schemeClr val="lt1"/>
                </a:solidFill>
                <a:latin typeface="Calibri"/>
                <a:ea typeface="Calibri"/>
                <a:cs typeface="Calibri"/>
                <a:sym typeface="Calibri"/>
              </a:rPr>
              <a:t>What Does SQL do?</a:t>
            </a:r>
            <a:endParaRPr b="0" i="0" sz="1400" u="none" cap="none" strike="noStrike">
              <a:solidFill>
                <a:srgbClr val="000000"/>
              </a:solidFill>
              <a:latin typeface="Arial"/>
              <a:ea typeface="Arial"/>
              <a:cs typeface="Arial"/>
              <a:sym typeface="Arial"/>
            </a:endParaRPr>
          </a:p>
        </p:txBody>
      </p:sp>
      <p:sp>
        <p:nvSpPr>
          <p:cNvPr id="180" name="Google Shape;180;p5"/>
          <p:cNvSpPr txBox="1"/>
          <p:nvPr/>
        </p:nvSpPr>
        <p:spPr>
          <a:xfrm>
            <a:off x="2927684" y="1951672"/>
            <a:ext cx="6336632" cy="2954655"/>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Arial"/>
                <a:ea typeface="Arial"/>
                <a:cs typeface="Arial"/>
                <a:sym typeface="Arial"/>
              </a:rPr>
              <a:t>Create databases and tables</a:t>
            </a:r>
            <a:endParaRPr b="0" i="0" sz="1400" u="none" cap="none" strike="noStrike">
              <a:solidFill>
                <a:srgbClr val="000000"/>
              </a:solidFill>
              <a:latin typeface="Arial"/>
              <a:ea typeface="Arial"/>
              <a:cs typeface="Arial"/>
              <a:sym typeface="Arial"/>
            </a:endParaRPr>
          </a:p>
          <a:p>
            <a:pPr indent="-177800" lvl="0" marL="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Arial"/>
                <a:ea typeface="Arial"/>
                <a:cs typeface="Arial"/>
                <a:sym typeface="Arial"/>
              </a:rPr>
              <a:t>Store and retrieve data</a:t>
            </a:r>
            <a:endParaRPr b="0" i="0" sz="1400" u="none" cap="none" strike="noStrike">
              <a:solidFill>
                <a:srgbClr val="000000"/>
              </a:solidFill>
              <a:latin typeface="Arial"/>
              <a:ea typeface="Arial"/>
              <a:cs typeface="Arial"/>
              <a:sym typeface="Arial"/>
            </a:endParaRPr>
          </a:p>
          <a:p>
            <a:pPr indent="-177800" lvl="0" marL="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Arial"/>
                <a:ea typeface="Arial"/>
                <a:cs typeface="Arial"/>
                <a:sym typeface="Arial"/>
              </a:rPr>
              <a:t>Update existing data</a:t>
            </a:r>
            <a:endParaRPr b="0" i="0" sz="1400" u="none" cap="none" strike="noStrike">
              <a:solidFill>
                <a:srgbClr val="000000"/>
              </a:solidFill>
              <a:latin typeface="Arial"/>
              <a:ea typeface="Arial"/>
              <a:cs typeface="Arial"/>
              <a:sym typeface="Arial"/>
            </a:endParaRPr>
          </a:p>
          <a:p>
            <a:pPr indent="-177800" lvl="0" marL="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Arial"/>
                <a:ea typeface="Arial"/>
                <a:cs typeface="Arial"/>
                <a:sym typeface="Arial"/>
              </a:rPr>
              <a:t>Delete data</a:t>
            </a:r>
            <a:endParaRPr b="0" i="0" sz="1400" u="none" cap="none" strike="noStrike">
              <a:solidFill>
                <a:srgbClr val="000000"/>
              </a:solidFill>
              <a:latin typeface="Arial"/>
              <a:ea typeface="Arial"/>
              <a:cs typeface="Arial"/>
              <a:sym typeface="Arial"/>
            </a:endParaRPr>
          </a:p>
          <a:p>
            <a:pPr indent="-177800" lvl="0" marL="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Arial"/>
                <a:ea typeface="Arial"/>
                <a:cs typeface="Arial"/>
                <a:sym typeface="Arial"/>
              </a:rPr>
              <a:t>Filter and sort records</a:t>
            </a:r>
            <a:endParaRPr b="0" i="0" sz="1400" u="none" cap="none" strike="noStrike">
              <a:solidFill>
                <a:srgbClr val="000000"/>
              </a:solidFill>
              <a:latin typeface="Arial"/>
              <a:ea typeface="Arial"/>
              <a:cs typeface="Arial"/>
              <a:sym typeface="Arial"/>
            </a:endParaRPr>
          </a:p>
          <a:p>
            <a:pPr indent="-177800" lvl="0" marL="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Arial"/>
                <a:ea typeface="Arial"/>
                <a:cs typeface="Arial"/>
                <a:sym typeface="Arial"/>
              </a:rPr>
              <a:t>Combine data using relationships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6"/>
          <p:cNvSpPr txBox="1"/>
          <p:nvPr>
            <p:ph type="title"/>
          </p:nvPr>
        </p:nvSpPr>
        <p:spPr>
          <a:xfrm>
            <a:off x="838199" y="45720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PH"/>
              <a:t>WHAT IS A RELATIONAL DATABASE?</a:t>
            </a:r>
            <a:endParaRPr b="1"/>
          </a:p>
        </p:txBody>
      </p:sp>
      <p:sp>
        <p:nvSpPr>
          <p:cNvPr id="186" name="Google Shape;186;p6"/>
          <p:cNvSpPr txBox="1"/>
          <p:nvPr>
            <p:ph idx="1" type="body"/>
          </p:nvPr>
        </p:nvSpPr>
        <p:spPr>
          <a:xfrm>
            <a:off x="838199" y="1825625"/>
            <a:ext cx="11161295" cy="2297196"/>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2800"/>
              <a:buNone/>
            </a:pPr>
            <a:r>
              <a:rPr lang="en-PH" sz="2800"/>
              <a:t>A Relational Database is a type of database that stores data in tables (also called relations). These tables are made up of rows and columns, and they are related to each other through keys (primary keys and foreign keys). This structure makes it easy to store, organize, and retrieve data efficiently.</a:t>
            </a:r>
            <a:endParaRPr sz="2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txBox="1"/>
          <p:nvPr/>
        </p:nvSpPr>
        <p:spPr>
          <a:xfrm>
            <a:off x="561474" y="401054"/>
            <a:ext cx="466825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PH" sz="2800" u="none" cap="none" strike="noStrike">
                <a:solidFill>
                  <a:schemeClr val="lt1"/>
                </a:solidFill>
                <a:latin typeface="Calibri"/>
                <a:ea typeface="Calibri"/>
                <a:cs typeface="Calibri"/>
                <a:sym typeface="Calibri"/>
              </a:rPr>
              <a:t>Why is it called "Relational"?</a:t>
            </a:r>
            <a:endParaRPr b="1" i="0" sz="2800" u="none" cap="none" strike="noStrike">
              <a:solidFill>
                <a:schemeClr val="lt1"/>
              </a:solidFill>
              <a:latin typeface="Calibri"/>
              <a:ea typeface="Calibri"/>
              <a:cs typeface="Calibri"/>
              <a:sym typeface="Calibri"/>
            </a:endParaRPr>
          </a:p>
        </p:txBody>
      </p:sp>
      <p:sp>
        <p:nvSpPr>
          <p:cNvPr id="192" name="Google Shape;192;p7"/>
          <p:cNvSpPr txBox="1"/>
          <p:nvPr/>
        </p:nvSpPr>
        <p:spPr>
          <a:xfrm>
            <a:off x="561473" y="1475874"/>
            <a:ext cx="4668251" cy="42473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PH" sz="2800" u="none" cap="none" strike="noStrike">
                <a:solidFill>
                  <a:schemeClr val="lt1"/>
                </a:solidFill>
                <a:latin typeface="Calibri"/>
                <a:ea typeface="Calibri"/>
                <a:cs typeface="Calibri"/>
                <a:sym typeface="Calibri"/>
              </a:rPr>
              <a:t>Because the data in tables can be related to each other.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br>
              <a:rPr b="0" i="0" lang="en-PH" sz="2800" u="none" cap="none" strike="noStrike">
                <a:solidFill>
                  <a:schemeClr val="lt1"/>
                </a:solidFill>
                <a:latin typeface="Calibri"/>
                <a:ea typeface="Calibri"/>
                <a:cs typeface="Calibri"/>
                <a:sym typeface="Calibri"/>
              </a:rPr>
            </a:br>
            <a:r>
              <a:rPr b="0" i="0" lang="en-PH" sz="2800" u="none" cap="none" strike="noStrike">
                <a:solidFill>
                  <a:schemeClr val="lt1"/>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PH" sz="2800" u="none" cap="none" strike="noStrike">
                <a:solidFill>
                  <a:schemeClr val="lt1"/>
                </a:solidFill>
                <a:latin typeface="Calibri"/>
                <a:ea typeface="Calibri"/>
                <a:cs typeface="Calibri"/>
                <a:sym typeface="Calibri"/>
              </a:rPr>
              <a:t>A </a:t>
            </a:r>
            <a:r>
              <a:rPr b="1" i="0" lang="en-PH" sz="2800" u="none" cap="none" strike="noStrike">
                <a:solidFill>
                  <a:schemeClr val="lt1"/>
                </a:solidFill>
                <a:latin typeface="Calibri"/>
                <a:ea typeface="Calibri"/>
                <a:cs typeface="Calibri"/>
                <a:sym typeface="Calibri"/>
              </a:rPr>
              <a:t>Customers</a:t>
            </a:r>
            <a:r>
              <a:rPr b="0" i="0" lang="en-PH" sz="2800" u="none" cap="none" strike="noStrike">
                <a:solidFill>
                  <a:schemeClr val="lt1"/>
                </a:solidFill>
                <a:latin typeface="Calibri"/>
                <a:ea typeface="Calibri"/>
                <a:cs typeface="Calibri"/>
                <a:sym typeface="Calibri"/>
              </a:rPr>
              <a:t>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PH" sz="2800" u="none" cap="none" strike="noStrike">
                <a:solidFill>
                  <a:schemeClr val="lt1"/>
                </a:solidFill>
                <a:latin typeface="Calibri"/>
                <a:ea typeface="Calibri"/>
                <a:cs typeface="Calibri"/>
                <a:sym typeface="Calibri"/>
              </a:rPr>
              <a:t>An </a:t>
            </a:r>
            <a:r>
              <a:rPr b="1" i="0" lang="en-PH" sz="2800" u="none" cap="none" strike="noStrike">
                <a:solidFill>
                  <a:schemeClr val="lt1"/>
                </a:solidFill>
                <a:latin typeface="Calibri"/>
                <a:ea typeface="Calibri"/>
                <a:cs typeface="Calibri"/>
                <a:sym typeface="Calibri"/>
              </a:rPr>
              <a:t>Orders</a:t>
            </a:r>
            <a:r>
              <a:rPr b="0" i="0" lang="en-PH" sz="2800" u="none" cap="none" strike="noStrike">
                <a:solidFill>
                  <a:schemeClr val="lt1"/>
                </a:solidFill>
                <a:latin typeface="Calibri"/>
                <a:ea typeface="Calibri"/>
                <a:cs typeface="Calibri"/>
                <a:sym typeface="Calibri"/>
              </a:rPr>
              <a:t>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PH" sz="2800" u="none" cap="none" strike="noStrike">
                <a:solidFill>
                  <a:schemeClr val="lt1"/>
                </a:solidFill>
                <a:latin typeface="Calibri"/>
                <a:ea typeface="Calibri"/>
                <a:cs typeface="Calibri"/>
                <a:sym typeface="Calibri"/>
              </a:rPr>
              <a:t>You relate them using a </a:t>
            </a:r>
            <a:r>
              <a:rPr b="1" i="0" lang="en-PH" sz="2800" u="none" cap="none" strike="noStrike">
                <a:solidFill>
                  <a:schemeClr val="lt1"/>
                </a:solidFill>
                <a:latin typeface="Calibri"/>
                <a:ea typeface="Calibri"/>
                <a:cs typeface="Calibri"/>
                <a:sym typeface="Calibri"/>
              </a:rPr>
              <a:t>Customer_ID</a:t>
            </a:r>
            <a:r>
              <a:rPr b="0" i="0" lang="en-PH" sz="28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193" name="Google Shape;193;p7"/>
          <p:cNvGraphicFramePr/>
          <p:nvPr/>
        </p:nvGraphicFramePr>
        <p:xfrm>
          <a:off x="5497096" y="1475874"/>
          <a:ext cx="3000000" cy="3000000"/>
        </p:xfrm>
        <a:graphic>
          <a:graphicData uri="http://schemas.openxmlformats.org/drawingml/2006/table">
            <a:tbl>
              <a:tblPr bandRow="1" firstRow="1">
                <a:noFill/>
                <a:tableStyleId>{7719CA8B-936F-4304-9132-3B0945A55B04}</a:tableStyleId>
              </a:tblPr>
              <a:tblGrid>
                <a:gridCol w="2044475"/>
                <a:gridCol w="2044475"/>
                <a:gridCol w="2044475"/>
              </a:tblGrid>
              <a:tr h="348325">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Customer_ID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Name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City</a:t>
                      </a:r>
                      <a:endParaRPr sz="1400" u="none" cap="none" strike="noStrike"/>
                    </a:p>
                  </a:txBody>
                  <a:tcPr marT="45725" marB="45725" marR="91450" marL="91450"/>
                </a:tc>
              </a:tr>
              <a:tr h="348325">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Clarence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Calamba</a:t>
                      </a:r>
                      <a:endParaRPr sz="1400" u="none" cap="none" strike="noStrike"/>
                    </a:p>
                  </a:txBody>
                  <a:tcPr marT="45725" marB="45725" marR="91450" marL="91450"/>
                </a:tc>
              </a:tr>
              <a:tr h="348325">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Adriane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Manila</a:t>
                      </a:r>
                      <a:endParaRPr sz="1400" u="none" cap="none" strike="noStrike"/>
                    </a:p>
                  </a:txBody>
                  <a:tcPr marT="45725" marB="45725" marR="91450" marL="91450"/>
                </a:tc>
              </a:tr>
            </a:tbl>
          </a:graphicData>
        </a:graphic>
      </p:graphicFrame>
      <p:graphicFrame>
        <p:nvGraphicFramePr>
          <p:cNvPr id="194" name="Google Shape;194;p7"/>
          <p:cNvGraphicFramePr/>
          <p:nvPr/>
        </p:nvGraphicFramePr>
        <p:xfrm>
          <a:off x="5497095" y="3512557"/>
          <a:ext cx="3000000" cy="3000000"/>
        </p:xfrm>
        <a:graphic>
          <a:graphicData uri="http://schemas.openxmlformats.org/drawingml/2006/table">
            <a:tbl>
              <a:tblPr bandRow="1" firstRow="1">
                <a:noFill/>
                <a:tableStyleId>{7719CA8B-936F-4304-9132-3B0945A55B04}</a:tableStyleId>
              </a:tblPr>
              <a:tblGrid>
                <a:gridCol w="2044475"/>
                <a:gridCol w="2044475"/>
                <a:gridCol w="2044475"/>
              </a:tblGrid>
              <a:tr h="348325">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Order_ID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Customer_ID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Item</a:t>
                      </a:r>
                      <a:endParaRPr sz="1400" u="none" cap="none" strike="noStrike"/>
                    </a:p>
                  </a:txBody>
                  <a:tcPr marT="45725" marB="45725" marR="91450" marL="91450"/>
                </a:tc>
              </a:tr>
              <a:tr h="348325">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101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Laptop</a:t>
                      </a:r>
                      <a:endParaRPr sz="1400" u="none" cap="none" strike="noStrike"/>
                    </a:p>
                  </a:txBody>
                  <a:tcPr marT="45725" marB="45725" marR="91450" marL="91450"/>
                </a:tc>
              </a:tr>
              <a:tr h="348325">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102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PH" sz="1800" u="none" cap="none" strike="noStrike"/>
                        <a:t>Keyboadrd</a:t>
                      </a:r>
                      <a:endParaRPr sz="1800" u="none" cap="none" strike="noStrike"/>
                    </a:p>
                  </a:txBody>
                  <a:tcPr marT="45725" marB="45725" marR="91450" marL="91450"/>
                </a:tc>
              </a:tr>
            </a:tbl>
          </a:graphicData>
        </a:graphic>
      </p:graphicFrame>
      <p:sp>
        <p:nvSpPr>
          <p:cNvPr id="195" name="Google Shape;195;p7"/>
          <p:cNvSpPr txBox="1"/>
          <p:nvPr/>
        </p:nvSpPr>
        <p:spPr>
          <a:xfrm>
            <a:off x="5497096" y="1074821"/>
            <a:ext cx="17539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Customer Table</a:t>
            </a:r>
            <a:endParaRPr b="0" i="0" sz="1400" u="none" cap="none" strike="noStrike">
              <a:solidFill>
                <a:srgbClr val="000000"/>
              </a:solidFill>
              <a:latin typeface="Arial"/>
              <a:ea typeface="Arial"/>
              <a:cs typeface="Arial"/>
              <a:sym typeface="Arial"/>
            </a:endParaRPr>
          </a:p>
        </p:txBody>
      </p:sp>
      <p:sp>
        <p:nvSpPr>
          <p:cNvPr id="196" name="Google Shape;196;p7"/>
          <p:cNvSpPr txBox="1"/>
          <p:nvPr/>
        </p:nvSpPr>
        <p:spPr>
          <a:xfrm>
            <a:off x="5497095" y="3099773"/>
            <a:ext cx="17539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Order 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SOME OF THE MOST IMPORTANT SQL COMMANDS</a:t>
            </a:r>
            <a:endParaRPr/>
          </a:p>
        </p:txBody>
      </p:sp>
      <p:sp>
        <p:nvSpPr>
          <p:cNvPr id="202" name="Google Shape;202;p8"/>
          <p:cNvSpPr txBox="1"/>
          <p:nvPr>
            <p:ph idx="1" type="body"/>
          </p:nvPr>
        </p:nvSpPr>
        <p:spPr>
          <a:xfrm>
            <a:off x="838200" y="1860883"/>
            <a:ext cx="8097253" cy="4332121"/>
          </a:xfrm>
          <a:prstGeom prst="rect">
            <a:avLst/>
          </a:prstGeom>
          <a:noFill/>
          <a:ln>
            <a:noFill/>
          </a:ln>
        </p:spPr>
        <p:txBody>
          <a:bodyPr anchorCtr="0" anchor="ctr" bIns="45700" lIns="91425" spcFirstLastPara="1" rIns="91425" wrap="square" tIns="45700">
            <a:normAutofit fontScale="92500" lnSpcReduction="10000"/>
          </a:bodyPr>
          <a:lstStyle/>
          <a:p>
            <a:pPr indent="-285750" lvl="0" marL="285750" rtl="0" algn="l">
              <a:lnSpc>
                <a:spcPct val="100000"/>
              </a:lnSpc>
              <a:spcBef>
                <a:spcPts val="0"/>
              </a:spcBef>
              <a:spcAft>
                <a:spcPts val="0"/>
              </a:spcAft>
              <a:buSzPct val="100000"/>
              <a:buChar char="•"/>
            </a:pPr>
            <a:r>
              <a:rPr b="1" lang="en-PH"/>
              <a:t>SELECT</a:t>
            </a:r>
            <a:r>
              <a:rPr lang="en-PH"/>
              <a:t> - extracts data from a database</a:t>
            </a:r>
            <a:endParaRPr/>
          </a:p>
          <a:p>
            <a:pPr indent="-285750" lvl="0" marL="285750" rtl="0" algn="l">
              <a:lnSpc>
                <a:spcPct val="100000"/>
              </a:lnSpc>
              <a:spcBef>
                <a:spcPts val="1000"/>
              </a:spcBef>
              <a:spcAft>
                <a:spcPts val="0"/>
              </a:spcAft>
              <a:buSzPct val="100000"/>
              <a:buChar char="•"/>
            </a:pPr>
            <a:r>
              <a:rPr b="1" lang="en-PH"/>
              <a:t>UPDATE</a:t>
            </a:r>
            <a:r>
              <a:rPr lang="en-PH"/>
              <a:t> - updates data in a database</a:t>
            </a:r>
            <a:endParaRPr/>
          </a:p>
          <a:p>
            <a:pPr indent="-285750" lvl="0" marL="285750" rtl="0" algn="l">
              <a:lnSpc>
                <a:spcPct val="100000"/>
              </a:lnSpc>
              <a:spcBef>
                <a:spcPts val="1000"/>
              </a:spcBef>
              <a:spcAft>
                <a:spcPts val="0"/>
              </a:spcAft>
              <a:buSzPct val="100000"/>
              <a:buChar char="•"/>
            </a:pPr>
            <a:r>
              <a:rPr b="1" lang="en-PH"/>
              <a:t>DELETE</a:t>
            </a:r>
            <a:r>
              <a:rPr lang="en-PH"/>
              <a:t> - deletes data from a database</a:t>
            </a:r>
            <a:endParaRPr/>
          </a:p>
          <a:p>
            <a:pPr indent="-285750" lvl="0" marL="285750" rtl="0" algn="l">
              <a:lnSpc>
                <a:spcPct val="100000"/>
              </a:lnSpc>
              <a:spcBef>
                <a:spcPts val="1000"/>
              </a:spcBef>
              <a:spcAft>
                <a:spcPts val="0"/>
              </a:spcAft>
              <a:buSzPct val="100000"/>
              <a:buChar char="•"/>
            </a:pPr>
            <a:r>
              <a:rPr b="1" lang="en-PH"/>
              <a:t>INSERT INTO </a:t>
            </a:r>
            <a:r>
              <a:rPr lang="en-PH"/>
              <a:t>- inserts new data into a database</a:t>
            </a:r>
            <a:endParaRPr/>
          </a:p>
          <a:p>
            <a:pPr indent="-285750" lvl="0" marL="285750" rtl="0" algn="l">
              <a:lnSpc>
                <a:spcPct val="100000"/>
              </a:lnSpc>
              <a:spcBef>
                <a:spcPts val="1000"/>
              </a:spcBef>
              <a:spcAft>
                <a:spcPts val="0"/>
              </a:spcAft>
              <a:buSzPct val="100000"/>
              <a:buChar char="•"/>
            </a:pPr>
            <a:r>
              <a:rPr b="1" lang="en-PH"/>
              <a:t>CREATE DATABASE </a:t>
            </a:r>
            <a:r>
              <a:rPr lang="en-PH"/>
              <a:t>- creates a new database</a:t>
            </a:r>
            <a:endParaRPr/>
          </a:p>
          <a:p>
            <a:pPr indent="-285750" lvl="0" marL="285750" rtl="0" algn="l">
              <a:lnSpc>
                <a:spcPct val="100000"/>
              </a:lnSpc>
              <a:spcBef>
                <a:spcPts val="1000"/>
              </a:spcBef>
              <a:spcAft>
                <a:spcPts val="0"/>
              </a:spcAft>
              <a:buSzPct val="100000"/>
              <a:buChar char="•"/>
            </a:pPr>
            <a:r>
              <a:rPr b="1" lang="en-PH"/>
              <a:t>ALTER DATABASE </a:t>
            </a:r>
            <a:r>
              <a:rPr lang="en-PH"/>
              <a:t>- modifies a database</a:t>
            </a:r>
            <a:endParaRPr/>
          </a:p>
          <a:p>
            <a:pPr indent="-285750" lvl="0" marL="285750" rtl="0" algn="l">
              <a:lnSpc>
                <a:spcPct val="100000"/>
              </a:lnSpc>
              <a:spcBef>
                <a:spcPts val="1000"/>
              </a:spcBef>
              <a:spcAft>
                <a:spcPts val="0"/>
              </a:spcAft>
              <a:buSzPct val="100000"/>
              <a:buChar char="•"/>
            </a:pPr>
            <a:r>
              <a:rPr b="1" lang="en-PH"/>
              <a:t>CREATE TABLE </a:t>
            </a:r>
            <a:r>
              <a:rPr lang="en-PH"/>
              <a:t>- creates a new table</a:t>
            </a:r>
            <a:endParaRPr/>
          </a:p>
          <a:p>
            <a:pPr indent="-285750" lvl="0" marL="285750" rtl="0" algn="l">
              <a:lnSpc>
                <a:spcPct val="100000"/>
              </a:lnSpc>
              <a:spcBef>
                <a:spcPts val="1000"/>
              </a:spcBef>
              <a:spcAft>
                <a:spcPts val="0"/>
              </a:spcAft>
              <a:buSzPct val="100000"/>
              <a:buChar char="•"/>
            </a:pPr>
            <a:r>
              <a:rPr b="1" lang="en-PH"/>
              <a:t>ALTER TABLE </a:t>
            </a:r>
            <a:r>
              <a:rPr lang="en-PH"/>
              <a:t>- modifies a table</a:t>
            </a:r>
            <a:endParaRPr/>
          </a:p>
          <a:p>
            <a:pPr indent="-285750" lvl="0" marL="285750" rtl="0" algn="l">
              <a:lnSpc>
                <a:spcPct val="100000"/>
              </a:lnSpc>
              <a:spcBef>
                <a:spcPts val="1000"/>
              </a:spcBef>
              <a:spcAft>
                <a:spcPts val="0"/>
              </a:spcAft>
              <a:buSzPct val="100000"/>
              <a:buChar char="•"/>
            </a:pPr>
            <a:r>
              <a:rPr b="1" lang="en-PH"/>
              <a:t>DROP TABLE </a:t>
            </a:r>
            <a:r>
              <a:rPr lang="en-PH"/>
              <a:t>- deletes a table</a:t>
            </a:r>
            <a:endParaRPr/>
          </a:p>
          <a:p>
            <a:pPr indent="-285750" lvl="0" marL="285750" rtl="0" algn="l">
              <a:lnSpc>
                <a:spcPct val="100000"/>
              </a:lnSpc>
              <a:spcBef>
                <a:spcPts val="1000"/>
              </a:spcBef>
              <a:spcAft>
                <a:spcPts val="0"/>
              </a:spcAft>
              <a:buSzPct val="100000"/>
              <a:buChar char="•"/>
            </a:pPr>
            <a:r>
              <a:rPr b="1" lang="en-PH"/>
              <a:t>CREATE INDEX </a:t>
            </a:r>
            <a:r>
              <a:rPr lang="en-PH"/>
              <a:t>- creates an index (search key)</a:t>
            </a:r>
            <a:endParaRPr/>
          </a:p>
          <a:p>
            <a:pPr indent="-285750" lvl="0" marL="285750" rtl="0" algn="l">
              <a:lnSpc>
                <a:spcPct val="100000"/>
              </a:lnSpc>
              <a:spcBef>
                <a:spcPts val="1000"/>
              </a:spcBef>
              <a:spcAft>
                <a:spcPts val="0"/>
              </a:spcAft>
              <a:buSzPct val="100000"/>
              <a:buChar char="•"/>
            </a:pPr>
            <a:r>
              <a:rPr b="1" lang="en-PH"/>
              <a:t>DROP INDEX </a:t>
            </a:r>
            <a:r>
              <a:rPr lang="en-PH"/>
              <a:t>- deletes an index</a:t>
            </a:r>
            <a:endParaRPr/>
          </a:p>
          <a:p>
            <a:pPr indent="-180022" lvl="0" marL="285750" rtl="0" algn="l">
              <a:lnSpc>
                <a:spcPct val="100000"/>
              </a:lnSpc>
              <a:spcBef>
                <a:spcPts val="1000"/>
              </a:spcBef>
              <a:spcAft>
                <a:spcPts val="0"/>
              </a:spcAft>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9"/>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COMMON DATA TYPES:</a:t>
            </a:r>
            <a:endParaRPr/>
          </a:p>
        </p:txBody>
      </p:sp>
      <p:sp>
        <p:nvSpPr>
          <p:cNvPr id="208" name="Google Shape;208;p9"/>
          <p:cNvSpPr txBox="1"/>
          <p:nvPr>
            <p:ph idx="1" type="body"/>
          </p:nvPr>
        </p:nvSpPr>
        <p:spPr>
          <a:xfrm>
            <a:off x="838200" y="1408530"/>
            <a:ext cx="4969042"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b="1" lang="en-PH"/>
              <a:t>Data types</a:t>
            </a:r>
            <a:r>
              <a:rPr lang="en-PH"/>
              <a:t> are categories that define </a:t>
            </a:r>
            <a:r>
              <a:rPr b="1" lang="en-PH"/>
              <a:t>what kind of data</a:t>
            </a:r>
            <a:r>
              <a:rPr lang="en-PH"/>
              <a:t> can be stored in a column or variable.</a:t>
            </a:r>
            <a:endParaRPr/>
          </a:p>
        </p:txBody>
      </p:sp>
      <p:graphicFrame>
        <p:nvGraphicFramePr>
          <p:cNvPr id="209" name="Google Shape;209;p9"/>
          <p:cNvGraphicFramePr/>
          <p:nvPr/>
        </p:nvGraphicFramePr>
        <p:xfrm>
          <a:off x="838200" y="2904014"/>
          <a:ext cx="3000000" cy="3000000"/>
        </p:xfrm>
        <a:graphic>
          <a:graphicData uri="http://schemas.openxmlformats.org/drawingml/2006/table">
            <a:tbl>
              <a:tblPr>
                <a:noFill/>
                <a:tableStyleId>{4029C04B-865C-4873-8C71-F0D44D423F25}</a:tableStyleId>
              </a:tblPr>
              <a:tblGrid>
                <a:gridCol w="2628900"/>
                <a:gridCol w="2628900"/>
              </a:tblGrid>
              <a:tr h="540025">
                <a:tc>
                  <a:txBody>
                    <a:bodyPr/>
                    <a:lstStyle/>
                    <a:p>
                      <a:pPr indent="0" lvl="0" marL="0" marR="0" rtl="0" algn="l">
                        <a:lnSpc>
                          <a:spcPct val="100000"/>
                        </a:lnSpc>
                        <a:spcBef>
                          <a:spcPts val="0"/>
                        </a:spcBef>
                        <a:spcAft>
                          <a:spcPts val="0"/>
                        </a:spcAft>
                        <a:buClr>
                          <a:schemeClr val="lt1"/>
                        </a:buClr>
                        <a:buSzPts val="1800"/>
                        <a:buFont typeface="Arial"/>
                        <a:buNone/>
                      </a:pPr>
                      <a:r>
                        <a:rPr b="1" lang="en-PH" sz="1800" u="none" cap="none" strike="noStrike">
                          <a:latin typeface="Arial"/>
                          <a:ea typeface="Arial"/>
                          <a:cs typeface="Arial"/>
                          <a:sym typeface="Arial"/>
                        </a:rPr>
                        <a:t>Data Type</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Arial"/>
                        <a:buNone/>
                      </a:pPr>
                      <a:r>
                        <a:rPr b="1" lang="en-PH" sz="1800" u="none" cap="none" strike="noStrike">
                          <a:latin typeface="Arial"/>
                          <a:ea typeface="Arial"/>
                          <a:cs typeface="Arial"/>
                          <a:sym typeface="Arial"/>
                        </a:rPr>
                        <a:t>Stores</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40025">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INT</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Whole numbers</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40025">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DECIMAL</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Numbers with decimals</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40025">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VARCHAR</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Text (names, emails)</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40025">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DATE</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Calendar dates</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40025">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BOOLEAN</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Arial"/>
                        <a:buNone/>
                      </a:pPr>
                      <a:r>
                        <a:rPr lang="en-PH" sz="1800" u="none" cap="none" strike="noStrike">
                          <a:latin typeface="Arial"/>
                          <a:ea typeface="Arial"/>
                          <a:cs typeface="Arial"/>
                          <a:sym typeface="Arial"/>
                        </a:rPr>
                        <a:t>True/False</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pic>
        <p:nvPicPr>
          <p:cNvPr id="210" name="Google Shape;210;p9"/>
          <p:cNvPicPr preferRelativeResize="0"/>
          <p:nvPr/>
        </p:nvPicPr>
        <p:blipFill rotWithShape="1">
          <a:blip r:embed="rId3">
            <a:alphaModFix/>
          </a:blip>
          <a:srcRect b="0" l="0" r="0" t="0"/>
          <a:stretch/>
        </p:blipFill>
        <p:spPr>
          <a:xfrm>
            <a:off x="6307963" y="2948619"/>
            <a:ext cx="5692082" cy="31955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0"/>
          <p:cNvSpPr txBox="1"/>
          <p:nvPr>
            <p:ph type="title"/>
          </p:nvPr>
        </p:nvSpPr>
        <p:spPr>
          <a:xfrm>
            <a:off x="838200" y="365126"/>
            <a:ext cx="4086726" cy="1239086"/>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PH"/>
              <a:t>SQL CONSTRAINTS:</a:t>
            </a:r>
            <a:endParaRPr/>
          </a:p>
        </p:txBody>
      </p:sp>
      <p:sp>
        <p:nvSpPr>
          <p:cNvPr id="216" name="Google Shape;216;p10"/>
          <p:cNvSpPr txBox="1"/>
          <p:nvPr/>
        </p:nvSpPr>
        <p:spPr>
          <a:xfrm>
            <a:off x="753979" y="1459832"/>
            <a:ext cx="5342021"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PH" sz="2400" u="none" cap="none" strike="noStrike">
                <a:solidFill>
                  <a:schemeClr val="lt1"/>
                </a:solidFill>
                <a:latin typeface="Calibri"/>
                <a:ea typeface="Calibri"/>
                <a:cs typeface="Calibri"/>
                <a:sym typeface="Calibri"/>
              </a:rPr>
              <a:t>SQL </a:t>
            </a:r>
            <a:r>
              <a:rPr b="1" i="0" lang="en-PH" sz="2400" u="none" cap="none" strike="noStrike">
                <a:solidFill>
                  <a:schemeClr val="lt1"/>
                </a:solidFill>
                <a:latin typeface="Calibri"/>
                <a:ea typeface="Calibri"/>
                <a:cs typeface="Calibri"/>
                <a:sym typeface="Calibri"/>
              </a:rPr>
              <a:t>constraints</a:t>
            </a:r>
            <a:r>
              <a:rPr b="0" i="0" lang="en-PH" sz="2400" u="none" cap="none" strike="noStrike">
                <a:solidFill>
                  <a:schemeClr val="lt1"/>
                </a:solidFill>
                <a:latin typeface="Calibri"/>
                <a:ea typeface="Calibri"/>
                <a:cs typeface="Calibri"/>
                <a:sym typeface="Calibri"/>
              </a:rPr>
              <a:t> are rules you apply to table columns to control what kind of data is allowed. They help keep your database </a:t>
            </a:r>
            <a:r>
              <a:rPr b="1" i="0" lang="en-PH" sz="2400" u="none" cap="none" strike="noStrike">
                <a:solidFill>
                  <a:schemeClr val="lt1"/>
                </a:solidFill>
                <a:latin typeface="Calibri"/>
                <a:ea typeface="Calibri"/>
                <a:cs typeface="Calibri"/>
                <a:sym typeface="Calibri"/>
              </a:rPr>
              <a:t>accurate, consistent, and reliable</a:t>
            </a:r>
            <a:r>
              <a:rPr b="0" i="0" lang="en-PH" sz="2400" u="none" cap="none" strike="noStrike">
                <a:solidFill>
                  <a:schemeClr val="lt1"/>
                </a:solidFill>
                <a:latin typeface="Calibri"/>
                <a:ea typeface="Calibri"/>
                <a:cs typeface="Calibri"/>
                <a:sym typeface="Calibri"/>
              </a:rPr>
              <a:t>.</a:t>
            </a:r>
            <a:endParaRPr b="0" i="0" sz="2400" u="none" cap="none" strike="noStrike">
              <a:solidFill>
                <a:schemeClr val="lt1"/>
              </a:solidFill>
              <a:latin typeface="Calibri"/>
              <a:ea typeface="Calibri"/>
              <a:cs typeface="Calibri"/>
              <a:sym typeface="Calibri"/>
            </a:endParaRPr>
          </a:p>
        </p:txBody>
      </p:sp>
      <p:graphicFrame>
        <p:nvGraphicFramePr>
          <p:cNvPr id="217" name="Google Shape;217;p10"/>
          <p:cNvGraphicFramePr/>
          <p:nvPr/>
        </p:nvGraphicFramePr>
        <p:xfrm>
          <a:off x="5839326" y="365126"/>
          <a:ext cx="3000000" cy="3000000"/>
        </p:xfrm>
        <a:graphic>
          <a:graphicData uri="http://schemas.openxmlformats.org/drawingml/2006/table">
            <a:tbl>
              <a:tblPr>
                <a:noFill/>
                <a:tableStyleId>{4029C04B-865C-4873-8C71-F0D44D423F25}</a:tableStyleId>
              </a:tblPr>
              <a:tblGrid>
                <a:gridCol w="3176325"/>
                <a:gridCol w="3176325"/>
              </a:tblGrid>
              <a:tr h="366050">
                <a:tc>
                  <a:txBody>
                    <a:bodyPr/>
                    <a:lstStyle/>
                    <a:p>
                      <a:pPr indent="0" lvl="0" marL="0" marR="0" rtl="0" algn="l">
                        <a:lnSpc>
                          <a:spcPct val="100000"/>
                        </a:lnSpc>
                        <a:spcBef>
                          <a:spcPts val="0"/>
                        </a:spcBef>
                        <a:spcAft>
                          <a:spcPts val="0"/>
                        </a:spcAft>
                        <a:buClr>
                          <a:schemeClr val="lt1"/>
                        </a:buClr>
                        <a:buSzPts val="1800"/>
                        <a:buFont typeface="Calibri"/>
                        <a:buNone/>
                      </a:pPr>
                      <a:r>
                        <a:rPr b="1" lang="en-PH" sz="1800" u="none" cap="none" strike="noStrike"/>
                        <a:t>Constraint</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b="1" lang="en-PH" sz="1800" u="none" cap="none" strike="noStrike"/>
                        <a:t>Purpose</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6050">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PRIMARY KEY</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Unique row identifier</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6050">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FOREIGN KEY</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Links tables</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6050">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UNIQUE</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No duplicate values</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6050">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NOT NULL</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Cannot be empty</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6050">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CHECK</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Must meet a condition</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6050">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DEFAULT</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Automatic value</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AUTO_INCREMENT</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800"/>
                        <a:buFont typeface="Calibri"/>
                        <a:buNone/>
                      </a:pPr>
                      <a:r>
                        <a:rPr lang="en-PH" sz="1800" u="none" cap="none" strike="noStrike"/>
                        <a:t>Auto numbering</a:t>
                      </a:r>
                      <a:endParaRPr sz="1400" u="none" cap="none" strike="noStrike"/>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pic>
        <p:nvPicPr>
          <p:cNvPr id="218" name="Google Shape;218;p10"/>
          <p:cNvPicPr preferRelativeResize="0"/>
          <p:nvPr/>
        </p:nvPicPr>
        <p:blipFill rotWithShape="1">
          <a:blip r:embed="rId3">
            <a:alphaModFix/>
          </a:blip>
          <a:srcRect b="0" l="0" r="0" t="0"/>
          <a:stretch/>
        </p:blipFill>
        <p:spPr>
          <a:xfrm>
            <a:off x="2330115" y="3564786"/>
            <a:ext cx="6701912" cy="30445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txBox="1"/>
          <p:nvPr>
            <p:ph type="title"/>
          </p:nvPr>
        </p:nvSpPr>
        <p:spPr>
          <a:xfrm>
            <a:off x="372979" y="173874"/>
            <a:ext cx="4664242" cy="124150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PH"/>
              <a:t>DATABASE STRUCTURE</a:t>
            </a:r>
            <a:br>
              <a:rPr b="1" lang="en-PH"/>
            </a:br>
            <a:r>
              <a:rPr b="1" lang="en-PH"/>
              <a:t>     </a:t>
            </a:r>
            <a:r>
              <a:rPr lang="en-PH"/>
              <a:t>(FULL SCHEMA)</a:t>
            </a:r>
            <a:endParaRPr b="1"/>
          </a:p>
        </p:txBody>
      </p:sp>
      <p:sp>
        <p:nvSpPr>
          <p:cNvPr id="224" name="Google Shape;224;p11"/>
          <p:cNvSpPr/>
          <p:nvPr/>
        </p:nvSpPr>
        <p:spPr>
          <a:xfrm>
            <a:off x="1122947" y="2855494"/>
            <a:ext cx="2807369" cy="1748589"/>
          </a:xfrm>
          <a:prstGeom prst="roundRect">
            <a:avLst>
              <a:gd fmla="val 16667" name="adj"/>
            </a:avLst>
          </a:prstGeom>
          <a:gradFill>
            <a:gsLst>
              <a:gs pos="0">
                <a:srgbClr val="B9C7E9"/>
              </a:gs>
              <a:gs pos="100000">
                <a:srgbClr val="839DDA">
                  <a:alpha val="73333"/>
                </a:srgbClr>
              </a:gs>
            </a:gsLst>
            <a:lin ang="5400000" scaled="0"/>
          </a:grad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11"/>
          <p:cNvSpPr txBox="1"/>
          <p:nvPr/>
        </p:nvSpPr>
        <p:spPr>
          <a:xfrm>
            <a:off x="1844841" y="3007621"/>
            <a:ext cx="186088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Database</a:t>
            </a:r>
            <a:endParaRPr b="0" i="0" sz="1400" u="none" cap="none" strike="noStrike">
              <a:solidFill>
                <a:srgbClr val="000000"/>
              </a:solidFill>
              <a:latin typeface="Arial"/>
              <a:ea typeface="Arial"/>
              <a:cs typeface="Arial"/>
              <a:sym typeface="Arial"/>
            </a:endParaRPr>
          </a:p>
        </p:txBody>
      </p:sp>
      <p:sp>
        <p:nvSpPr>
          <p:cNvPr id="226" name="Google Shape;226;p11"/>
          <p:cNvSpPr txBox="1"/>
          <p:nvPr/>
        </p:nvSpPr>
        <p:spPr>
          <a:xfrm>
            <a:off x="1844840" y="3645476"/>
            <a:ext cx="186088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PH" sz="2400" u="none" cap="none" strike="noStrike">
                <a:solidFill>
                  <a:schemeClr val="lt1"/>
                </a:solidFill>
                <a:latin typeface="Calibri"/>
                <a:ea typeface="Calibri"/>
                <a:cs typeface="Calibri"/>
                <a:sym typeface="Calibri"/>
              </a:rPr>
              <a:t>db_school</a:t>
            </a:r>
            <a:endParaRPr b="0" i="0" sz="2400" u="none" cap="none" strike="noStrike">
              <a:solidFill>
                <a:schemeClr val="lt1"/>
              </a:solidFill>
              <a:latin typeface="Calibri"/>
              <a:ea typeface="Calibri"/>
              <a:cs typeface="Calibri"/>
              <a:sym typeface="Calibri"/>
            </a:endParaRPr>
          </a:p>
        </p:txBody>
      </p:sp>
      <p:cxnSp>
        <p:nvCxnSpPr>
          <p:cNvPr id="227" name="Google Shape;227;p11"/>
          <p:cNvCxnSpPr>
            <a:stCxn id="224" idx="3"/>
            <a:endCxn id="228" idx="1"/>
          </p:cNvCxnSpPr>
          <p:nvPr/>
        </p:nvCxnSpPr>
        <p:spPr>
          <a:xfrm flipH="1" rot="10800000">
            <a:off x="3930316" y="2165889"/>
            <a:ext cx="1107000" cy="1563900"/>
          </a:xfrm>
          <a:prstGeom prst="straightConnector1">
            <a:avLst/>
          </a:prstGeom>
          <a:noFill/>
          <a:ln cap="rnd" cmpd="sng" w="9525">
            <a:solidFill>
              <a:schemeClr val="accent1"/>
            </a:solidFill>
            <a:prstDash val="solid"/>
            <a:round/>
            <a:headEnd len="sm" w="sm" type="none"/>
            <a:tailEnd len="med" w="med" type="triangle"/>
          </a:ln>
        </p:spPr>
      </p:cxnSp>
      <p:sp>
        <p:nvSpPr>
          <p:cNvPr id="228" name="Google Shape;228;p11"/>
          <p:cNvSpPr/>
          <p:nvPr/>
        </p:nvSpPr>
        <p:spPr>
          <a:xfrm>
            <a:off x="5037221" y="1291571"/>
            <a:ext cx="2807369" cy="1748589"/>
          </a:xfrm>
          <a:prstGeom prst="roundRect">
            <a:avLst>
              <a:gd fmla="val 16667" name="adj"/>
            </a:avLst>
          </a:prstGeom>
          <a:gradFill>
            <a:gsLst>
              <a:gs pos="0">
                <a:srgbClr val="B9C7E9"/>
              </a:gs>
              <a:gs pos="100000">
                <a:srgbClr val="839DDA">
                  <a:alpha val="73333"/>
                </a:srgbClr>
              </a:gs>
            </a:gsLst>
            <a:lin ang="5400000" scaled="0"/>
          </a:grad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p11"/>
          <p:cNvSpPr/>
          <p:nvPr/>
        </p:nvSpPr>
        <p:spPr>
          <a:xfrm>
            <a:off x="5037221" y="3817840"/>
            <a:ext cx="2807369" cy="1748589"/>
          </a:xfrm>
          <a:prstGeom prst="roundRect">
            <a:avLst>
              <a:gd fmla="val 16667" name="adj"/>
            </a:avLst>
          </a:prstGeom>
          <a:gradFill>
            <a:gsLst>
              <a:gs pos="0">
                <a:srgbClr val="B9C7E9"/>
              </a:gs>
              <a:gs pos="100000">
                <a:srgbClr val="839DDA">
                  <a:alpha val="73333"/>
                </a:srgbClr>
              </a:gs>
            </a:gsLst>
            <a:lin ang="5400000" scaled="0"/>
          </a:grad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30" name="Google Shape;230;p11"/>
          <p:cNvCxnSpPr>
            <a:stCxn id="224" idx="3"/>
            <a:endCxn id="229" idx="1"/>
          </p:cNvCxnSpPr>
          <p:nvPr/>
        </p:nvCxnSpPr>
        <p:spPr>
          <a:xfrm>
            <a:off x="3930316" y="3729789"/>
            <a:ext cx="1107000" cy="962400"/>
          </a:xfrm>
          <a:prstGeom prst="straightConnector1">
            <a:avLst/>
          </a:prstGeom>
          <a:noFill/>
          <a:ln cap="rnd" cmpd="sng" w="9525">
            <a:solidFill>
              <a:schemeClr val="accent1"/>
            </a:solidFill>
            <a:prstDash val="solid"/>
            <a:round/>
            <a:headEnd len="sm" w="sm" type="none"/>
            <a:tailEnd len="med" w="med" type="triangle"/>
          </a:ln>
        </p:spPr>
      </p:cxnSp>
      <p:sp>
        <p:nvSpPr>
          <p:cNvPr id="231" name="Google Shape;231;p11"/>
          <p:cNvSpPr txBox="1"/>
          <p:nvPr/>
        </p:nvSpPr>
        <p:spPr>
          <a:xfrm>
            <a:off x="5999747" y="1459855"/>
            <a:ext cx="104273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Table</a:t>
            </a:r>
            <a:endParaRPr b="0" i="0" sz="1400" u="none" cap="none" strike="noStrike">
              <a:solidFill>
                <a:srgbClr val="000000"/>
              </a:solidFill>
              <a:latin typeface="Arial"/>
              <a:ea typeface="Arial"/>
              <a:cs typeface="Arial"/>
              <a:sym typeface="Arial"/>
            </a:endParaRPr>
          </a:p>
        </p:txBody>
      </p:sp>
      <p:sp>
        <p:nvSpPr>
          <p:cNvPr id="232" name="Google Shape;232;p11"/>
          <p:cNvSpPr txBox="1"/>
          <p:nvPr/>
        </p:nvSpPr>
        <p:spPr>
          <a:xfrm>
            <a:off x="5614737" y="2181726"/>
            <a:ext cx="1812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PH" sz="2400" u="none" cap="none" strike="noStrike">
                <a:solidFill>
                  <a:schemeClr val="lt1"/>
                </a:solidFill>
                <a:latin typeface="Calibri"/>
                <a:ea typeface="Calibri"/>
                <a:cs typeface="Calibri"/>
                <a:sym typeface="Calibri"/>
              </a:rPr>
              <a:t>tbl_student</a:t>
            </a:r>
            <a:endParaRPr b="0" i="0" sz="2400" u="none" cap="none" strike="noStrike">
              <a:solidFill>
                <a:schemeClr val="lt1"/>
              </a:solidFill>
              <a:latin typeface="Calibri"/>
              <a:ea typeface="Calibri"/>
              <a:cs typeface="Calibri"/>
              <a:sym typeface="Calibri"/>
            </a:endParaRPr>
          </a:p>
        </p:txBody>
      </p:sp>
      <p:sp>
        <p:nvSpPr>
          <p:cNvPr id="233" name="Google Shape;233;p11"/>
          <p:cNvSpPr txBox="1"/>
          <p:nvPr/>
        </p:nvSpPr>
        <p:spPr>
          <a:xfrm>
            <a:off x="5534526" y="4692134"/>
            <a:ext cx="21175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PH" sz="2400" u="none" cap="none" strike="noStrike">
                <a:solidFill>
                  <a:schemeClr val="lt1"/>
                </a:solidFill>
                <a:latin typeface="Calibri"/>
                <a:ea typeface="Calibri"/>
                <a:cs typeface="Calibri"/>
                <a:sym typeface="Calibri"/>
              </a:rPr>
              <a:t>tbl_Employee</a:t>
            </a:r>
            <a:endParaRPr b="0" i="0" sz="2400" u="none" cap="none" strike="noStrike">
              <a:solidFill>
                <a:schemeClr val="lt1"/>
              </a:solidFill>
              <a:latin typeface="Calibri"/>
              <a:ea typeface="Calibri"/>
              <a:cs typeface="Calibri"/>
              <a:sym typeface="Calibri"/>
            </a:endParaRPr>
          </a:p>
        </p:txBody>
      </p:sp>
      <p:sp>
        <p:nvSpPr>
          <p:cNvPr id="234" name="Google Shape;234;p11"/>
          <p:cNvSpPr txBox="1"/>
          <p:nvPr/>
        </p:nvSpPr>
        <p:spPr>
          <a:xfrm>
            <a:off x="5919536" y="3962218"/>
            <a:ext cx="104273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Table</a:t>
            </a:r>
            <a:endParaRPr b="0" i="0" sz="1400" u="none" cap="none" strike="noStrike">
              <a:solidFill>
                <a:srgbClr val="000000"/>
              </a:solidFill>
              <a:latin typeface="Arial"/>
              <a:ea typeface="Arial"/>
              <a:cs typeface="Arial"/>
              <a:sym typeface="Arial"/>
            </a:endParaRPr>
          </a:p>
        </p:txBody>
      </p:sp>
      <p:sp>
        <p:nvSpPr>
          <p:cNvPr id="235" name="Google Shape;235;p11"/>
          <p:cNvSpPr/>
          <p:nvPr/>
        </p:nvSpPr>
        <p:spPr>
          <a:xfrm>
            <a:off x="8807116" y="1291570"/>
            <a:ext cx="2807369" cy="1748589"/>
          </a:xfrm>
          <a:prstGeom prst="roundRect">
            <a:avLst>
              <a:gd fmla="val 16667" name="adj"/>
            </a:avLst>
          </a:prstGeom>
          <a:gradFill>
            <a:gsLst>
              <a:gs pos="0">
                <a:srgbClr val="B9C7E9"/>
              </a:gs>
              <a:gs pos="100000">
                <a:srgbClr val="839DDA">
                  <a:alpha val="73333"/>
                </a:srgbClr>
              </a:gs>
            </a:gsLst>
            <a:lin ang="5400000" scaled="0"/>
          </a:grad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11"/>
          <p:cNvSpPr/>
          <p:nvPr/>
        </p:nvSpPr>
        <p:spPr>
          <a:xfrm>
            <a:off x="8815137" y="3817840"/>
            <a:ext cx="2807369" cy="1748589"/>
          </a:xfrm>
          <a:prstGeom prst="roundRect">
            <a:avLst>
              <a:gd fmla="val 16667" name="adj"/>
            </a:avLst>
          </a:prstGeom>
          <a:gradFill>
            <a:gsLst>
              <a:gs pos="0">
                <a:srgbClr val="B9C7E9"/>
              </a:gs>
              <a:gs pos="100000">
                <a:srgbClr val="839DDA">
                  <a:alpha val="73333"/>
                </a:srgbClr>
              </a:gs>
            </a:gsLst>
            <a:lin ang="5400000" scaled="0"/>
          </a:grad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37" name="Google Shape;237;p11"/>
          <p:cNvCxnSpPr>
            <a:stCxn id="228" idx="3"/>
            <a:endCxn id="235" idx="1"/>
          </p:cNvCxnSpPr>
          <p:nvPr/>
        </p:nvCxnSpPr>
        <p:spPr>
          <a:xfrm>
            <a:off x="7844590" y="2165866"/>
            <a:ext cx="962400" cy="0"/>
          </a:xfrm>
          <a:prstGeom prst="straightConnector1">
            <a:avLst/>
          </a:prstGeom>
          <a:noFill/>
          <a:ln cap="rnd" cmpd="sng" w="9525">
            <a:solidFill>
              <a:schemeClr val="accent1"/>
            </a:solidFill>
            <a:prstDash val="solid"/>
            <a:round/>
            <a:headEnd len="sm" w="sm" type="none"/>
            <a:tailEnd len="sm" w="sm" type="none"/>
          </a:ln>
        </p:spPr>
      </p:cxnSp>
      <p:cxnSp>
        <p:nvCxnSpPr>
          <p:cNvPr id="238" name="Google Shape;238;p11"/>
          <p:cNvCxnSpPr/>
          <p:nvPr/>
        </p:nvCxnSpPr>
        <p:spPr>
          <a:xfrm flipH="1" rot="10800000">
            <a:off x="7860632" y="4762545"/>
            <a:ext cx="962526" cy="1"/>
          </a:xfrm>
          <a:prstGeom prst="straightConnector1">
            <a:avLst/>
          </a:prstGeom>
          <a:noFill/>
          <a:ln cap="rnd" cmpd="sng" w="9525">
            <a:solidFill>
              <a:schemeClr val="accent1"/>
            </a:solidFill>
            <a:prstDash val="solid"/>
            <a:round/>
            <a:headEnd len="sm" w="sm" type="none"/>
            <a:tailEnd len="sm" w="sm" type="none"/>
          </a:ln>
        </p:spPr>
      </p:cxnSp>
      <p:sp>
        <p:nvSpPr>
          <p:cNvPr id="239" name="Google Shape;239;p11"/>
          <p:cNvSpPr txBox="1"/>
          <p:nvPr/>
        </p:nvSpPr>
        <p:spPr>
          <a:xfrm>
            <a:off x="9769642" y="1860906"/>
            <a:ext cx="104273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DATA</a:t>
            </a:r>
            <a:endParaRPr b="0" i="0" sz="1400" u="none" cap="none" strike="noStrike">
              <a:solidFill>
                <a:srgbClr val="000000"/>
              </a:solidFill>
              <a:latin typeface="Arial"/>
              <a:ea typeface="Arial"/>
              <a:cs typeface="Arial"/>
              <a:sym typeface="Arial"/>
            </a:endParaRPr>
          </a:p>
        </p:txBody>
      </p:sp>
      <p:sp>
        <p:nvSpPr>
          <p:cNvPr id="240" name="Google Shape;240;p11"/>
          <p:cNvSpPr txBox="1"/>
          <p:nvPr/>
        </p:nvSpPr>
        <p:spPr>
          <a:xfrm>
            <a:off x="9793705" y="4461301"/>
            <a:ext cx="104273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2"/>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IMPORTANT SQL PRACTICES:</a:t>
            </a:r>
            <a:endParaRPr/>
          </a:p>
        </p:txBody>
      </p:sp>
      <p:sp>
        <p:nvSpPr>
          <p:cNvPr id="246" name="Google Shape;246;p12"/>
          <p:cNvSpPr txBox="1"/>
          <p:nvPr>
            <p:ph idx="1" type="body"/>
          </p:nvPr>
        </p:nvSpPr>
        <p:spPr>
          <a:xfrm>
            <a:off x="804334" y="1964793"/>
            <a:ext cx="5909732" cy="3416320"/>
          </a:xfrm>
          <a:prstGeom prst="rect">
            <a:avLst/>
          </a:prstGeom>
          <a:noFill/>
          <a:ln>
            <a:noFill/>
          </a:ln>
        </p:spPr>
        <p:txBody>
          <a:bodyPr anchorCtr="0" anchor="ctr" bIns="45700" lIns="91425" spcFirstLastPara="1" rIns="91425" wrap="square" tIns="45700">
            <a:spAutoFit/>
          </a:bodyPr>
          <a:lstStyle/>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Understand your data and table structure</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Use clear naming conventions</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Use primary keys and indexes</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Use aliases for readability</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Test queries on sample data first</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Comment your SQL queries</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Keep queries simple &amp; readable</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Backup data regularly</a:t>
            </a:r>
            <a:endParaRPr/>
          </a:p>
          <a:p>
            <a:pPr indent="-152400" lvl="0" marL="0" marR="0" rtl="0" algn="l">
              <a:lnSpc>
                <a:spcPct val="100000"/>
              </a:lnSpc>
              <a:spcBef>
                <a:spcPts val="0"/>
              </a:spcBef>
              <a:spcAft>
                <a:spcPts val="0"/>
              </a:spcAft>
              <a:buClr>
                <a:schemeClr val="lt1"/>
              </a:buClr>
              <a:buSzPts val="2400"/>
              <a:buFont typeface="Arial"/>
              <a:buChar char="•"/>
            </a:pPr>
            <a:r>
              <a:rPr b="0" i="0" lang="en-PH" sz="2400" u="none" cap="none" strike="noStrike">
                <a:solidFill>
                  <a:schemeClr val="lt1"/>
                </a:solidFill>
                <a:latin typeface="Arial"/>
                <a:ea typeface="Arial"/>
                <a:cs typeface="Arial"/>
                <a:sym typeface="Arial"/>
              </a:rPr>
              <a:t>Practice hands-on exercises consistently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3"/>
          <p:cNvSpPr txBox="1"/>
          <p:nvPr>
            <p:ph type="title"/>
          </p:nvPr>
        </p:nvSpPr>
        <p:spPr>
          <a:xfrm>
            <a:off x="676060" y="629083"/>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CREATING DATABASE:</a:t>
            </a:r>
            <a:endParaRPr/>
          </a:p>
        </p:txBody>
      </p:sp>
      <p:sp>
        <p:nvSpPr>
          <p:cNvPr id="252" name="Google Shape;252;p13"/>
          <p:cNvSpPr txBox="1"/>
          <p:nvPr/>
        </p:nvSpPr>
        <p:spPr>
          <a:xfrm>
            <a:off x="1122946" y="1690688"/>
            <a:ext cx="707456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PH" sz="2800" u="none" cap="none" strike="noStrike">
                <a:solidFill>
                  <a:schemeClr val="lt1"/>
                </a:solidFill>
                <a:latin typeface="Calibri"/>
                <a:ea typeface="Calibri"/>
                <a:cs typeface="Calibri"/>
                <a:sym typeface="Calibri"/>
              </a:rPr>
              <a:t>Syntax: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PH" sz="2800" u="none" cap="none" strike="noStrike">
                <a:solidFill>
                  <a:schemeClr val="lt1"/>
                </a:solidFill>
                <a:latin typeface="Calibri"/>
                <a:ea typeface="Calibri"/>
                <a:cs typeface="Calibri"/>
                <a:sym typeface="Calibri"/>
              </a:rPr>
              <a:t>CREATE DATABASE </a:t>
            </a:r>
            <a:r>
              <a:rPr b="0" i="0" lang="en-PH" sz="2800" u="none" cap="none" strike="noStrike">
                <a:solidFill>
                  <a:schemeClr val="lt1"/>
                </a:solidFill>
                <a:latin typeface="Calibri"/>
                <a:ea typeface="Calibri"/>
                <a:cs typeface="Calibri"/>
                <a:sym typeface="Calibri"/>
              </a:rPr>
              <a:t>database_name;</a:t>
            </a:r>
            <a:endParaRPr b="0" i="0" sz="1400" u="none" cap="none" strike="noStrike">
              <a:solidFill>
                <a:srgbClr val="000000"/>
              </a:solidFill>
              <a:latin typeface="Arial"/>
              <a:ea typeface="Arial"/>
              <a:cs typeface="Arial"/>
              <a:sym typeface="Arial"/>
            </a:endParaRPr>
          </a:p>
        </p:txBody>
      </p:sp>
      <p:sp>
        <p:nvSpPr>
          <p:cNvPr id="253" name="Google Shape;253;p13"/>
          <p:cNvSpPr txBox="1"/>
          <p:nvPr/>
        </p:nvSpPr>
        <p:spPr>
          <a:xfrm>
            <a:off x="838200" y="3016251"/>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400"/>
              <a:buFont typeface="Calibri"/>
              <a:buNone/>
            </a:pPr>
            <a:r>
              <a:rPr b="0" i="0" lang="en-PH" sz="4400" u="none" cap="none" strike="noStrike">
                <a:solidFill>
                  <a:schemeClr val="lt1"/>
                </a:solidFill>
                <a:latin typeface="Calibri"/>
                <a:ea typeface="Calibri"/>
                <a:cs typeface="Calibri"/>
                <a:sym typeface="Calibri"/>
              </a:rPr>
              <a:t>Creating Tables:</a:t>
            </a:r>
            <a:endParaRPr b="0" i="0" sz="1400" u="none" cap="none" strike="noStrike">
              <a:solidFill>
                <a:srgbClr val="000000"/>
              </a:solidFill>
              <a:latin typeface="Arial"/>
              <a:ea typeface="Arial"/>
              <a:cs typeface="Arial"/>
              <a:sym typeface="Arial"/>
            </a:endParaRPr>
          </a:p>
        </p:txBody>
      </p:sp>
      <p:sp>
        <p:nvSpPr>
          <p:cNvPr id="254" name="Google Shape;254;p13"/>
          <p:cNvSpPr txBox="1"/>
          <p:nvPr/>
        </p:nvSpPr>
        <p:spPr>
          <a:xfrm>
            <a:off x="1283813" y="4297895"/>
            <a:ext cx="197318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PH" sz="2800" u="none" cap="none" strike="noStrike">
                <a:solidFill>
                  <a:schemeClr val="lt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sp>
        <p:nvSpPr>
          <p:cNvPr id="255" name="Google Shape;255;p13"/>
          <p:cNvSpPr txBox="1"/>
          <p:nvPr/>
        </p:nvSpPr>
        <p:spPr>
          <a:xfrm>
            <a:off x="2759242" y="4341814"/>
            <a:ext cx="5662864"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CREATE TABLE </a:t>
            </a:r>
            <a:r>
              <a:rPr b="0" i="1" lang="en-PH" sz="2400" u="none" cap="none" strike="noStrike">
                <a:solidFill>
                  <a:schemeClr val="lt1"/>
                </a:solidFill>
                <a:latin typeface="Calibri"/>
                <a:ea typeface="Calibri"/>
                <a:cs typeface="Calibri"/>
                <a:sym typeface="Calibri"/>
              </a:rPr>
              <a:t>table_name </a:t>
            </a:r>
            <a:r>
              <a:rPr b="0" i="0" lang="en-PH" sz="2400" u="none" cap="none" strike="noStrike">
                <a:solidFill>
                  <a:schemeClr val="lt1"/>
                </a:solidFill>
                <a:latin typeface="Calibri"/>
                <a:ea typeface="Calibri"/>
                <a:cs typeface="Calibri"/>
                <a:sym typeface="Calibri"/>
              </a:rPr>
              <a:t>(</a:t>
            </a:r>
            <a:br>
              <a:rPr b="0" i="0" lang="en-PH" sz="2400" u="none" cap="none" strike="noStrike">
                <a:solidFill>
                  <a:schemeClr val="lt1"/>
                </a:solidFill>
                <a:latin typeface="Calibri"/>
                <a:ea typeface="Calibri"/>
                <a:cs typeface="Calibri"/>
                <a:sym typeface="Calibri"/>
              </a:rPr>
            </a:br>
            <a:r>
              <a:rPr b="0" i="1" lang="en-PH" sz="2400" u="none" cap="none" strike="noStrike">
                <a:solidFill>
                  <a:schemeClr val="lt1"/>
                </a:solidFill>
                <a:latin typeface="Calibri"/>
                <a:ea typeface="Calibri"/>
                <a:cs typeface="Calibri"/>
                <a:sym typeface="Calibri"/>
              </a:rPr>
              <a:t>    column1 datatype</a:t>
            </a:r>
            <a:r>
              <a:rPr b="0" i="0" lang="en-PH" sz="2400" u="none" cap="none" strike="noStrike">
                <a:solidFill>
                  <a:schemeClr val="lt1"/>
                </a:solidFill>
                <a:latin typeface="Calibri"/>
                <a:ea typeface="Calibri"/>
                <a:cs typeface="Calibri"/>
                <a:sym typeface="Calibri"/>
              </a:rPr>
              <a:t>,</a:t>
            </a:r>
            <a:br>
              <a:rPr b="0" i="0" lang="en-PH" sz="2400" u="none" cap="none" strike="noStrike">
                <a:solidFill>
                  <a:schemeClr val="lt1"/>
                </a:solidFill>
                <a:latin typeface="Calibri"/>
                <a:ea typeface="Calibri"/>
                <a:cs typeface="Calibri"/>
                <a:sym typeface="Calibri"/>
              </a:rPr>
            </a:br>
            <a:r>
              <a:rPr b="0" i="1" lang="en-PH" sz="2400" u="none" cap="none" strike="noStrike">
                <a:solidFill>
                  <a:schemeClr val="lt1"/>
                </a:solidFill>
                <a:latin typeface="Calibri"/>
                <a:ea typeface="Calibri"/>
                <a:cs typeface="Calibri"/>
                <a:sym typeface="Calibri"/>
              </a:rPr>
              <a:t>    column2 datatype</a:t>
            </a:r>
            <a:r>
              <a:rPr b="0" i="0" lang="en-PH" sz="2400" u="none" cap="none" strike="noStrike">
                <a:solidFill>
                  <a:schemeClr val="lt1"/>
                </a:solidFill>
                <a:latin typeface="Calibri"/>
                <a:ea typeface="Calibri"/>
                <a:cs typeface="Calibri"/>
                <a:sym typeface="Calibri"/>
              </a:rPr>
              <a:t>,</a:t>
            </a:r>
            <a:br>
              <a:rPr b="0" i="0" lang="en-PH" sz="2400" u="none" cap="none" strike="noStrike">
                <a:solidFill>
                  <a:schemeClr val="lt1"/>
                </a:solidFill>
                <a:latin typeface="Calibri"/>
                <a:ea typeface="Calibri"/>
                <a:cs typeface="Calibri"/>
                <a:sym typeface="Calibri"/>
              </a:rPr>
            </a:br>
            <a:r>
              <a:rPr b="0" i="1" lang="en-PH" sz="2400" u="none" cap="none" strike="noStrike">
                <a:solidFill>
                  <a:schemeClr val="lt1"/>
                </a:solidFill>
                <a:latin typeface="Calibri"/>
                <a:ea typeface="Calibri"/>
                <a:cs typeface="Calibri"/>
                <a:sym typeface="Calibri"/>
              </a:rPr>
              <a:t>    column3 datatype</a:t>
            </a:r>
            <a:r>
              <a:rPr b="0" i="0" lang="en-PH" sz="2400" u="none" cap="none" strike="noStrike">
                <a:solidFill>
                  <a:schemeClr val="lt1"/>
                </a:solidFill>
                <a:latin typeface="Calibri"/>
                <a:ea typeface="Calibri"/>
                <a:cs typeface="Calibri"/>
                <a:sym typeface="Calibri"/>
              </a:rPr>
              <a:t>,</a:t>
            </a:r>
            <a:br>
              <a:rPr b="0" i="0" lang="en-PH" sz="2400" u="none" cap="none" strike="noStrike">
                <a:solidFill>
                  <a:schemeClr val="lt1"/>
                </a:solidFill>
                <a:latin typeface="Calibri"/>
                <a:ea typeface="Calibri"/>
                <a:cs typeface="Calibri"/>
                <a:sym typeface="Calibri"/>
              </a:rPr>
            </a:br>
            <a:r>
              <a:rPr b="0" i="0" lang="en-PH" sz="2400" u="none" cap="none" strike="noStrike">
                <a:solidFill>
                  <a:schemeClr val="lt1"/>
                </a:solidFill>
                <a:latin typeface="Calibri"/>
                <a:ea typeface="Calibri"/>
                <a:cs typeface="Calibri"/>
                <a:sym typeface="Calibri"/>
              </a:rPr>
              <a:t>   ....</a:t>
            </a:r>
            <a:br>
              <a:rPr b="0" i="0" lang="en-PH" sz="2400" u="none" cap="none" strike="noStrike">
                <a:solidFill>
                  <a:schemeClr val="lt1"/>
                </a:solidFill>
                <a:latin typeface="Calibri"/>
                <a:ea typeface="Calibri"/>
                <a:cs typeface="Calibri"/>
                <a:sym typeface="Calibri"/>
              </a:rPr>
            </a:br>
            <a:r>
              <a:rPr b="0" i="0" lang="en-PH" sz="2400" u="none" cap="none" strike="noStrike">
                <a:solidFill>
                  <a:schemeClr val="lt1"/>
                </a:solidFill>
                <a:latin typeface="Calibri"/>
                <a:ea typeface="Calibri"/>
                <a:cs typeface="Calibri"/>
                <a:sym typeface="Calibri"/>
              </a:rPr>
              <a:t>);</a:t>
            </a:r>
            <a:endParaRPr b="0" i="0" sz="2400" u="none" cap="none" strike="noStrike">
              <a:solidFill>
                <a:schemeClr val="lt1"/>
              </a:solidFill>
              <a:latin typeface="Calibri"/>
              <a:ea typeface="Calibri"/>
              <a:cs typeface="Calibri"/>
              <a:sym typeface="Calibri"/>
            </a:endParaRPr>
          </a:p>
        </p:txBody>
      </p:sp>
      <p:pic>
        <p:nvPicPr>
          <p:cNvPr id="256" name="Google Shape;256;p13"/>
          <p:cNvPicPr preferRelativeResize="0"/>
          <p:nvPr/>
        </p:nvPicPr>
        <p:blipFill rotWithShape="1">
          <a:blip r:embed="rId3">
            <a:alphaModFix/>
          </a:blip>
          <a:srcRect b="0" l="0" r="0" t="0"/>
          <a:stretch/>
        </p:blipFill>
        <p:spPr>
          <a:xfrm>
            <a:off x="6985001" y="3987800"/>
            <a:ext cx="5074536" cy="2728520"/>
          </a:xfrm>
          <a:prstGeom prst="rect">
            <a:avLst/>
          </a:prstGeom>
          <a:noFill/>
          <a:ln>
            <a:noFill/>
          </a:ln>
        </p:spPr>
      </p:pic>
      <p:sp>
        <p:nvSpPr>
          <p:cNvPr id="257" name="Google Shape;257;p13"/>
          <p:cNvSpPr txBox="1"/>
          <p:nvPr/>
        </p:nvSpPr>
        <p:spPr>
          <a:xfrm>
            <a:off x="6883400" y="3429000"/>
            <a:ext cx="22098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Sample</a:t>
            </a:r>
            <a:r>
              <a:rPr b="0" i="0" lang="en-PH" sz="24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4"/>
          <p:cNvSpPr txBox="1"/>
          <p:nvPr>
            <p:ph type="title"/>
          </p:nvPr>
        </p:nvSpPr>
        <p:spPr>
          <a:xfrm>
            <a:off x="508780" y="345403"/>
            <a:ext cx="6300537" cy="132556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b="1" lang="en-PH"/>
              <a:t>ACTIVITY: CREATE A TABLE</a:t>
            </a:r>
            <a:endParaRPr/>
          </a:p>
        </p:txBody>
      </p:sp>
      <p:sp>
        <p:nvSpPr>
          <p:cNvPr id="263" name="Google Shape;263;p14"/>
          <p:cNvSpPr txBox="1"/>
          <p:nvPr/>
        </p:nvSpPr>
        <p:spPr>
          <a:xfrm>
            <a:off x="508780" y="2213380"/>
            <a:ext cx="7381821" cy="2092881"/>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Calibri"/>
                <a:ea typeface="Calibri"/>
                <a:cs typeface="Calibri"/>
                <a:sym typeface="Calibri"/>
              </a:rPr>
              <a:t>Column that is an integer and is a primary key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Calibri"/>
                <a:ea typeface="Calibri"/>
                <a:cs typeface="Calibri"/>
                <a:sym typeface="Calibri"/>
              </a:rPr>
              <a:t>Column that is varchar and not null,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Calibri"/>
                <a:ea typeface="Calibri"/>
                <a:cs typeface="Calibri"/>
                <a:sym typeface="Calibri"/>
              </a:rPr>
              <a:t>Column that is an integer,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2800"/>
              <a:buFont typeface="Arial"/>
              <a:buChar char="•"/>
            </a:pPr>
            <a:r>
              <a:rPr b="0" i="0" lang="en-PH" sz="2800" u="none" cap="none" strike="noStrike">
                <a:solidFill>
                  <a:schemeClr val="lt1"/>
                </a:solidFill>
                <a:latin typeface="Calibri"/>
                <a:ea typeface="Calibri"/>
                <a:cs typeface="Calibri"/>
                <a:sym typeface="Calibri"/>
              </a:rPr>
              <a:t>Column that is a varchar</a:t>
            </a:r>
            <a:endParaRPr b="0" i="0" sz="2800" u="none" cap="none" strike="noStrike">
              <a:solidFill>
                <a:schemeClr val="lt1"/>
              </a:solidFill>
              <a:latin typeface="Calibri"/>
              <a:ea typeface="Calibri"/>
              <a:cs typeface="Calibri"/>
              <a:sym typeface="Calibri"/>
            </a:endParaRPr>
          </a:p>
        </p:txBody>
      </p:sp>
      <p:sp>
        <p:nvSpPr>
          <p:cNvPr id="264" name="Google Shape;264;p14"/>
          <p:cNvSpPr txBox="1"/>
          <p:nvPr/>
        </p:nvSpPr>
        <p:spPr>
          <a:xfrm>
            <a:off x="508780" y="1187115"/>
            <a:ext cx="1084502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1" i="0" lang="en-PH" sz="3200" u="none" cap="none" strike="noStrike">
                <a:solidFill>
                  <a:schemeClr val="lt1"/>
                </a:solidFill>
                <a:latin typeface="Calibri"/>
                <a:ea typeface="Calibri"/>
                <a:cs typeface="Calibri"/>
                <a:sym typeface="Calibri"/>
              </a:rPr>
              <a:t>Create student table and it should have the following columns: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lt1"/>
              </a:solidFill>
              <a:latin typeface="Calibri"/>
              <a:ea typeface="Calibri"/>
              <a:cs typeface="Calibri"/>
              <a:sym typeface="Calibri"/>
            </a:endParaRPr>
          </a:p>
        </p:txBody>
      </p:sp>
      <p:sp>
        <p:nvSpPr>
          <p:cNvPr id="265" name="Google Shape;265;p14"/>
          <p:cNvSpPr txBox="1"/>
          <p:nvPr/>
        </p:nvSpPr>
        <p:spPr>
          <a:xfrm>
            <a:off x="584200" y="4479343"/>
            <a:ext cx="234526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PH" sz="1800" u="none" cap="none" strike="noStrike">
                <a:solidFill>
                  <a:schemeClr val="lt1"/>
                </a:solidFill>
                <a:latin typeface="Calibri"/>
                <a:ea typeface="Calibri"/>
                <a:cs typeface="Calibri"/>
                <a:sym typeface="Calibri"/>
              </a:rPr>
              <a:t>With the details below</a:t>
            </a:r>
            <a:endParaRPr b="0" i="0" sz="1400" u="none" cap="none" strike="noStrike">
              <a:solidFill>
                <a:srgbClr val="000000"/>
              </a:solidFill>
              <a:latin typeface="Arial"/>
              <a:ea typeface="Arial"/>
              <a:cs typeface="Arial"/>
              <a:sym typeface="Arial"/>
            </a:endParaRPr>
          </a:p>
        </p:txBody>
      </p:sp>
      <p:sp>
        <p:nvSpPr>
          <p:cNvPr id="266" name="Google Shape;266;p14"/>
          <p:cNvSpPr txBox="1"/>
          <p:nvPr/>
        </p:nvSpPr>
        <p:spPr>
          <a:xfrm>
            <a:off x="584200" y="4848675"/>
            <a:ext cx="4123267"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Student number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Student First name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Student Last name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Age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Contact Number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Address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5"/>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INSERTING DATA:</a:t>
            </a:r>
            <a:endParaRPr/>
          </a:p>
        </p:txBody>
      </p:sp>
      <p:sp>
        <p:nvSpPr>
          <p:cNvPr id="272" name="Google Shape;272;p15"/>
          <p:cNvSpPr txBox="1"/>
          <p:nvPr/>
        </p:nvSpPr>
        <p:spPr>
          <a:xfrm>
            <a:off x="685801" y="1821191"/>
            <a:ext cx="20489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PH" sz="2800" u="none" cap="none" strike="noStrike">
                <a:solidFill>
                  <a:schemeClr val="lt1"/>
                </a:solidFill>
                <a:latin typeface="Calibri"/>
                <a:ea typeface="Calibri"/>
                <a:cs typeface="Calibri"/>
                <a:sym typeface="Calibri"/>
              </a:rPr>
              <a:t>Syntax</a:t>
            </a:r>
            <a:r>
              <a:rPr b="0" i="0" lang="en-PH" sz="18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73" name="Google Shape;273;p15"/>
          <p:cNvSpPr txBox="1"/>
          <p:nvPr/>
        </p:nvSpPr>
        <p:spPr>
          <a:xfrm>
            <a:off x="753533" y="2658533"/>
            <a:ext cx="76454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INSERT INTO </a:t>
            </a:r>
            <a:r>
              <a:rPr b="0" i="1" lang="en-PH" sz="2400" u="none" cap="none" strike="noStrike">
                <a:solidFill>
                  <a:schemeClr val="lt1"/>
                </a:solidFill>
                <a:latin typeface="Calibri"/>
                <a:ea typeface="Calibri"/>
                <a:cs typeface="Calibri"/>
                <a:sym typeface="Calibri"/>
              </a:rPr>
              <a:t>table_name</a:t>
            </a:r>
            <a:r>
              <a:rPr b="0" i="0" lang="en-PH" sz="2400" u="none" cap="none" strike="noStrike">
                <a:solidFill>
                  <a:schemeClr val="lt1"/>
                </a:solidFill>
                <a:latin typeface="Calibri"/>
                <a:ea typeface="Calibri"/>
                <a:cs typeface="Calibri"/>
                <a:sym typeface="Calibri"/>
              </a:rPr>
              <a:t> (</a:t>
            </a:r>
            <a:r>
              <a:rPr b="0" i="1" lang="en-PH" sz="2400" u="none" cap="none" strike="noStrike">
                <a:solidFill>
                  <a:schemeClr val="lt1"/>
                </a:solidFill>
                <a:latin typeface="Calibri"/>
                <a:ea typeface="Calibri"/>
                <a:cs typeface="Calibri"/>
                <a:sym typeface="Calibri"/>
              </a:rPr>
              <a:t>column1</a:t>
            </a:r>
            <a:r>
              <a:rPr b="0" i="0" lang="en-PH" sz="2400" u="none" cap="none" strike="noStrike">
                <a:solidFill>
                  <a:schemeClr val="lt1"/>
                </a:solidFill>
                <a:latin typeface="Calibri"/>
                <a:ea typeface="Calibri"/>
                <a:cs typeface="Calibri"/>
                <a:sym typeface="Calibri"/>
              </a:rPr>
              <a:t>,</a:t>
            </a:r>
            <a:r>
              <a:rPr b="0" i="1" lang="en-PH" sz="2400" u="none" cap="none" strike="noStrike">
                <a:solidFill>
                  <a:schemeClr val="lt1"/>
                </a:solidFill>
                <a:latin typeface="Calibri"/>
                <a:ea typeface="Calibri"/>
                <a:cs typeface="Calibri"/>
                <a:sym typeface="Calibri"/>
              </a:rPr>
              <a:t> column2</a:t>
            </a:r>
            <a:r>
              <a:rPr b="0" i="0" lang="en-PH" sz="2400" u="none" cap="none" strike="noStrike">
                <a:solidFill>
                  <a:schemeClr val="lt1"/>
                </a:solidFill>
                <a:latin typeface="Calibri"/>
                <a:ea typeface="Calibri"/>
                <a:cs typeface="Calibri"/>
                <a:sym typeface="Calibri"/>
              </a:rPr>
              <a:t>,</a:t>
            </a:r>
            <a:r>
              <a:rPr b="0" i="1" lang="en-PH" sz="2400" u="none" cap="none" strike="noStrike">
                <a:solidFill>
                  <a:schemeClr val="lt1"/>
                </a:solidFill>
                <a:latin typeface="Calibri"/>
                <a:ea typeface="Calibri"/>
                <a:cs typeface="Calibri"/>
                <a:sym typeface="Calibri"/>
              </a:rPr>
              <a:t> column3</a:t>
            </a:r>
            <a:r>
              <a:rPr b="0" i="0" lang="en-PH" sz="2400" u="none" cap="none" strike="noStrike">
                <a:solidFill>
                  <a:schemeClr val="lt1"/>
                </a:solidFill>
                <a:latin typeface="Calibri"/>
                <a:ea typeface="Calibri"/>
                <a:cs typeface="Calibri"/>
                <a:sym typeface="Calibri"/>
              </a:rPr>
              <a:t>, ...)</a:t>
            </a:r>
            <a:br>
              <a:rPr b="0" i="0" lang="en-PH" sz="2400" u="none" cap="none" strike="noStrike">
                <a:solidFill>
                  <a:schemeClr val="lt1"/>
                </a:solidFill>
                <a:latin typeface="Calibri"/>
                <a:ea typeface="Calibri"/>
                <a:cs typeface="Calibri"/>
                <a:sym typeface="Calibri"/>
              </a:rPr>
            </a:br>
            <a:r>
              <a:rPr b="1" i="0" lang="en-PH" sz="2400" u="none" cap="none" strike="noStrike">
                <a:solidFill>
                  <a:schemeClr val="lt1"/>
                </a:solidFill>
                <a:latin typeface="Calibri"/>
                <a:ea typeface="Calibri"/>
                <a:cs typeface="Calibri"/>
                <a:sym typeface="Calibri"/>
              </a:rPr>
              <a:t>VALUES</a:t>
            </a:r>
            <a:r>
              <a:rPr b="0" i="0" lang="en-PH" sz="2400" u="none" cap="none" strike="noStrike">
                <a:solidFill>
                  <a:schemeClr val="lt1"/>
                </a:solidFill>
                <a:latin typeface="Calibri"/>
                <a:ea typeface="Calibri"/>
                <a:cs typeface="Calibri"/>
                <a:sym typeface="Calibri"/>
              </a:rPr>
              <a:t> (</a:t>
            </a:r>
            <a:r>
              <a:rPr b="0" i="1" lang="en-PH" sz="2400" u="none" cap="none" strike="noStrike">
                <a:solidFill>
                  <a:schemeClr val="lt1"/>
                </a:solidFill>
                <a:latin typeface="Calibri"/>
                <a:ea typeface="Calibri"/>
                <a:cs typeface="Calibri"/>
                <a:sym typeface="Calibri"/>
              </a:rPr>
              <a:t>value1</a:t>
            </a:r>
            <a:r>
              <a:rPr b="0" i="0" lang="en-PH" sz="2400" u="none" cap="none" strike="noStrike">
                <a:solidFill>
                  <a:schemeClr val="lt1"/>
                </a:solidFill>
                <a:latin typeface="Calibri"/>
                <a:ea typeface="Calibri"/>
                <a:cs typeface="Calibri"/>
                <a:sym typeface="Calibri"/>
              </a:rPr>
              <a:t>,</a:t>
            </a:r>
            <a:r>
              <a:rPr b="0" i="1" lang="en-PH" sz="2400" u="none" cap="none" strike="noStrike">
                <a:solidFill>
                  <a:schemeClr val="lt1"/>
                </a:solidFill>
                <a:latin typeface="Calibri"/>
                <a:ea typeface="Calibri"/>
                <a:cs typeface="Calibri"/>
                <a:sym typeface="Calibri"/>
              </a:rPr>
              <a:t> value2</a:t>
            </a:r>
            <a:r>
              <a:rPr b="0" i="0" lang="en-PH" sz="2400" u="none" cap="none" strike="noStrike">
                <a:solidFill>
                  <a:schemeClr val="lt1"/>
                </a:solidFill>
                <a:latin typeface="Calibri"/>
                <a:ea typeface="Calibri"/>
                <a:cs typeface="Calibri"/>
                <a:sym typeface="Calibri"/>
              </a:rPr>
              <a:t>,</a:t>
            </a:r>
            <a:r>
              <a:rPr b="0" i="1" lang="en-PH" sz="2400" u="none" cap="none" strike="noStrike">
                <a:solidFill>
                  <a:schemeClr val="lt1"/>
                </a:solidFill>
                <a:latin typeface="Calibri"/>
                <a:ea typeface="Calibri"/>
                <a:cs typeface="Calibri"/>
                <a:sym typeface="Calibri"/>
              </a:rPr>
              <a:t> value3</a:t>
            </a:r>
            <a:r>
              <a:rPr b="0" i="0" lang="en-PH" sz="2400" u="none" cap="none" strike="noStrike">
                <a:solidFill>
                  <a:schemeClr val="lt1"/>
                </a:solidFill>
                <a:latin typeface="Calibri"/>
                <a:ea typeface="Calibri"/>
                <a:cs typeface="Calibri"/>
                <a:sym typeface="Calibri"/>
              </a:rPr>
              <a:t>, ...);</a:t>
            </a:r>
            <a:endParaRPr b="0" i="0" sz="2400" u="none" cap="none" strike="noStrike">
              <a:solidFill>
                <a:schemeClr val="lt1"/>
              </a:solidFill>
              <a:latin typeface="Calibri"/>
              <a:ea typeface="Calibri"/>
              <a:cs typeface="Calibri"/>
              <a:sym typeface="Calibri"/>
            </a:endParaRPr>
          </a:p>
        </p:txBody>
      </p:sp>
      <p:sp>
        <p:nvSpPr>
          <p:cNvPr id="274" name="Google Shape;274;p15"/>
          <p:cNvSpPr txBox="1"/>
          <p:nvPr/>
        </p:nvSpPr>
        <p:spPr>
          <a:xfrm>
            <a:off x="685801" y="3803652"/>
            <a:ext cx="20489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PH" sz="2800" u="none" cap="none" strike="noStrike">
                <a:solidFill>
                  <a:schemeClr val="lt1"/>
                </a:solidFill>
                <a:latin typeface="Calibri"/>
                <a:ea typeface="Calibri"/>
                <a:cs typeface="Calibri"/>
                <a:sym typeface="Calibri"/>
              </a:rPr>
              <a:t>Sample:</a:t>
            </a:r>
            <a:endParaRPr b="0" i="0" sz="1800" u="none" cap="none" strike="noStrike">
              <a:solidFill>
                <a:schemeClr val="lt1"/>
              </a:solidFill>
              <a:latin typeface="Calibri"/>
              <a:ea typeface="Calibri"/>
              <a:cs typeface="Calibri"/>
              <a:sym typeface="Calibri"/>
            </a:endParaRPr>
          </a:p>
        </p:txBody>
      </p:sp>
      <p:sp>
        <p:nvSpPr>
          <p:cNvPr id="275" name="Google Shape;275;p15"/>
          <p:cNvSpPr txBox="1"/>
          <p:nvPr/>
        </p:nvSpPr>
        <p:spPr>
          <a:xfrm>
            <a:off x="821267" y="4521200"/>
            <a:ext cx="6908800" cy="119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6" name="Google Shape;276;p15"/>
          <p:cNvPicPr preferRelativeResize="0"/>
          <p:nvPr/>
        </p:nvPicPr>
        <p:blipFill rotWithShape="1">
          <a:blip r:embed="rId3">
            <a:alphaModFix/>
          </a:blip>
          <a:srcRect b="0" l="0" r="0" t="0"/>
          <a:stretch/>
        </p:blipFill>
        <p:spPr>
          <a:xfrm>
            <a:off x="753533" y="4493092"/>
            <a:ext cx="7821117" cy="7240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6"/>
          <p:cNvSpPr txBox="1"/>
          <p:nvPr>
            <p:ph type="title"/>
          </p:nvPr>
        </p:nvSpPr>
        <p:spPr>
          <a:xfrm>
            <a:off x="685802" y="609600"/>
            <a:ext cx="4207932" cy="128693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SELECTING DATA:</a:t>
            </a:r>
            <a:endParaRPr/>
          </a:p>
        </p:txBody>
      </p:sp>
      <p:sp>
        <p:nvSpPr>
          <p:cNvPr id="282" name="Google Shape;282;p16"/>
          <p:cNvSpPr txBox="1"/>
          <p:nvPr/>
        </p:nvSpPr>
        <p:spPr>
          <a:xfrm>
            <a:off x="685802" y="1753458"/>
            <a:ext cx="20489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PH" sz="2800" u="none" cap="none" strike="noStrike">
                <a:solidFill>
                  <a:schemeClr val="lt1"/>
                </a:solidFill>
                <a:latin typeface="Calibri"/>
                <a:ea typeface="Calibri"/>
                <a:cs typeface="Calibri"/>
                <a:sym typeface="Calibri"/>
              </a:rPr>
              <a:t>Syntax</a:t>
            </a:r>
            <a:r>
              <a:rPr b="0" i="0" lang="en-PH" sz="18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83" name="Google Shape;283;p16"/>
          <p:cNvSpPr txBox="1"/>
          <p:nvPr/>
        </p:nvSpPr>
        <p:spPr>
          <a:xfrm>
            <a:off x="685802" y="2802206"/>
            <a:ext cx="49784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SELECT</a:t>
            </a:r>
            <a:r>
              <a:rPr b="0" i="0" lang="en-PH" sz="2400" u="none" cap="none" strike="noStrike">
                <a:solidFill>
                  <a:schemeClr val="lt1"/>
                </a:solidFill>
                <a:latin typeface="Calibri"/>
                <a:ea typeface="Calibri"/>
                <a:cs typeface="Calibri"/>
                <a:sym typeface="Calibri"/>
              </a:rPr>
              <a:t> </a:t>
            </a:r>
            <a:r>
              <a:rPr b="0" i="1" lang="en-PH" sz="2400" u="none" cap="none" strike="noStrike">
                <a:solidFill>
                  <a:schemeClr val="lt1"/>
                </a:solidFill>
                <a:latin typeface="Calibri"/>
                <a:ea typeface="Calibri"/>
                <a:cs typeface="Calibri"/>
                <a:sym typeface="Calibri"/>
              </a:rPr>
              <a:t>column1</a:t>
            </a:r>
            <a:r>
              <a:rPr b="0" i="0" lang="en-PH" sz="2400" u="none" cap="none" strike="noStrike">
                <a:solidFill>
                  <a:schemeClr val="lt1"/>
                </a:solidFill>
                <a:latin typeface="Calibri"/>
                <a:ea typeface="Calibri"/>
                <a:cs typeface="Calibri"/>
                <a:sym typeface="Calibri"/>
              </a:rPr>
              <a:t>,</a:t>
            </a:r>
            <a:r>
              <a:rPr b="0" i="1" lang="en-PH" sz="2400" u="none" cap="none" strike="noStrike">
                <a:solidFill>
                  <a:schemeClr val="lt1"/>
                </a:solidFill>
                <a:latin typeface="Calibri"/>
                <a:ea typeface="Calibri"/>
                <a:cs typeface="Calibri"/>
                <a:sym typeface="Calibri"/>
              </a:rPr>
              <a:t> column2, ...</a:t>
            </a:r>
            <a:br>
              <a:rPr b="0" i="0" lang="en-PH" sz="2400" u="none" cap="none" strike="noStrike">
                <a:solidFill>
                  <a:schemeClr val="lt1"/>
                </a:solidFill>
                <a:latin typeface="Calibri"/>
                <a:ea typeface="Calibri"/>
                <a:cs typeface="Calibri"/>
                <a:sym typeface="Calibri"/>
              </a:rPr>
            </a:br>
            <a:r>
              <a:rPr b="1" i="0" lang="en-PH" sz="2400" u="none" cap="none" strike="noStrike">
                <a:solidFill>
                  <a:schemeClr val="lt1"/>
                </a:solidFill>
                <a:latin typeface="Calibri"/>
                <a:ea typeface="Calibri"/>
                <a:cs typeface="Calibri"/>
                <a:sym typeface="Calibri"/>
              </a:rPr>
              <a:t>FROM</a:t>
            </a:r>
            <a:r>
              <a:rPr b="0" i="0" lang="en-PH" sz="2400" u="none" cap="none" strike="noStrike">
                <a:solidFill>
                  <a:schemeClr val="lt1"/>
                </a:solidFill>
                <a:latin typeface="Calibri"/>
                <a:ea typeface="Calibri"/>
                <a:cs typeface="Calibri"/>
                <a:sym typeface="Calibri"/>
              </a:rPr>
              <a:t> </a:t>
            </a:r>
            <a:r>
              <a:rPr b="0" i="1" lang="en-PH" sz="2400" u="none" cap="none" strike="noStrike">
                <a:solidFill>
                  <a:schemeClr val="lt1"/>
                </a:solidFill>
                <a:latin typeface="Calibri"/>
                <a:ea typeface="Calibri"/>
                <a:cs typeface="Calibri"/>
                <a:sym typeface="Calibri"/>
              </a:rPr>
              <a:t>table_name</a:t>
            </a:r>
            <a:r>
              <a:rPr b="0" i="0" lang="en-PH" sz="2400" u="none" cap="none" strike="noStrike">
                <a:solidFill>
                  <a:schemeClr val="lt1"/>
                </a:solidFill>
                <a:latin typeface="Calibri"/>
                <a:ea typeface="Calibri"/>
                <a:cs typeface="Calibri"/>
                <a:sym typeface="Calibri"/>
              </a:rPr>
              <a:t>;</a:t>
            </a:r>
            <a:endParaRPr b="0" i="0" sz="2400" u="none" cap="none" strike="noStrike">
              <a:solidFill>
                <a:schemeClr val="lt1"/>
              </a:solidFill>
              <a:latin typeface="Calibri"/>
              <a:ea typeface="Calibri"/>
              <a:cs typeface="Calibri"/>
              <a:sym typeface="Calibri"/>
            </a:endParaRPr>
          </a:p>
        </p:txBody>
      </p:sp>
      <p:sp>
        <p:nvSpPr>
          <p:cNvPr id="284" name="Google Shape;284;p16"/>
          <p:cNvSpPr txBox="1"/>
          <p:nvPr/>
        </p:nvSpPr>
        <p:spPr>
          <a:xfrm>
            <a:off x="685802" y="4538876"/>
            <a:ext cx="49784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PH" sz="2400" u="none" cap="none" strike="noStrike">
                <a:solidFill>
                  <a:schemeClr val="lt1"/>
                </a:solidFill>
                <a:latin typeface="Calibri"/>
                <a:ea typeface="Calibri"/>
                <a:cs typeface="Calibri"/>
                <a:sym typeface="Calibri"/>
              </a:rPr>
              <a:t>SELECT * FROM </a:t>
            </a:r>
            <a:r>
              <a:rPr b="0" i="1" lang="en-PH" sz="2400" u="none" cap="none" strike="noStrike">
                <a:solidFill>
                  <a:schemeClr val="lt1"/>
                </a:solidFill>
                <a:latin typeface="Calibri"/>
                <a:ea typeface="Calibri"/>
                <a:cs typeface="Calibri"/>
                <a:sym typeface="Calibri"/>
              </a:rPr>
              <a:t>table_name</a:t>
            </a:r>
            <a:r>
              <a:rPr b="0" i="0" lang="en-PH" sz="24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85" name="Google Shape;285;p16"/>
          <p:cNvSpPr txBox="1"/>
          <p:nvPr/>
        </p:nvSpPr>
        <p:spPr>
          <a:xfrm>
            <a:off x="685802" y="2372010"/>
            <a:ext cx="259079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PH" sz="1800" u="none" cap="none" strike="noStrike">
                <a:solidFill>
                  <a:schemeClr val="lt1"/>
                </a:solidFill>
                <a:latin typeface="Calibri"/>
                <a:ea typeface="Calibri"/>
                <a:cs typeface="Calibri"/>
                <a:sym typeface="Calibri"/>
              </a:rPr>
              <a:t>Selecting specific data</a:t>
            </a:r>
            <a:endParaRPr b="0" i="0" sz="1400" u="none" cap="none" strike="noStrike">
              <a:solidFill>
                <a:srgbClr val="000000"/>
              </a:solidFill>
              <a:latin typeface="Arial"/>
              <a:ea typeface="Arial"/>
              <a:cs typeface="Arial"/>
              <a:sym typeface="Arial"/>
            </a:endParaRPr>
          </a:p>
        </p:txBody>
      </p:sp>
      <p:sp>
        <p:nvSpPr>
          <p:cNvPr id="286" name="Google Shape;286;p16"/>
          <p:cNvSpPr txBox="1"/>
          <p:nvPr/>
        </p:nvSpPr>
        <p:spPr>
          <a:xfrm>
            <a:off x="685802" y="4055534"/>
            <a:ext cx="259079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PH" sz="1800" u="none" cap="none" strike="noStrike">
                <a:solidFill>
                  <a:schemeClr val="lt1"/>
                </a:solidFill>
                <a:latin typeface="Calibri"/>
                <a:ea typeface="Calibri"/>
                <a:cs typeface="Calibri"/>
                <a:sym typeface="Calibri"/>
              </a:rPr>
              <a:t>Selecting all data</a:t>
            </a:r>
            <a:endParaRPr b="0" i="0" sz="1400" u="none" cap="none" strike="noStrike">
              <a:solidFill>
                <a:srgbClr val="000000"/>
              </a:solidFill>
              <a:latin typeface="Arial"/>
              <a:ea typeface="Arial"/>
              <a:cs typeface="Arial"/>
              <a:sym typeface="Arial"/>
            </a:endParaRPr>
          </a:p>
        </p:txBody>
      </p:sp>
      <p:sp>
        <p:nvSpPr>
          <p:cNvPr id="287" name="Google Shape;287;p16"/>
          <p:cNvSpPr txBox="1"/>
          <p:nvPr/>
        </p:nvSpPr>
        <p:spPr>
          <a:xfrm>
            <a:off x="5664202" y="1815013"/>
            <a:ext cx="23452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PH" sz="2400" u="none" cap="none" strike="noStrike">
                <a:solidFill>
                  <a:schemeClr val="lt1"/>
                </a:solidFill>
                <a:latin typeface="Calibri"/>
                <a:ea typeface="Calibri"/>
                <a:cs typeface="Calibri"/>
                <a:sym typeface="Calibri"/>
              </a:rPr>
              <a:t>Sample:</a:t>
            </a:r>
            <a:endParaRPr b="0" i="0" sz="1400" u="none" cap="none" strike="noStrike">
              <a:solidFill>
                <a:srgbClr val="000000"/>
              </a:solidFill>
              <a:latin typeface="Arial"/>
              <a:ea typeface="Arial"/>
              <a:cs typeface="Arial"/>
              <a:sym typeface="Arial"/>
            </a:endParaRPr>
          </a:p>
        </p:txBody>
      </p:sp>
      <p:pic>
        <p:nvPicPr>
          <p:cNvPr id="288" name="Google Shape;288;p16"/>
          <p:cNvPicPr preferRelativeResize="0"/>
          <p:nvPr/>
        </p:nvPicPr>
        <p:blipFill rotWithShape="1">
          <a:blip r:embed="rId3">
            <a:alphaModFix/>
          </a:blip>
          <a:srcRect b="0" l="0" r="18097" t="0"/>
          <a:stretch/>
        </p:blipFill>
        <p:spPr>
          <a:xfrm>
            <a:off x="5668436" y="2379875"/>
            <a:ext cx="3126435" cy="964458"/>
          </a:xfrm>
          <a:prstGeom prst="rect">
            <a:avLst/>
          </a:prstGeom>
          <a:noFill/>
          <a:ln>
            <a:noFill/>
          </a:ln>
        </p:spPr>
      </p:pic>
      <p:pic>
        <p:nvPicPr>
          <p:cNvPr id="289" name="Google Shape;289;p16"/>
          <p:cNvPicPr preferRelativeResize="0"/>
          <p:nvPr/>
        </p:nvPicPr>
        <p:blipFill rotWithShape="1">
          <a:blip r:embed="rId4">
            <a:alphaModFix/>
          </a:blip>
          <a:srcRect b="0" l="0" r="0" t="0"/>
          <a:stretch/>
        </p:blipFill>
        <p:spPr>
          <a:xfrm>
            <a:off x="5664201" y="4067628"/>
            <a:ext cx="3168867" cy="83099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txBox="1"/>
          <p:nvPr>
            <p:ph type="title"/>
          </p:nvPr>
        </p:nvSpPr>
        <p:spPr>
          <a:xfrm>
            <a:off x="685801" y="616310"/>
            <a:ext cx="9728100" cy="1388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Calibri"/>
              <a:buNone/>
            </a:pPr>
            <a:r>
              <a:rPr lang="en-PH"/>
              <a:t>ACTIVITY: </a:t>
            </a:r>
            <a:endParaRPr/>
          </a:p>
        </p:txBody>
      </p:sp>
      <p:sp>
        <p:nvSpPr>
          <p:cNvPr id="295" name="Google Shape;295;p17"/>
          <p:cNvSpPr txBox="1"/>
          <p:nvPr/>
        </p:nvSpPr>
        <p:spPr>
          <a:xfrm>
            <a:off x="838200" y="2150533"/>
            <a:ext cx="8915400" cy="317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PH" sz="2000" u="none" cap="none" strike="noStrike">
                <a:solidFill>
                  <a:schemeClr val="lt1"/>
                </a:solidFill>
                <a:latin typeface="Calibri"/>
                <a:ea typeface="Calibri"/>
                <a:cs typeface="Calibri"/>
                <a:sym typeface="Calibri"/>
              </a:rPr>
              <a:t>Create a Sales table for the company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PH" sz="2000" u="none" cap="none" strike="noStrike">
                <a:solidFill>
                  <a:schemeClr val="lt1"/>
                </a:solidFill>
                <a:latin typeface="Calibri"/>
                <a:ea typeface="Calibri"/>
                <a:cs typeface="Calibri"/>
                <a:sym typeface="Calibri"/>
              </a:rPr>
              <a:t>Create a sales table that includes the columns relating 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PH" sz="2000" u="none" cap="none" strike="noStrike">
                <a:solidFill>
                  <a:schemeClr val="lt1"/>
                </a:solidFill>
                <a:latin typeface="Calibri"/>
                <a:ea typeface="Calibri"/>
                <a:cs typeface="Calibri"/>
                <a:sym typeface="Calibri"/>
              </a:rPr>
              <a:t>products such as its id, name, quantity, price, and date sold.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PH" sz="2000" u="none" cap="none" strike="noStrike">
                <a:solidFill>
                  <a:schemeClr val="lt1"/>
                </a:solidFill>
                <a:latin typeface="Calibri"/>
                <a:ea typeface="Calibri"/>
                <a:cs typeface="Calibri"/>
                <a:sym typeface="Calibri"/>
              </a:rPr>
              <a:t>Insert at least 3 sales records and then run the following queries: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PH" sz="2000" u="none" cap="none" strike="noStrike">
                <a:solidFill>
                  <a:schemeClr val="lt1"/>
                </a:solidFill>
                <a:latin typeface="Calibri"/>
                <a:ea typeface="Calibri"/>
                <a:cs typeface="Calibri"/>
                <a:sym typeface="Calibri"/>
              </a:rPr>
              <a:t>1. Select the whole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PH" sz="2000" u="none" cap="none" strike="noStrike">
                <a:solidFill>
                  <a:schemeClr val="lt1"/>
                </a:solidFill>
                <a:latin typeface="Calibri"/>
                <a:ea typeface="Calibri"/>
                <a:cs typeface="Calibri"/>
                <a:sym typeface="Calibri"/>
              </a:rPr>
              <a:t>2. Select only the quantity and the name of the product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PH" sz="2000" u="none" cap="none" strike="noStrike">
                <a:solidFill>
                  <a:schemeClr val="lt1"/>
                </a:solidFill>
                <a:latin typeface="Calibri"/>
                <a:ea typeface="Calibri"/>
                <a:cs typeface="Calibri"/>
                <a:sym typeface="Calibri"/>
              </a:rPr>
              <a:t>3. Select the prices of the products.</a:t>
            </a:r>
            <a:endParaRPr b="1" i="0" sz="2000" u="none" cap="none" strike="noStrike">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8"/>
          <p:cNvSpPr txBox="1"/>
          <p:nvPr/>
        </p:nvSpPr>
        <p:spPr>
          <a:xfrm>
            <a:off x="4529668" y="270301"/>
            <a:ext cx="36069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PH" sz="4800" u="none" cap="none" strike="noStrike">
                <a:solidFill>
                  <a:schemeClr val="lt1"/>
                </a:solidFill>
                <a:latin typeface="Calibri"/>
                <a:ea typeface="Calibri"/>
                <a:cs typeface="Calibri"/>
                <a:sym typeface="Calibri"/>
              </a:rPr>
              <a:t>Homework</a:t>
            </a:r>
            <a:endParaRPr b="0" i="0" sz="1400" u="none" cap="none" strike="noStrike">
              <a:solidFill>
                <a:srgbClr val="000000"/>
              </a:solidFill>
              <a:latin typeface="Arial"/>
              <a:ea typeface="Arial"/>
              <a:cs typeface="Arial"/>
              <a:sym typeface="Arial"/>
            </a:endParaRPr>
          </a:p>
        </p:txBody>
      </p:sp>
      <p:sp>
        <p:nvSpPr>
          <p:cNvPr id="301" name="Google Shape;301;p18"/>
          <p:cNvSpPr txBox="1"/>
          <p:nvPr/>
        </p:nvSpPr>
        <p:spPr>
          <a:xfrm>
            <a:off x="1202268" y="1101298"/>
            <a:ext cx="10058400" cy="5355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Build a small database with two related tables.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Build a small database for sales company. This table and its contents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should be the following: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Customers: CustomerID (PK), Name, Email, Address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PH" sz="1800" u="none" cap="none" strike="noStrike">
                <a:solidFill>
                  <a:schemeClr val="lt1"/>
                </a:solidFill>
                <a:latin typeface="Calibri"/>
                <a:ea typeface="Calibri"/>
                <a:cs typeface="Calibri"/>
                <a:sym typeface="Calibri"/>
              </a:rPr>
              <a:t>Orders: OrderID, CustomerID (FK), Product, Quantity,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Insert sample data and write queries to select all the orders and the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Make a copy of the given answer sheet and write your queries made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there. Export the tables and submit it through email in .csv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together with the .pdf of your query answer sheet.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Send your answers 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excelhelplineph@gmail.com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Homework deadline: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PH" sz="1800" u="none" cap="none" strike="noStrike">
                <a:solidFill>
                  <a:schemeClr val="lt1"/>
                </a:solidFill>
                <a:latin typeface="Calibri"/>
                <a:ea typeface="Calibri"/>
                <a:cs typeface="Calibri"/>
                <a:sym typeface="Calibri"/>
              </a:rPr>
              <a:t>Wednesday EOD</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2025-11-29T04:04:05Z</dcterms:created>
  <dc:creator>clarence concepcion</dc:creator>
</cp:coreProperties>
</file>